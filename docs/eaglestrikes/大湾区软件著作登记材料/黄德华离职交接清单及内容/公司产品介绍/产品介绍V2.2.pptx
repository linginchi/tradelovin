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98" r:id="rId4"/>
    <p:sldId id="333" r:id="rId5"/>
    <p:sldId id="335" r:id="rId6"/>
    <p:sldId id="277" r:id="rId7"/>
    <p:sldId id="274" r:id="rId8"/>
    <p:sldId id="323" r:id="rId9"/>
    <p:sldId id="314" r:id="rId10"/>
    <p:sldId id="331" r:id="rId11"/>
    <p:sldId id="310" r:id="rId12"/>
    <p:sldId id="330" r:id="rId13"/>
    <p:sldId id="315" r:id="rId14"/>
    <p:sldId id="300" r:id="rId15"/>
    <p:sldId id="320" r:id="rId16"/>
    <p:sldId id="321" r:id="rId17"/>
    <p:sldId id="332" r:id="rId18"/>
    <p:sldId id="299" r:id="rId19"/>
    <p:sldId id="279" r:id="rId20"/>
    <p:sldId id="289" r:id="rId21"/>
    <p:sldId id="288" r:id="rId22"/>
    <p:sldId id="270" r:id="rId23"/>
    <p:sldId id="271" r:id="rId24"/>
    <p:sldId id="325" r:id="rId25"/>
    <p:sldId id="326" r:id="rId26"/>
    <p:sldId id="327" r:id="rId27"/>
    <p:sldId id="328" r:id="rId28"/>
    <p:sldId id="329" r:id="rId29"/>
    <p:sldId id="308" r:id="rId30"/>
    <p:sldId id="302" r:id="rId31"/>
    <p:sldId id="303" r:id="rId32"/>
    <p:sldId id="304" r:id="rId33"/>
    <p:sldId id="305" r:id="rId34"/>
    <p:sldId id="307" r:id="rId35"/>
    <p:sldId id="334" r:id="rId3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olanda Feng" initials="YF" lastIdx="7" clrIdx="0">
    <p:extLst>
      <p:ext uri="{19B8F6BF-5375-455C-9EA6-DF929625EA0E}">
        <p15:presenceInfo xmlns:p15="http://schemas.microsoft.com/office/powerpoint/2012/main" userId="e5f5d4521735a84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7F2F1"/>
    <a:srgbClr val="991E23"/>
    <a:srgbClr val="D1CECE"/>
    <a:srgbClr val="D2A142"/>
    <a:srgbClr val="FFFFFF"/>
    <a:srgbClr val="10438A"/>
    <a:srgbClr val="991F23"/>
    <a:srgbClr val="922126"/>
    <a:srgbClr val="E5C261"/>
    <a:srgbClr val="7E9C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75"/>
  </p:normalViewPr>
  <p:slideViewPr>
    <p:cSldViewPr snapToGrid="0" snapToObjects="1">
      <p:cViewPr varScale="1">
        <p:scale>
          <a:sx n="82" d="100"/>
          <a:sy n="82" d="100"/>
        </p:scale>
        <p:origin x="6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8-01-10T15:31:17.787" idx="4">
    <p:pos x="10" y="10"/>
    <p:text>智能投资or智能投顾？</p:text>
    <p:extLst>
      <p:ext uri="{C676402C-5697-4E1C-873F-D02D1690AC5C}">
        <p15:threadingInfo xmlns:p15="http://schemas.microsoft.com/office/powerpoint/2012/main" timeZoneBias="-4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18-01-10T15:56:48.356" idx="5">
    <p:pos x="10" y="10"/>
    <p:text>个人觉得：此图不太合适。</p:text>
    <p:extLst>
      <p:ext uri="{C676402C-5697-4E1C-873F-D02D1690AC5C}">
        <p15:threadingInfo xmlns:p15="http://schemas.microsoft.com/office/powerpoint/2012/main" timeZoneBias="-480"/>
      </p:ext>
    </p:extLst>
  </p:cm>
  <p:cm authorId="1" dt="2018-01-11T14:48:28.969" idx="6">
    <p:pos x="146" y="146"/>
    <p:text>开源节流服务优化论据</p:text>
    <p:extLst>
      <p:ext uri="{C676402C-5697-4E1C-873F-D02D1690AC5C}">
        <p15:threadingInfo xmlns:p15="http://schemas.microsoft.com/office/powerpoint/2012/main" timeZoneBias="-4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18-01-11T14:50:41.455" idx="7">
    <p:pos x="10" y="10"/>
    <p:text>未来请大佬给照片</p:text>
    <p:extLst>
      <p:ext uri="{C676402C-5697-4E1C-873F-D02D1690AC5C}">
        <p15:threadingInfo xmlns:p15="http://schemas.microsoft.com/office/powerpoint/2012/main" timeZoneBias="-480"/>
      </p:ext>
    </p:extLst>
  </p:cm>
</p: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19D09EA-4432-7A40-BC66-1D606C5616AD}" type="doc">
      <dgm:prSet loTypeId="urn:microsoft.com/office/officeart/2005/8/layout/chevron1" loCatId="" qsTypeId="urn:microsoft.com/office/officeart/2005/8/quickstyle/simple4" qsCatId="simple" csTypeId="urn:microsoft.com/office/officeart/2005/8/colors/accent1_2" csCatId="accent1" phldr="1"/>
      <dgm:spPr/>
    </dgm:pt>
    <dgm:pt modelId="{2EA43AF1-5561-CA4B-93E2-0BF45070BB26}">
      <dgm:prSet phldrT="[文本]" custT="1"/>
      <dgm:spPr>
        <a:solidFill>
          <a:srgbClr val="991F23"/>
        </a:solidFill>
      </dgm:spPr>
      <dgm:t>
        <a:bodyPr/>
        <a:lstStyle/>
        <a:p>
          <a:r>
            <a:rPr lang="zh-CN" altLang="en-US" sz="2000" dirty="0"/>
            <a:t>智能投资者画像</a:t>
          </a:r>
        </a:p>
      </dgm:t>
    </dgm:pt>
    <dgm:pt modelId="{3E1A8584-D098-F24A-9273-C6986F690EE4}" type="parTrans" cxnId="{6C70E126-1C19-5246-AA7F-45969E137BEE}">
      <dgm:prSet/>
      <dgm:spPr/>
      <dgm:t>
        <a:bodyPr/>
        <a:lstStyle/>
        <a:p>
          <a:endParaRPr lang="zh-CN" altLang="en-US"/>
        </a:p>
      </dgm:t>
    </dgm:pt>
    <dgm:pt modelId="{CF0E62C4-E71D-7845-89B9-0FF2E44684AC}" type="sibTrans" cxnId="{6C70E126-1C19-5246-AA7F-45969E137BEE}">
      <dgm:prSet/>
      <dgm:spPr/>
      <dgm:t>
        <a:bodyPr/>
        <a:lstStyle/>
        <a:p>
          <a:endParaRPr lang="zh-CN" altLang="en-US"/>
        </a:p>
      </dgm:t>
    </dgm:pt>
    <dgm:pt modelId="{A3C9BAE4-2E67-2240-B8BA-7D7B1EB5164F}">
      <dgm:prSet phldrT="[文本]" custT="1"/>
      <dgm:spPr>
        <a:solidFill>
          <a:srgbClr val="D2A142"/>
        </a:solidFill>
      </dgm:spPr>
      <dgm:t>
        <a:bodyPr/>
        <a:lstStyle/>
        <a:p>
          <a:r>
            <a:rPr lang="zh-CN" altLang="en-US" sz="2000" dirty="0"/>
            <a:t>金融知识图谱</a:t>
          </a:r>
        </a:p>
        <a:p>
          <a:r>
            <a:rPr lang="zh-CN" altLang="en-US" sz="2000" dirty="0"/>
            <a:t>与推荐技术</a:t>
          </a:r>
        </a:p>
      </dgm:t>
    </dgm:pt>
    <dgm:pt modelId="{580695FE-60BE-D045-92EB-D7E6DD645C55}" type="parTrans" cxnId="{DEEA36C7-5ADC-CB41-B6FE-12B9C0C0AEA8}">
      <dgm:prSet/>
      <dgm:spPr/>
      <dgm:t>
        <a:bodyPr/>
        <a:lstStyle/>
        <a:p>
          <a:endParaRPr lang="zh-CN" altLang="en-US"/>
        </a:p>
      </dgm:t>
    </dgm:pt>
    <dgm:pt modelId="{07951FC4-74BF-044C-8C63-54B40F619F77}" type="sibTrans" cxnId="{DEEA36C7-5ADC-CB41-B6FE-12B9C0C0AEA8}">
      <dgm:prSet/>
      <dgm:spPr/>
      <dgm:t>
        <a:bodyPr/>
        <a:lstStyle/>
        <a:p>
          <a:endParaRPr lang="zh-CN" altLang="en-US"/>
        </a:p>
      </dgm:t>
    </dgm:pt>
    <dgm:pt modelId="{87652E53-2EC0-144A-B2A4-D9D644E667E6}">
      <dgm:prSet custT="1"/>
      <dgm:spPr>
        <a:solidFill>
          <a:srgbClr val="D1CECE"/>
        </a:solidFill>
      </dgm:spPr>
      <dgm:t>
        <a:bodyPr/>
        <a:lstStyle/>
        <a:p>
          <a:r>
            <a:rPr lang="zh-CN" altLang="en-US" sz="2000" dirty="0"/>
            <a:t>投资者</a:t>
          </a:r>
        </a:p>
        <a:p>
          <a:r>
            <a:rPr lang="zh-CN" altLang="en-US" sz="2000" dirty="0"/>
            <a:t>学习内容</a:t>
          </a:r>
        </a:p>
      </dgm:t>
    </dgm:pt>
    <dgm:pt modelId="{C7FFA024-C6BE-584F-A8EA-60364E39F691}" type="parTrans" cxnId="{AEC22043-786D-7040-AE45-DBB460F60D15}">
      <dgm:prSet/>
      <dgm:spPr/>
      <dgm:t>
        <a:bodyPr/>
        <a:lstStyle/>
        <a:p>
          <a:endParaRPr lang="zh-CN" altLang="en-US"/>
        </a:p>
      </dgm:t>
    </dgm:pt>
    <dgm:pt modelId="{23573243-368A-D945-84C4-057F3CA7670E}" type="sibTrans" cxnId="{AEC22043-786D-7040-AE45-DBB460F60D15}">
      <dgm:prSet/>
      <dgm:spPr/>
      <dgm:t>
        <a:bodyPr/>
        <a:lstStyle/>
        <a:p>
          <a:endParaRPr lang="zh-CN" altLang="en-US"/>
        </a:p>
      </dgm:t>
    </dgm:pt>
    <dgm:pt modelId="{46809652-BBA5-594F-B608-8388F91338F6}" type="pres">
      <dgm:prSet presAssocID="{D19D09EA-4432-7A40-BC66-1D606C5616AD}" presName="Name0" presStyleCnt="0">
        <dgm:presLayoutVars>
          <dgm:dir/>
          <dgm:animLvl val="lvl"/>
          <dgm:resizeHandles val="exact"/>
        </dgm:presLayoutVars>
      </dgm:prSet>
      <dgm:spPr/>
    </dgm:pt>
    <dgm:pt modelId="{A5B74215-B88B-204C-832A-D052C78576B6}" type="pres">
      <dgm:prSet presAssocID="{2EA43AF1-5561-CA4B-93E2-0BF45070BB26}" presName="parTxOnly" presStyleLbl="node1" presStyleIdx="0" presStyleCnt="3">
        <dgm:presLayoutVars>
          <dgm:chMax val="0"/>
          <dgm:chPref val="0"/>
          <dgm:bulletEnabled val="1"/>
        </dgm:presLayoutVars>
      </dgm:prSet>
      <dgm:spPr/>
    </dgm:pt>
    <dgm:pt modelId="{F39849FD-7D55-A34B-9F7D-23F253E1495A}" type="pres">
      <dgm:prSet presAssocID="{CF0E62C4-E71D-7845-89B9-0FF2E44684AC}" presName="parTxOnlySpace" presStyleCnt="0"/>
      <dgm:spPr/>
    </dgm:pt>
    <dgm:pt modelId="{CA6A8E0B-FD15-2C4C-8F2D-E73ADB65837E}" type="pres">
      <dgm:prSet presAssocID="{A3C9BAE4-2E67-2240-B8BA-7D7B1EB5164F}" presName="parTxOnly" presStyleLbl="node1" presStyleIdx="1" presStyleCnt="3" custLinFactNeighborX="-7086" custLinFactNeighborY="-2917">
        <dgm:presLayoutVars>
          <dgm:chMax val="0"/>
          <dgm:chPref val="0"/>
          <dgm:bulletEnabled val="1"/>
        </dgm:presLayoutVars>
      </dgm:prSet>
      <dgm:spPr/>
    </dgm:pt>
    <dgm:pt modelId="{3DB01DD9-20C1-D747-8E9E-D96CDED49EA9}" type="pres">
      <dgm:prSet presAssocID="{07951FC4-74BF-044C-8C63-54B40F619F77}" presName="parTxOnlySpace" presStyleCnt="0"/>
      <dgm:spPr/>
    </dgm:pt>
    <dgm:pt modelId="{41D0179B-517A-0E40-ABE1-B007929BAAA5}" type="pres">
      <dgm:prSet presAssocID="{87652E53-2EC0-144A-B2A4-D9D644E667E6}" presName="parTxOnly" presStyleLbl="node1" presStyleIdx="2" presStyleCnt="3">
        <dgm:presLayoutVars>
          <dgm:chMax val="0"/>
          <dgm:chPref val="0"/>
          <dgm:bulletEnabled val="1"/>
        </dgm:presLayoutVars>
      </dgm:prSet>
      <dgm:spPr/>
    </dgm:pt>
  </dgm:ptLst>
  <dgm:cxnLst>
    <dgm:cxn modelId="{EC1C9120-334F-1646-9F98-22BFAD02753A}" type="presOf" srcId="{A3C9BAE4-2E67-2240-B8BA-7D7B1EB5164F}" destId="{CA6A8E0B-FD15-2C4C-8F2D-E73ADB65837E}" srcOrd="0" destOrd="0" presId="urn:microsoft.com/office/officeart/2005/8/layout/chevron1"/>
    <dgm:cxn modelId="{6C70E126-1C19-5246-AA7F-45969E137BEE}" srcId="{D19D09EA-4432-7A40-BC66-1D606C5616AD}" destId="{2EA43AF1-5561-CA4B-93E2-0BF45070BB26}" srcOrd="0" destOrd="0" parTransId="{3E1A8584-D098-F24A-9273-C6986F690EE4}" sibTransId="{CF0E62C4-E71D-7845-89B9-0FF2E44684AC}"/>
    <dgm:cxn modelId="{45B7595C-FF32-0B41-8A2D-1F61583F6E33}" type="presOf" srcId="{2EA43AF1-5561-CA4B-93E2-0BF45070BB26}" destId="{A5B74215-B88B-204C-832A-D052C78576B6}" srcOrd="0" destOrd="0" presId="urn:microsoft.com/office/officeart/2005/8/layout/chevron1"/>
    <dgm:cxn modelId="{AEC22043-786D-7040-AE45-DBB460F60D15}" srcId="{D19D09EA-4432-7A40-BC66-1D606C5616AD}" destId="{87652E53-2EC0-144A-B2A4-D9D644E667E6}" srcOrd="2" destOrd="0" parTransId="{C7FFA024-C6BE-584F-A8EA-60364E39F691}" sibTransId="{23573243-368A-D945-84C4-057F3CA7670E}"/>
    <dgm:cxn modelId="{3A08DA53-73BE-2445-8B18-EDFFEA423386}" type="presOf" srcId="{87652E53-2EC0-144A-B2A4-D9D644E667E6}" destId="{41D0179B-517A-0E40-ABE1-B007929BAAA5}" srcOrd="0" destOrd="0" presId="urn:microsoft.com/office/officeart/2005/8/layout/chevron1"/>
    <dgm:cxn modelId="{85AD90AD-CC50-B247-B122-53BEF27536D4}" type="presOf" srcId="{D19D09EA-4432-7A40-BC66-1D606C5616AD}" destId="{46809652-BBA5-594F-B608-8388F91338F6}" srcOrd="0" destOrd="0" presId="urn:microsoft.com/office/officeart/2005/8/layout/chevron1"/>
    <dgm:cxn modelId="{DEEA36C7-5ADC-CB41-B6FE-12B9C0C0AEA8}" srcId="{D19D09EA-4432-7A40-BC66-1D606C5616AD}" destId="{A3C9BAE4-2E67-2240-B8BA-7D7B1EB5164F}" srcOrd="1" destOrd="0" parTransId="{580695FE-60BE-D045-92EB-D7E6DD645C55}" sibTransId="{07951FC4-74BF-044C-8C63-54B40F619F77}"/>
    <dgm:cxn modelId="{3DE823FB-D67D-2B40-BCBF-F235F00AAE1B}" type="presParOf" srcId="{46809652-BBA5-594F-B608-8388F91338F6}" destId="{A5B74215-B88B-204C-832A-D052C78576B6}" srcOrd="0" destOrd="0" presId="urn:microsoft.com/office/officeart/2005/8/layout/chevron1"/>
    <dgm:cxn modelId="{15BA2D6E-5FF5-2E41-9271-F536F2552ABA}" type="presParOf" srcId="{46809652-BBA5-594F-B608-8388F91338F6}" destId="{F39849FD-7D55-A34B-9F7D-23F253E1495A}" srcOrd="1" destOrd="0" presId="urn:microsoft.com/office/officeart/2005/8/layout/chevron1"/>
    <dgm:cxn modelId="{34485F90-96F0-2440-BDE0-B40E5473D576}" type="presParOf" srcId="{46809652-BBA5-594F-B608-8388F91338F6}" destId="{CA6A8E0B-FD15-2C4C-8F2D-E73ADB65837E}" srcOrd="2" destOrd="0" presId="urn:microsoft.com/office/officeart/2005/8/layout/chevron1"/>
    <dgm:cxn modelId="{4F671182-7CAA-1C4A-930C-0D60A5C493DD}" type="presParOf" srcId="{46809652-BBA5-594F-B608-8388F91338F6}" destId="{3DB01DD9-20C1-D747-8E9E-D96CDED49EA9}" srcOrd="3" destOrd="0" presId="urn:microsoft.com/office/officeart/2005/8/layout/chevron1"/>
    <dgm:cxn modelId="{F850DA9F-CDB0-F748-9104-EAB09364CB29}" type="presParOf" srcId="{46809652-BBA5-594F-B608-8388F91338F6}" destId="{41D0179B-517A-0E40-ABE1-B007929BAAA5}" srcOrd="4"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B74215-B88B-204C-832A-D052C78576B6}">
      <dsp:nvSpPr>
        <dsp:cNvPr id="0" name=""/>
        <dsp:cNvSpPr/>
      </dsp:nvSpPr>
      <dsp:spPr>
        <a:xfrm>
          <a:off x="2942" y="0"/>
          <a:ext cx="3584541" cy="1123114"/>
        </a:xfrm>
        <a:prstGeom prst="chevron">
          <a:avLst/>
        </a:prstGeom>
        <a:solidFill>
          <a:srgbClr val="991F23"/>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t>智能投资者画像</a:t>
          </a:r>
        </a:p>
      </dsp:txBody>
      <dsp:txXfrm>
        <a:off x="564499" y="0"/>
        <a:ext cx="2461427" cy="1123114"/>
      </dsp:txXfrm>
    </dsp:sp>
    <dsp:sp modelId="{CA6A8E0B-FD15-2C4C-8F2D-E73ADB65837E}">
      <dsp:nvSpPr>
        <dsp:cNvPr id="0" name=""/>
        <dsp:cNvSpPr/>
      </dsp:nvSpPr>
      <dsp:spPr>
        <a:xfrm>
          <a:off x="3203629" y="0"/>
          <a:ext cx="3584541" cy="1123114"/>
        </a:xfrm>
        <a:prstGeom prst="chevron">
          <a:avLst/>
        </a:prstGeom>
        <a:solidFill>
          <a:srgbClr val="D2A142"/>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t>金融知识图谱</a:t>
          </a:r>
        </a:p>
        <a:p>
          <a:pPr marL="0" lvl="0" indent="0" algn="ctr" defTabSz="889000">
            <a:lnSpc>
              <a:spcPct val="90000"/>
            </a:lnSpc>
            <a:spcBef>
              <a:spcPct val="0"/>
            </a:spcBef>
            <a:spcAft>
              <a:spcPct val="35000"/>
            </a:spcAft>
            <a:buNone/>
          </a:pPr>
          <a:r>
            <a:rPr lang="zh-CN" altLang="en-US" sz="2000" kern="1200" dirty="0"/>
            <a:t>与推荐技术</a:t>
          </a:r>
        </a:p>
      </dsp:txBody>
      <dsp:txXfrm>
        <a:off x="3765186" y="0"/>
        <a:ext cx="2461427" cy="1123114"/>
      </dsp:txXfrm>
    </dsp:sp>
    <dsp:sp modelId="{41D0179B-517A-0E40-ABE1-B007929BAAA5}">
      <dsp:nvSpPr>
        <dsp:cNvPr id="0" name=""/>
        <dsp:cNvSpPr/>
      </dsp:nvSpPr>
      <dsp:spPr>
        <a:xfrm>
          <a:off x="6455117" y="0"/>
          <a:ext cx="3584541" cy="1123114"/>
        </a:xfrm>
        <a:prstGeom prst="chevron">
          <a:avLst/>
        </a:prstGeom>
        <a:solidFill>
          <a:srgbClr val="D1CECE"/>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t>投资者</a:t>
          </a:r>
        </a:p>
        <a:p>
          <a:pPr marL="0" lvl="0" indent="0" algn="ctr" defTabSz="889000">
            <a:lnSpc>
              <a:spcPct val="90000"/>
            </a:lnSpc>
            <a:spcBef>
              <a:spcPct val="0"/>
            </a:spcBef>
            <a:spcAft>
              <a:spcPct val="35000"/>
            </a:spcAft>
            <a:buNone/>
          </a:pPr>
          <a:r>
            <a:rPr lang="zh-CN" altLang="en-US" sz="2000" kern="1200" dirty="0"/>
            <a:t>学习内容</a:t>
          </a:r>
        </a:p>
      </dsp:txBody>
      <dsp:txXfrm>
        <a:off x="7016674" y="0"/>
        <a:ext cx="2461427" cy="1123114"/>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544A68-927D-584C-BACA-5EDDE1DB1386}" type="datetimeFigureOut">
              <a:rPr kumimoji="1" lang="zh-CN" altLang="en-US" smtClean="0"/>
              <a:t>2018/1/19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0F2A51-1587-3344-A875-2474DC575611}" type="slidenum">
              <a:rPr kumimoji="1" lang="zh-CN" altLang="en-US" smtClean="0"/>
              <a:t>‹#›</a:t>
            </a:fld>
            <a:endParaRPr kumimoji="1" lang="zh-CN" altLang="en-US"/>
          </a:p>
        </p:txBody>
      </p:sp>
    </p:spTree>
    <p:extLst>
      <p:ext uri="{BB962C8B-B14F-4D97-AF65-F5344CB8AC3E}">
        <p14:creationId xmlns:p14="http://schemas.microsoft.com/office/powerpoint/2010/main" val="140665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9A0F2A51-1587-3344-A875-2474DC575611}" type="slidenum">
              <a:rPr kumimoji="1" lang="zh-CN" altLang="en-US" smtClean="0"/>
              <a:t>7</a:t>
            </a:fld>
            <a:endParaRPr kumimoji="1" lang="zh-CN" altLang="en-US" dirty="0"/>
          </a:p>
        </p:txBody>
      </p:sp>
    </p:spTree>
    <p:extLst>
      <p:ext uri="{BB962C8B-B14F-4D97-AF65-F5344CB8AC3E}">
        <p14:creationId xmlns:p14="http://schemas.microsoft.com/office/powerpoint/2010/main" val="4859558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9A0F2A51-1587-3344-A875-2474DC575611}" type="slidenum">
              <a:rPr kumimoji="1" lang="zh-CN" altLang="en-US" smtClean="0"/>
              <a:t>8</a:t>
            </a:fld>
            <a:endParaRPr kumimoji="1" lang="zh-CN" altLang="en-US" dirty="0"/>
          </a:p>
        </p:txBody>
      </p:sp>
    </p:spTree>
    <p:extLst>
      <p:ext uri="{BB962C8B-B14F-4D97-AF65-F5344CB8AC3E}">
        <p14:creationId xmlns:p14="http://schemas.microsoft.com/office/powerpoint/2010/main" val="18377165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要说明什么时候什么场景提供这些教学内容和功能？讲解时需要说明，例如日内交易训练，</a:t>
            </a:r>
            <a:r>
              <a:rPr kumimoji="1" lang="en-US" altLang="zh-CN" dirty="0" err="1"/>
              <a:t>FDTScore</a:t>
            </a:r>
            <a:r>
              <a:rPr kumimoji="1" lang="zh-CN" altLang="en-US" dirty="0"/>
              <a:t>若描述该用户是喜欢日内交易，则会给他推荐该功能。</a:t>
            </a:r>
          </a:p>
        </p:txBody>
      </p:sp>
      <p:sp>
        <p:nvSpPr>
          <p:cNvPr id="4" name="幻灯片编号占位符 3"/>
          <p:cNvSpPr>
            <a:spLocks noGrp="1"/>
          </p:cNvSpPr>
          <p:nvPr>
            <p:ph type="sldNum" sz="quarter" idx="10"/>
          </p:nvPr>
        </p:nvSpPr>
        <p:spPr/>
        <p:txBody>
          <a:bodyPr/>
          <a:lstStyle/>
          <a:p>
            <a:fld id="{9A0F2A51-1587-3344-A875-2474DC575611}" type="slidenum">
              <a:rPr kumimoji="1" lang="zh-CN" altLang="en-US" smtClean="0"/>
              <a:t>10</a:t>
            </a:fld>
            <a:endParaRPr kumimoji="1" lang="zh-CN" altLang="en-US" dirty="0"/>
          </a:p>
        </p:txBody>
      </p:sp>
    </p:spTree>
    <p:extLst>
      <p:ext uri="{BB962C8B-B14F-4D97-AF65-F5344CB8AC3E}">
        <p14:creationId xmlns:p14="http://schemas.microsoft.com/office/powerpoint/2010/main" val="1348148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要说明什么时候什么场景提供这些教学内容和功能？讲解时需要说明，例如日内交易训练，</a:t>
            </a:r>
            <a:r>
              <a:rPr kumimoji="1" lang="en-US" altLang="zh-CN" dirty="0" err="1"/>
              <a:t>FDTScore</a:t>
            </a:r>
            <a:r>
              <a:rPr kumimoji="1" lang="zh-CN" altLang="en-US" dirty="0"/>
              <a:t>若描述该用户是喜欢日内交易，则会给他推荐该功能。</a:t>
            </a:r>
          </a:p>
        </p:txBody>
      </p:sp>
      <p:sp>
        <p:nvSpPr>
          <p:cNvPr id="4" name="幻灯片编号占位符 3"/>
          <p:cNvSpPr>
            <a:spLocks noGrp="1"/>
          </p:cNvSpPr>
          <p:nvPr>
            <p:ph type="sldNum" sz="quarter" idx="10"/>
          </p:nvPr>
        </p:nvSpPr>
        <p:spPr/>
        <p:txBody>
          <a:bodyPr/>
          <a:lstStyle/>
          <a:p>
            <a:fld id="{9A0F2A51-1587-3344-A875-2474DC575611}" type="slidenum">
              <a:rPr kumimoji="1" lang="zh-CN" altLang="en-US" smtClean="0"/>
              <a:t>11</a:t>
            </a:fld>
            <a:endParaRPr kumimoji="1" lang="zh-CN" altLang="en-US" dirty="0"/>
          </a:p>
        </p:txBody>
      </p:sp>
    </p:spTree>
    <p:extLst>
      <p:ext uri="{BB962C8B-B14F-4D97-AF65-F5344CB8AC3E}">
        <p14:creationId xmlns:p14="http://schemas.microsoft.com/office/powerpoint/2010/main" val="41653370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要说明什么时候什么场景提供这些教学内容和功能？讲解时需要说明，例如日内交易训练，</a:t>
            </a:r>
            <a:r>
              <a:rPr kumimoji="1" lang="en-US" altLang="zh-CN" dirty="0" err="1"/>
              <a:t>FDTScore</a:t>
            </a:r>
            <a:r>
              <a:rPr kumimoji="1" lang="zh-CN" altLang="en-US" dirty="0"/>
              <a:t>若描述该用户是喜欢日内交易，则会给他推荐该功能。</a:t>
            </a:r>
          </a:p>
        </p:txBody>
      </p:sp>
      <p:sp>
        <p:nvSpPr>
          <p:cNvPr id="4" name="幻灯片编号占位符 3"/>
          <p:cNvSpPr>
            <a:spLocks noGrp="1"/>
          </p:cNvSpPr>
          <p:nvPr>
            <p:ph type="sldNum" sz="quarter" idx="10"/>
          </p:nvPr>
        </p:nvSpPr>
        <p:spPr/>
        <p:txBody>
          <a:bodyPr/>
          <a:lstStyle/>
          <a:p>
            <a:fld id="{9A0F2A51-1587-3344-A875-2474DC575611}" type="slidenum">
              <a:rPr kumimoji="1" lang="zh-CN" altLang="en-US" smtClean="0"/>
              <a:t>12</a:t>
            </a:fld>
            <a:endParaRPr kumimoji="1" lang="zh-CN" altLang="en-US" dirty="0"/>
          </a:p>
        </p:txBody>
      </p:sp>
    </p:spTree>
    <p:extLst>
      <p:ext uri="{BB962C8B-B14F-4D97-AF65-F5344CB8AC3E}">
        <p14:creationId xmlns:p14="http://schemas.microsoft.com/office/powerpoint/2010/main" val="17109983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要说明什么时候什么场景提供这些教学内容和功能？讲解时需要说明，例如日内交易训练，</a:t>
            </a:r>
            <a:r>
              <a:rPr kumimoji="1" lang="en-US" altLang="zh-CN" dirty="0" err="1"/>
              <a:t>FDTScore</a:t>
            </a:r>
            <a:r>
              <a:rPr kumimoji="1" lang="zh-CN" altLang="en-US" dirty="0"/>
              <a:t>若描述该用户是喜欢日内交易，则会给他推荐该功能。</a:t>
            </a:r>
          </a:p>
        </p:txBody>
      </p:sp>
      <p:sp>
        <p:nvSpPr>
          <p:cNvPr id="4" name="幻灯片编号占位符 3"/>
          <p:cNvSpPr>
            <a:spLocks noGrp="1"/>
          </p:cNvSpPr>
          <p:nvPr>
            <p:ph type="sldNum" sz="quarter" idx="10"/>
          </p:nvPr>
        </p:nvSpPr>
        <p:spPr/>
        <p:txBody>
          <a:bodyPr/>
          <a:lstStyle/>
          <a:p>
            <a:fld id="{9A0F2A51-1587-3344-A875-2474DC575611}" type="slidenum">
              <a:rPr kumimoji="1" lang="zh-CN" altLang="en-US" smtClean="0"/>
              <a:t>13</a:t>
            </a:fld>
            <a:endParaRPr kumimoji="1" lang="zh-CN" altLang="en-US" dirty="0"/>
          </a:p>
        </p:txBody>
      </p:sp>
    </p:spTree>
    <p:extLst>
      <p:ext uri="{BB962C8B-B14F-4D97-AF65-F5344CB8AC3E}">
        <p14:creationId xmlns:p14="http://schemas.microsoft.com/office/powerpoint/2010/main" val="41987255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要说明什么时候什么场景提供这些教学内容和功能？讲解时需要说明，例如日内交易训练，</a:t>
            </a:r>
            <a:r>
              <a:rPr kumimoji="1" lang="en-US" altLang="zh-CN" dirty="0" err="1"/>
              <a:t>FDTScore</a:t>
            </a:r>
            <a:r>
              <a:rPr kumimoji="1" lang="zh-CN" altLang="en-US" dirty="0"/>
              <a:t>若描述该用户是喜欢日内交易，则会给他推荐该功能。</a:t>
            </a:r>
          </a:p>
        </p:txBody>
      </p:sp>
      <p:sp>
        <p:nvSpPr>
          <p:cNvPr id="4" name="幻灯片编号占位符 3"/>
          <p:cNvSpPr>
            <a:spLocks noGrp="1"/>
          </p:cNvSpPr>
          <p:nvPr>
            <p:ph type="sldNum" sz="quarter" idx="10"/>
          </p:nvPr>
        </p:nvSpPr>
        <p:spPr/>
        <p:txBody>
          <a:bodyPr/>
          <a:lstStyle/>
          <a:p>
            <a:fld id="{9A0F2A51-1587-3344-A875-2474DC575611}" type="slidenum">
              <a:rPr kumimoji="1" lang="zh-CN" altLang="en-US" smtClean="0"/>
              <a:t>15</a:t>
            </a:fld>
            <a:endParaRPr kumimoji="1" lang="zh-CN" altLang="en-US" dirty="0"/>
          </a:p>
        </p:txBody>
      </p:sp>
    </p:spTree>
    <p:extLst>
      <p:ext uri="{BB962C8B-B14F-4D97-AF65-F5344CB8AC3E}">
        <p14:creationId xmlns:p14="http://schemas.microsoft.com/office/powerpoint/2010/main" val="16498501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要说明什么时候什么场景提供这些教学内容和功能？讲解时需要说明，例如日内交易训练，</a:t>
            </a:r>
            <a:r>
              <a:rPr kumimoji="1" lang="en-US" altLang="zh-CN" dirty="0" err="1"/>
              <a:t>FDTScore</a:t>
            </a:r>
            <a:r>
              <a:rPr kumimoji="1" lang="zh-CN" altLang="en-US" dirty="0"/>
              <a:t>若描述该用户是喜欢日内交易，则会给他推荐该功能。</a:t>
            </a:r>
          </a:p>
        </p:txBody>
      </p:sp>
      <p:sp>
        <p:nvSpPr>
          <p:cNvPr id="4" name="幻灯片编号占位符 3"/>
          <p:cNvSpPr>
            <a:spLocks noGrp="1"/>
          </p:cNvSpPr>
          <p:nvPr>
            <p:ph type="sldNum" sz="quarter" idx="10"/>
          </p:nvPr>
        </p:nvSpPr>
        <p:spPr/>
        <p:txBody>
          <a:bodyPr/>
          <a:lstStyle/>
          <a:p>
            <a:fld id="{9A0F2A51-1587-3344-A875-2474DC575611}" type="slidenum">
              <a:rPr kumimoji="1" lang="zh-CN" altLang="en-US" smtClean="0"/>
              <a:t>16</a:t>
            </a:fld>
            <a:endParaRPr kumimoji="1" lang="zh-CN" altLang="en-US" dirty="0"/>
          </a:p>
        </p:txBody>
      </p:sp>
    </p:spTree>
    <p:extLst>
      <p:ext uri="{BB962C8B-B14F-4D97-AF65-F5344CB8AC3E}">
        <p14:creationId xmlns:p14="http://schemas.microsoft.com/office/powerpoint/2010/main" val="20873825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要说明什么时候什么场景提供这些教学内容和功能？讲解时需要说明，例如日内交易训练，</a:t>
            </a:r>
            <a:r>
              <a:rPr kumimoji="1" lang="en-US" altLang="zh-CN" dirty="0" err="1"/>
              <a:t>FDTScore</a:t>
            </a:r>
            <a:r>
              <a:rPr kumimoji="1" lang="zh-CN" altLang="en-US" dirty="0"/>
              <a:t>若描述该用户是喜欢日内交易，则会给他推荐该功能。</a:t>
            </a:r>
          </a:p>
        </p:txBody>
      </p:sp>
      <p:sp>
        <p:nvSpPr>
          <p:cNvPr id="4" name="幻灯片编号占位符 3"/>
          <p:cNvSpPr>
            <a:spLocks noGrp="1"/>
          </p:cNvSpPr>
          <p:nvPr>
            <p:ph type="sldNum" sz="quarter" idx="10"/>
          </p:nvPr>
        </p:nvSpPr>
        <p:spPr/>
        <p:txBody>
          <a:bodyPr/>
          <a:lstStyle/>
          <a:p>
            <a:fld id="{9A0F2A51-1587-3344-A875-2474DC575611}" type="slidenum">
              <a:rPr kumimoji="1" lang="zh-CN" altLang="en-US" smtClean="0"/>
              <a:t>17</a:t>
            </a:fld>
            <a:endParaRPr kumimoji="1" lang="zh-CN" altLang="en-US" dirty="0"/>
          </a:p>
        </p:txBody>
      </p:sp>
    </p:spTree>
    <p:extLst>
      <p:ext uri="{BB962C8B-B14F-4D97-AF65-F5344CB8AC3E}">
        <p14:creationId xmlns:p14="http://schemas.microsoft.com/office/powerpoint/2010/main" val="25373045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zh-CN" altLang="en-US" dirty="0"/>
              <a:t>传统教育是从教</a:t>
            </a:r>
            <a:r>
              <a:rPr lang="zh-CN" altLang="en-US" dirty="0">
                <a:latin typeface="SimSun" charset="-122"/>
                <a:ea typeface="SimSun" charset="-122"/>
                <a:cs typeface="SimSun" charset="-122"/>
              </a:rPr>
              <a:t>的角度出发，给所有学习者都是千篇一律的教学内容和千人一面的学习路径，大而全的体系化教学，目标是培养专才或进行大而全但不管学习者需不需要的科普。</a:t>
            </a:r>
            <a:endParaRPr kumimoji="1" lang="en-US" altLang="zh-CN" dirty="0"/>
          </a:p>
          <a:p>
            <a:r>
              <a:rPr kumimoji="1" lang="zh-CN" altLang="en-US" dirty="0"/>
              <a:t>智能教学是学有兴趣的，难易程度适合自己的，学用得上的，用的时候推荐你学。</a:t>
            </a:r>
          </a:p>
        </p:txBody>
      </p:sp>
      <p:sp>
        <p:nvSpPr>
          <p:cNvPr id="4" name="幻灯片编号占位符 3"/>
          <p:cNvSpPr>
            <a:spLocks noGrp="1"/>
          </p:cNvSpPr>
          <p:nvPr>
            <p:ph type="sldNum" sz="quarter" idx="10"/>
          </p:nvPr>
        </p:nvSpPr>
        <p:spPr/>
        <p:txBody>
          <a:bodyPr/>
          <a:lstStyle/>
          <a:p>
            <a:fld id="{9A0F2A51-1587-3344-A875-2474DC575611}" type="slidenum">
              <a:rPr kumimoji="1" lang="zh-CN" altLang="en-US" smtClean="0"/>
              <a:t>20</a:t>
            </a:fld>
            <a:endParaRPr kumimoji="1" lang="zh-CN" altLang="en-US" dirty="0"/>
          </a:p>
        </p:txBody>
      </p:sp>
    </p:spTree>
    <p:extLst>
      <p:ext uri="{BB962C8B-B14F-4D97-AF65-F5344CB8AC3E}">
        <p14:creationId xmlns:p14="http://schemas.microsoft.com/office/powerpoint/2010/main" val="17237710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zh-CN" altLang="en-US" dirty="0"/>
              <a:t>传统教育是从教</a:t>
            </a:r>
            <a:r>
              <a:rPr lang="zh-CN" altLang="en-US" dirty="0">
                <a:latin typeface="SimSun" charset="-122"/>
                <a:ea typeface="SimSun" charset="-122"/>
                <a:cs typeface="SimSun" charset="-122"/>
              </a:rPr>
              <a:t>的角度出发，给所有学习者都是千篇一律的教学内容和千人一面的学习路径，大而全的体系化教学，目标是培养专才或进行大而全但不管学习者需不需要的科普。</a:t>
            </a:r>
            <a:endParaRPr kumimoji="1" lang="en-US" altLang="zh-CN" dirty="0"/>
          </a:p>
          <a:p>
            <a:r>
              <a:rPr kumimoji="1" lang="zh-CN" altLang="en-US" dirty="0"/>
              <a:t>智能教学是学有兴趣的，难易程度适合自己的，学用得上的，用的时候推荐你学。</a:t>
            </a:r>
          </a:p>
        </p:txBody>
      </p:sp>
      <p:sp>
        <p:nvSpPr>
          <p:cNvPr id="4" name="幻灯片编号占位符 3"/>
          <p:cNvSpPr>
            <a:spLocks noGrp="1"/>
          </p:cNvSpPr>
          <p:nvPr>
            <p:ph type="sldNum" sz="quarter" idx="10"/>
          </p:nvPr>
        </p:nvSpPr>
        <p:spPr/>
        <p:txBody>
          <a:bodyPr/>
          <a:lstStyle/>
          <a:p>
            <a:fld id="{9A0F2A51-1587-3344-A875-2474DC575611}" type="slidenum">
              <a:rPr kumimoji="1" lang="zh-CN" altLang="en-US" smtClean="0"/>
              <a:t>21</a:t>
            </a:fld>
            <a:endParaRPr kumimoji="1" lang="zh-CN" altLang="en-US" dirty="0"/>
          </a:p>
        </p:txBody>
      </p:sp>
    </p:spTree>
    <p:extLst>
      <p:ext uri="{BB962C8B-B14F-4D97-AF65-F5344CB8AC3E}">
        <p14:creationId xmlns:p14="http://schemas.microsoft.com/office/powerpoint/2010/main" val="5049411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要说明什么时候什么场景提供这些教学内容和功能？讲解时需要说明，例如日内交易训练，</a:t>
            </a:r>
            <a:r>
              <a:rPr kumimoji="1" lang="en-US" altLang="zh-CN" dirty="0" err="1"/>
              <a:t>FDTScore</a:t>
            </a:r>
            <a:r>
              <a:rPr kumimoji="1" lang="zh-CN" altLang="en-US" dirty="0"/>
              <a:t>若描述该用户是喜欢日内交易，则会给他推荐该功能。</a:t>
            </a:r>
          </a:p>
        </p:txBody>
      </p:sp>
      <p:sp>
        <p:nvSpPr>
          <p:cNvPr id="4" name="幻灯片编号占位符 3"/>
          <p:cNvSpPr>
            <a:spLocks noGrp="1"/>
          </p:cNvSpPr>
          <p:nvPr>
            <p:ph type="sldNum" sz="quarter" idx="10"/>
          </p:nvPr>
        </p:nvSpPr>
        <p:spPr/>
        <p:txBody>
          <a:bodyPr/>
          <a:lstStyle/>
          <a:p>
            <a:fld id="{9A0F2A51-1587-3344-A875-2474DC575611}" type="slidenum">
              <a:rPr kumimoji="1" lang="zh-CN" altLang="en-US" smtClean="0"/>
              <a:t>22</a:t>
            </a:fld>
            <a:endParaRPr kumimoji="1" lang="zh-CN" altLang="en-US" dirty="0"/>
          </a:p>
        </p:txBody>
      </p:sp>
    </p:spTree>
    <p:extLst>
      <p:ext uri="{BB962C8B-B14F-4D97-AF65-F5344CB8AC3E}">
        <p14:creationId xmlns:p14="http://schemas.microsoft.com/office/powerpoint/2010/main" val="8643256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9A0F2A51-1587-3344-A875-2474DC575611}" type="slidenum">
              <a:rPr kumimoji="1" lang="zh-CN" altLang="en-US" smtClean="0"/>
              <a:t>25</a:t>
            </a:fld>
            <a:endParaRPr kumimoji="1" lang="zh-CN" altLang="en-US" dirty="0"/>
          </a:p>
        </p:txBody>
      </p:sp>
    </p:spTree>
    <p:extLst>
      <p:ext uri="{BB962C8B-B14F-4D97-AF65-F5344CB8AC3E}">
        <p14:creationId xmlns:p14="http://schemas.microsoft.com/office/powerpoint/2010/main" val="37893485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9A0F2A51-1587-3344-A875-2474DC575611}" type="slidenum">
              <a:rPr kumimoji="1" lang="zh-CN" altLang="en-US" smtClean="0"/>
              <a:t>26</a:t>
            </a:fld>
            <a:endParaRPr kumimoji="1" lang="zh-CN" altLang="en-US" dirty="0"/>
          </a:p>
        </p:txBody>
      </p:sp>
    </p:spTree>
    <p:extLst>
      <p:ext uri="{BB962C8B-B14F-4D97-AF65-F5344CB8AC3E}">
        <p14:creationId xmlns:p14="http://schemas.microsoft.com/office/powerpoint/2010/main" val="27557910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9A0F2A51-1587-3344-A875-2474DC575611}" type="slidenum">
              <a:rPr kumimoji="1" lang="zh-CN" altLang="en-US" smtClean="0"/>
              <a:t>27</a:t>
            </a:fld>
            <a:endParaRPr kumimoji="1" lang="zh-CN" altLang="en-US" dirty="0"/>
          </a:p>
        </p:txBody>
      </p:sp>
    </p:spTree>
    <p:extLst>
      <p:ext uri="{BB962C8B-B14F-4D97-AF65-F5344CB8AC3E}">
        <p14:creationId xmlns:p14="http://schemas.microsoft.com/office/powerpoint/2010/main" val="18199606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9A0F2A51-1587-3344-A875-2474DC575611}" type="slidenum">
              <a:rPr kumimoji="1" lang="zh-CN" altLang="en-US" smtClean="0"/>
              <a:t>28</a:t>
            </a:fld>
            <a:endParaRPr kumimoji="1" lang="zh-CN" altLang="en-US" dirty="0"/>
          </a:p>
        </p:txBody>
      </p:sp>
    </p:spTree>
    <p:extLst>
      <p:ext uri="{BB962C8B-B14F-4D97-AF65-F5344CB8AC3E}">
        <p14:creationId xmlns:p14="http://schemas.microsoft.com/office/powerpoint/2010/main" val="5958584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A4EC9969-E741-4B41-85BB-A965802C6605}" type="datetimeFigureOut">
              <a:rPr kumimoji="1" lang="zh-CN" altLang="en-US" smtClean="0"/>
              <a:t>2018/1/19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54B8FA99-26A0-874C-AAD7-04E01F9EBD61}" type="slidenum">
              <a:rPr kumimoji="1" lang="zh-CN" altLang="en-US" smtClean="0"/>
              <a:t>‹#›</a:t>
            </a:fld>
            <a:endParaRPr kumimoji="1" lang="zh-CN" altLang="en-US"/>
          </a:p>
        </p:txBody>
      </p:sp>
    </p:spTree>
    <p:extLst>
      <p:ext uri="{BB962C8B-B14F-4D97-AF65-F5344CB8AC3E}">
        <p14:creationId xmlns:p14="http://schemas.microsoft.com/office/powerpoint/2010/main" val="657329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A4EC9969-E741-4B41-85BB-A965802C6605}" type="datetimeFigureOut">
              <a:rPr kumimoji="1" lang="zh-CN" altLang="en-US" smtClean="0"/>
              <a:t>2018/1/19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54B8FA99-26A0-874C-AAD7-04E01F9EBD61}" type="slidenum">
              <a:rPr kumimoji="1" lang="zh-CN" altLang="en-US" smtClean="0"/>
              <a:t>‹#›</a:t>
            </a:fld>
            <a:endParaRPr kumimoji="1" lang="zh-CN" altLang="en-US"/>
          </a:p>
        </p:txBody>
      </p:sp>
    </p:spTree>
    <p:extLst>
      <p:ext uri="{BB962C8B-B14F-4D97-AF65-F5344CB8AC3E}">
        <p14:creationId xmlns:p14="http://schemas.microsoft.com/office/powerpoint/2010/main" val="1086858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fld id="{A4EC9969-E741-4B41-85BB-A965802C6605}" type="datetimeFigureOut">
              <a:rPr kumimoji="1" lang="zh-CN" altLang="en-US" smtClean="0"/>
              <a:t>2018/1/19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54B8FA99-26A0-874C-AAD7-04E01F9EBD61}" type="slidenum">
              <a:rPr kumimoji="1" lang="zh-CN" altLang="en-US" smtClean="0"/>
              <a:t>‹#›</a:t>
            </a:fld>
            <a:endParaRPr kumimoji="1" lang="zh-CN" altLang="en-US"/>
          </a:p>
        </p:txBody>
      </p:sp>
    </p:spTree>
    <p:extLst>
      <p:ext uri="{BB962C8B-B14F-4D97-AF65-F5344CB8AC3E}">
        <p14:creationId xmlns:p14="http://schemas.microsoft.com/office/powerpoint/2010/main" val="332571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fld id="{A4EC9969-E741-4B41-85BB-A965802C6605}" type="datetimeFigureOut">
              <a:rPr kumimoji="1" lang="zh-CN" altLang="en-US" smtClean="0"/>
              <a:t>2018/1/19</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54B8FA99-26A0-874C-AAD7-04E01F9EBD61}" type="slidenum">
              <a:rPr kumimoji="1" lang="zh-CN" altLang="en-US" smtClean="0"/>
              <a:t>‹#›</a:t>
            </a:fld>
            <a:endParaRPr kumimoji="1" lang="zh-CN" altLang="en-US"/>
          </a:p>
        </p:txBody>
      </p:sp>
    </p:spTree>
    <p:extLst>
      <p:ext uri="{BB962C8B-B14F-4D97-AF65-F5344CB8AC3E}">
        <p14:creationId xmlns:p14="http://schemas.microsoft.com/office/powerpoint/2010/main" val="1784230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fld id="{A4EC9969-E741-4B41-85BB-A965802C6605}" type="datetimeFigureOut">
              <a:rPr kumimoji="1" lang="zh-CN" altLang="en-US" smtClean="0"/>
              <a:t>2018/1/19</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幻灯片编号占位符 8"/>
          <p:cNvSpPr>
            <a:spLocks noGrp="1"/>
          </p:cNvSpPr>
          <p:nvPr>
            <p:ph type="sldNum" sz="quarter" idx="12"/>
          </p:nvPr>
        </p:nvSpPr>
        <p:spPr/>
        <p:txBody>
          <a:bodyPr/>
          <a:lstStyle/>
          <a:p>
            <a:fld id="{54B8FA99-26A0-874C-AAD7-04E01F9EBD61}" type="slidenum">
              <a:rPr kumimoji="1" lang="zh-CN" altLang="en-US" smtClean="0"/>
              <a:t>‹#›</a:t>
            </a:fld>
            <a:endParaRPr kumimoji="1" lang="zh-CN" altLang="en-US"/>
          </a:p>
        </p:txBody>
      </p:sp>
    </p:spTree>
    <p:extLst>
      <p:ext uri="{BB962C8B-B14F-4D97-AF65-F5344CB8AC3E}">
        <p14:creationId xmlns:p14="http://schemas.microsoft.com/office/powerpoint/2010/main" val="93996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A4EC9969-E741-4B41-85BB-A965802C6605}" type="datetimeFigureOut">
              <a:rPr kumimoji="1" lang="zh-CN" altLang="en-US" smtClean="0"/>
              <a:t>2018/1/19</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54B8FA99-26A0-874C-AAD7-04E01F9EBD61}" type="slidenum">
              <a:rPr kumimoji="1" lang="zh-CN" altLang="en-US" smtClean="0"/>
              <a:t>‹#›</a:t>
            </a:fld>
            <a:endParaRPr kumimoji="1" lang="zh-CN" altLang="en-US"/>
          </a:p>
        </p:txBody>
      </p:sp>
    </p:spTree>
    <p:extLst>
      <p:ext uri="{BB962C8B-B14F-4D97-AF65-F5344CB8AC3E}">
        <p14:creationId xmlns:p14="http://schemas.microsoft.com/office/powerpoint/2010/main" val="1406073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4EC9969-E741-4B41-85BB-A965802C6605}" type="datetimeFigureOut">
              <a:rPr kumimoji="1" lang="zh-CN" altLang="en-US" smtClean="0"/>
              <a:t>2018/1/19</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幻灯片编号占位符 3"/>
          <p:cNvSpPr>
            <a:spLocks noGrp="1"/>
          </p:cNvSpPr>
          <p:nvPr>
            <p:ph type="sldNum" sz="quarter" idx="12"/>
          </p:nvPr>
        </p:nvSpPr>
        <p:spPr/>
        <p:txBody>
          <a:bodyPr/>
          <a:lstStyle/>
          <a:p>
            <a:fld id="{54B8FA99-26A0-874C-AAD7-04E01F9EBD61}" type="slidenum">
              <a:rPr kumimoji="1" lang="zh-CN" altLang="en-US" smtClean="0"/>
              <a:t>‹#›</a:t>
            </a:fld>
            <a:endParaRPr kumimoji="1" lang="zh-CN" altLang="en-US"/>
          </a:p>
        </p:txBody>
      </p:sp>
    </p:spTree>
    <p:extLst>
      <p:ext uri="{BB962C8B-B14F-4D97-AF65-F5344CB8AC3E}">
        <p14:creationId xmlns:p14="http://schemas.microsoft.com/office/powerpoint/2010/main" val="9626914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A4EC9969-E741-4B41-85BB-A965802C6605}" type="datetimeFigureOut">
              <a:rPr kumimoji="1" lang="zh-CN" altLang="en-US" smtClean="0"/>
              <a:t>2018/1/19</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54B8FA99-26A0-874C-AAD7-04E01F9EBD61}" type="slidenum">
              <a:rPr kumimoji="1" lang="zh-CN" altLang="en-US" smtClean="0"/>
              <a:t>‹#›</a:t>
            </a:fld>
            <a:endParaRPr kumimoji="1" lang="zh-CN" altLang="en-US"/>
          </a:p>
        </p:txBody>
      </p:sp>
    </p:spTree>
    <p:extLst>
      <p:ext uri="{BB962C8B-B14F-4D97-AF65-F5344CB8AC3E}">
        <p14:creationId xmlns:p14="http://schemas.microsoft.com/office/powerpoint/2010/main" val="8126977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A4EC9969-E741-4B41-85BB-A965802C6605}" type="datetimeFigureOut">
              <a:rPr kumimoji="1" lang="zh-CN" altLang="en-US" smtClean="0"/>
              <a:t>2018/1/19</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54B8FA99-26A0-874C-AAD7-04E01F9EBD61}" type="slidenum">
              <a:rPr kumimoji="1" lang="zh-CN" altLang="en-US" smtClean="0"/>
              <a:t>‹#›</a:t>
            </a:fld>
            <a:endParaRPr kumimoji="1" lang="zh-CN" altLang="en-US"/>
          </a:p>
        </p:txBody>
      </p:sp>
    </p:spTree>
    <p:extLst>
      <p:ext uri="{BB962C8B-B14F-4D97-AF65-F5344CB8AC3E}">
        <p14:creationId xmlns:p14="http://schemas.microsoft.com/office/powerpoint/2010/main" val="1015223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本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A4EC9969-E741-4B41-85BB-A965802C6605}" type="datetimeFigureOut">
              <a:rPr kumimoji="1" lang="zh-CN" altLang="en-US" smtClean="0"/>
              <a:t>2018/1/19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54B8FA99-26A0-874C-AAD7-04E01F9EBD61}" type="slidenum">
              <a:rPr kumimoji="1" lang="zh-CN" altLang="en-US" smtClean="0"/>
              <a:t>‹#›</a:t>
            </a:fld>
            <a:endParaRPr kumimoji="1" lang="zh-CN" altLang="en-US"/>
          </a:p>
        </p:txBody>
      </p:sp>
    </p:spTree>
    <p:extLst>
      <p:ext uri="{BB962C8B-B14F-4D97-AF65-F5344CB8AC3E}">
        <p14:creationId xmlns:p14="http://schemas.microsoft.com/office/powerpoint/2010/main" val="1108595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本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A4EC9969-E741-4B41-85BB-A965802C6605}" type="datetimeFigureOut">
              <a:rPr kumimoji="1" lang="zh-CN" altLang="en-US" smtClean="0"/>
              <a:t>2018/1/19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54B8FA99-26A0-874C-AAD7-04E01F9EBD61}" type="slidenum">
              <a:rPr kumimoji="1" lang="zh-CN" altLang="en-US" smtClean="0"/>
              <a:t>‹#›</a:t>
            </a:fld>
            <a:endParaRPr kumimoji="1" lang="zh-CN" altLang="en-US"/>
          </a:p>
        </p:txBody>
      </p:sp>
    </p:spTree>
    <p:extLst>
      <p:ext uri="{BB962C8B-B14F-4D97-AF65-F5344CB8AC3E}">
        <p14:creationId xmlns:p14="http://schemas.microsoft.com/office/powerpoint/2010/main" val="6029514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EC9969-E741-4B41-85BB-A965802C6605}" type="datetimeFigureOut">
              <a:rPr kumimoji="1" lang="zh-CN" altLang="en-US" smtClean="0"/>
              <a:t>2018/1/19</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B8FA99-26A0-874C-AAD7-04E01F9EBD61}" type="slidenum">
              <a:rPr kumimoji="1" lang="zh-CN" altLang="en-US" smtClean="0"/>
              <a:t>‹#›</a:t>
            </a:fld>
            <a:endParaRPr kumimoji="1" lang="zh-CN" altLang="en-US"/>
          </a:p>
        </p:txBody>
      </p:sp>
    </p:spTree>
    <p:extLst>
      <p:ext uri="{BB962C8B-B14F-4D97-AF65-F5344CB8AC3E}">
        <p14:creationId xmlns:p14="http://schemas.microsoft.com/office/powerpoint/2010/main" val="10287408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tiff"/><Relationship Id="rId7" Type="http://schemas.openxmlformats.org/officeDocument/2006/relationships/image" Target="../media/image9.tiff"/><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8.tiff"/><Relationship Id="rId5" Type="http://schemas.openxmlformats.org/officeDocument/2006/relationships/image" Target="../media/image7.tiff"/><Relationship Id="rId4" Type="http://schemas.openxmlformats.org/officeDocument/2006/relationships/image" Target="../media/image6.tiff"/></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comments" Target="../comments/commen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comments" Target="../comments/comment3.xml"/><Relationship Id="rId5" Type="http://schemas.openxmlformats.org/officeDocument/2006/relationships/image" Target="../media/image13.jpg"/><Relationship Id="rId4" Type="http://schemas.openxmlformats.org/officeDocument/2006/relationships/image" Target="../media/image12.jp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4.jpg"/></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6.jpe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2.jpg"/><Relationship Id="rId5" Type="http://schemas.openxmlformats.org/officeDocument/2006/relationships/image" Target="../media/image3.png"/><Relationship Id="rId4" Type="http://schemas.openxmlformats.org/officeDocument/2006/relationships/image" Target="../media/image21.jpeg"/></Relationships>
</file>

<file path=ppt/slides/_rels/slide1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3.png"/><Relationship Id="rId7"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36.jpg"/><Relationship Id="rId3" Type="http://schemas.openxmlformats.org/officeDocument/2006/relationships/image" Target="../media/image31.jpg"/><Relationship Id="rId7" Type="http://schemas.openxmlformats.org/officeDocument/2006/relationships/image" Target="../media/image35.jpg"/><Relationship Id="rId12"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4.jpg"/><Relationship Id="rId11" Type="http://schemas.openxmlformats.org/officeDocument/2006/relationships/image" Target="../media/image39.jpg"/><Relationship Id="rId5" Type="http://schemas.openxmlformats.org/officeDocument/2006/relationships/image" Target="../media/image33.jpg"/><Relationship Id="rId10" Type="http://schemas.openxmlformats.org/officeDocument/2006/relationships/image" Target="../media/image38.jpg"/><Relationship Id="rId4" Type="http://schemas.openxmlformats.org/officeDocument/2006/relationships/image" Target="../media/image32.jpg"/><Relationship Id="rId9" Type="http://schemas.openxmlformats.org/officeDocument/2006/relationships/image" Target="../media/image37.jpg"/></Relationships>
</file>

<file path=ppt/slides/_rels/slide23.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3" Type="http://schemas.openxmlformats.org/officeDocument/2006/relationships/image" Target="../media/image3.png"/><Relationship Id="rId7" Type="http://schemas.openxmlformats.org/officeDocument/2006/relationships/image" Target="../media/image44.png"/><Relationship Id="rId12" Type="http://schemas.openxmlformats.org/officeDocument/2006/relationships/image" Target="../media/image49.png"/><Relationship Id="rId2" Type="http://schemas.openxmlformats.org/officeDocument/2006/relationships/image" Target="../media/image40.png"/><Relationship Id="rId1" Type="http://schemas.openxmlformats.org/officeDocument/2006/relationships/slideLayout" Target="../slideLayouts/slideLayout1.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5" Type="http://schemas.openxmlformats.org/officeDocument/2006/relationships/image" Target="../media/image5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 Id="rId14" Type="http://schemas.openxmlformats.org/officeDocument/2006/relationships/image" Target="../media/image51.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7.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58.GIF"/><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60.png"/><Relationship Id="rId4" Type="http://schemas.openxmlformats.org/officeDocument/2006/relationships/image" Target="../media/image59.png"/></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p:cNvSpPr/>
          <p:nvPr/>
        </p:nvSpPr>
        <p:spPr>
          <a:xfrm>
            <a:off x="-88297" y="-928993"/>
            <a:ext cx="12903929" cy="8715986"/>
          </a:xfrm>
          <a:prstGeom prst="rect">
            <a:avLst/>
          </a:prstGeom>
          <a:solidFill>
            <a:srgbClr val="00000A"/>
          </a:solidFill>
          <a:ln w="3175">
            <a:miter lim="400000"/>
          </a:ln>
        </p:spPr>
        <p:txBody>
          <a:bodyPr lIns="26789" tIns="26789" rIns="26789" bIns="26789" anchor="ctr"/>
          <a:lstStyle/>
          <a:p>
            <a:pPr>
              <a:defRPr sz="1400">
                <a:latin typeface="+mn-lt"/>
                <a:ea typeface="+mn-ea"/>
                <a:cs typeface="+mn-cs"/>
                <a:sym typeface="Helvetica Neue Medium"/>
              </a:defRPr>
            </a:pPr>
            <a:endParaRPr/>
          </a:p>
        </p:txBody>
      </p:sp>
      <p:pic>
        <p:nvPicPr>
          <p:cNvPr id="18" name="Hong Kond Science Park _ Places _ Student World Online _ .jpg" descr="Hong Kond Science Park _ Places _ Student World Online _ .jpg"/>
          <p:cNvPicPr>
            <a:picLocks noChangeAspect="1"/>
          </p:cNvPicPr>
          <p:nvPr/>
        </p:nvPicPr>
        <p:blipFill>
          <a:blip r:embed="rId2">
            <a:alphaModFix amt="49924"/>
            <a:extLst/>
          </a:blip>
          <a:stretch>
            <a:fillRect/>
          </a:stretch>
        </p:blipFill>
        <p:spPr>
          <a:xfrm>
            <a:off x="17660" y="-623176"/>
            <a:ext cx="12156528" cy="8104352"/>
          </a:xfrm>
          <a:prstGeom prst="rect">
            <a:avLst/>
          </a:prstGeom>
          <a:ln w="3175">
            <a:miter lim="400000"/>
          </a:ln>
        </p:spPr>
      </p:pic>
      <p:sp>
        <p:nvSpPr>
          <p:cNvPr id="19" name="公司简介"/>
          <p:cNvSpPr txBox="1"/>
          <p:nvPr/>
        </p:nvSpPr>
        <p:spPr>
          <a:xfrm>
            <a:off x="1472972" y="5532754"/>
            <a:ext cx="2824090" cy="608099"/>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lvl1pPr>
              <a:defRPr sz="2200">
                <a:latin typeface="PingFang SC Regular"/>
                <a:ea typeface="PingFang SC Regular"/>
                <a:cs typeface="PingFang SC Regular"/>
                <a:sym typeface="PingFang SC Regular"/>
              </a:defRPr>
            </a:lvl1pPr>
          </a:lstStyle>
          <a:p>
            <a:r>
              <a:rPr lang="zh-CN" altLang="en-US" sz="3600" dirty="0">
                <a:solidFill>
                  <a:schemeClr val="bg1"/>
                </a:solidFill>
                <a:latin typeface="SimSun" charset="-122"/>
                <a:ea typeface="SimSun" charset="-122"/>
                <a:cs typeface="SimSun" charset="-122"/>
              </a:rPr>
              <a:t>产品介绍手册</a:t>
            </a:r>
            <a:endParaRPr sz="3600" dirty="0">
              <a:solidFill>
                <a:schemeClr val="bg1"/>
              </a:solidFill>
              <a:latin typeface="SimSun" charset="-122"/>
              <a:ea typeface="SimSun" charset="-122"/>
              <a:cs typeface="SimSun" charset="-122"/>
            </a:endParaRPr>
          </a:p>
        </p:txBody>
      </p:sp>
      <p:sp>
        <p:nvSpPr>
          <p:cNvPr id="20" name="线条"/>
          <p:cNvSpPr/>
          <p:nvPr/>
        </p:nvSpPr>
        <p:spPr>
          <a:xfrm flipV="1">
            <a:off x="922543" y="-4019"/>
            <a:ext cx="1" cy="6866038"/>
          </a:xfrm>
          <a:prstGeom prst="line">
            <a:avLst/>
          </a:prstGeom>
          <a:ln w="3175">
            <a:solidFill>
              <a:srgbClr val="FFFFFF">
                <a:alpha val="20000"/>
              </a:srgbClr>
            </a:solidFill>
            <a:miter lim="400000"/>
          </a:ln>
        </p:spPr>
        <p:txBody>
          <a:bodyPr lIns="26789" tIns="26789" rIns="26789" bIns="26789" anchor="ctr"/>
          <a:lstStyle/>
          <a:p>
            <a:pPr>
              <a:defRPr sz="1400">
                <a:latin typeface="+mn-lt"/>
                <a:ea typeface="+mn-ea"/>
                <a:cs typeface="+mn-cs"/>
                <a:sym typeface="Helvetica Neue Medium"/>
              </a:defRPr>
            </a:pPr>
            <a:endParaRPr>
              <a:solidFill>
                <a:schemeClr val="bg1"/>
              </a:solidFill>
              <a:latin typeface="SimSun" charset="-122"/>
              <a:ea typeface="SimSun" charset="-122"/>
              <a:cs typeface="SimSun" charset="-122"/>
            </a:endParaRPr>
          </a:p>
        </p:txBody>
      </p:sp>
      <p:sp>
        <p:nvSpPr>
          <p:cNvPr id="21" name="矩形"/>
          <p:cNvSpPr/>
          <p:nvPr/>
        </p:nvSpPr>
        <p:spPr>
          <a:xfrm rot="5400000">
            <a:off x="317207" y="1677297"/>
            <a:ext cx="271171" cy="26790"/>
          </a:xfrm>
          <a:prstGeom prst="rect">
            <a:avLst/>
          </a:prstGeom>
          <a:solidFill>
            <a:srgbClr val="FFFFFF"/>
          </a:solidFill>
          <a:ln w="3175">
            <a:miter lim="400000"/>
          </a:ln>
        </p:spPr>
        <p:txBody>
          <a:bodyPr lIns="26789" tIns="26789" rIns="26789" bIns="26789" anchor="ctr"/>
          <a:lstStyle/>
          <a:p>
            <a:pPr>
              <a:defRPr sz="1400">
                <a:solidFill>
                  <a:srgbClr val="8D2B29"/>
                </a:solidFill>
                <a:latin typeface="+mn-lt"/>
                <a:ea typeface="+mn-ea"/>
                <a:cs typeface="+mn-cs"/>
                <a:sym typeface="Helvetica Neue Medium"/>
              </a:defRPr>
            </a:pPr>
            <a:endParaRPr>
              <a:solidFill>
                <a:schemeClr val="bg1"/>
              </a:solidFill>
              <a:latin typeface="SimSun" charset="-122"/>
              <a:ea typeface="SimSun" charset="-122"/>
              <a:cs typeface="SimSun" charset="-122"/>
            </a:endParaRPr>
          </a:p>
        </p:txBody>
      </p:sp>
      <p:sp>
        <p:nvSpPr>
          <p:cNvPr id="22" name="矩形"/>
          <p:cNvSpPr/>
          <p:nvPr/>
        </p:nvSpPr>
        <p:spPr>
          <a:xfrm rot="5400000">
            <a:off x="375530" y="1677297"/>
            <a:ext cx="271171" cy="26790"/>
          </a:xfrm>
          <a:prstGeom prst="rect">
            <a:avLst/>
          </a:prstGeom>
          <a:solidFill>
            <a:srgbClr val="FFFFFF"/>
          </a:solidFill>
          <a:ln w="3175">
            <a:miter lim="400000"/>
          </a:ln>
        </p:spPr>
        <p:txBody>
          <a:bodyPr lIns="26789" tIns="26789" rIns="26789" bIns="26789" anchor="ctr"/>
          <a:lstStyle/>
          <a:p>
            <a:pPr>
              <a:defRPr sz="1400">
                <a:solidFill>
                  <a:srgbClr val="8D2B29"/>
                </a:solidFill>
                <a:latin typeface="+mn-lt"/>
                <a:ea typeface="+mn-ea"/>
                <a:cs typeface="+mn-cs"/>
                <a:sym typeface="Helvetica Neue Medium"/>
              </a:defRPr>
            </a:pPr>
            <a:endParaRPr>
              <a:solidFill>
                <a:schemeClr val="bg1"/>
              </a:solidFill>
              <a:latin typeface="SimSun" charset="-122"/>
              <a:ea typeface="SimSun" charset="-122"/>
              <a:cs typeface="SimSun" charset="-122"/>
            </a:endParaRPr>
          </a:p>
        </p:txBody>
      </p:sp>
      <p:sp>
        <p:nvSpPr>
          <p:cNvPr id="23" name="01"/>
          <p:cNvSpPr txBox="1"/>
          <p:nvPr/>
        </p:nvSpPr>
        <p:spPr>
          <a:xfrm>
            <a:off x="426502" y="6356108"/>
            <a:ext cx="182341" cy="207990"/>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lvl1pPr>
              <a:defRPr sz="1000">
                <a:solidFill>
                  <a:srgbClr val="929292"/>
                </a:solidFill>
                <a:latin typeface="PingFang SC Light"/>
                <a:ea typeface="PingFang SC Light"/>
                <a:cs typeface="PingFang SC Light"/>
                <a:sym typeface="PingFang SC Light"/>
              </a:defRPr>
            </a:lvl1pPr>
          </a:lstStyle>
          <a:p>
            <a:r>
              <a:rPr dirty="0">
                <a:solidFill>
                  <a:schemeClr val="bg1"/>
                </a:solidFill>
                <a:latin typeface="SimSun" charset="-122"/>
                <a:ea typeface="SimSun" charset="-122"/>
                <a:cs typeface="SimSun" charset="-122"/>
              </a:rPr>
              <a:t>01</a:t>
            </a:r>
          </a:p>
        </p:txBody>
      </p:sp>
      <p:sp>
        <p:nvSpPr>
          <p:cNvPr id="24" name="ABOUT"/>
          <p:cNvSpPr txBox="1"/>
          <p:nvPr/>
        </p:nvSpPr>
        <p:spPr>
          <a:xfrm>
            <a:off x="1555549" y="1775446"/>
            <a:ext cx="631182" cy="331100"/>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p>
            <a:r>
              <a:rPr dirty="0">
                <a:solidFill>
                  <a:schemeClr val="bg1"/>
                </a:solidFill>
                <a:latin typeface="SimSun" charset="-122"/>
                <a:ea typeface="SimSun" charset="-122"/>
                <a:cs typeface="SimSun" charset="-122"/>
              </a:rPr>
              <a:t>ABOUT</a:t>
            </a:r>
          </a:p>
        </p:txBody>
      </p:sp>
      <p:sp>
        <p:nvSpPr>
          <p:cNvPr id="25" name="WHO"/>
          <p:cNvSpPr txBox="1"/>
          <p:nvPr/>
        </p:nvSpPr>
        <p:spPr>
          <a:xfrm>
            <a:off x="1857438" y="2237048"/>
            <a:ext cx="400350" cy="331100"/>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p>
            <a:r>
              <a:rPr dirty="0">
                <a:solidFill>
                  <a:schemeClr val="bg1"/>
                </a:solidFill>
                <a:latin typeface="SimSun" charset="-122"/>
                <a:ea typeface="SimSun" charset="-122"/>
                <a:cs typeface="SimSun" charset="-122"/>
              </a:rPr>
              <a:t>WHO</a:t>
            </a:r>
          </a:p>
        </p:txBody>
      </p:sp>
      <p:sp>
        <p:nvSpPr>
          <p:cNvPr id="26" name="WE"/>
          <p:cNvSpPr txBox="1"/>
          <p:nvPr/>
        </p:nvSpPr>
        <p:spPr>
          <a:xfrm>
            <a:off x="2368453" y="2237048"/>
            <a:ext cx="284934" cy="331100"/>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p>
            <a:r>
              <a:rPr dirty="0">
                <a:solidFill>
                  <a:schemeClr val="bg1"/>
                </a:solidFill>
                <a:latin typeface="SimSun" charset="-122"/>
                <a:ea typeface="SimSun" charset="-122"/>
                <a:cs typeface="SimSun" charset="-122"/>
              </a:rPr>
              <a:t>WE</a:t>
            </a:r>
          </a:p>
        </p:txBody>
      </p:sp>
      <p:sp>
        <p:nvSpPr>
          <p:cNvPr id="27" name="ARE"/>
          <p:cNvSpPr txBox="1"/>
          <p:nvPr/>
        </p:nvSpPr>
        <p:spPr>
          <a:xfrm>
            <a:off x="2812065" y="2237048"/>
            <a:ext cx="400350" cy="331100"/>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p>
            <a:r>
              <a:rPr dirty="0">
                <a:solidFill>
                  <a:schemeClr val="bg1"/>
                </a:solidFill>
                <a:latin typeface="SimSun" charset="-122"/>
                <a:ea typeface="SimSun" charset="-122"/>
                <a:cs typeface="SimSun" charset="-122"/>
              </a:rPr>
              <a:t>ARE</a:t>
            </a:r>
          </a:p>
        </p:txBody>
      </p:sp>
      <p:sp>
        <p:nvSpPr>
          <p:cNvPr id="28" name="圆形"/>
          <p:cNvSpPr/>
          <p:nvPr/>
        </p:nvSpPr>
        <p:spPr>
          <a:xfrm>
            <a:off x="1614305" y="2322599"/>
            <a:ext cx="159997" cy="159997"/>
          </a:xfrm>
          <a:prstGeom prst="ellipse">
            <a:avLst/>
          </a:prstGeom>
          <a:solidFill>
            <a:srgbClr val="CAA354"/>
          </a:solidFill>
          <a:ln w="3175">
            <a:miter lim="400000"/>
          </a:ln>
        </p:spPr>
        <p:txBody>
          <a:bodyPr lIns="26789" tIns="26789" rIns="26789" bIns="26789" anchor="ctr"/>
          <a:lstStyle/>
          <a:p>
            <a:pPr>
              <a:defRPr sz="1400">
                <a:latin typeface="+mn-lt"/>
                <a:ea typeface="+mn-ea"/>
                <a:cs typeface="+mn-cs"/>
                <a:sym typeface="Helvetica Neue Medium"/>
              </a:defRPr>
            </a:pPr>
            <a:endParaRPr>
              <a:solidFill>
                <a:schemeClr val="bg1"/>
              </a:solidFill>
              <a:latin typeface="SimSun" charset="-122"/>
              <a:ea typeface="SimSun" charset="-122"/>
              <a:cs typeface="SimSun" charset="-122"/>
            </a:endParaRPr>
          </a:p>
        </p:txBody>
      </p:sp>
      <p:pic>
        <p:nvPicPr>
          <p:cNvPr id="29" name="图像" descr="图像"/>
          <p:cNvPicPr>
            <a:picLocks noChangeAspect="1"/>
          </p:cNvPicPr>
          <p:nvPr/>
        </p:nvPicPr>
        <p:blipFill>
          <a:blip r:embed="rId3">
            <a:extLst/>
          </a:blip>
          <a:stretch>
            <a:fillRect/>
          </a:stretch>
        </p:blipFill>
        <p:spPr>
          <a:xfrm>
            <a:off x="10490200" y="431800"/>
            <a:ext cx="1257300" cy="333968"/>
          </a:xfrm>
          <a:prstGeom prst="rect">
            <a:avLst/>
          </a:prstGeom>
          <a:ln w="3175">
            <a:miter lim="400000"/>
          </a:ln>
        </p:spPr>
      </p:pic>
      <p:sp>
        <p:nvSpPr>
          <p:cNvPr id="15" name="WHO">
            <a:extLst>
              <a:ext uri="{FF2B5EF4-FFF2-40B4-BE49-F238E27FC236}">
                <a16:creationId xmlns:a16="http://schemas.microsoft.com/office/drawing/2014/main" id="{E063D032-BDBF-4AC2-80BB-C0C165BD7EF3}"/>
              </a:ext>
            </a:extLst>
          </p:cNvPr>
          <p:cNvSpPr txBox="1"/>
          <p:nvPr/>
        </p:nvSpPr>
        <p:spPr>
          <a:xfrm>
            <a:off x="1863534" y="2645480"/>
            <a:ext cx="515766" cy="331100"/>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p>
            <a:r>
              <a:rPr lang="en-US" altLang="zh-CN" dirty="0">
                <a:solidFill>
                  <a:schemeClr val="bg1"/>
                </a:solidFill>
                <a:latin typeface="SimSun" charset="-122"/>
                <a:ea typeface="SimSun" charset="-122"/>
                <a:cs typeface="SimSun" charset="-122"/>
              </a:rPr>
              <a:t>WHAT</a:t>
            </a:r>
            <a:endParaRPr dirty="0">
              <a:solidFill>
                <a:schemeClr val="bg1"/>
              </a:solidFill>
              <a:latin typeface="SimSun" charset="-122"/>
              <a:ea typeface="SimSun" charset="-122"/>
              <a:cs typeface="SimSun" charset="-122"/>
            </a:endParaRPr>
          </a:p>
        </p:txBody>
      </p:sp>
      <p:sp>
        <p:nvSpPr>
          <p:cNvPr id="16" name="WE">
            <a:extLst>
              <a:ext uri="{FF2B5EF4-FFF2-40B4-BE49-F238E27FC236}">
                <a16:creationId xmlns:a16="http://schemas.microsoft.com/office/drawing/2014/main" id="{89914FB3-5294-4059-BF7A-F69BBF2F024D}"/>
              </a:ext>
            </a:extLst>
          </p:cNvPr>
          <p:cNvSpPr txBox="1"/>
          <p:nvPr/>
        </p:nvSpPr>
        <p:spPr>
          <a:xfrm>
            <a:off x="2494205" y="2645480"/>
            <a:ext cx="284934" cy="331100"/>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p>
            <a:r>
              <a:rPr dirty="0">
                <a:solidFill>
                  <a:schemeClr val="bg1"/>
                </a:solidFill>
                <a:latin typeface="SimSun" charset="-122"/>
                <a:ea typeface="SimSun" charset="-122"/>
                <a:cs typeface="SimSun" charset="-122"/>
              </a:rPr>
              <a:t>WE</a:t>
            </a:r>
          </a:p>
        </p:txBody>
      </p:sp>
      <p:sp>
        <p:nvSpPr>
          <p:cNvPr id="30" name="ARE">
            <a:extLst>
              <a:ext uri="{FF2B5EF4-FFF2-40B4-BE49-F238E27FC236}">
                <a16:creationId xmlns:a16="http://schemas.microsoft.com/office/drawing/2014/main" id="{B739D36B-29B4-455D-9078-0578311F6B64}"/>
              </a:ext>
            </a:extLst>
          </p:cNvPr>
          <p:cNvSpPr txBox="1"/>
          <p:nvPr/>
        </p:nvSpPr>
        <p:spPr>
          <a:xfrm>
            <a:off x="2937405" y="2645480"/>
            <a:ext cx="400350" cy="331100"/>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p>
            <a:r>
              <a:rPr dirty="0">
                <a:solidFill>
                  <a:schemeClr val="bg1"/>
                </a:solidFill>
                <a:latin typeface="SimSun" charset="-122"/>
                <a:ea typeface="SimSun" charset="-122"/>
                <a:cs typeface="SimSun" charset="-122"/>
              </a:rPr>
              <a:t>ARE</a:t>
            </a:r>
          </a:p>
        </p:txBody>
      </p:sp>
      <p:sp>
        <p:nvSpPr>
          <p:cNvPr id="31" name="ARE">
            <a:extLst>
              <a:ext uri="{FF2B5EF4-FFF2-40B4-BE49-F238E27FC236}">
                <a16:creationId xmlns:a16="http://schemas.microsoft.com/office/drawing/2014/main" id="{834C2A4D-FF5C-4B40-886D-129753DA769A}"/>
              </a:ext>
            </a:extLst>
          </p:cNvPr>
          <p:cNvSpPr txBox="1"/>
          <p:nvPr/>
        </p:nvSpPr>
        <p:spPr>
          <a:xfrm>
            <a:off x="3470860" y="2645480"/>
            <a:ext cx="631182" cy="331100"/>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p>
            <a:r>
              <a:rPr lang="en-US" altLang="zh-CN" dirty="0">
                <a:solidFill>
                  <a:schemeClr val="bg1"/>
                </a:solidFill>
                <a:latin typeface="SimSun" charset="-122"/>
                <a:ea typeface="SimSun" charset="-122"/>
                <a:cs typeface="SimSun" charset="-122"/>
              </a:rPr>
              <a:t>DOING</a:t>
            </a:r>
            <a:endParaRPr dirty="0">
              <a:solidFill>
                <a:schemeClr val="bg1"/>
              </a:solidFill>
              <a:latin typeface="SimSun" charset="-122"/>
              <a:ea typeface="SimSun" charset="-122"/>
              <a:cs typeface="SimSun" charset="-122"/>
            </a:endParaRPr>
          </a:p>
        </p:txBody>
      </p:sp>
      <p:sp>
        <p:nvSpPr>
          <p:cNvPr id="32" name="圆形">
            <a:extLst>
              <a:ext uri="{FF2B5EF4-FFF2-40B4-BE49-F238E27FC236}">
                <a16:creationId xmlns:a16="http://schemas.microsoft.com/office/drawing/2014/main" id="{2360F62B-2C71-4E03-AB9D-AA28F5508E9F}"/>
              </a:ext>
            </a:extLst>
          </p:cNvPr>
          <p:cNvSpPr/>
          <p:nvPr/>
        </p:nvSpPr>
        <p:spPr>
          <a:xfrm>
            <a:off x="1614304" y="2788021"/>
            <a:ext cx="159997" cy="159997"/>
          </a:xfrm>
          <a:prstGeom prst="ellipse">
            <a:avLst/>
          </a:prstGeom>
          <a:solidFill>
            <a:srgbClr val="CAA354"/>
          </a:solidFill>
          <a:ln w="3175">
            <a:miter lim="400000"/>
          </a:ln>
        </p:spPr>
        <p:txBody>
          <a:bodyPr lIns="26789" tIns="26789" rIns="26789" bIns="26789" anchor="ctr"/>
          <a:lstStyle/>
          <a:p>
            <a:pPr>
              <a:defRPr sz="1400">
                <a:latin typeface="+mn-lt"/>
                <a:ea typeface="+mn-ea"/>
                <a:cs typeface="+mn-cs"/>
                <a:sym typeface="Helvetica Neue Medium"/>
              </a:defRPr>
            </a:pPr>
            <a:endParaRPr>
              <a:solidFill>
                <a:schemeClr val="bg1"/>
              </a:solidFill>
              <a:latin typeface="SimSun" charset="-122"/>
              <a:ea typeface="SimSun" charset="-122"/>
              <a:cs typeface="SimSun" charset="-122"/>
            </a:endParaRPr>
          </a:p>
        </p:txBody>
      </p:sp>
    </p:spTree>
    <p:extLst>
      <p:ext uri="{BB962C8B-B14F-4D97-AF65-F5344CB8AC3E}">
        <p14:creationId xmlns:p14="http://schemas.microsoft.com/office/powerpoint/2010/main" val="19769551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5"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6"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7" name="02"/>
          <p:cNvSpPr txBox="1"/>
          <p:nvPr/>
        </p:nvSpPr>
        <p:spPr>
          <a:xfrm>
            <a:off x="341508" y="6344413"/>
            <a:ext cx="218679" cy="231380"/>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lvl1pPr>
              <a:defRPr sz="1000">
                <a:solidFill>
                  <a:srgbClr val="CAA354"/>
                </a:solidFill>
                <a:latin typeface="PingFang SC Regular"/>
                <a:ea typeface="PingFang SC Regular"/>
                <a:cs typeface="PingFang SC Regular"/>
                <a:sym typeface="PingFang SC Regular"/>
              </a:defRPr>
            </a:lvl1pPr>
          </a:lstStyle>
          <a:p>
            <a:r>
              <a:rPr dirty="0"/>
              <a:t>02</a:t>
            </a:r>
          </a:p>
        </p:txBody>
      </p:sp>
      <p:pic>
        <p:nvPicPr>
          <p:cNvPr id="8" name="图像" descr="图像"/>
          <p:cNvPicPr>
            <a:picLocks noChangeAspect="1"/>
          </p:cNvPicPr>
          <p:nvPr/>
        </p:nvPicPr>
        <p:blipFill>
          <a:blip r:embed="rId2">
            <a:extLst/>
          </a:blip>
          <a:stretch>
            <a:fillRect/>
          </a:stretch>
        </p:blipFill>
        <p:spPr>
          <a:xfrm>
            <a:off x="10484724" y="427048"/>
            <a:ext cx="1253576" cy="332979"/>
          </a:xfrm>
          <a:prstGeom prst="rect">
            <a:avLst/>
          </a:prstGeom>
          <a:ln w="3175">
            <a:miter lim="400000"/>
          </a:ln>
        </p:spPr>
      </p:pic>
      <p:sp>
        <p:nvSpPr>
          <p:cNvPr id="9" name="公司简介"/>
          <p:cNvSpPr txBox="1"/>
          <p:nvPr/>
        </p:nvSpPr>
        <p:spPr>
          <a:xfrm>
            <a:off x="8036172" y="1264635"/>
            <a:ext cx="1082279" cy="409179"/>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r>
              <a:rPr dirty="0" err="1"/>
              <a:t>公司简介</a:t>
            </a:r>
            <a:endParaRPr dirty="0"/>
          </a:p>
        </p:txBody>
      </p:sp>
      <p:sp>
        <p:nvSpPr>
          <p:cNvPr id="10" name="市场机遇"/>
          <p:cNvSpPr txBox="1"/>
          <p:nvPr/>
        </p:nvSpPr>
        <p:spPr>
          <a:xfrm>
            <a:off x="8036173" y="1934742"/>
            <a:ext cx="1849465" cy="361878"/>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r>
              <a:rPr lang="zh-CN" altLang="en-US" dirty="0"/>
              <a:t>智能投资者画像</a:t>
            </a:r>
            <a:endParaRPr dirty="0"/>
          </a:p>
        </p:txBody>
      </p:sp>
      <p:sp>
        <p:nvSpPr>
          <p:cNvPr id="11" name="定位目标"/>
          <p:cNvSpPr txBox="1"/>
          <p:nvPr/>
        </p:nvSpPr>
        <p:spPr>
          <a:xfrm>
            <a:off x="8036173" y="2581199"/>
            <a:ext cx="2105945" cy="361878"/>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r>
              <a:rPr lang="zh-CN" altLang="en-US" dirty="0"/>
              <a:t>智能金融产品画像</a:t>
            </a:r>
            <a:endParaRPr dirty="0"/>
          </a:p>
        </p:txBody>
      </p:sp>
      <p:sp>
        <p:nvSpPr>
          <p:cNvPr id="12" name="数据优势"/>
          <p:cNvSpPr txBox="1"/>
          <p:nvPr/>
        </p:nvSpPr>
        <p:spPr>
          <a:xfrm>
            <a:off x="8036173" y="3227656"/>
            <a:ext cx="1080023" cy="361878"/>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r>
              <a:rPr lang="zh-CN" altLang="en-US" dirty="0"/>
              <a:t>智能教育</a:t>
            </a:r>
            <a:endParaRPr dirty="0"/>
          </a:p>
        </p:txBody>
      </p:sp>
      <p:sp>
        <p:nvSpPr>
          <p:cNvPr id="13" name="技术产品"/>
          <p:cNvSpPr txBox="1"/>
          <p:nvPr/>
        </p:nvSpPr>
        <p:spPr>
          <a:xfrm>
            <a:off x="8036173" y="3874113"/>
            <a:ext cx="1080023" cy="361878"/>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r>
              <a:rPr lang="zh-CN" altLang="en-US" dirty="0"/>
              <a:t>智能投资</a:t>
            </a:r>
            <a:endParaRPr dirty="0"/>
          </a:p>
        </p:txBody>
      </p:sp>
      <p:sp>
        <p:nvSpPr>
          <p:cNvPr id="14" name="市场客户"/>
          <p:cNvSpPr txBox="1"/>
          <p:nvPr/>
        </p:nvSpPr>
        <p:spPr>
          <a:xfrm>
            <a:off x="8036173" y="4520570"/>
            <a:ext cx="1080023" cy="361878"/>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r>
              <a:rPr lang="zh-CN" altLang="en-US" dirty="0"/>
              <a:t>智能交易</a:t>
            </a:r>
            <a:endParaRPr dirty="0"/>
          </a:p>
        </p:txBody>
      </p:sp>
      <p:sp>
        <p:nvSpPr>
          <p:cNvPr id="17" name="圆形"/>
          <p:cNvSpPr/>
          <p:nvPr/>
        </p:nvSpPr>
        <p:spPr>
          <a:xfrm>
            <a:off x="7717211" y="1433954"/>
            <a:ext cx="70540" cy="70540"/>
          </a:xfrm>
          <a:prstGeom prst="ellipse">
            <a:avLst/>
          </a:prstGeom>
          <a:solidFill>
            <a:srgbClr val="5E5E5E"/>
          </a:solidFill>
          <a:ln w="3175">
            <a:miter lim="400000"/>
          </a:ln>
        </p:spPr>
        <p:txBody>
          <a:bodyPr lIns="26789" tIns="26789" rIns="26789" bIns="26789" anchor="ctr"/>
          <a:lstStyle/>
          <a:p>
            <a:pPr algn="l">
              <a:defRPr sz="1400">
                <a:latin typeface="+mn-lt"/>
                <a:ea typeface="+mn-ea"/>
                <a:cs typeface="+mn-cs"/>
                <a:sym typeface="Helvetica Neue Medium"/>
              </a:defRPr>
            </a:pPr>
            <a:endParaRPr/>
          </a:p>
        </p:txBody>
      </p:sp>
      <p:sp>
        <p:nvSpPr>
          <p:cNvPr id="18" name="圆形"/>
          <p:cNvSpPr/>
          <p:nvPr/>
        </p:nvSpPr>
        <p:spPr>
          <a:xfrm>
            <a:off x="7717211" y="2080411"/>
            <a:ext cx="70540" cy="70540"/>
          </a:xfrm>
          <a:prstGeom prst="ellipse">
            <a:avLst/>
          </a:prstGeom>
          <a:solidFill>
            <a:srgbClr val="5E5E5E"/>
          </a:solidFill>
          <a:ln w="3175">
            <a:miter lim="400000"/>
          </a:ln>
        </p:spPr>
        <p:txBody>
          <a:bodyPr lIns="26789" tIns="26789" rIns="26789" bIns="26789" anchor="ctr"/>
          <a:lstStyle/>
          <a:p>
            <a:pPr algn="l">
              <a:defRPr sz="1400">
                <a:latin typeface="+mn-lt"/>
                <a:ea typeface="+mn-ea"/>
                <a:cs typeface="+mn-cs"/>
                <a:sym typeface="Helvetica Neue Medium"/>
              </a:defRPr>
            </a:pPr>
            <a:endParaRPr/>
          </a:p>
        </p:txBody>
      </p:sp>
      <p:sp>
        <p:nvSpPr>
          <p:cNvPr id="19" name="圆形"/>
          <p:cNvSpPr/>
          <p:nvPr/>
        </p:nvSpPr>
        <p:spPr>
          <a:xfrm>
            <a:off x="7717211" y="2726868"/>
            <a:ext cx="70540" cy="70540"/>
          </a:xfrm>
          <a:prstGeom prst="ellipse">
            <a:avLst/>
          </a:prstGeom>
          <a:solidFill>
            <a:srgbClr val="5E5E5E"/>
          </a:solidFill>
          <a:ln w="3175">
            <a:miter lim="400000"/>
          </a:ln>
        </p:spPr>
        <p:txBody>
          <a:bodyPr lIns="26789" tIns="26789" rIns="26789" bIns="26789" anchor="ctr"/>
          <a:lstStyle/>
          <a:p>
            <a:pPr algn="l">
              <a:defRPr sz="1400">
                <a:latin typeface="+mn-lt"/>
                <a:ea typeface="+mn-ea"/>
                <a:cs typeface="+mn-cs"/>
                <a:sym typeface="Helvetica Neue Medium"/>
              </a:defRPr>
            </a:pPr>
            <a:endParaRPr/>
          </a:p>
        </p:txBody>
      </p:sp>
      <p:sp>
        <p:nvSpPr>
          <p:cNvPr id="20" name="圆形"/>
          <p:cNvSpPr/>
          <p:nvPr/>
        </p:nvSpPr>
        <p:spPr>
          <a:xfrm>
            <a:off x="7717211" y="3373326"/>
            <a:ext cx="70540" cy="70539"/>
          </a:xfrm>
          <a:prstGeom prst="ellipse">
            <a:avLst/>
          </a:prstGeom>
          <a:solidFill>
            <a:srgbClr val="5E5E5E"/>
          </a:solidFill>
          <a:ln w="3175">
            <a:miter lim="400000"/>
          </a:ln>
        </p:spPr>
        <p:txBody>
          <a:bodyPr lIns="26789" tIns="26789" rIns="26789" bIns="26789" anchor="ctr"/>
          <a:lstStyle/>
          <a:p>
            <a:pPr algn="l">
              <a:defRPr sz="1400">
                <a:latin typeface="+mn-lt"/>
                <a:ea typeface="+mn-ea"/>
                <a:cs typeface="+mn-cs"/>
                <a:sym typeface="Helvetica Neue Medium"/>
              </a:defRPr>
            </a:pPr>
            <a:endParaRPr/>
          </a:p>
        </p:txBody>
      </p:sp>
      <p:sp>
        <p:nvSpPr>
          <p:cNvPr id="21" name="圆形"/>
          <p:cNvSpPr/>
          <p:nvPr/>
        </p:nvSpPr>
        <p:spPr>
          <a:xfrm>
            <a:off x="7717211" y="4019782"/>
            <a:ext cx="70540" cy="70540"/>
          </a:xfrm>
          <a:prstGeom prst="ellipse">
            <a:avLst/>
          </a:prstGeom>
          <a:solidFill>
            <a:srgbClr val="5E5E5E"/>
          </a:solidFill>
          <a:ln w="3175">
            <a:miter lim="400000"/>
          </a:ln>
        </p:spPr>
        <p:txBody>
          <a:bodyPr lIns="26789" tIns="26789" rIns="26789" bIns="26789" anchor="ctr"/>
          <a:lstStyle/>
          <a:p>
            <a:pPr algn="l">
              <a:defRPr sz="1400">
                <a:latin typeface="+mn-lt"/>
                <a:ea typeface="+mn-ea"/>
                <a:cs typeface="+mn-cs"/>
                <a:sym typeface="Helvetica Neue Medium"/>
              </a:defRPr>
            </a:pPr>
            <a:endParaRPr/>
          </a:p>
        </p:txBody>
      </p:sp>
      <p:sp>
        <p:nvSpPr>
          <p:cNvPr id="22" name="圆形"/>
          <p:cNvSpPr/>
          <p:nvPr/>
        </p:nvSpPr>
        <p:spPr>
          <a:xfrm>
            <a:off x="7717211" y="4666239"/>
            <a:ext cx="70540" cy="70540"/>
          </a:xfrm>
          <a:prstGeom prst="ellipse">
            <a:avLst/>
          </a:prstGeom>
          <a:solidFill>
            <a:srgbClr val="5E5E5E"/>
          </a:solidFill>
          <a:ln w="3175">
            <a:miter lim="400000"/>
          </a:ln>
        </p:spPr>
        <p:txBody>
          <a:bodyPr lIns="26789" tIns="26789" rIns="26789" bIns="26789" anchor="ctr"/>
          <a:lstStyle/>
          <a:p>
            <a:pPr algn="l">
              <a:defRPr sz="1400">
                <a:latin typeface="+mn-lt"/>
                <a:ea typeface="+mn-ea"/>
                <a:cs typeface="+mn-cs"/>
                <a:sym typeface="Helvetica Neue Medium"/>
              </a:defRPr>
            </a:pPr>
            <a:endParaRPr/>
          </a:p>
        </p:txBody>
      </p:sp>
      <p:sp>
        <p:nvSpPr>
          <p:cNvPr id="25" name="CONTENT"/>
          <p:cNvSpPr txBox="1"/>
          <p:nvPr/>
        </p:nvSpPr>
        <p:spPr>
          <a:xfrm>
            <a:off x="1448288" y="1124812"/>
            <a:ext cx="2693245" cy="739379"/>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lvl1pPr algn="l">
              <a:defRPr sz="3800">
                <a:solidFill>
                  <a:srgbClr val="000000"/>
                </a:solidFill>
              </a:defRPr>
            </a:lvl1pPr>
          </a:lstStyle>
          <a:p>
            <a:r>
              <a:rPr dirty="0"/>
              <a:t>CONTENT</a:t>
            </a:r>
          </a:p>
        </p:txBody>
      </p:sp>
    </p:spTree>
    <p:extLst>
      <p:ext uri="{BB962C8B-B14F-4D97-AF65-F5344CB8AC3E}">
        <p14:creationId xmlns:p14="http://schemas.microsoft.com/office/powerpoint/2010/main" val="1232582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0" name="14441896787_163b98fa52_b.jpg" descr="14441896787_163b98fa52_b.jpg"/>
          <p:cNvPicPr>
            <a:picLocks noChangeAspect="1"/>
          </p:cNvPicPr>
          <p:nvPr/>
        </p:nvPicPr>
        <p:blipFill>
          <a:blip r:embed="rId2">
            <a:alphaModFix amt="23803"/>
            <a:extLst/>
          </a:blip>
          <a:stretch>
            <a:fillRect/>
          </a:stretch>
        </p:blipFill>
        <p:spPr>
          <a:xfrm>
            <a:off x="0" y="0"/>
            <a:ext cx="12192000" cy="6858000"/>
          </a:xfrm>
          <a:prstGeom prst="rect">
            <a:avLst/>
          </a:prstGeom>
          <a:ln w="3175">
            <a:miter lim="400000"/>
          </a:ln>
        </p:spPr>
      </p:pic>
      <p:pic>
        <p:nvPicPr>
          <p:cNvPr id="171" name="图像" descr="图像"/>
          <p:cNvPicPr>
            <a:picLocks noChangeAspect="1"/>
          </p:cNvPicPr>
          <p:nvPr/>
        </p:nvPicPr>
        <p:blipFill>
          <a:blip r:embed="rId3">
            <a:extLst/>
          </a:blip>
          <a:stretch>
            <a:fillRect/>
          </a:stretch>
        </p:blipFill>
        <p:spPr>
          <a:xfrm>
            <a:off x="10444834" y="466533"/>
            <a:ext cx="1253577" cy="332979"/>
          </a:xfrm>
          <a:prstGeom prst="rect">
            <a:avLst/>
          </a:prstGeom>
          <a:ln w="3175">
            <a:miter lim="400000"/>
          </a:ln>
        </p:spPr>
      </p:pic>
      <p:sp>
        <p:nvSpPr>
          <p:cNvPr id="172" name="矩形"/>
          <p:cNvSpPr/>
          <p:nvPr/>
        </p:nvSpPr>
        <p:spPr>
          <a:xfrm>
            <a:off x="-48235" y="1797772"/>
            <a:ext cx="7761787" cy="2983056"/>
          </a:xfrm>
          <a:prstGeom prst="rect">
            <a:avLst/>
          </a:prstGeom>
          <a:solidFill>
            <a:srgbClr val="CAA354"/>
          </a:solidFill>
          <a:ln w="3175">
            <a:miter lim="400000"/>
          </a:ln>
        </p:spPr>
        <p:txBody>
          <a:bodyPr lIns="26789" tIns="26789" rIns="26789" bIns="26789" anchor="ctr"/>
          <a:lstStyle/>
          <a:p>
            <a:pPr>
              <a:defRPr sz="1400">
                <a:latin typeface="+mn-lt"/>
                <a:ea typeface="+mn-ea"/>
                <a:cs typeface="+mn-cs"/>
                <a:sym typeface="Helvetica Neue Medium"/>
              </a:defRPr>
            </a:pPr>
            <a:endParaRPr/>
          </a:p>
        </p:txBody>
      </p:sp>
      <p:sp>
        <p:nvSpPr>
          <p:cNvPr id="173" name="大标题"/>
          <p:cNvSpPr txBox="1"/>
          <p:nvPr/>
        </p:nvSpPr>
        <p:spPr>
          <a:xfrm>
            <a:off x="237258" y="2169749"/>
            <a:ext cx="7935192" cy="1900761"/>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3800">
                <a:latin typeface="PingFang SC Semibold"/>
                <a:ea typeface="PingFang SC Semibold"/>
                <a:cs typeface="PingFang SC Semibold"/>
                <a:sym typeface="PingFang SC Semibold"/>
              </a:defRPr>
            </a:lvl1pPr>
          </a:lstStyle>
          <a:p>
            <a:pPr algn="l"/>
            <a:r>
              <a:rPr lang="en-US" altLang="zh-CN" sz="4000" dirty="0">
                <a:solidFill>
                  <a:schemeClr val="bg1"/>
                </a:solidFill>
              </a:rPr>
              <a:t>FDT-AI</a:t>
            </a:r>
            <a:r>
              <a:rPr lang="zh-CN" altLang="en-US" sz="4000" dirty="0">
                <a:solidFill>
                  <a:schemeClr val="bg1"/>
                </a:solidFill>
              </a:rPr>
              <a:t>：</a:t>
            </a:r>
            <a:endParaRPr lang="en-US" altLang="zh-CN" sz="4000" dirty="0">
              <a:solidFill>
                <a:schemeClr val="bg1"/>
              </a:solidFill>
            </a:endParaRPr>
          </a:p>
          <a:p>
            <a:pPr algn="l"/>
            <a:r>
              <a:rPr lang="zh-CN" altLang="en-US" sz="4000" dirty="0">
                <a:solidFill>
                  <a:schemeClr val="bg1"/>
                </a:solidFill>
              </a:rPr>
              <a:t>智能金融科技提供商</a:t>
            </a:r>
            <a:endParaRPr lang="en-US" altLang="zh-CN" sz="4000" dirty="0">
              <a:solidFill>
                <a:schemeClr val="bg1"/>
              </a:solidFill>
            </a:endParaRPr>
          </a:p>
          <a:p>
            <a:pPr algn="l"/>
            <a:r>
              <a:rPr lang="zh-CN" altLang="en-US" sz="4000" dirty="0">
                <a:solidFill>
                  <a:schemeClr val="bg1"/>
                </a:solidFill>
              </a:rPr>
              <a:t>懂你</a:t>
            </a:r>
            <a:r>
              <a:rPr lang="en-US" altLang="zh-CN" sz="4000" dirty="0">
                <a:solidFill>
                  <a:schemeClr val="bg1"/>
                </a:solidFill>
              </a:rPr>
              <a:t>AI</a:t>
            </a:r>
            <a:r>
              <a:rPr lang="zh-CN" altLang="en-US" sz="4000" dirty="0">
                <a:solidFill>
                  <a:schemeClr val="bg1"/>
                </a:solidFill>
              </a:rPr>
              <a:t>你，比你更懂你</a:t>
            </a:r>
            <a:endParaRPr sz="4000" dirty="0">
              <a:solidFill>
                <a:schemeClr val="bg1"/>
              </a:solidFill>
            </a:endParaRPr>
          </a:p>
        </p:txBody>
      </p:sp>
      <p:sp>
        <p:nvSpPr>
          <p:cNvPr id="175" name="矩形"/>
          <p:cNvSpPr/>
          <p:nvPr/>
        </p:nvSpPr>
        <p:spPr>
          <a:xfrm>
            <a:off x="189304" y="219031"/>
            <a:ext cx="11813392" cy="6419938"/>
          </a:xfrm>
          <a:prstGeom prst="rect">
            <a:avLst/>
          </a:prstGeom>
          <a:ln>
            <a:solidFill>
              <a:srgbClr val="FFFFFF"/>
            </a:solidFill>
            <a:miter lim="400000"/>
          </a:ln>
        </p:spPr>
        <p:txBody>
          <a:bodyPr lIns="26789" tIns="26789" rIns="26789" bIns="26789" anchor="ctr"/>
          <a:lstStyle/>
          <a:p>
            <a:pPr>
              <a:defRPr sz="1400">
                <a:latin typeface="+mn-lt"/>
                <a:ea typeface="+mn-ea"/>
                <a:cs typeface="+mn-cs"/>
                <a:sym typeface="Helvetica Neue Medium"/>
              </a:defRPr>
            </a:pPr>
            <a:endParaRPr/>
          </a:p>
        </p:txBody>
      </p:sp>
    </p:spTree>
    <p:extLst>
      <p:ext uri="{BB962C8B-B14F-4D97-AF65-F5344CB8AC3E}">
        <p14:creationId xmlns:p14="http://schemas.microsoft.com/office/powerpoint/2010/main" val="41139923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线条"/>
          <p:cNvSpPr/>
          <p:nvPr/>
        </p:nvSpPr>
        <p:spPr>
          <a:xfrm flipV="1">
            <a:off x="872643" y="12456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71"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72"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73" name="03"/>
          <p:cNvSpPr txBox="1"/>
          <p:nvPr/>
        </p:nvSpPr>
        <p:spPr>
          <a:xfrm>
            <a:off x="356995" y="6344413"/>
            <a:ext cx="218679" cy="231380"/>
          </a:xfrm>
          <a:prstGeom prst="rect">
            <a:avLst/>
          </a:prstGeom>
          <a:ln w="3175">
            <a:miter lim="400000"/>
          </a:ln>
          <a:extLst>
            <a:ext uri="{C572A759-6A51-4108-AA02-DFA0A04FC94B}">
              <ma14:wrappingTextBoxFlag xmlns="" xmlns:ma14="http://schemas.microsoft.com/office/mac/drawingml/2011/main" val="1"/>
            </a:ext>
          </a:extLst>
        </p:spPr>
        <p:txBody>
          <a:bodyPr wrap="none" lIns="26789" tIns="26789" rIns="26789" bIns="26789" anchor="ctr">
            <a:spAutoFit/>
          </a:bodyPr>
          <a:lstStyle>
            <a:lvl1pPr>
              <a:defRPr sz="1000">
                <a:solidFill>
                  <a:srgbClr val="CAA354"/>
                </a:solidFill>
                <a:latin typeface="PingFang SC Regular"/>
                <a:ea typeface="PingFang SC Regular"/>
                <a:cs typeface="PingFang SC Regular"/>
                <a:sym typeface="PingFang SC Regular"/>
              </a:defRPr>
            </a:lvl1pPr>
          </a:lstStyle>
          <a:p>
            <a:r>
              <a:rPr dirty="0"/>
              <a:t>03</a:t>
            </a:r>
          </a:p>
        </p:txBody>
      </p:sp>
      <p:pic>
        <p:nvPicPr>
          <p:cNvPr id="175" name="图像" descr="图像"/>
          <p:cNvPicPr>
            <a:picLocks noChangeAspect="1"/>
          </p:cNvPicPr>
          <p:nvPr/>
        </p:nvPicPr>
        <p:blipFill>
          <a:blip r:embed="rId2">
            <a:extLst/>
          </a:blip>
          <a:stretch>
            <a:fillRect/>
          </a:stretch>
        </p:blipFill>
        <p:spPr>
          <a:xfrm>
            <a:off x="10484724" y="427048"/>
            <a:ext cx="1253576" cy="332979"/>
          </a:xfrm>
          <a:prstGeom prst="rect">
            <a:avLst/>
          </a:prstGeom>
          <a:ln w="3175">
            <a:miter lim="400000"/>
          </a:ln>
        </p:spPr>
      </p:pic>
      <p:sp>
        <p:nvSpPr>
          <p:cNvPr id="36" name="标题"/>
          <p:cNvSpPr txBox="1"/>
          <p:nvPr/>
        </p:nvSpPr>
        <p:spPr>
          <a:xfrm>
            <a:off x="1203972" y="235328"/>
            <a:ext cx="6101989" cy="546544"/>
          </a:xfrm>
          <a:prstGeom prst="rect">
            <a:avLst/>
          </a:prstGeom>
          <a:ln w="3175">
            <a:miter lim="400000"/>
          </a:ln>
          <a:extLst>
            <a:ext uri="{C572A759-6A51-4108-AA02-DFA0A04FC94B}">
              <ma14:wrappingTextBoxFlag xmlns="" xmlns:ma14="http://schemas.microsoft.com/office/mac/drawingml/2011/main" val="1"/>
            </a:ext>
          </a:extLst>
        </p:spPr>
        <p:txBody>
          <a:bodyPr wrap="squar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kumimoji="1" lang="zh-CN" altLang="en-US" sz="3200" b="1" dirty="0">
                <a:solidFill>
                  <a:schemeClr val="tx1"/>
                </a:solidFill>
                <a:latin typeface="+mn-lt"/>
                <a:ea typeface="+mn-ea"/>
                <a:cs typeface="+mn-cs"/>
              </a:rPr>
              <a:t>人工智能：复制和拓展人类智慧</a:t>
            </a:r>
            <a:endParaRPr kumimoji="1" sz="3200" b="1" dirty="0">
              <a:solidFill>
                <a:schemeClr val="tx1"/>
              </a:solidFill>
              <a:latin typeface="+mn-lt"/>
              <a:ea typeface="+mn-ea"/>
              <a:cs typeface="+mn-cs"/>
            </a:endParaRPr>
          </a:p>
        </p:txBody>
      </p:sp>
      <p:grpSp>
        <p:nvGrpSpPr>
          <p:cNvPr id="5" name="组 4"/>
          <p:cNvGrpSpPr/>
          <p:nvPr/>
        </p:nvGrpSpPr>
        <p:grpSpPr>
          <a:xfrm>
            <a:off x="1040299" y="852945"/>
            <a:ext cx="6446261" cy="103887"/>
            <a:chOff x="1040299" y="852945"/>
            <a:chExt cx="6446261" cy="103887"/>
          </a:xfrm>
        </p:grpSpPr>
        <p:sp>
          <p:nvSpPr>
            <p:cNvPr id="20" name="矩形 19">
              <a:extLst>
                <a:ext uri="{FF2B5EF4-FFF2-40B4-BE49-F238E27FC236}">
                  <a16:creationId xmlns:a16="http://schemas.microsoft.com/office/drawing/2014/main" id="{07CCDA19-C78F-4FEF-9A33-1AEE922E976D}"/>
                </a:ext>
              </a:extLst>
            </p:cNvPr>
            <p:cNvSpPr/>
            <p:nvPr/>
          </p:nvSpPr>
          <p:spPr>
            <a:xfrm>
              <a:off x="1040299" y="852945"/>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FD35F411-A1E5-4031-B455-0E2C81A8D091}"/>
                </a:ext>
              </a:extLst>
            </p:cNvPr>
            <p:cNvSpPr/>
            <p:nvPr/>
          </p:nvSpPr>
          <p:spPr>
            <a:xfrm>
              <a:off x="5113896" y="852945"/>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a:extLst>
              <a:ext uri="{FF2B5EF4-FFF2-40B4-BE49-F238E27FC236}">
                <a16:creationId xmlns:a16="http://schemas.microsoft.com/office/drawing/2014/main" id="{DFCA09F1-90FA-4914-B79A-7DB5BF808EA2}"/>
              </a:ext>
            </a:extLst>
          </p:cNvPr>
          <p:cNvGrpSpPr/>
          <p:nvPr/>
        </p:nvGrpSpPr>
        <p:grpSpPr>
          <a:xfrm>
            <a:off x="1040298" y="1225681"/>
            <a:ext cx="10279064" cy="4823490"/>
            <a:chOff x="1040298" y="1118101"/>
            <a:chExt cx="10279064" cy="4823490"/>
          </a:xfrm>
        </p:grpSpPr>
        <p:sp>
          <p:nvSpPr>
            <p:cNvPr id="50" name="矩形 49">
              <a:extLst>
                <a:ext uri="{FF2B5EF4-FFF2-40B4-BE49-F238E27FC236}">
                  <a16:creationId xmlns:a16="http://schemas.microsoft.com/office/drawing/2014/main" id="{810E6ECB-9858-449C-A1C4-55B55F874F2B}"/>
                </a:ext>
              </a:extLst>
            </p:cNvPr>
            <p:cNvSpPr/>
            <p:nvPr/>
          </p:nvSpPr>
          <p:spPr>
            <a:xfrm>
              <a:off x="1091230" y="1813612"/>
              <a:ext cx="5571397" cy="4111288"/>
            </a:xfrm>
            <a:prstGeom prst="rect">
              <a:avLst/>
            </a:prstGeom>
            <a:solidFill>
              <a:srgbClr val="D1CECE"/>
            </a:solidFill>
            <a:ln>
              <a:solidFill>
                <a:srgbClr val="D1CEC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8" name="组合 47">
              <a:extLst>
                <a:ext uri="{FF2B5EF4-FFF2-40B4-BE49-F238E27FC236}">
                  <a16:creationId xmlns:a16="http://schemas.microsoft.com/office/drawing/2014/main" id="{7F003C5F-C373-4EC9-9D82-AC8F9C004991}"/>
                </a:ext>
              </a:extLst>
            </p:cNvPr>
            <p:cNvGrpSpPr/>
            <p:nvPr/>
          </p:nvGrpSpPr>
          <p:grpSpPr>
            <a:xfrm>
              <a:off x="1099815" y="2385428"/>
              <a:ext cx="2633099" cy="2488293"/>
              <a:chOff x="1166027" y="2000192"/>
              <a:chExt cx="2633099" cy="2488293"/>
            </a:xfrm>
          </p:grpSpPr>
          <p:pic>
            <p:nvPicPr>
              <p:cNvPr id="8" name="图片 7"/>
              <p:cNvPicPr>
                <a:picLocks noChangeAspect="1"/>
              </p:cNvPicPr>
              <p:nvPr/>
            </p:nvPicPr>
            <p:blipFill rotWithShape="1">
              <a:blip r:embed="rId3"/>
              <a:srcRect l="9815" t="11537" r="12453" b="8344"/>
              <a:stretch/>
            </p:blipFill>
            <p:spPr>
              <a:xfrm>
                <a:off x="1945687" y="2000192"/>
                <a:ext cx="959314" cy="988773"/>
              </a:xfrm>
              <a:prstGeom prst="rect">
                <a:avLst/>
              </a:prstGeom>
            </p:spPr>
          </p:pic>
          <p:grpSp>
            <p:nvGrpSpPr>
              <p:cNvPr id="42" name="组合 41">
                <a:extLst>
                  <a:ext uri="{FF2B5EF4-FFF2-40B4-BE49-F238E27FC236}">
                    <a16:creationId xmlns:a16="http://schemas.microsoft.com/office/drawing/2014/main" id="{6DF7EE6C-77A7-48B0-B370-6D37AE5C02EE}"/>
                  </a:ext>
                </a:extLst>
              </p:cNvPr>
              <p:cNvGrpSpPr/>
              <p:nvPr/>
            </p:nvGrpSpPr>
            <p:grpSpPr>
              <a:xfrm>
                <a:off x="1166027" y="3135311"/>
                <a:ext cx="2633099" cy="1353174"/>
                <a:chOff x="1357240" y="3454779"/>
                <a:chExt cx="2633099" cy="1353174"/>
              </a:xfrm>
            </p:grpSpPr>
            <p:sp>
              <p:nvSpPr>
                <p:cNvPr id="19" name="椭圆 18">
                  <a:extLst>
                    <a:ext uri="{FF2B5EF4-FFF2-40B4-BE49-F238E27FC236}">
                      <a16:creationId xmlns:a16="http://schemas.microsoft.com/office/drawing/2014/main" id="{D196A2FF-8678-421D-AEDE-5A077B5B2B60}"/>
                    </a:ext>
                  </a:extLst>
                </p:cNvPr>
                <p:cNvSpPr/>
                <p:nvPr/>
              </p:nvSpPr>
              <p:spPr>
                <a:xfrm>
                  <a:off x="2197875" y="3454779"/>
                  <a:ext cx="848609" cy="344956"/>
                </a:xfrm>
                <a:prstGeom prst="ellipse">
                  <a:avLst/>
                </a:prstGeom>
                <a:solidFill>
                  <a:srgbClr val="D2A142"/>
                </a:solidFill>
                <a:ln>
                  <a:solidFill>
                    <a:srgbClr val="D2A1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2034C61A-249F-42D9-94A2-CB61F127B30A}"/>
                    </a:ext>
                  </a:extLst>
                </p:cNvPr>
                <p:cNvSpPr/>
                <p:nvPr/>
              </p:nvSpPr>
              <p:spPr>
                <a:xfrm>
                  <a:off x="2197875" y="4382412"/>
                  <a:ext cx="885930" cy="344956"/>
                </a:xfrm>
                <a:prstGeom prst="rect">
                  <a:avLst/>
                </a:prstGeom>
                <a:noFill/>
                <a:ln>
                  <a:solidFill>
                    <a:srgbClr val="D2A1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856816A0-A1D4-49B7-A07A-5120355F7AAD}"/>
                    </a:ext>
                  </a:extLst>
                </p:cNvPr>
                <p:cNvSpPr txBox="1"/>
                <p:nvPr/>
              </p:nvSpPr>
              <p:spPr>
                <a:xfrm>
                  <a:off x="2290612" y="4396512"/>
                  <a:ext cx="694332" cy="307777"/>
                </a:xfrm>
                <a:prstGeom prst="rect">
                  <a:avLst/>
                </a:prstGeom>
                <a:noFill/>
              </p:spPr>
              <p:txBody>
                <a:bodyPr wrap="square" rtlCol="0">
                  <a:spAutoFit/>
                </a:bodyPr>
                <a:lstStyle/>
                <a:p>
                  <a:pPr algn="ctr"/>
                  <a:r>
                    <a:rPr lang="zh-CN" altLang="en-US" sz="1400" dirty="0"/>
                    <a:t>规律</a:t>
                  </a:r>
                </a:p>
              </p:txBody>
            </p:sp>
            <p:cxnSp>
              <p:nvCxnSpPr>
                <p:cNvPr id="27" name="直接箭头连接符 26">
                  <a:extLst>
                    <a:ext uri="{FF2B5EF4-FFF2-40B4-BE49-F238E27FC236}">
                      <a16:creationId xmlns:a16="http://schemas.microsoft.com/office/drawing/2014/main" id="{324CFF81-581F-47A6-977C-6C560A170551}"/>
                    </a:ext>
                  </a:extLst>
                </p:cNvPr>
                <p:cNvCxnSpPr>
                  <a:stCxn id="19" idx="4"/>
                  <a:endCxn id="25" idx="0"/>
                </p:cNvCxnSpPr>
                <p:nvPr/>
              </p:nvCxnSpPr>
              <p:spPr>
                <a:xfrm>
                  <a:off x="2622180" y="3799735"/>
                  <a:ext cx="0" cy="596777"/>
                </a:xfrm>
                <a:prstGeom prst="straightConnector1">
                  <a:avLst/>
                </a:prstGeom>
                <a:ln>
                  <a:solidFill>
                    <a:srgbClr val="D2A14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51AC7A46-E59B-4DA3-819E-E1D47FAC53E9}"/>
                    </a:ext>
                  </a:extLst>
                </p:cNvPr>
                <p:cNvCxnSpPr>
                  <a:endCxn id="24" idx="1"/>
                </p:cNvCxnSpPr>
                <p:nvPr/>
              </p:nvCxnSpPr>
              <p:spPr>
                <a:xfrm>
                  <a:off x="1825389" y="4546343"/>
                  <a:ext cx="372486" cy="0"/>
                </a:xfrm>
                <a:prstGeom prst="straightConnector1">
                  <a:avLst/>
                </a:prstGeom>
                <a:ln>
                  <a:solidFill>
                    <a:srgbClr val="D2A142"/>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BC64CDFA-22EE-4AA2-80EC-299C74822C09}"/>
                    </a:ext>
                  </a:extLst>
                </p:cNvPr>
                <p:cNvCxnSpPr/>
                <p:nvPr/>
              </p:nvCxnSpPr>
              <p:spPr>
                <a:xfrm>
                  <a:off x="3083805" y="4551778"/>
                  <a:ext cx="372486" cy="0"/>
                </a:xfrm>
                <a:prstGeom prst="straightConnector1">
                  <a:avLst/>
                </a:prstGeom>
                <a:ln>
                  <a:solidFill>
                    <a:srgbClr val="D2A142"/>
                  </a:solidFill>
                  <a:tailEnd type="triangle"/>
                </a:ln>
              </p:spPr>
              <p:style>
                <a:lnRef idx="1">
                  <a:schemeClr val="accent1"/>
                </a:lnRef>
                <a:fillRef idx="0">
                  <a:schemeClr val="accent1"/>
                </a:fillRef>
                <a:effectRef idx="0">
                  <a:schemeClr val="accent1"/>
                </a:effectRef>
                <a:fontRef idx="minor">
                  <a:schemeClr val="tx1"/>
                </a:fontRef>
              </p:style>
            </p:cxnSp>
            <p:sp>
              <p:nvSpPr>
                <p:cNvPr id="68" name="文本框 67">
                  <a:extLst>
                    <a:ext uri="{FF2B5EF4-FFF2-40B4-BE49-F238E27FC236}">
                      <a16:creationId xmlns:a16="http://schemas.microsoft.com/office/drawing/2014/main" id="{1C86DA1A-C0BF-499F-948D-7080E0DF35EB}"/>
                    </a:ext>
                  </a:extLst>
                </p:cNvPr>
                <p:cNvSpPr txBox="1"/>
                <p:nvPr/>
              </p:nvSpPr>
              <p:spPr>
                <a:xfrm>
                  <a:off x="2364507" y="3491344"/>
                  <a:ext cx="681835" cy="307777"/>
                </a:xfrm>
                <a:prstGeom prst="rect">
                  <a:avLst/>
                </a:prstGeom>
                <a:noFill/>
              </p:spPr>
              <p:txBody>
                <a:bodyPr wrap="square" rtlCol="0">
                  <a:spAutoFit/>
                </a:bodyPr>
                <a:lstStyle/>
                <a:p>
                  <a:r>
                    <a:rPr lang="zh-CN" altLang="en-US" sz="1400" dirty="0"/>
                    <a:t>经验</a:t>
                  </a:r>
                </a:p>
              </p:txBody>
            </p:sp>
            <p:sp>
              <p:nvSpPr>
                <p:cNvPr id="34" name="文本框 33">
                  <a:extLst>
                    <a:ext uri="{FF2B5EF4-FFF2-40B4-BE49-F238E27FC236}">
                      <a16:creationId xmlns:a16="http://schemas.microsoft.com/office/drawing/2014/main" id="{29E04FA6-EDE1-4F6C-A792-3C9C12085F8B}"/>
                    </a:ext>
                  </a:extLst>
                </p:cNvPr>
                <p:cNvSpPr txBox="1"/>
                <p:nvPr/>
              </p:nvSpPr>
              <p:spPr>
                <a:xfrm>
                  <a:off x="2545047" y="3861752"/>
                  <a:ext cx="694618" cy="307777"/>
                </a:xfrm>
                <a:prstGeom prst="rect">
                  <a:avLst/>
                </a:prstGeom>
                <a:noFill/>
              </p:spPr>
              <p:txBody>
                <a:bodyPr wrap="square" rtlCol="0">
                  <a:spAutoFit/>
                </a:bodyPr>
                <a:lstStyle/>
                <a:p>
                  <a:r>
                    <a:rPr lang="zh-CN" altLang="en-US" sz="1400" dirty="0"/>
                    <a:t>归纳</a:t>
                  </a:r>
                </a:p>
              </p:txBody>
            </p:sp>
            <p:sp>
              <p:nvSpPr>
                <p:cNvPr id="35" name="文本框 34">
                  <a:extLst>
                    <a:ext uri="{FF2B5EF4-FFF2-40B4-BE49-F238E27FC236}">
                      <a16:creationId xmlns:a16="http://schemas.microsoft.com/office/drawing/2014/main" id="{A9484257-EE87-4F41-8915-E1D5C12361E0}"/>
                    </a:ext>
                  </a:extLst>
                </p:cNvPr>
                <p:cNvSpPr txBox="1"/>
                <p:nvPr/>
              </p:nvSpPr>
              <p:spPr>
                <a:xfrm>
                  <a:off x="1357240" y="4284733"/>
                  <a:ext cx="626720" cy="523220"/>
                </a:xfrm>
                <a:prstGeom prst="rect">
                  <a:avLst/>
                </a:prstGeom>
                <a:noFill/>
              </p:spPr>
              <p:txBody>
                <a:bodyPr wrap="square" rtlCol="0">
                  <a:spAutoFit/>
                </a:bodyPr>
                <a:lstStyle/>
                <a:p>
                  <a:r>
                    <a:rPr lang="zh-CN" altLang="en-US" sz="1400" dirty="0"/>
                    <a:t>新的问题</a:t>
                  </a:r>
                </a:p>
              </p:txBody>
            </p:sp>
            <p:sp>
              <p:nvSpPr>
                <p:cNvPr id="37" name="文本框 36">
                  <a:extLst>
                    <a:ext uri="{FF2B5EF4-FFF2-40B4-BE49-F238E27FC236}">
                      <a16:creationId xmlns:a16="http://schemas.microsoft.com/office/drawing/2014/main" id="{7849CE5C-1CF3-499A-BE12-3765674589EA}"/>
                    </a:ext>
                  </a:extLst>
                </p:cNvPr>
                <p:cNvSpPr txBox="1"/>
                <p:nvPr/>
              </p:nvSpPr>
              <p:spPr>
                <a:xfrm>
                  <a:off x="3071587" y="4079468"/>
                  <a:ext cx="372486" cy="523220"/>
                </a:xfrm>
                <a:prstGeom prst="rect">
                  <a:avLst/>
                </a:prstGeom>
                <a:noFill/>
              </p:spPr>
              <p:txBody>
                <a:bodyPr wrap="square" rtlCol="0">
                  <a:spAutoFit/>
                </a:bodyPr>
                <a:lstStyle/>
                <a:p>
                  <a:r>
                    <a:rPr lang="zh-CN" altLang="en-US" sz="1400" dirty="0"/>
                    <a:t>预测</a:t>
                  </a:r>
                </a:p>
              </p:txBody>
            </p:sp>
            <p:sp>
              <p:nvSpPr>
                <p:cNvPr id="70" name="文本框 69">
                  <a:extLst>
                    <a:ext uri="{FF2B5EF4-FFF2-40B4-BE49-F238E27FC236}">
                      <a16:creationId xmlns:a16="http://schemas.microsoft.com/office/drawing/2014/main" id="{611B1747-8E31-45DB-AD9A-8EE2FAD7AC69}"/>
                    </a:ext>
                  </a:extLst>
                </p:cNvPr>
                <p:cNvSpPr txBox="1"/>
                <p:nvPr/>
              </p:nvSpPr>
              <p:spPr>
                <a:xfrm>
                  <a:off x="1791608" y="4086561"/>
                  <a:ext cx="372486" cy="523220"/>
                </a:xfrm>
                <a:prstGeom prst="rect">
                  <a:avLst/>
                </a:prstGeom>
                <a:noFill/>
              </p:spPr>
              <p:txBody>
                <a:bodyPr wrap="square" rtlCol="0">
                  <a:spAutoFit/>
                </a:bodyPr>
                <a:lstStyle/>
                <a:p>
                  <a:r>
                    <a:rPr lang="zh-CN" altLang="en-US" sz="1400" dirty="0"/>
                    <a:t>输入</a:t>
                  </a:r>
                </a:p>
              </p:txBody>
            </p:sp>
            <p:sp>
              <p:nvSpPr>
                <p:cNvPr id="71" name="文本框 70">
                  <a:extLst>
                    <a:ext uri="{FF2B5EF4-FFF2-40B4-BE49-F238E27FC236}">
                      <a16:creationId xmlns:a16="http://schemas.microsoft.com/office/drawing/2014/main" id="{01937A8E-008D-4088-80AB-A5FC17D25443}"/>
                    </a:ext>
                  </a:extLst>
                </p:cNvPr>
                <p:cNvSpPr txBox="1"/>
                <p:nvPr/>
              </p:nvSpPr>
              <p:spPr>
                <a:xfrm>
                  <a:off x="3363618" y="4397510"/>
                  <a:ext cx="626721" cy="307777"/>
                </a:xfrm>
                <a:prstGeom prst="rect">
                  <a:avLst/>
                </a:prstGeom>
                <a:noFill/>
              </p:spPr>
              <p:txBody>
                <a:bodyPr wrap="square" rtlCol="0">
                  <a:spAutoFit/>
                </a:bodyPr>
                <a:lstStyle/>
                <a:p>
                  <a:r>
                    <a:rPr lang="zh-CN" altLang="en-US" sz="1400" dirty="0"/>
                    <a:t>未来</a:t>
                  </a:r>
                </a:p>
              </p:txBody>
            </p:sp>
          </p:grpSp>
        </p:grpSp>
        <p:grpSp>
          <p:nvGrpSpPr>
            <p:cNvPr id="47" name="组合 46">
              <a:extLst>
                <a:ext uri="{FF2B5EF4-FFF2-40B4-BE49-F238E27FC236}">
                  <a16:creationId xmlns:a16="http://schemas.microsoft.com/office/drawing/2014/main" id="{496A8879-0462-4FC3-AE26-C53008FA7DEB}"/>
                </a:ext>
              </a:extLst>
            </p:cNvPr>
            <p:cNvGrpSpPr/>
            <p:nvPr/>
          </p:nvGrpSpPr>
          <p:grpSpPr>
            <a:xfrm>
              <a:off x="3992470" y="2388542"/>
              <a:ext cx="2633099" cy="2496903"/>
              <a:chOff x="3650471" y="2019557"/>
              <a:chExt cx="2633099" cy="2496903"/>
            </a:xfrm>
          </p:grpSpPr>
          <p:pic>
            <p:nvPicPr>
              <p:cNvPr id="7" name="图片 6"/>
              <p:cNvPicPr>
                <a:picLocks noChangeAspect="1"/>
              </p:cNvPicPr>
              <p:nvPr/>
            </p:nvPicPr>
            <p:blipFill rotWithShape="1">
              <a:blip r:embed="rId4"/>
              <a:srcRect r="773" b="8413"/>
              <a:stretch/>
            </p:blipFill>
            <p:spPr>
              <a:xfrm>
                <a:off x="4408129" y="2019557"/>
                <a:ext cx="1036824" cy="973750"/>
              </a:xfrm>
              <a:prstGeom prst="rect">
                <a:avLst/>
              </a:prstGeom>
            </p:spPr>
          </p:pic>
          <p:grpSp>
            <p:nvGrpSpPr>
              <p:cNvPr id="43" name="组合 42">
                <a:extLst>
                  <a:ext uri="{FF2B5EF4-FFF2-40B4-BE49-F238E27FC236}">
                    <a16:creationId xmlns:a16="http://schemas.microsoft.com/office/drawing/2014/main" id="{F2F7E3C0-C592-4BC0-A5F2-2531CE044B94}"/>
                  </a:ext>
                </a:extLst>
              </p:cNvPr>
              <p:cNvGrpSpPr/>
              <p:nvPr/>
            </p:nvGrpSpPr>
            <p:grpSpPr>
              <a:xfrm>
                <a:off x="3650471" y="3152105"/>
                <a:ext cx="2633099" cy="1364355"/>
                <a:chOff x="3940570" y="4546343"/>
                <a:chExt cx="2633099" cy="1364355"/>
              </a:xfrm>
            </p:grpSpPr>
            <p:sp>
              <p:nvSpPr>
                <p:cNvPr id="73" name="椭圆 72">
                  <a:extLst>
                    <a:ext uri="{FF2B5EF4-FFF2-40B4-BE49-F238E27FC236}">
                      <a16:creationId xmlns:a16="http://schemas.microsoft.com/office/drawing/2014/main" id="{3CF207C0-7752-4B47-A67A-2E06A5E1C414}"/>
                    </a:ext>
                  </a:extLst>
                </p:cNvPr>
                <p:cNvSpPr/>
                <p:nvPr/>
              </p:nvSpPr>
              <p:spPr>
                <a:xfrm>
                  <a:off x="4781205" y="4546343"/>
                  <a:ext cx="848609" cy="344956"/>
                </a:xfrm>
                <a:prstGeom prst="ellipse">
                  <a:avLst/>
                </a:prstGeom>
                <a:solidFill>
                  <a:srgbClr val="991E23"/>
                </a:solidFill>
                <a:ln>
                  <a:solidFill>
                    <a:srgbClr val="991E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73">
                  <a:extLst>
                    <a:ext uri="{FF2B5EF4-FFF2-40B4-BE49-F238E27FC236}">
                      <a16:creationId xmlns:a16="http://schemas.microsoft.com/office/drawing/2014/main" id="{DF8982AC-32ED-4BA2-AC94-5BACFAF09B92}"/>
                    </a:ext>
                  </a:extLst>
                </p:cNvPr>
                <p:cNvSpPr/>
                <p:nvPr/>
              </p:nvSpPr>
              <p:spPr>
                <a:xfrm>
                  <a:off x="4781205" y="5473976"/>
                  <a:ext cx="885930" cy="344956"/>
                </a:xfrm>
                <a:prstGeom prst="rect">
                  <a:avLst/>
                </a:prstGeom>
                <a:noFill/>
                <a:ln>
                  <a:solidFill>
                    <a:srgbClr val="991E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a:extLst>
                    <a:ext uri="{FF2B5EF4-FFF2-40B4-BE49-F238E27FC236}">
                      <a16:creationId xmlns:a16="http://schemas.microsoft.com/office/drawing/2014/main" id="{174A7461-420E-4184-836A-DF4F353696B3}"/>
                    </a:ext>
                  </a:extLst>
                </p:cNvPr>
                <p:cNvSpPr txBox="1"/>
                <p:nvPr/>
              </p:nvSpPr>
              <p:spPr>
                <a:xfrm>
                  <a:off x="4873942" y="5488076"/>
                  <a:ext cx="694332" cy="307777"/>
                </a:xfrm>
                <a:prstGeom prst="rect">
                  <a:avLst/>
                </a:prstGeom>
                <a:noFill/>
              </p:spPr>
              <p:txBody>
                <a:bodyPr wrap="square" rtlCol="0">
                  <a:spAutoFit/>
                </a:bodyPr>
                <a:lstStyle/>
                <a:p>
                  <a:pPr algn="ctr"/>
                  <a:r>
                    <a:rPr lang="zh-CN" altLang="en-US" sz="1400" dirty="0"/>
                    <a:t>规律</a:t>
                  </a:r>
                </a:p>
              </p:txBody>
            </p:sp>
            <p:cxnSp>
              <p:nvCxnSpPr>
                <p:cNvPr id="76" name="直接箭头连接符 75">
                  <a:extLst>
                    <a:ext uri="{FF2B5EF4-FFF2-40B4-BE49-F238E27FC236}">
                      <a16:creationId xmlns:a16="http://schemas.microsoft.com/office/drawing/2014/main" id="{03050BD0-8B3D-47C3-A24D-0F396E044577}"/>
                    </a:ext>
                  </a:extLst>
                </p:cNvPr>
                <p:cNvCxnSpPr>
                  <a:stCxn id="73" idx="4"/>
                  <a:endCxn id="75" idx="0"/>
                </p:cNvCxnSpPr>
                <p:nvPr/>
              </p:nvCxnSpPr>
              <p:spPr>
                <a:xfrm>
                  <a:off x="5205510" y="4891299"/>
                  <a:ext cx="0" cy="596777"/>
                </a:xfrm>
                <a:prstGeom prst="straightConnector1">
                  <a:avLst/>
                </a:prstGeom>
                <a:ln>
                  <a:solidFill>
                    <a:srgbClr val="991E23"/>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223E169A-35CC-4B72-9C3C-5788BA17FBED}"/>
                    </a:ext>
                  </a:extLst>
                </p:cNvPr>
                <p:cNvCxnSpPr>
                  <a:endCxn id="74" idx="1"/>
                </p:cNvCxnSpPr>
                <p:nvPr/>
              </p:nvCxnSpPr>
              <p:spPr>
                <a:xfrm>
                  <a:off x="4408719" y="5637907"/>
                  <a:ext cx="372486" cy="0"/>
                </a:xfrm>
                <a:prstGeom prst="straightConnector1">
                  <a:avLst/>
                </a:prstGeom>
                <a:ln>
                  <a:solidFill>
                    <a:srgbClr val="991E23"/>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a:extLst>
                    <a:ext uri="{FF2B5EF4-FFF2-40B4-BE49-F238E27FC236}">
                      <a16:creationId xmlns:a16="http://schemas.microsoft.com/office/drawing/2014/main" id="{5EA2AF1A-8EDF-4080-A4CC-F06BC9202EB1}"/>
                    </a:ext>
                  </a:extLst>
                </p:cNvPr>
                <p:cNvCxnSpPr/>
                <p:nvPr/>
              </p:nvCxnSpPr>
              <p:spPr>
                <a:xfrm>
                  <a:off x="5667135" y="5643342"/>
                  <a:ext cx="372486" cy="0"/>
                </a:xfrm>
                <a:prstGeom prst="straightConnector1">
                  <a:avLst/>
                </a:prstGeom>
                <a:ln>
                  <a:solidFill>
                    <a:srgbClr val="991E23"/>
                  </a:solidFill>
                  <a:tailEnd type="triangle"/>
                </a:ln>
              </p:spPr>
              <p:style>
                <a:lnRef idx="1">
                  <a:schemeClr val="accent1"/>
                </a:lnRef>
                <a:fillRef idx="0">
                  <a:schemeClr val="accent1"/>
                </a:fillRef>
                <a:effectRef idx="0">
                  <a:schemeClr val="accent1"/>
                </a:effectRef>
                <a:fontRef idx="minor">
                  <a:schemeClr val="tx1"/>
                </a:fontRef>
              </p:style>
            </p:cxnSp>
            <p:sp>
              <p:nvSpPr>
                <p:cNvPr id="79" name="文本框 78">
                  <a:extLst>
                    <a:ext uri="{FF2B5EF4-FFF2-40B4-BE49-F238E27FC236}">
                      <a16:creationId xmlns:a16="http://schemas.microsoft.com/office/drawing/2014/main" id="{3CE240CC-756B-4060-933D-B1176DFC43B1}"/>
                    </a:ext>
                  </a:extLst>
                </p:cNvPr>
                <p:cNvSpPr txBox="1"/>
                <p:nvPr/>
              </p:nvSpPr>
              <p:spPr>
                <a:xfrm>
                  <a:off x="4757345" y="4563134"/>
                  <a:ext cx="917298" cy="307777"/>
                </a:xfrm>
                <a:prstGeom prst="rect">
                  <a:avLst/>
                </a:prstGeom>
                <a:noFill/>
              </p:spPr>
              <p:txBody>
                <a:bodyPr wrap="square" rtlCol="0">
                  <a:spAutoFit/>
                </a:bodyPr>
                <a:lstStyle/>
                <a:p>
                  <a:pPr algn="ctr"/>
                  <a:r>
                    <a:rPr lang="zh-CN" altLang="en-US" sz="1400" dirty="0"/>
                    <a:t>历史数据</a:t>
                  </a:r>
                </a:p>
              </p:txBody>
            </p:sp>
            <p:sp>
              <p:nvSpPr>
                <p:cNvPr id="80" name="文本框 79">
                  <a:extLst>
                    <a:ext uri="{FF2B5EF4-FFF2-40B4-BE49-F238E27FC236}">
                      <a16:creationId xmlns:a16="http://schemas.microsoft.com/office/drawing/2014/main" id="{94BE1BCD-8644-4411-B4F3-F4BC836849F5}"/>
                    </a:ext>
                  </a:extLst>
                </p:cNvPr>
                <p:cNvSpPr txBox="1"/>
                <p:nvPr/>
              </p:nvSpPr>
              <p:spPr>
                <a:xfrm>
                  <a:off x="5128377" y="4953316"/>
                  <a:ext cx="694618" cy="307777"/>
                </a:xfrm>
                <a:prstGeom prst="rect">
                  <a:avLst/>
                </a:prstGeom>
                <a:noFill/>
              </p:spPr>
              <p:txBody>
                <a:bodyPr wrap="square" rtlCol="0">
                  <a:spAutoFit/>
                </a:bodyPr>
                <a:lstStyle/>
                <a:p>
                  <a:r>
                    <a:rPr lang="zh-CN" altLang="en-US" sz="1400" dirty="0"/>
                    <a:t>训练</a:t>
                  </a:r>
                </a:p>
              </p:txBody>
            </p:sp>
            <p:sp>
              <p:nvSpPr>
                <p:cNvPr id="81" name="文本框 80">
                  <a:extLst>
                    <a:ext uri="{FF2B5EF4-FFF2-40B4-BE49-F238E27FC236}">
                      <a16:creationId xmlns:a16="http://schemas.microsoft.com/office/drawing/2014/main" id="{F288A98E-8DFF-4A41-A7E1-AFB517CC06C9}"/>
                    </a:ext>
                  </a:extLst>
                </p:cNvPr>
                <p:cNvSpPr txBox="1"/>
                <p:nvPr/>
              </p:nvSpPr>
              <p:spPr>
                <a:xfrm>
                  <a:off x="3940570" y="5376297"/>
                  <a:ext cx="626720" cy="523220"/>
                </a:xfrm>
                <a:prstGeom prst="rect">
                  <a:avLst/>
                </a:prstGeom>
                <a:noFill/>
              </p:spPr>
              <p:txBody>
                <a:bodyPr wrap="square" rtlCol="0">
                  <a:spAutoFit/>
                </a:bodyPr>
                <a:lstStyle/>
                <a:p>
                  <a:r>
                    <a:rPr lang="zh-CN" altLang="en-US" sz="1400" dirty="0"/>
                    <a:t>新的数据</a:t>
                  </a:r>
                </a:p>
              </p:txBody>
            </p:sp>
            <p:sp>
              <p:nvSpPr>
                <p:cNvPr id="82" name="文本框 81">
                  <a:extLst>
                    <a:ext uri="{FF2B5EF4-FFF2-40B4-BE49-F238E27FC236}">
                      <a16:creationId xmlns:a16="http://schemas.microsoft.com/office/drawing/2014/main" id="{10DAB758-1CFD-40C7-87FF-A27EA6F34F86}"/>
                    </a:ext>
                  </a:extLst>
                </p:cNvPr>
                <p:cNvSpPr txBox="1"/>
                <p:nvPr/>
              </p:nvSpPr>
              <p:spPr>
                <a:xfrm>
                  <a:off x="5674643" y="5162239"/>
                  <a:ext cx="372486" cy="523220"/>
                </a:xfrm>
                <a:prstGeom prst="rect">
                  <a:avLst/>
                </a:prstGeom>
                <a:noFill/>
              </p:spPr>
              <p:txBody>
                <a:bodyPr wrap="square" rtlCol="0">
                  <a:spAutoFit/>
                </a:bodyPr>
                <a:lstStyle/>
                <a:p>
                  <a:r>
                    <a:rPr lang="zh-CN" altLang="en-US" sz="1400" dirty="0"/>
                    <a:t>预测</a:t>
                  </a:r>
                </a:p>
              </p:txBody>
            </p:sp>
            <p:sp>
              <p:nvSpPr>
                <p:cNvPr id="83" name="文本框 82">
                  <a:extLst>
                    <a:ext uri="{FF2B5EF4-FFF2-40B4-BE49-F238E27FC236}">
                      <a16:creationId xmlns:a16="http://schemas.microsoft.com/office/drawing/2014/main" id="{B35F0A9F-66E8-464A-A094-CAAC7610FF69}"/>
                    </a:ext>
                  </a:extLst>
                </p:cNvPr>
                <p:cNvSpPr txBox="1"/>
                <p:nvPr/>
              </p:nvSpPr>
              <p:spPr>
                <a:xfrm>
                  <a:off x="4374938" y="5178125"/>
                  <a:ext cx="372486" cy="523220"/>
                </a:xfrm>
                <a:prstGeom prst="rect">
                  <a:avLst/>
                </a:prstGeom>
                <a:noFill/>
              </p:spPr>
              <p:txBody>
                <a:bodyPr wrap="square" rtlCol="0">
                  <a:spAutoFit/>
                </a:bodyPr>
                <a:lstStyle/>
                <a:p>
                  <a:r>
                    <a:rPr lang="zh-CN" altLang="en-US" sz="1400" dirty="0"/>
                    <a:t>输入</a:t>
                  </a:r>
                </a:p>
              </p:txBody>
            </p:sp>
            <p:sp>
              <p:nvSpPr>
                <p:cNvPr id="84" name="文本框 83">
                  <a:extLst>
                    <a:ext uri="{FF2B5EF4-FFF2-40B4-BE49-F238E27FC236}">
                      <a16:creationId xmlns:a16="http://schemas.microsoft.com/office/drawing/2014/main" id="{FC42C8DE-019F-44C3-BFE0-44490394A4C7}"/>
                    </a:ext>
                  </a:extLst>
                </p:cNvPr>
                <p:cNvSpPr txBox="1"/>
                <p:nvPr/>
              </p:nvSpPr>
              <p:spPr>
                <a:xfrm>
                  <a:off x="5946948" y="5387478"/>
                  <a:ext cx="626721" cy="523220"/>
                </a:xfrm>
                <a:prstGeom prst="rect">
                  <a:avLst/>
                </a:prstGeom>
                <a:noFill/>
              </p:spPr>
              <p:txBody>
                <a:bodyPr wrap="square" rtlCol="0">
                  <a:spAutoFit/>
                </a:bodyPr>
                <a:lstStyle/>
                <a:p>
                  <a:r>
                    <a:rPr lang="zh-CN" altLang="en-US" sz="1400" dirty="0"/>
                    <a:t>未知属性</a:t>
                  </a:r>
                </a:p>
              </p:txBody>
            </p:sp>
          </p:grpSp>
        </p:grpSp>
        <p:sp>
          <p:nvSpPr>
            <p:cNvPr id="92" name="矩形 91">
              <a:extLst>
                <a:ext uri="{FF2B5EF4-FFF2-40B4-BE49-F238E27FC236}">
                  <a16:creationId xmlns:a16="http://schemas.microsoft.com/office/drawing/2014/main" id="{80AE9A6E-6B8B-4A52-8D66-91AAE8E9A688}"/>
                </a:ext>
              </a:extLst>
            </p:cNvPr>
            <p:cNvSpPr/>
            <p:nvPr/>
          </p:nvSpPr>
          <p:spPr>
            <a:xfrm>
              <a:off x="1040298" y="1118101"/>
              <a:ext cx="9904786" cy="646331"/>
            </a:xfrm>
            <a:prstGeom prst="rect">
              <a:avLst/>
            </a:prstGeom>
          </p:spPr>
          <p:txBody>
            <a:bodyPr wrap="square">
              <a:spAutoFit/>
            </a:bodyPr>
            <a:lstStyle/>
            <a:p>
              <a:r>
                <a:rPr lang="zh-CN" altLang="en-US" dirty="0"/>
                <a:t>人工智能是研究、开发用于模拟、延伸和扩展人类智能的理论、方法、技术及应用系统的一门新的技术科学。          </a:t>
              </a:r>
              <a:r>
                <a:rPr lang="en-US" altLang="zh-CN" dirty="0"/>
                <a:t>--</a:t>
              </a:r>
              <a:r>
                <a:rPr lang="zh-CN" altLang="en-US" dirty="0"/>
                <a:t>波士顿咨询公司（</a:t>
              </a:r>
              <a:r>
                <a:rPr lang="en-US" altLang="zh-CN" dirty="0"/>
                <a:t>BCG</a:t>
              </a:r>
              <a:r>
                <a:rPr lang="zh-CN" altLang="en-US" dirty="0"/>
                <a:t>）</a:t>
              </a:r>
            </a:p>
          </p:txBody>
        </p:sp>
        <p:grpSp>
          <p:nvGrpSpPr>
            <p:cNvPr id="85" name="组合 84">
              <a:extLst>
                <a:ext uri="{FF2B5EF4-FFF2-40B4-BE49-F238E27FC236}">
                  <a16:creationId xmlns:a16="http://schemas.microsoft.com/office/drawing/2014/main" id="{EFB2BC77-AAC3-4D8E-8A10-7C3D73433254}"/>
                </a:ext>
              </a:extLst>
            </p:cNvPr>
            <p:cNvGrpSpPr/>
            <p:nvPr/>
          </p:nvGrpSpPr>
          <p:grpSpPr>
            <a:xfrm>
              <a:off x="6809714" y="1787316"/>
              <a:ext cx="4509648" cy="4154275"/>
              <a:chOff x="7508875" y="1770625"/>
              <a:chExt cx="4509648" cy="4154275"/>
            </a:xfrm>
          </p:grpSpPr>
          <p:sp>
            <p:nvSpPr>
              <p:cNvPr id="98" name="矩形 97">
                <a:extLst>
                  <a:ext uri="{FF2B5EF4-FFF2-40B4-BE49-F238E27FC236}">
                    <a16:creationId xmlns:a16="http://schemas.microsoft.com/office/drawing/2014/main" id="{4125D3A4-B97B-4A29-A55E-98BC09F7D862}"/>
                  </a:ext>
                </a:extLst>
              </p:cNvPr>
              <p:cNvSpPr/>
              <p:nvPr/>
            </p:nvSpPr>
            <p:spPr>
              <a:xfrm>
                <a:off x="7652798" y="2346474"/>
                <a:ext cx="768207" cy="373338"/>
              </a:xfrm>
              <a:prstGeom prst="rect">
                <a:avLst/>
              </a:prstGeom>
              <a:solidFill>
                <a:srgbClr val="D1CECE"/>
              </a:solidFill>
              <a:ln>
                <a:solidFill>
                  <a:srgbClr val="D1CEC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a:extLst>
                  <a:ext uri="{FF2B5EF4-FFF2-40B4-BE49-F238E27FC236}">
                    <a16:creationId xmlns:a16="http://schemas.microsoft.com/office/drawing/2014/main" id="{B1971633-35B8-47C4-8B77-9A293D878DD2}"/>
                  </a:ext>
                </a:extLst>
              </p:cNvPr>
              <p:cNvSpPr/>
              <p:nvPr/>
            </p:nvSpPr>
            <p:spPr>
              <a:xfrm>
                <a:off x="7644665" y="5052289"/>
                <a:ext cx="768207" cy="373338"/>
              </a:xfrm>
              <a:prstGeom prst="rect">
                <a:avLst/>
              </a:prstGeom>
              <a:solidFill>
                <a:srgbClr val="D1CECE"/>
              </a:solidFill>
              <a:ln>
                <a:solidFill>
                  <a:srgbClr val="D1CEC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A91946F0-AA7B-4FD5-884F-A6F9204B3289}"/>
                  </a:ext>
                </a:extLst>
              </p:cNvPr>
              <p:cNvGrpSpPr/>
              <p:nvPr/>
            </p:nvGrpSpPr>
            <p:grpSpPr>
              <a:xfrm>
                <a:off x="7575715" y="4852467"/>
                <a:ext cx="4442808" cy="1072433"/>
                <a:chOff x="2069698" y="3335672"/>
                <a:chExt cx="5091086" cy="1072433"/>
              </a:xfrm>
            </p:grpSpPr>
            <p:pic>
              <p:nvPicPr>
                <p:cNvPr id="14" name="图片 13"/>
                <p:cNvPicPr>
                  <a:picLocks noChangeAspect="1"/>
                </p:cNvPicPr>
                <p:nvPr/>
              </p:nvPicPr>
              <p:blipFill>
                <a:blip r:embed="rId5"/>
                <a:stretch>
                  <a:fillRect/>
                </a:stretch>
              </p:blipFill>
              <p:spPr>
                <a:xfrm>
                  <a:off x="3282616" y="3335672"/>
                  <a:ext cx="1072433" cy="1072433"/>
                </a:xfrm>
                <a:prstGeom prst="rect">
                  <a:avLst/>
                </a:prstGeom>
              </p:spPr>
            </p:pic>
            <p:sp>
              <p:nvSpPr>
                <p:cNvPr id="38" name="矩形 37"/>
                <p:cNvSpPr/>
                <p:nvPr/>
              </p:nvSpPr>
              <p:spPr>
                <a:xfrm>
                  <a:off x="4537558" y="3658509"/>
                  <a:ext cx="2623226" cy="307777"/>
                </a:xfrm>
                <a:prstGeom prst="rect">
                  <a:avLst/>
                </a:prstGeom>
              </p:spPr>
              <p:txBody>
                <a:bodyPr wrap="square">
                  <a:spAutoFit/>
                </a:bodyPr>
                <a:lstStyle/>
                <a:p>
                  <a:pPr algn="ctr"/>
                  <a:r>
                    <a:rPr lang="zh-CN" altLang="en-US" sz="1400" dirty="0"/>
                    <a:t>达特茅斯会议：</a:t>
                  </a:r>
                  <a:r>
                    <a:rPr lang="en-US" altLang="zh-CN" sz="1400" dirty="0"/>
                    <a:t>AI</a:t>
                  </a:r>
                  <a:r>
                    <a:rPr lang="zh-CN" altLang="en-US" sz="1400" dirty="0"/>
                    <a:t>诞生</a:t>
                  </a:r>
                </a:p>
              </p:txBody>
            </p:sp>
            <p:sp>
              <p:nvSpPr>
                <p:cNvPr id="39" name="矩形 38"/>
                <p:cNvSpPr/>
                <p:nvPr/>
              </p:nvSpPr>
              <p:spPr>
                <a:xfrm>
                  <a:off x="2069698" y="3564111"/>
                  <a:ext cx="959314" cy="307777"/>
                </a:xfrm>
                <a:prstGeom prst="rect">
                  <a:avLst/>
                </a:prstGeom>
              </p:spPr>
              <p:txBody>
                <a:bodyPr wrap="square">
                  <a:spAutoFit/>
                </a:bodyPr>
                <a:lstStyle/>
                <a:p>
                  <a:pPr algn="ctr"/>
                  <a:r>
                    <a:rPr lang="en-US" altLang="zh-CN" sz="1400" dirty="0"/>
                    <a:t>1956</a:t>
                  </a:r>
                  <a:r>
                    <a:rPr lang="zh-CN" altLang="en-US" sz="1400" dirty="0"/>
                    <a:t>年</a:t>
                  </a:r>
                </a:p>
              </p:txBody>
            </p:sp>
          </p:grpSp>
          <p:grpSp>
            <p:nvGrpSpPr>
              <p:cNvPr id="10" name="组合 9">
                <a:extLst>
                  <a:ext uri="{FF2B5EF4-FFF2-40B4-BE49-F238E27FC236}">
                    <a16:creationId xmlns:a16="http://schemas.microsoft.com/office/drawing/2014/main" id="{75983C2E-AFEE-4B07-BF34-9C79109E68C7}"/>
                  </a:ext>
                </a:extLst>
              </p:cNvPr>
              <p:cNvGrpSpPr/>
              <p:nvPr/>
            </p:nvGrpSpPr>
            <p:grpSpPr>
              <a:xfrm>
                <a:off x="8626699" y="3253300"/>
                <a:ext cx="3391822" cy="1073785"/>
                <a:chOff x="6332167" y="3334996"/>
                <a:chExt cx="3886744" cy="1073785"/>
              </a:xfrm>
            </p:grpSpPr>
            <p:pic>
              <p:nvPicPr>
                <p:cNvPr id="15" name="图片 14"/>
                <p:cNvPicPr>
                  <a:picLocks noChangeAspect="1"/>
                </p:cNvPicPr>
                <p:nvPr/>
              </p:nvPicPr>
              <p:blipFill>
                <a:blip r:embed="rId6"/>
                <a:stretch>
                  <a:fillRect/>
                </a:stretch>
              </p:blipFill>
              <p:spPr>
                <a:xfrm>
                  <a:off x="6332167" y="3334996"/>
                  <a:ext cx="1073785" cy="1073785"/>
                </a:xfrm>
                <a:prstGeom prst="rect">
                  <a:avLst/>
                </a:prstGeom>
              </p:spPr>
            </p:pic>
            <p:sp>
              <p:nvSpPr>
                <p:cNvPr id="44" name="矩形 43"/>
                <p:cNvSpPr/>
                <p:nvPr/>
              </p:nvSpPr>
              <p:spPr>
                <a:xfrm>
                  <a:off x="7595685" y="3725246"/>
                  <a:ext cx="2623226" cy="307777"/>
                </a:xfrm>
                <a:prstGeom prst="rect">
                  <a:avLst/>
                </a:prstGeom>
              </p:spPr>
              <p:txBody>
                <a:bodyPr wrap="square">
                  <a:spAutoFit/>
                </a:bodyPr>
                <a:lstStyle/>
                <a:p>
                  <a:pPr algn="ctr"/>
                  <a:r>
                    <a:rPr lang="en-US" altLang="zh-CN" sz="1400" dirty="0"/>
                    <a:t>40</a:t>
                  </a:r>
                  <a:r>
                    <a:rPr lang="zh-CN" altLang="en-US" sz="1400" dirty="0"/>
                    <a:t>年间反复起落</a:t>
                  </a:r>
                </a:p>
              </p:txBody>
            </p:sp>
          </p:grpSp>
          <p:grpSp>
            <p:nvGrpSpPr>
              <p:cNvPr id="6" name="组合 5">
                <a:extLst>
                  <a:ext uri="{FF2B5EF4-FFF2-40B4-BE49-F238E27FC236}">
                    <a16:creationId xmlns:a16="http://schemas.microsoft.com/office/drawing/2014/main" id="{D5F2DF85-2495-4CE9-A975-B6E2EB804D44}"/>
                  </a:ext>
                </a:extLst>
              </p:cNvPr>
              <p:cNvGrpSpPr/>
              <p:nvPr/>
            </p:nvGrpSpPr>
            <p:grpSpPr>
              <a:xfrm>
                <a:off x="7508875" y="2196592"/>
                <a:ext cx="4485076" cy="596601"/>
                <a:chOff x="7356660" y="4090599"/>
                <a:chExt cx="5139522" cy="596601"/>
              </a:xfrm>
            </p:grpSpPr>
            <p:pic>
              <p:nvPicPr>
                <p:cNvPr id="16" name="图片 15"/>
                <p:cNvPicPr>
                  <a:picLocks noChangeAspect="1"/>
                </p:cNvPicPr>
                <p:nvPr/>
              </p:nvPicPr>
              <p:blipFill>
                <a:blip r:embed="rId7"/>
                <a:stretch>
                  <a:fillRect/>
                </a:stretch>
              </p:blipFill>
              <p:spPr>
                <a:xfrm>
                  <a:off x="8494003" y="4200209"/>
                  <a:ext cx="1378953" cy="486991"/>
                </a:xfrm>
                <a:prstGeom prst="rect">
                  <a:avLst/>
                </a:prstGeom>
              </p:spPr>
            </p:pic>
            <p:sp>
              <p:nvSpPr>
                <p:cNvPr id="46" name="矩形 45"/>
                <p:cNvSpPr/>
                <p:nvPr/>
              </p:nvSpPr>
              <p:spPr>
                <a:xfrm>
                  <a:off x="7356660" y="4273262"/>
                  <a:ext cx="1217714" cy="307777"/>
                </a:xfrm>
                <a:prstGeom prst="rect">
                  <a:avLst/>
                </a:prstGeom>
              </p:spPr>
              <p:txBody>
                <a:bodyPr wrap="square">
                  <a:spAutoFit/>
                </a:bodyPr>
                <a:lstStyle/>
                <a:p>
                  <a:pPr algn="ctr"/>
                  <a:r>
                    <a:rPr lang="en-US" altLang="zh-CN" sz="1400" dirty="0"/>
                    <a:t>2016</a:t>
                  </a:r>
                  <a:r>
                    <a:rPr lang="zh-CN" altLang="en-US" sz="1400" dirty="0"/>
                    <a:t>年</a:t>
                  </a:r>
                </a:p>
              </p:txBody>
            </p:sp>
            <p:sp>
              <p:nvSpPr>
                <p:cNvPr id="17" name="矩形 16"/>
                <p:cNvSpPr/>
                <p:nvPr/>
              </p:nvSpPr>
              <p:spPr>
                <a:xfrm>
                  <a:off x="9872956" y="4090599"/>
                  <a:ext cx="2623226" cy="523220"/>
                </a:xfrm>
                <a:prstGeom prst="rect">
                  <a:avLst/>
                </a:prstGeom>
              </p:spPr>
              <p:txBody>
                <a:bodyPr wrap="square">
                  <a:spAutoFit/>
                </a:bodyPr>
                <a:lstStyle/>
                <a:p>
                  <a:pPr algn="ctr"/>
                  <a:r>
                    <a:rPr lang="en-US" altLang="zh-CN" sz="1400" dirty="0"/>
                    <a:t>Alpha</a:t>
                  </a:r>
                  <a:r>
                    <a:rPr lang="zh-CN" altLang="en-US" sz="1400" dirty="0"/>
                    <a:t> </a:t>
                  </a:r>
                  <a:r>
                    <a:rPr lang="en-US" altLang="zh-CN" sz="1400" dirty="0"/>
                    <a:t>Go</a:t>
                  </a:r>
                  <a:r>
                    <a:rPr lang="zh-CN" altLang="en-US" sz="1400" dirty="0"/>
                    <a:t>战胜李世石</a:t>
                  </a:r>
                  <a:endParaRPr lang="en-US" altLang="zh-CN" sz="1400" dirty="0"/>
                </a:p>
                <a:p>
                  <a:pPr algn="ctr"/>
                  <a:r>
                    <a:rPr lang="zh-CN" altLang="en-US" sz="1400" dirty="0"/>
                    <a:t>赢得社会对</a:t>
                  </a:r>
                  <a:r>
                    <a:rPr lang="en-US" altLang="zh-CN" sz="1400" dirty="0"/>
                    <a:t>AI</a:t>
                  </a:r>
                  <a:r>
                    <a:rPr lang="zh-CN" altLang="en-US" sz="1400" dirty="0"/>
                    <a:t>的广泛关注</a:t>
                  </a:r>
                </a:p>
              </p:txBody>
            </p:sp>
          </p:grpSp>
          <p:cxnSp>
            <p:nvCxnSpPr>
              <p:cNvPr id="69" name="直接箭头连接符 68">
                <a:extLst>
                  <a:ext uri="{FF2B5EF4-FFF2-40B4-BE49-F238E27FC236}">
                    <a16:creationId xmlns:a16="http://schemas.microsoft.com/office/drawing/2014/main" id="{53C4693F-3F4C-4D50-B764-B31B672AF62A}"/>
                  </a:ext>
                </a:extLst>
              </p:cNvPr>
              <p:cNvCxnSpPr/>
              <p:nvPr/>
            </p:nvCxnSpPr>
            <p:spPr>
              <a:xfrm flipV="1">
                <a:off x="7644665" y="1770625"/>
                <a:ext cx="0" cy="4140000"/>
              </a:xfrm>
              <a:prstGeom prst="straightConnector1">
                <a:avLst/>
              </a:prstGeom>
              <a:ln>
                <a:solidFill>
                  <a:srgbClr val="D1CECE"/>
                </a:solidFill>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527291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 name="图片 59">
            <a:extLst>
              <a:ext uri="{FF2B5EF4-FFF2-40B4-BE49-F238E27FC236}">
                <a16:creationId xmlns:a16="http://schemas.microsoft.com/office/drawing/2014/main" id="{8151B5A4-3468-4866-AF0F-78789591B933}"/>
              </a:ext>
            </a:extLst>
          </p:cNvPr>
          <p:cNvPicPr>
            <a:picLocks noChangeAspect="1"/>
          </p:cNvPicPr>
          <p:nvPr/>
        </p:nvPicPr>
        <p:blipFill>
          <a:blip r:embed="rId2"/>
          <a:stretch>
            <a:fillRect/>
          </a:stretch>
        </p:blipFill>
        <p:spPr>
          <a:xfrm>
            <a:off x="2953295" y="2608317"/>
            <a:ext cx="5839722" cy="3503833"/>
          </a:xfrm>
          <a:prstGeom prst="rect">
            <a:avLst/>
          </a:prstGeom>
        </p:spPr>
      </p:pic>
      <p:sp>
        <p:nvSpPr>
          <p:cNvPr id="170" name="线条"/>
          <p:cNvSpPr/>
          <p:nvPr/>
        </p:nvSpPr>
        <p:spPr>
          <a:xfrm flipV="1">
            <a:off x="872643" y="12456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71"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72"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73" name="03"/>
          <p:cNvSpPr txBox="1"/>
          <p:nvPr/>
        </p:nvSpPr>
        <p:spPr>
          <a:xfrm>
            <a:off x="356995" y="6344413"/>
            <a:ext cx="218679" cy="231380"/>
          </a:xfrm>
          <a:prstGeom prst="rect">
            <a:avLst/>
          </a:prstGeom>
          <a:ln w="3175">
            <a:miter lim="400000"/>
          </a:ln>
          <a:extLst>
            <a:ext uri="{C572A759-6A51-4108-AA02-DFA0A04FC94B}">
              <ma14:wrappingTextBoxFlag xmlns="" xmlns:ma14="http://schemas.microsoft.com/office/mac/drawingml/2011/main" val="1"/>
            </a:ext>
          </a:extLst>
        </p:spPr>
        <p:txBody>
          <a:bodyPr wrap="none" lIns="26789" tIns="26789" rIns="26789" bIns="26789" anchor="ctr">
            <a:spAutoFit/>
          </a:bodyPr>
          <a:lstStyle>
            <a:lvl1pPr>
              <a:defRPr sz="1000">
                <a:solidFill>
                  <a:srgbClr val="CAA354"/>
                </a:solidFill>
                <a:latin typeface="PingFang SC Regular"/>
                <a:ea typeface="PingFang SC Regular"/>
                <a:cs typeface="PingFang SC Regular"/>
                <a:sym typeface="PingFang SC Regular"/>
              </a:defRPr>
            </a:lvl1pPr>
          </a:lstStyle>
          <a:p>
            <a:r>
              <a:rPr dirty="0"/>
              <a:t>03</a:t>
            </a:r>
          </a:p>
        </p:txBody>
      </p:sp>
      <p:pic>
        <p:nvPicPr>
          <p:cNvPr id="175" name="图像" descr="图像"/>
          <p:cNvPicPr>
            <a:picLocks noChangeAspect="1"/>
          </p:cNvPicPr>
          <p:nvPr/>
        </p:nvPicPr>
        <p:blipFill>
          <a:blip r:embed="rId3">
            <a:extLst/>
          </a:blip>
          <a:stretch>
            <a:fillRect/>
          </a:stretch>
        </p:blipFill>
        <p:spPr>
          <a:xfrm>
            <a:off x="10484724" y="427048"/>
            <a:ext cx="1253576" cy="332979"/>
          </a:xfrm>
          <a:prstGeom prst="rect">
            <a:avLst/>
          </a:prstGeom>
          <a:ln w="3175">
            <a:miter lim="400000"/>
          </a:ln>
        </p:spPr>
      </p:pic>
      <p:sp>
        <p:nvSpPr>
          <p:cNvPr id="36" name="标题"/>
          <p:cNvSpPr txBox="1"/>
          <p:nvPr/>
        </p:nvSpPr>
        <p:spPr>
          <a:xfrm>
            <a:off x="1057009" y="235328"/>
            <a:ext cx="8606940" cy="546544"/>
          </a:xfrm>
          <a:prstGeom prst="rect">
            <a:avLst/>
          </a:prstGeom>
          <a:ln w="3175">
            <a:miter lim="400000"/>
          </a:ln>
          <a:extLst>
            <a:ext uri="{C572A759-6A51-4108-AA02-DFA0A04FC94B}">
              <ma14:wrappingTextBoxFlag xmlns="" xmlns:ma14="http://schemas.microsoft.com/office/mac/drawingml/2011/main" val="1"/>
            </a:ext>
          </a:extLst>
        </p:spPr>
        <p:txBody>
          <a:bodyPr wrap="squar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kumimoji="1" lang="zh-CN" altLang="en-US" sz="3200" b="1" dirty="0">
                <a:solidFill>
                  <a:schemeClr val="tx1"/>
                </a:solidFill>
                <a:latin typeface="+mn-lt"/>
                <a:ea typeface="+mn-ea"/>
                <a:cs typeface="+mn-cs"/>
              </a:rPr>
              <a:t>人工智能</a:t>
            </a:r>
            <a:r>
              <a:rPr kumimoji="1" lang="en-US" altLang="zh-CN" sz="3200" b="1" dirty="0">
                <a:solidFill>
                  <a:schemeClr val="tx1"/>
                </a:solidFill>
                <a:latin typeface="+mn-lt"/>
                <a:ea typeface="+mn-ea"/>
                <a:cs typeface="+mn-cs"/>
              </a:rPr>
              <a:t>+</a:t>
            </a:r>
            <a:r>
              <a:rPr kumimoji="1" lang="zh-CN" altLang="en-US" sz="3200" b="1" dirty="0">
                <a:solidFill>
                  <a:schemeClr val="tx1"/>
                </a:solidFill>
                <a:latin typeface="+mn-lt"/>
                <a:ea typeface="+mn-ea"/>
                <a:cs typeface="+mn-cs"/>
              </a:rPr>
              <a:t>金融：创新促进开源节流和服务优化</a:t>
            </a:r>
            <a:endParaRPr kumimoji="1" sz="3200" b="1" dirty="0">
              <a:solidFill>
                <a:schemeClr val="tx1"/>
              </a:solidFill>
              <a:latin typeface="+mn-lt"/>
              <a:ea typeface="+mn-ea"/>
              <a:cs typeface="+mn-cs"/>
            </a:endParaRPr>
          </a:p>
        </p:txBody>
      </p:sp>
      <p:grpSp>
        <p:nvGrpSpPr>
          <p:cNvPr id="5" name="组 4"/>
          <p:cNvGrpSpPr/>
          <p:nvPr/>
        </p:nvGrpSpPr>
        <p:grpSpPr>
          <a:xfrm>
            <a:off x="1040299" y="852945"/>
            <a:ext cx="6446261" cy="103887"/>
            <a:chOff x="1040299" y="852945"/>
            <a:chExt cx="6446261" cy="103887"/>
          </a:xfrm>
        </p:grpSpPr>
        <p:sp>
          <p:nvSpPr>
            <p:cNvPr id="20" name="矩形 19">
              <a:extLst>
                <a:ext uri="{FF2B5EF4-FFF2-40B4-BE49-F238E27FC236}">
                  <a16:creationId xmlns:a16="http://schemas.microsoft.com/office/drawing/2014/main" id="{07CCDA19-C78F-4FEF-9A33-1AEE922E976D}"/>
                </a:ext>
              </a:extLst>
            </p:cNvPr>
            <p:cNvSpPr/>
            <p:nvPr/>
          </p:nvSpPr>
          <p:spPr>
            <a:xfrm>
              <a:off x="1040299" y="852945"/>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FD35F411-A1E5-4031-B455-0E2C81A8D091}"/>
                </a:ext>
              </a:extLst>
            </p:cNvPr>
            <p:cNvSpPr/>
            <p:nvPr/>
          </p:nvSpPr>
          <p:spPr>
            <a:xfrm>
              <a:off x="5113896" y="852945"/>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9" name="文本框 58">
            <a:extLst>
              <a:ext uri="{FF2B5EF4-FFF2-40B4-BE49-F238E27FC236}">
                <a16:creationId xmlns:a16="http://schemas.microsoft.com/office/drawing/2014/main" id="{F9733E42-2CE2-4560-B045-65875FF5BF81}"/>
              </a:ext>
            </a:extLst>
          </p:cNvPr>
          <p:cNvSpPr txBox="1"/>
          <p:nvPr/>
        </p:nvSpPr>
        <p:spPr>
          <a:xfrm>
            <a:off x="1040299" y="1182410"/>
            <a:ext cx="9932522" cy="1526187"/>
          </a:xfrm>
          <a:prstGeom prst="rect">
            <a:avLst/>
          </a:prstGeom>
          <a:noFill/>
        </p:spPr>
        <p:txBody>
          <a:bodyPr wrap="square" rtlCol="0">
            <a:spAutoFit/>
          </a:bodyPr>
          <a:lstStyle/>
          <a:p>
            <a:pPr>
              <a:lnSpc>
                <a:spcPct val="150000"/>
              </a:lnSpc>
            </a:pPr>
            <a:r>
              <a:rPr lang="zh-CN" altLang="en-US" sz="1600" dirty="0">
                <a:latin typeface="PingFang SC" charset="-122"/>
                <a:ea typeface="PingFang SC" charset="-122"/>
                <a:cs typeface="PingFang SC" charset="-122"/>
              </a:rPr>
              <a:t>人工智能</a:t>
            </a:r>
            <a:r>
              <a:rPr lang="en-US" altLang="zh-CN" sz="1600" dirty="0">
                <a:latin typeface="PingFang SC" charset="-122"/>
                <a:ea typeface="PingFang SC" charset="-122"/>
                <a:cs typeface="PingFang SC" charset="-122"/>
              </a:rPr>
              <a:t>+</a:t>
            </a:r>
            <a:r>
              <a:rPr lang="zh-CN" altLang="en-US" sz="1600" dirty="0">
                <a:latin typeface="PingFang SC" charset="-122"/>
                <a:ea typeface="PingFang SC" charset="-122"/>
                <a:cs typeface="PingFang SC" charset="-122"/>
              </a:rPr>
              <a:t>金融是金融科技的一个分支，主要利用人工智能技术进行金融创新。该项创新将对金融市场、金融机构和金融服务提供方式造成重大影响。</a:t>
            </a:r>
            <a:endParaRPr lang="en-US" altLang="zh-CN" sz="1600" dirty="0">
              <a:latin typeface="PingFang SC" charset="-122"/>
              <a:ea typeface="PingFang SC" charset="-122"/>
              <a:cs typeface="PingFang SC" charset="-122"/>
            </a:endParaRPr>
          </a:p>
          <a:p>
            <a:pPr>
              <a:lnSpc>
                <a:spcPct val="150000"/>
              </a:lnSpc>
            </a:pPr>
            <a:r>
              <a:rPr lang="zh-CN" altLang="en-US" sz="1600" dirty="0">
                <a:latin typeface="PingFang SC" charset="-122"/>
                <a:ea typeface="PingFang SC" charset="-122"/>
                <a:cs typeface="PingFang SC" charset="-122"/>
              </a:rPr>
              <a:t>具体表现：创造新的业务模式、应用、流程或产品。</a:t>
            </a:r>
            <a:endParaRPr lang="en-US" altLang="zh-CN" sz="1600" dirty="0">
              <a:latin typeface="PingFang SC" charset="-122"/>
              <a:ea typeface="PingFang SC" charset="-122"/>
              <a:cs typeface="PingFang SC" charset="-122"/>
            </a:endParaRPr>
          </a:p>
          <a:p>
            <a:pPr>
              <a:lnSpc>
                <a:spcPct val="150000"/>
              </a:lnSpc>
            </a:pPr>
            <a:r>
              <a:rPr lang="zh-CN" altLang="en-US" sz="1600" dirty="0">
                <a:latin typeface="PingFang SC" charset="-122"/>
                <a:ea typeface="PingFang SC" charset="-122"/>
                <a:cs typeface="PingFang SC" charset="-122"/>
              </a:rPr>
              <a:t>价值：将金融从业人员从高频且路径清晰的部分生产活动中解放出来，</a:t>
            </a:r>
            <a:r>
              <a:rPr lang="zh-CN" altLang="en-US" sz="1600" b="1" dirty="0">
                <a:latin typeface="PingFang SC" charset="-122"/>
                <a:ea typeface="PingFang SC" charset="-122"/>
                <a:cs typeface="PingFang SC" charset="-122"/>
              </a:rPr>
              <a:t>降低成本</a:t>
            </a:r>
            <a:r>
              <a:rPr lang="zh-CN" altLang="en-US" sz="1600" dirty="0">
                <a:latin typeface="PingFang SC" charset="-122"/>
                <a:ea typeface="PingFang SC" charset="-122"/>
                <a:cs typeface="PingFang SC" charset="-122"/>
              </a:rPr>
              <a:t>、</a:t>
            </a:r>
            <a:r>
              <a:rPr lang="zh-CN" altLang="en-US" sz="1600" b="1" dirty="0">
                <a:latin typeface="PingFang SC" charset="-122"/>
                <a:ea typeface="PingFang SC" charset="-122"/>
                <a:cs typeface="PingFang SC" charset="-122"/>
              </a:rPr>
              <a:t>提升效率</a:t>
            </a:r>
            <a:r>
              <a:rPr lang="zh-CN" altLang="en-US" sz="1600" dirty="0">
                <a:latin typeface="PingFang SC" charset="-122"/>
                <a:ea typeface="PingFang SC" charset="-122"/>
                <a:cs typeface="PingFang SC" charset="-122"/>
              </a:rPr>
              <a:t>、</a:t>
            </a:r>
            <a:r>
              <a:rPr lang="zh-CN" altLang="en-US" sz="1600" b="1" dirty="0">
                <a:latin typeface="PingFang SC" charset="-122"/>
                <a:ea typeface="PingFang SC" charset="-122"/>
                <a:cs typeface="PingFang SC" charset="-122"/>
              </a:rPr>
              <a:t>提高服务质量。</a:t>
            </a:r>
            <a:endParaRPr lang="en-US" altLang="zh-CN" sz="1600" dirty="0">
              <a:latin typeface="PingFang SC" charset="-122"/>
              <a:ea typeface="PingFang SC" charset="-122"/>
              <a:cs typeface="PingFang SC" charset="-122"/>
            </a:endParaRPr>
          </a:p>
        </p:txBody>
      </p:sp>
      <p:sp>
        <p:nvSpPr>
          <p:cNvPr id="61" name="文本框 60">
            <a:extLst>
              <a:ext uri="{FF2B5EF4-FFF2-40B4-BE49-F238E27FC236}">
                <a16:creationId xmlns:a16="http://schemas.microsoft.com/office/drawing/2014/main" id="{7803C492-6865-40A8-B3B7-16179363B65B}"/>
              </a:ext>
            </a:extLst>
          </p:cNvPr>
          <p:cNvSpPr txBox="1"/>
          <p:nvPr/>
        </p:nvSpPr>
        <p:spPr>
          <a:xfrm>
            <a:off x="4507676" y="6030977"/>
            <a:ext cx="2339102" cy="553998"/>
          </a:xfrm>
          <a:prstGeom prst="rect">
            <a:avLst/>
          </a:prstGeom>
          <a:noFill/>
        </p:spPr>
        <p:txBody>
          <a:bodyPr wrap="none" rtlCol="0">
            <a:spAutoFit/>
          </a:bodyPr>
          <a:lstStyle/>
          <a:p>
            <a:pPr algn="ctr"/>
            <a:r>
              <a:rPr kumimoji="1" lang="zh-CN" altLang="en-US" b="1" dirty="0">
                <a:latin typeface="PingFang SC" charset="-122"/>
                <a:ea typeface="PingFang SC" charset="-122"/>
                <a:cs typeface="PingFang SC" charset="-122"/>
              </a:rPr>
              <a:t>金融科技应用</a:t>
            </a:r>
            <a:endParaRPr kumimoji="1" lang="en-US" altLang="zh-CN" b="1" dirty="0">
              <a:latin typeface="PingFang SC" charset="-122"/>
              <a:ea typeface="PingFang SC" charset="-122"/>
              <a:cs typeface="PingFang SC" charset="-122"/>
            </a:endParaRPr>
          </a:p>
          <a:p>
            <a:pPr algn="ctr"/>
            <a:r>
              <a:rPr kumimoji="1" lang="zh-CN" altLang="en-US" sz="1200" b="1" dirty="0">
                <a:latin typeface="PingFang SC" charset="-122"/>
                <a:ea typeface="PingFang SC" charset="-122"/>
                <a:cs typeface="PingFang SC" charset="-122"/>
              </a:rPr>
              <a:t>（资料来源：京东金融研究院）</a:t>
            </a:r>
          </a:p>
        </p:txBody>
      </p:sp>
    </p:spTree>
    <p:extLst>
      <p:ext uri="{BB962C8B-B14F-4D97-AF65-F5344CB8AC3E}">
        <p14:creationId xmlns:p14="http://schemas.microsoft.com/office/powerpoint/2010/main" val="1863745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71"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72"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73" name="03"/>
          <p:cNvSpPr txBox="1"/>
          <p:nvPr/>
        </p:nvSpPr>
        <p:spPr>
          <a:xfrm>
            <a:off x="356995" y="6344413"/>
            <a:ext cx="218679" cy="231380"/>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lvl1pPr>
              <a:defRPr sz="1000">
                <a:solidFill>
                  <a:srgbClr val="CAA354"/>
                </a:solidFill>
                <a:latin typeface="PingFang SC Regular"/>
                <a:ea typeface="PingFang SC Regular"/>
                <a:cs typeface="PingFang SC Regular"/>
                <a:sym typeface="PingFang SC Regular"/>
              </a:defRPr>
            </a:lvl1pPr>
          </a:lstStyle>
          <a:p>
            <a:r>
              <a:rPr dirty="0"/>
              <a:t>03</a:t>
            </a:r>
          </a:p>
        </p:txBody>
      </p:sp>
      <p:pic>
        <p:nvPicPr>
          <p:cNvPr id="20" name="图像" descr="图像"/>
          <p:cNvPicPr>
            <a:picLocks noChangeAspect="1"/>
          </p:cNvPicPr>
          <p:nvPr/>
        </p:nvPicPr>
        <p:blipFill>
          <a:blip r:embed="rId2">
            <a:extLst/>
          </a:blip>
          <a:stretch>
            <a:fillRect/>
          </a:stretch>
        </p:blipFill>
        <p:spPr>
          <a:xfrm>
            <a:off x="10355418" y="590679"/>
            <a:ext cx="1253576" cy="332979"/>
          </a:xfrm>
          <a:prstGeom prst="rect">
            <a:avLst/>
          </a:prstGeom>
          <a:ln w="3175">
            <a:miter lim="400000"/>
          </a:ln>
        </p:spPr>
      </p:pic>
      <p:pic>
        <p:nvPicPr>
          <p:cNvPr id="25" name="图片 2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9624" y="3607010"/>
            <a:ext cx="1698677" cy="1810727"/>
          </a:xfrm>
          <a:prstGeom prst="rect">
            <a:avLst/>
          </a:prstGeom>
        </p:spPr>
      </p:pic>
      <p:sp>
        <p:nvSpPr>
          <p:cNvPr id="26" name="公司简介"/>
          <p:cNvSpPr txBox="1"/>
          <p:nvPr/>
        </p:nvSpPr>
        <p:spPr>
          <a:xfrm>
            <a:off x="1278168" y="5542083"/>
            <a:ext cx="2444313" cy="792765"/>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pPr algn="ctr"/>
            <a:r>
              <a:rPr lang="zh-CN" altLang="en-US" sz="1600" dirty="0">
                <a:solidFill>
                  <a:srgbClr val="000000"/>
                </a:solidFill>
                <a:latin typeface="+mn-lt"/>
                <a:ea typeface="+mn-ea"/>
                <a:cs typeface="+mn-cs"/>
              </a:rPr>
              <a:t>董事长</a:t>
            </a:r>
            <a:endParaRPr lang="en-US" altLang="zh-CN" sz="1600" dirty="0">
              <a:solidFill>
                <a:srgbClr val="000000"/>
              </a:solidFill>
              <a:latin typeface="+mn-lt"/>
              <a:ea typeface="+mn-ea"/>
              <a:cs typeface="+mn-cs"/>
            </a:endParaRPr>
          </a:p>
          <a:p>
            <a:pPr algn="ctr"/>
            <a:r>
              <a:rPr lang="zh-CN" altLang="en-US" sz="1600" dirty="0">
                <a:solidFill>
                  <a:srgbClr val="000000"/>
                </a:solidFill>
                <a:latin typeface="+mn-lt"/>
                <a:ea typeface="+mn-ea"/>
                <a:cs typeface="+mn-cs"/>
              </a:rPr>
              <a:t>马蔚华博士</a:t>
            </a:r>
            <a:endParaRPr lang="en-US" altLang="zh-CN" sz="1600" dirty="0">
              <a:solidFill>
                <a:srgbClr val="000000"/>
              </a:solidFill>
              <a:latin typeface="+mn-lt"/>
              <a:ea typeface="+mn-ea"/>
              <a:cs typeface="+mn-cs"/>
            </a:endParaRPr>
          </a:p>
          <a:p>
            <a:pPr algn="ctr"/>
            <a:r>
              <a:rPr lang="zh-CN" altLang="en-US" sz="1600" dirty="0">
                <a:solidFill>
                  <a:srgbClr val="000000"/>
                </a:solidFill>
                <a:latin typeface="+mn-lt"/>
                <a:ea typeface="+mn-ea"/>
                <a:cs typeface="+mn-cs"/>
              </a:rPr>
              <a:t>（前招商银行行长）</a:t>
            </a:r>
            <a:endParaRPr lang="en-US" altLang="zh-CN" sz="1600" dirty="0">
              <a:solidFill>
                <a:srgbClr val="000000"/>
              </a:solidFill>
              <a:latin typeface="+mn-lt"/>
              <a:ea typeface="+mn-ea"/>
              <a:cs typeface="+mn-cs"/>
            </a:endParaRPr>
          </a:p>
        </p:txBody>
      </p:sp>
      <p:pic>
        <p:nvPicPr>
          <p:cNvPr id="27" name="图片 2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04539" y="3607010"/>
            <a:ext cx="1698677" cy="1806083"/>
          </a:xfrm>
          <a:prstGeom prst="rect">
            <a:avLst/>
          </a:prstGeom>
        </p:spPr>
      </p:pic>
      <p:sp>
        <p:nvSpPr>
          <p:cNvPr id="28" name="公司简介"/>
          <p:cNvSpPr txBox="1"/>
          <p:nvPr/>
        </p:nvSpPr>
        <p:spPr>
          <a:xfrm>
            <a:off x="4831720" y="5542083"/>
            <a:ext cx="2444313" cy="792765"/>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pPr algn="ctr"/>
            <a:r>
              <a:rPr lang="zh-CN" altLang="en-US" sz="1600" dirty="0">
                <a:solidFill>
                  <a:srgbClr val="000000"/>
                </a:solidFill>
                <a:latin typeface="+mn-lt"/>
                <a:ea typeface="+mn-ea"/>
                <a:cs typeface="+mn-cs"/>
              </a:rPr>
              <a:t>创始人</a:t>
            </a:r>
            <a:endParaRPr lang="en-US" altLang="zh-CN" sz="1600" dirty="0">
              <a:solidFill>
                <a:srgbClr val="000000"/>
              </a:solidFill>
              <a:latin typeface="+mn-lt"/>
              <a:ea typeface="+mn-ea"/>
              <a:cs typeface="+mn-cs"/>
            </a:endParaRPr>
          </a:p>
          <a:p>
            <a:pPr algn="ctr"/>
            <a:r>
              <a:rPr lang="zh-CN" altLang="en-US" sz="1600" dirty="0">
                <a:solidFill>
                  <a:srgbClr val="000000"/>
                </a:solidFill>
                <a:latin typeface="+mn-lt"/>
                <a:ea typeface="+mn-ea"/>
                <a:cs typeface="+mn-cs"/>
              </a:rPr>
              <a:t>聂凡淇先生</a:t>
            </a:r>
            <a:endParaRPr lang="en-US" altLang="zh-CN" sz="1600" dirty="0">
              <a:solidFill>
                <a:srgbClr val="000000"/>
              </a:solidFill>
              <a:latin typeface="+mn-lt"/>
              <a:ea typeface="+mn-ea"/>
              <a:cs typeface="+mn-cs"/>
            </a:endParaRPr>
          </a:p>
          <a:p>
            <a:pPr algn="ctr"/>
            <a:r>
              <a:rPr lang="zh-CN" altLang="en-US" sz="1600" dirty="0">
                <a:solidFill>
                  <a:srgbClr val="000000"/>
                </a:solidFill>
                <a:latin typeface="+mn-lt"/>
                <a:ea typeface="+mn-ea"/>
                <a:cs typeface="+mn-cs"/>
              </a:rPr>
              <a:t>（前华尔街对冲基金经理）</a:t>
            </a:r>
            <a:endParaRPr lang="en-US" altLang="zh-CN" sz="1600" dirty="0">
              <a:solidFill>
                <a:srgbClr val="000000"/>
              </a:solidFill>
              <a:latin typeface="+mn-lt"/>
              <a:ea typeface="+mn-ea"/>
              <a:cs typeface="+mn-cs"/>
            </a:endParaRPr>
          </a:p>
        </p:txBody>
      </p:sp>
      <p:pic>
        <p:nvPicPr>
          <p:cNvPr id="29" name="图片 2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56741" y="3607010"/>
            <a:ext cx="1698677" cy="1811809"/>
          </a:xfrm>
          <a:prstGeom prst="rect">
            <a:avLst/>
          </a:prstGeom>
        </p:spPr>
      </p:pic>
      <p:sp>
        <p:nvSpPr>
          <p:cNvPr id="30" name="公司简介"/>
          <p:cNvSpPr txBox="1"/>
          <p:nvPr/>
        </p:nvSpPr>
        <p:spPr>
          <a:xfrm>
            <a:off x="7565182" y="5532917"/>
            <a:ext cx="4175359" cy="792765"/>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pPr algn="ctr"/>
            <a:r>
              <a:rPr lang="zh-CN" altLang="en-US" sz="1600" dirty="0">
                <a:solidFill>
                  <a:srgbClr val="000000"/>
                </a:solidFill>
                <a:latin typeface="+mn-lt"/>
                <a:ea typeface="+mn-ea"/>
                <a:cs typeface="+mn-cs"/>
              </a:rPr>
              <a:t>联合创始人 </a:t>
            </a:r>
            <a:r>
              <a:rPr lang="en-US" altLang="zh-CN" sz="1600" dirty="0">
                <a:solidFill>
                  <a:srgbClr val="000000"/>
                </a:solidFill>
                <a:latin typeface="+mn-lt"/>
                <a:ea typeface="+mn-ea"/>
                <a:cs typeface="+mn-cs"/>
              </a:rPr>
              <a:t>&amp;</a:t>
            </a:r>
            <a:r>
              <a:rPr lang="zh-CN" altLang="en-US" sz="1600" dirty="0">
                <a:solidFill>
                  <a:srgbClr val="000000"/>
                </a:solidFill>
                <a:latin typeface="+mn-lt"/>
                <a:ea typeface="+mn-ea"/>
                <a:cs typeface="+mn-cs"/>
              </a:rPr>
              <a:t> </a:t>
            </a:r>
            <a:r>
              <a:rPr lang="en-US" altLang="zh-CN" sz="1600" dirty="0">
                <a:solidFill>
                  <a:srgbClr val="000000"/>
                </a:solidFill>
                <a:latin typeface="+mn-lt"/>
                <a:ea typeface="+mn-ea"/>
                <a:cs typeface="+mn-cs"/>
              </a:rPr>
              <a:t>CEO</a:t>
            </a:r>
            <a:r>
              <a:rPr lang="zh-CN" altLang="en-US" sz="1600" dirty="0">
                <a:solidFill>
                  <a:srgbClr val="000000"/>
                </a:solidFill>
                <a:latin typeface="+mn-lt"/>
                <a:ea typeface="+mn-ea"/>
                <a:cs typeface="+mn-cs"/>
              </a:rPr>
              <a:t> </a:t>
            </a:r>
            <a:r>
              <a:rPr lang="en-US" altLang="zh-CN" sz="1600" dirty="0">
                <a:solidFill>
                  <a:srgbClr val="000000"/>
                </a:solidFill>
                <a:latin typeface="+mn-lt"/>
                <a:ea typeface="+mn-ea"/>
                <a:cs typeface="+mn-cs"/>
              </a:rPr>
              <a:t>&amp;</a:t>
            </a:r>
            <a:r>
              <a:rPr lang="zh-CN" altLang="en-US" sz="1600" dirty="0">
                <a:solidFill>
                  <a:srgbClr val="000000"/>
                </a:solidFill>
                <a:latin typeface="+mn-lt"/>
                <a:ea typeface="+mn-ea"/>
                <a:cs typeface="+mn-cs"/>
              </a:rPr>
              <a:t> 首席数据科学家</a:t>
            </a:r>
            <a:endParaRPr lang="en-US" altLang="zh-CN" sz="1600" dirty="0">
              <a:solidFill>
                <a:srgbClr val="000000"/>
              </a:solidFill>
              <a:latin typeface="+mn-lt"/>
              <a:ea typeface="+mn-ea"/>
              <a:cs typeface="+mn-cs"/>
            </a:endParaRPr>
          </a:p>
          <a:p>
            <a:pPr algn="ctr"/>
            <a:r>
              <a:rPr lang="zh-CN" altLang="en-US" sz="1600" dirty="0">
                <a:solidFill>
                  <a:srgbClr val="000000"/>
                </a:solidFill>
                <a:latin typeface="+mn-lt"/>
                <a:ea typeface="+mn-ea"/>
                <a:cs typeface="+mn-cs"/>
              </a:rPr>
              <a:t>柳崎峰博士</a:t>
            </a:r>
            <a:endParaRPr lang="en-US" altLang="zh-CN" sz="1600" dirty="0">
              <a:solidFill>
                <a:srgbClr val="000000"/>
              </a:solidFill>
              <a:latin typeface="+mn-lt"/>
              <a:ea typeface="+mn-ea"/>
              <a:cs typeface="+mn-cs"/>
            </a:endParaRPr>
          </a:p>
          <a:p>
            <a:pPr algn="ctr"/>
            <a:r>
              <a:rPr lang="zh-CN" altLang="en-US" sz="1600" dirty="0">
                <a:solidFill>
                  <a:srgbClr val="000000"/>
                </a:solidFill>
                <a:latin typeface="+mn-lt"/>
                <a:ea typeface="+mn-ea"/>
                <a:cs typeface="+mn-cs"/>
              </a:rPr>
              <a:t>（前雅虎</a:t>
            </a:r>
            <a:r>
              <a:rPr lang="en-US" altLang="zh-CN" sz="1600" dirty="0">
                <a:solidFill>
                  <a:srgbClr val="000000"/>
                </a:solidFill>
                <a:latin typeface="+mn-lt"/>
                <a:ea typeface="+mn-ea"/>
                <a:cs typeface="+mn-cs"/>
              </a:rPr>
              <a:t>Lab</a:t>
            </a:r>
            <a:r>
              <a:rPr lang="zh-CN" altLang="en-US" sz="1600" dirty="0">
                <a:solidFill>
                  <a:srgbClr val="000000"/>
                </a:solidFill>
                <a:latin typeface="+mn-lt"/>
                <a:ea typeface="+mn-ea"/>
                <a:cs typeface="+mn-cs"/>
              </a:rPr>
              <a:t>数据科学家、中科院自动化博士）</a:t>
            </a:r>
            <a:endParaRPr lang="en-US" altLang="zh-CN" sz="1600" dirty="0">
              <a:solidFill>
                <a:srgbClr val="000000"/>
              </a:solidFill>
              <a:latin typeface="+mn-lt"/>
              <a:ea typeface="+mn-ea"/>
              <a:cs typeface="+mn-cs"/>
            </a:endParaRPr>
          </a:p>
        </p:txBody>
      </p:sp>
      <p:sp>
        <p:nvSpPr>
          <p:cNvPr id="31" name="公司简介"/>
          <p:cNvSpPr txBox="1"/>
          <p:nvPr/>
        </p:nvSpPr>
        <p:spPr>
          <a:xfrm>
            <a:off x="1453139" y="1651673"/>
            <a:ext cx="9888629" cy="1623057"/>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pPr>
              <a:lnSpc>
                <a:spcPct val="130000"/>
              </a:lnSpc>
            </a:pPr>
            <a:r>
              <a:rPr lang="en-US" altLang="zh-CN" dirty="0">
                <a:solidFill>
                  <a:srgbClr val="000000"/>
                </a:solidFill>
                <a:latin typeface="+mn-lt"/>
                <a:ea typeface="+mn-ea"/>
                <a:cs typeface="+mn-cs"/>
              </a:rPr>
              <a:t>FDT-AI</a:t>
            </a:r>
            <a:r>
              <a:rPr lang="zh-CN" altLang="zh-CN" dirty="0">
                <a:solidFill>
                  <a:srgbClr val="000000"/>
                </a:solidFill>
                <a:latin typeface="+mn-lt"/>
                <a:ea typeface="+mn-ea"/>
                <a:cs typeface="+mn-cs"/>
              </a:rPr>
              <a:t>（香港智能金融科技有限公司，</a:t>
            </a:r>
            <a:r>
              <a:rPr lang="en-US" altLang="zh-CN" dirty="0">
                <a:solidFill>
                  <a:srgbClr val="000000"/>
                </a:solidFill>
                <a:latin typeface="+mn-lt"/>
                <a:ea typeface="+mn-ea"/>
                <a:cs typeface="+mn-cs"/>
              </a:rPr>
              <a:t>FDT AI Limited</a:t>
            </a:r>
            <a:r>
              <a:rPr lang="zh-CN" altLang="zh-CN" dirty="0">
                <a:solidFill>
                  <a:srgbClr val="000000"/>
                </a:solidFill>
                <a:latin typeface="+mn-lt"/>
                <a:ea typeface="+mn-ea"/>
                <a:cs typeface="+mn-cs"/>
              </a:rPr>
              <a:t> ）是</a:t>
            </a:r>
            <a:r>
              <a:rPr lang="en-US" altLang="zh-CN" dirty="0">
                <a:solidFill>
                  <a:srgbClr val="000000"/>
                </a:solidFill>
                <a:latin typeface="+mn-lt"/>
                <a:ea typeface="+mn-ea"/>
                <a:cs typeface="+mn-cs"/>
              </a:rPr>
              <a:t>FDT</a:t>
            </a:r>
            <a:r>
              <a:rPr lang="zh-CN" altLang="zh-CN" dirty="0">
                <a:solidFill>
                  <a:srgbClr val="000000"/>
                </a:solidFill>
                <a:latin typeface="+mn-lt"/>
                <a:ea typeface="+mn-ea"/>
                <a:cs typeface="+mn-cs"/>
              </a:rPr>
              <a:t>（香港金融数据技术有限公司，</a:t>
            </a:r>
            <a:r>
              <a:rPr lang="en-US" altLang="zh-CN" dirty="0">
                <a:solidFill>
                  <a:srgbClr val="000000"/>
                </a:solidFill>
                <a:latin typeface="+mn-lt"/>
                <a:ea typeface="+mn-ea"/>
                <a:cs typeface="+mn-cs"/>
              </a:rPr>
              <a:t>Financial Data Technologies Limited</a:t>
            </a:r>
            <a:r>
              <a:rPr lang="zh-CN" altLang="zh-CN" dirty="0">
                <a:solidFill>
                  <a:srgbClr val="000000"/>
                </a:solidFill>
                <a:latin typeface="+mn-lt"/>
                <a:ea typeface="+mn-ea"/>
                <a:cs typeface="+mn-cs"/>
              </a:rPr>
              <a:t>）集团旗下成员公司，是源于</a:t>
            </a:r>
            <a:r>
              <a:rPr lang="en-US" altLang="zh-CN" dirty="0">
                <a:solidFill>
                  <a:srgbClr val="000000"/>
                </a:solidFill>
                <a:latin typeface="+mn-lt"/>
                <a:ea typeface="+mn-ea"/>
                <a:cs typeface="+mn-cs"/>
              </a:rPr>
              <a:t>FDT</a:t>
            </a:r>
            <a:r>
              <a:rPr lang="zh-CN" altLang="zh-CN" dirty="0">
                <a:solidFill>
                  <a:srgbClr val="000000"/>
                </a:solidFill>
                <a:latin typeface="+mn-lt"/>
                <a:ea typeface="+mn-ea"/>
                <a:cs typeface="+mn-cs"/>
              </a:rPr>
              <a:t>高校公益金融教育的智能金融科技服务提供商，专注于人工智能、大数据技术和行为金融学等核心技术研发。</a:t>
            </a:r>
          </a:p>
        </p:txBody>
      </p:sp>
      <p:grpSp>
        <p:nvGrpSpPr>
          <p:cNvPr id="3" name="组合 2">
            <a:extLst>
              <a:ext uri="{FF2B5EF4-FFF2-40B4-BE49-F238E27FC236}">
                <a16:creationId xmlns:a16="http://schemas.microsoft.com/office/drawing/2014/main" id="{3FDACAB7-49A2-465B-9927-BA87F4EC9698}"/>
              </a:ext>
            </a:extLst>
          </p:cNvPr>
          <p:cNvGrpSpPr/>
          <p:nvPr/>
        </p:nvGrpSpPr>
        <p:grpSpPr>
          <a:xfrm>
            <a:off x="1258773" y="420418"/>
            <a:ext cx="7010400" cy="906846"/>
            <a:chOff x="1310742" y="590679"/>
            <a:chExt cx="7010400" cy="906846"/>
          </a:xfrm>
        </p:grpSpPr>
        <p:sp>
          <p:nvSpPr>
            <p:cNvPr id="2" name="文本框 1"/>
            <p:cNvSpPr txBox="1"/>
            <p:nvPr/>
          </p:nvSpPr>
          <p:spPr>
            <a:xfrm>
              <a:off x="1310742" y="590679"/>
              <a:ext cx="7010400" cy="584775"/>
            </a:xfrm>
            <a:prstGeom prst="rect">
              <a:avLst/>
            </a:prstGeom>
            <a:noFill/>
          </p:spPr>
          <p:txBody>
            <a:bodyPr wrap="square" rtlCol="0">
              <a:spAutoFit/>
            </a:bodyPr>
            <a:lstStyle/>
            <a:p>
              <a:r>
                <a:rPr kumimoji="1" lang="zh-CN" altLang="en-US" sz="3200" b="1" dirty="0"/>
                <a:t>我们专注于人工智能</a:t>
              </a:r>
              <a:r>
                <a:rPr kumimoji="1" lang="en-US" altLang="zh-CN" sz="3200" b="1" dirty="0"/>
                <a:t>+</a:t>
              </a:r>
              <a:r>
                <a:rPr kumimoji="1" lang="zh-CN" altLang="en-US" sz="3200" b="1" dirty="0"/>
                <a:t>金融</a:t>
              </a:r>
            </a:p>
          </p:txBody>
        </p:sp>
        <p:sp>
          <p:nvSpPr>
            <p:cNvPr id="22" name="矩形 21">
              <a:extLst>
                <a:ext uri="{FF2B5EF4-FFF2-40B4-BE49-F238E27FC236}">
                  <a16:creationId xmlns:a16="http://schemas.microsoft.com/office/drawing/2014/main" id="{07CCDA19-C78F-4FEF-9A33-1AEE922E976D}"/>
                </a:ext>
              </a:extLst>
            </p:cNvPr>
            <p:cNvSpPr/>
            <p:nvPr/>
          </p:nvSpPr>
          <p:spPr>
            <a:xfrm>
              <a:off x="1478539" y="1393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a:extLst>
                <a:ext uri="{FF2B5EF4-FFF2-40B4-BE49-F238E27FC236}">
                  <a16:creationId xmlns:a16="http://schemas.microsoft.com/office/drawing/2014/main" id="{FD35F411-A1E5-4031-B455-0E2C81A8D091}"/>
                </a:ext>
              </a:extLst>
            </p:cNvPr>
            <p:cNvSpPr/>
            <p:nvPr/>
          </p:nvSpPr>
          <p:spPr>
            <a:xfrm>
              <a:off x="5552136" y="1393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791731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71"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72"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73" name="03"/>
          <p:cNvSpPr txBox="1"/>
          <p:nvPr/>
        </p:nvSpPr>
        <p:spPr>
          <a:xfrm>
            <a:off x="356995" y="6344413"/>
            <a:ext cx="218679" cy="231380"/>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lvl1pPr>
              <a:defRPr sz="1000">
                <a:solidFill>
                  <a:srgbClr val="CAA354"/>
                </a:solidFill>
                <a:latin typeface="PingFang SC Regular"/>
                <a:ea typeface="PingFang SC Regular"/>
                <a:cs typeface="PingFang SC Regular"/>
                <a:sym typeface="PingFang SC Regular"/>
              </a:defRPr>
            </a:lvl1pPr>
          </a:lstStyle>
          <a:p>
            <a:r>
              <a:rPr dirty="0"/>
              <a:t>03</a:t>
            </a:r>
          </a:p>
        </p:txBody>
      </p:sp>
      <p:pic>
        <p:nvPicPr>
          <p:cNvPr id="175" name="图像" descr="图像"/>
          <p:cNvPicPr>
            <a:picLocks noChangeAspect="1"/>
          </p:cNvPicPr>
          <p:nvPr/>
        </p:nvPicPr>
        <p:blipFill>
          <a:blip r:embed="rId3">
            <a:extLst/>
          </a:blip>
          <a:stretch>
            <a:fillRect/>
          </a:stretch>
        </p:blipFill>
        <p:spPr>
          <a:xfrm>
            <a:off x="10484724" y="427048"/>
            <a:ext cx="1253576" cy="332979"/>
          </a:xfrm>
          <a:prstGeom prst="rect">
            <a:avLst/>
          </a:prstGeom>
          <a:ln w="3175">
            <a:miter lim="400000"/>
          </a:ln>
        </p:spPr>
      </p:pic>
      <p:sp>
        <p:nvSpPr>
          <p:cNvPr id="46" name="公司简介"/>
          <p:cNvSpPr txBox="1"/>
          <p:nvPr/>
        </p:nvSpPr>
        <p:spPr>
          <a:xfrm>
            <a:off x="6687667" y="1916129"/>
            <a:ext cx="4359197" cy="694276"/>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pPr algn="l">
              <a:lnSpc>
                <a:spcPct val="130000"/>
              </a:lnSpc>
            </a:pPr>
            <a:r>
              <a:rPr lang="zh-CN" altLang="zh-CN" sz="1600" dirty="0">
                <a:solidFill>
                  <a:srgbClr val="000000"/>
                </a:solidFill>
                <a:latin typeface="+mn-lt"/>
                <a:ea typeface="+mn-ea"/>
                <a:cs typeface="+mn-cs"/>
              </a:rPr>
              <a:t>打造以客户需求为导向、以人工智能技术为核心、以金融服务为内容的场景化金融科技解决方案。</a:t>
            </a:r>
          </a:p>
        </p:txBody>
      </p:sp>
      <p:sp>
        <p:nvSpPr>
          <p:cNvPr id="48" name="公司简介"/>
          <p:cNvSpPr txBox="1"/>
          <p:nvPr/>
        </p:nvSpPr>
        <p:spPr>
          <a:xfrm>
            <a:off x="6687667" y="1537469"/>
            <a:ext cx="1116433" cy="423433"/>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r>
              <a:rPr lang="zh-CN" altLang="en-US" sz="2400" dirty="0">
                <a:solidFill>
                  <a:srgbClr val="000000"/>
                </a:solidFill>
                <a:latin typeface="+mn-lt"/>
                <a:ea typeface="+mn-ea"/>
                <a:cs typeface="+mn-cs"/>
              </a:rPr>
              <a:t>使 命</a:t>
            </a:r>
          </a:p>
        </p:txBody>
      </p:sp>
      <p:sp>
        <p:nvSpPr>
          <p:cNvPr id="49" name="公司简介"/>
          <p:cNvSpPr txBox="1"/>
          <p:nvPr/>
        </p:nvSpPr>
        <p:spPr>
          <a:xfrm>
            <a:off x="1778732" y="1903696"/>
            <a:ext cx="4241410" cy="694276"/>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pPr>
              <a:lnSpc>
                <a:spcPct val="130000"/>
              </a:lnSpc>
            </a:pPr>
            <a:r>
              <a:rPr lang="zh-CN" altLang="zh-CN" sz="1600" dirty="0">
                <a:solidFill>
                  <a:srgbClr val="000000"/>
                </a:solidFill>
                <a:latin typeface="+mn-lt"/>
                <a:ea typeface="+mn-ea"/>
                <a:cs typeface="+mn-cs"/>
              </a:rPr>
              <a:t>助力传统金融机构，从移动时代迈向智能时代，帮助上亿用户更好投资与交易。</a:t>
            </a:r>
          </a:p>
        </p:txBody>
      </p:sp>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43938" y="2892793"/>
            <a:ext cx="7109685" cy="3683000"/>
          </a:xfrm>
          <a:prstGeom prst="rect">
            <a:avLst/>
          </a:prstGeom>
        </p:spPr>
      </p:pic>
      <p:grpSp>
        <p:nvGrpSpPr>
          <p:cNvPr id="17" name="组合 16">
            <a:extLst>
              <a:ext uri="{FF2B5EF4-FFF2-40B4-BE49-F238E27FC236}">
                <a16:creationId xmlns:a16="http://schemas.microsoft.com/office/drawing/2014/main" id="{C136F000-05BF-437D-ACC2-ACC76C625584}"/>
              </a:ext>
            </a:extLst>
          </p:cNvPr>
          <p:cNvGrpSpPr/>
          <p:nvPr/>
        </p:nvGrpSpPr>
        <p:grpSpPr>
          <a:xfrm>
            <a:off x="1258772" y="420418"/>
            <a:ext cx="7532137" cy="910958"/>
            <a:chOff x="1310741" y="590679"/>
            <a:chExt cx="7532137" cy="910958"/>
          </a:xfrm>
        </p:grpSpPr>
        <p:sp>
          <p:nvSpPr>
            <p:cNvPr id="18" name="文本框 17">
              <a:extLst>
                <a:ext uri="{FF2B5EF4-FFF2-40B4-BE49-F238E27FC236}">
                  <a16:creationId xmlns:a16="http://schemas.microsoft.com/office/drawing/2014/main" id="{38FEEBC0-4333-4E8A-B75E-94EE1106A33D}"/>
                </a:ext>
              </a:extLst>
            </p:cNvPr>
            <p:cNvSpPr txBox="1"/>
            <p:nvPr/>
          </p:nvSpPr>
          <p:spPr>
            <a:xfrm>
              <a:off x="1310741" y="590679"/>
              <a:ext cx="7532137" cy="584775"/>
            </a:xfrm>
            <a:prstGeom prst="rect">
              <a:avLst/>
            </a:prstGeom>
            <a:noFill/>
          </p:spPr>
          <p:txBody>
            <a:bodyPr wrap="square" rtlCol="0">
              <a:spAutoFit/>
            </a:bodyPr>
            <a:lstStyle/>
            <a:p>
              <a:r>
                <a:rPr kumimoji="1" lang="zh-CN" altLang="en-US" sz="3200" b="1" dirty="0"/>
                <a:t>我们运用</a:t>
              </a:r>
              <a:r>
                <a:rPr kumimoji="1" lang="en-US" altLang="zh-CN" sz="3200" b="1" dirty="0"/>
                <a:t>AI</a:t>
              </a:r>
              <a:r>
                <a:rPr kumimoji="1" lang="zh-CN" altLang="en-US" sz="3200" b="1" dirty="0"/>
                <a:t>技术帮助用户更好地投资交易</a:t>
              </a:r>
            </a:p>
          </p:txBody>
        </p:sp>
        <p:sp>
          <p:nvSpPr>
            <p:cNvPr id="19" name="矩形 18">
              <a:extLst>
                <a:ext uri="{FF2B5EF4-FFF2-40B4-BE49-F238E27FC236}">
                  <a16:creationId xmlns:a16="http://schemas.microsoft.com/office/drawing/2014/main" id="{20455438-E3B9-4C02-9977-D85058651A40}"/>
                </a:ext>
              </a:extLst>
            </p:cNvPr>
            <p:cNvSpPr/>
            <p:nvPr/>
          </p:nvSpPr>
          <p:spPr>
            <a:xfrm>
              <a:off x="1478539" y="1393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E74FBE69-6268-4159-B8EA-1A938A6C62F4}"/>
                </a:ext>
              </a:extLst>
            </p:cNvPr>
            <p:cNvSpPr/>
            <p:nvPr/>
          </p:nvSpPr>
          <p:spPr>
            <a:xfrm>
              <a:off x="5552136" y="1393637"/>
              <a:ext cx="3132000" cy="108000"/>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公司简介">
            <a:extLst>
              <a:ext uri="{FF2B5EF4-FFF2-40B4-BE49-F238E27FC236}">
                <a16:creationId xmlns:a16="http://schemas.microsoft.com/office/drawing/2014/main" id="{17617D4F-83F0-46CA-A629-4018FBAC2367}"/>
              </a:ext>
            </a:extLst>
          </p:cNvPr>
          <p:cNvSpPr txBox="1"/>
          <p:nvPr/>
        </p:nvSpPr>
        <p:spPr>
          <a:xfrm>
            <a:off x="1778732" y="1537469"/>
            <a:ext cx="1116433" cy="423433"/>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r>
              <a:rPr lang="zh-CN" altLang="en-US" sz="2400" dirty="0">
                <a:solidFill>
                  <a:srgbClr val="000000"/>
                </a:solidFill>
                <a:latin typeface="+mn-lt"/>
                <a:ea typeface="+mn-ea"/>
                <a:cs typeface="+mn-cs"/>
              </a:rPr>
              <a:t>愿 景</a:t>
            </a:r>
          </a:p>
        </p:txBody>
      </p:sp>
      <p:sp>
        <p:nvSpPr>
          <p:cNvPr id="2" name="矩形: 圆角 1">
            <a:extLst>
              <a:ext uri="{FF2B5EF4-FFF2-40B4-BE49-F238E27FC236}">
                <a16:creationId xmlns:a16="http://schemas.microsoft.com/office/drawing/2014/main" id="{4EB58C9C-C089-4BE5-AF3E-3D81A7D9F9B4}"/>
              </a:ext>
            </a:extLst>
          </p:cNvPr>
          <p:cNvSpPr/>
          <p:nvPr/>
        </p:nvSpPr>
        <p:spPr>
          <a:xfrm>
            <a:off x="1674678" y="1641185"/>
            <a:ext cx="18000" cy="180000"/>
          </a:xfrm>
          <a:prstGeom prst="roundRect">
            <a:avLst/>
          </a:prstGeom>
          <a:solidFill>
            <a:srgbClr val="D1CE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a:extLst>
              <a:ext uri="{FF2B5EF4-FFF2-40B4-BE49-F238E27FC236}">
                <a16:creationId xmlns:a16="http://schemas.microsoft.com/office/drawing/2014/main" id="{C33354FA-9B03-4CAD-9670-1DFF7168631E}"/>
              </a:ext>
            </a:extLst>
          </p:cNvPr>
          <p:cNvSpPr/>
          <p:nvPr/>
        </p:nvSpPr>
        <p:spPr>
          <a:xfrm>
            <a:off x="6613518" y="1641185"/>
            <a:ext cx="18000" cy="180000"/>
          </a:xfrm>
          <a:prstGeom prst="roundRect">
            <a:avLst/>
          </a:prstGeom>
          <a:solidFill>
            <a:srgbClr val="D1CE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3463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272464CF-FD97-4794-8102-D6BF146F0EBB}"/>
              </a:ext>
            </a:extLst>
          </p:cNvPr>
          <p:cNvGrpSpPr/>
          <p:nvPr/>
        </p:nvGrpSpPr>
        <p:grpSpPr>
          <a:xfrm>
            <a:off x="6096001" y="1279403"/>
            <a:ext cx="3639126" cy="2816506"/>
            <a:chOff x="1692678" y="3309876"/>
            <a:chExt cx="3935375" cy="3264228"/>
          </a:xfrm>
        </p:grpSpPr>
        <p:pic>
          <p:nvPicPr>
            <p:cNvPr id="15" name="图片 14">
              <a:extLst>
                <a:ext uri="{FF2B5EF4-FFF2-40B4-BE49-F238E27FC236}">
                  <a16:creationId xmlns:a16="http://schemas.microsoft.com/office/drawing/2014/main" id="{679AADC4-44B0-493D-B450-5B18178028E7}"/>
                </a:ext>
              </a:extLst>
            </p:cNvPr>
            <p:cNvPicPr>
              <a:picLocks noChangeAspect="1"/>
            </p:cNvPicPr>
            <p:nvPr/>
          </p:nvPicPr>
          <p:blipFill>
            <a:blip r:embed="rId3"/>
            <a:stretch>
              <a:fillRect/>
            </a:stretch>
          </p:blipFill>
          <p:spPr>
            <a:xfrm>
              <a:off x="1692678" y="3309876"/>
              <a:ext cx="3935375" cy="2605382"/>
            </a:xfrm>
            <a:prstGeom prst="rect">
              <a:avLst/>
            </a:prstGeom>
          </p:spPr>
        </p:pic>
        <p:grpSp>
          <p:nvGrpSpPr>
            <p:cNvPr id="7" name="组合 6">
              <a:extLst>
                <a:ext uri="{FF2B5EF4-FFF2-40B4-BE49-F238E27FC236}">
                  <a16:creationId xmlns:a16="http://schemas.microsoft.com/office/drawing/2014/main" id="{229DFEA3-F32E-4534-8B2F-6150C9DAC756}"/>
                </a:ext>
              </a:extLst>
            </p:cNvPr>
            <p:cNvGrpSpPr/>
            <p:nvPr/>
          </p:nvGrpSpPr>
          <p:grpSpPr>
            <a:xfrm>
              <a:off x="2235199" y="5689072"/>
              <a:ext cx="2861241" cy="885032"/>
              <a:chOff x="2235199" y="5689072"/>
              <a:chExt cx="2861241" cy="885032"/>
            </a:xfrm>
          </p:grpSpPr>
          <p:sp>
            <p:nvSpPr>
              <p:cNvPr id="5" name="矩形: 圆角 4">
                <a:extLst>
                  <a:ext uri="{FF2B5EF4-FFF2-40B4-BE49-F238E27FC236}">
                    <a16:creationId xmlns:a16="http://schemas.microsoft.com/office/drawing/2014/main" id="{97E4EBF4-05E5-48F4-ADD0-D32B27079808}"/>
                  </a:ext>
                </a:extLst>
              </p:cNvPr>
              <p:cNvSpPr/>
              <p:nvPr/>
            </p:nvSpPr>
            <p:spPr>
              <a:xfrm>
                <a:off x="2235199" y="5689072"/>
                <a:ext cx="1191491" cy="793829"/>
              </a:xfrm>
              <a:prstGeom prst="roundRect">
                <a:avLst/>
              </a:prstGeom>
              <a:solidFill>
                <a:srgbClr val="991E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a:extLst>
                  <a:ext uri="{FF2B5EF4-FFF2-40B4-BE49-F238E27FC236}">
                    <a16:creationId xmlns:a16="http://schemas.microsoft.com/office/drawing/2014/main" id="{7703D6B8-C4FE-4042-9CF9-9F676CBCE5DC}"/>
                  </a:ext>
                </a:extLst>
              </p:cNvPr>
              <p:cNvSpPr/>
              <p:nvPr/>
            </p:nvSpPr>
            <p:spPr>
              <a:xfrm>
                <a:off x="3904949" y="5689771"/>
                <a:ext cx="1191491" cy="793829"/>
              </a:xfrm>
              <a:prstGeom prst="roundRect">
                <a:avLst/>
              </a:prstGeom>
              <a:solidFill>
                <a:srgbClr val="991E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770B064A-C42E-4434-823F-C11D6B7AD8C1}"/>
                  </a:ext>
                </a:extLst>
              </p:cNvPr>
              <p:cNvSpPr txBox="1"/>
              <p:nvPr/>
            </p:nvSpPr>
            <p:spPr>
              <a:xfrm>
                <a:off x="2262008" y="5718019"/>
                <a:ext cx="1139035" cy="856085"/>
              </a:xfrm>
              <a:prstGeom prst="rect">
                <a:avLst/>
              </a:prstGeom>
              <a:noFill/>
            </p:spPr>
            <p:txBody>
              <a:bodyPr wrap="square" rtlCol="0">
                <a:spAutoFit/>
              </a:bodyPr>
              <a:lstStyle/>
              <a:p>
                <a:pPr algn="ctr"/>
                <a:r>
                  <a:rPr lang="zh-CN" altLang="en-US" sz="1400" dirty="0">
                    <a:solidFill>
                      <a:srgbClr val="F7F2F1"/>
                    </a:solidFill>
                    <a:latin typeface="+mn-ea"/>
                  </a:rPr>
                  <a:t>智能</a:t>
                </a:r>
                <a:endParaRPr lang="en-US" altLang="zh-CN" sz="1400" dirty="0">
                  <a:solidFill>
                    <a:srgbClr val="F7F2F1"/>
                  </a:solidFill>
                  <a:latin typeface="+mn-ea"/>
                </a:endParaRPr>
              </a:p>
              <a:p>
                <a:pPr algn="ctr"/>
                <a:r>
                  <a:rPr lang="zh-CN" altLang="en-US" sz="1400" dirty="0">
                    <a:solidFill>
                      <a:srgbClr val="F7F2F1"/>
                    </a:solidFill>
                    <a:latin typeface="+mn-ea"/>
                  </a:rPr>
                  <a:t>投资者</a:t>
                </a:r>
                <a:endParaRPr lang="en-US" altLang="zh-CN" sz="1400" dirty="0">
                  <a:solidFill>
                    <a:srgbClr val="F7F2F1"/>
                  </a:solidFill>
                  <a:latin typeface="+mn-ea"/>
                </a:endParaRPr>
              </a:p>
              <a:p>
                <a:pPr algn="ctr"/>
                <a:r>
                  <a:rPr lang="zh-CN" altLang="en-US" sz="1400" dirty="0">
                    <a:solidFill>
                      <a:srgbClr val="F7F2F1"/>
                    </a:solidFill>
                    <a:latin typeface="+mn-ea"/>
                  </a:rPr>
                  <a:t>画像</a:t>
                </a:r>
              </a:p>
            </p:txBody>
          </p:sp>
          <p:sp>
            <p:nvSpPr>
              <p:cNvPr id="26" name="文本框 25">
                <a:extLst>
                  <a:ext uri="{FF2B5EF4-FFF2-40B4-BE49-F238E27FC236}">
                    <a16:creationId xmlns:a16="http://schemas.microsoft.com/office/drawing/2014/main" id="{B69AC899-0D19-43A6-B704-16E88F5A5997}"/>
                  </a:ext>
                </a:extLst>
              </p:cNvPr>
              <p:cNvSpPr txBox="1"/>
              <p:nvPr/>
            </p:nvSpPr>
            <p:spPr>
              <a:xfrm>
                <a:off x="3934650" y="5718019"/>
                <a:ext cx="1152554" cy="738664"/>
              </a:xfrm>
              <a:prstGeom prst="rect">
                <a:avLst/>
              </a:prstGeom>
              <a:noFill/>
            </p:spPr>
            <p:txBody>
              <a:bodyPr wrap="square" rtlCol="0">
                <a:spAutoFit/>
              </a:bodyPr>
              <a:lstStyle/>
              <a:p>
                <a:pPr algn="ctr"/>
                <a:r>
                  <a:rPr lang="zh-CN" altLang="en-US" sz="1400" dirty="0">
                    <a:solidFill>
                      <a:srgbClr val="F7F2F1"/>
                    </a:solidFill>
                    <a:latin typeface="+mn-ea"/>
                  </a:rPr>
                  <a:t>智能</a:t>
                </a:r>
                <a:endParaRPr lang="en-US" altLang="zh-CN" sz="1400" dirty="0">
                  <a:solidFill>
                    <a:srgbClr val="F7F2F1"/>
                  </a:solidFill>
                  <a:latin typeface="+mn-ea"/>
                </a:endParaRPr>
              </a:p>
              <a:p>
                <a:pPr algn="ctr"/>
                <a:r>
                  <a:rPr lang="zh-CN" altLang="en-US" sz="1400" dirty="0">
                    <a:solidFill>
                      <a:srgbClr val="F7F2F1"/>
                    </a:solidFill>
                    <a:latin typeface="+mn-ea"/>
                  </a:rPr>
                  <a:t>金融产品</a:t>
                </a:r>
                <a:endParaRPr lang="en-US" altLang="zh-CN" sz="1400" dirty="0">
                  <a:solidFill>
                    <a:srgbClr val="F7F2F1"/>
                  </a:solidFill>
                  <a:latin typeface="+mn-ea"/>
                </a:endParaRPr>
              </a:p>
              <a:p>
                <a:pPr algn="ctr"/>
                <a:r>
                  <a:rPr lang="zh-CN" altLang="en-US" sz="1400" dirty="0">
                    <a:solidFill>
                      <a:srgbClr val="F7F2F1"/>
                    </a:solidFill>
                    <a:latin typeface="+mn-ea"/>
                  </a:rPr>
                  <a:t>画像</a:t>
                </a:r>
              </a:p>
            </p:txBody>
          </p:sp>
        </p:grpSp>
      </p:grpSp>
      <p:sp>
        <p:nvSpPr>
          <p:cNvPr id="170"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71"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72"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73" name="03"/>
          <p:cNvSpPr txBox="1"/>
          <p:nvPr/>
        </p:nvSpPr>
        <p:spPr>
          <a:xfrm>
            <a:off x="356995" y="6344413"/>
            <a:ext cx="218679" cy="231380"/>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lvl1pPr>
              <a:defRPr sz="1000">
                <a:solidFill>
                  <a:srgbClr val="CAA354"/>
                </a:solidFill>
                <a:latin typeface="PingFang SC Regular"/>
                <a:ea typeface="PingFang SC Regular"/>
                <a:cs typeface="PingFang SC Regular"/>
                <a:sym typeface="PingFang SC Regular"/>
              </a:defRPr>
            </a:lvl1pPr>
          </a:lstStyle>
          <a:p>
            <a:r>
              <a:rPr dirty="0"/>
              <a:t>03</a:t>
            </a:r>
          </a:p>
        </p:txBody>
      </p:sp>
      <p:pic>
        <p:nvPicPr>
          <p:cNvPr id="175" name="图像" descr="图像"/>
          <p:cNvPicPr>
            <a:picLocks noChangeAspect="1"/>
          </p:cNvPicPr>
          <p:nvPr/>
        </p:nvPicPr>
        <p:blipFill>
          <a:blip r:embed="rId4">
            <a:extLst/>
          </a:blip>
          <a:stretch>
            <a:fillRect/>
          </a:stretch>
        </p:blipFill>
        <p:spPr>
          <a:xfrm>
            <a:off x="10484724" y="427048"/>
            <a:ext cx="1253576" cy="332979"/>
          </a:xfrm>
          <a:prstGeom prst="rect">
            <a:avLst/>
          </a:prstGeom>
          <a:ln w="3175">
            <a:miter lim="400000"/>
          </a:ln>
        </p:spPr>
      </p:pic>
      <p:sp>
        <p:nvSpPr>
          <p:cNvPr id="46" name="公司简介"/>
          <p:cNvSpPr txBox="1"/>
          <p:nvPr/>
        </p:nvSpPr>
        <p:spPr>
          <a:xfrm>
            <a:off x="1651781" y="4540283"/>
            <a:ext cx="5259348" cy="374189"/>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pPr algn="l">
              <a:lnSpc>
                <a:spcPct val="130000"/>
              </a:lnSpc>
            </a:pPr>
            <a:r>
              <a:rPr lang="zh-CN" altLang="en-US" sz="1600" dirty="0">
                <a:solidFill>
                  <a:srgbClr val="000000"/>
                </a:solidFill>
                <a:latin typeface="+mn-lt"/>
                <a:ea typeface="+mn-ea"/>
                <a:cs typeface="+mn-cs"/>
              </a:rPr>
              <a:t>个性化匹配引擎，实现从产品到商品的一跃。</a:t>
            </a:r>
            <a:endParaRPr lang="zh-CN" altLang="zh-CN" sz="1600" dirty="0">
              <a:solidFill>
                <a:srgbClr val="000000"/>
              </a:solidFill>
              <a:latin typeface="+mn-lt"/>
              <a:ea typeface="+mn-ea"/>
              <a:cs typeface="+mn-cs"/>
            </a:endParaRPr>
          </a:p>
        </p:txBody>
      </p:sp>
      <p:sp>
        <p:nvSpPr>
          <p:cNvPr id="48" name="公司简介"/>
          <p:cNvSpPr txBox="1"/>
          <p:nvPr/>
        </p:nvSpPr>
        <p:spPr>
          <a:xfrm>
            <a:off x="1651781" y="4159416"/>
            <a:ext cx="2675774" cy="423433"/>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r>
              <a:rPr lang="zh-CN" altLang="en-US" sz="2400" dirty="0">
                <a:solidFill>
                  <a:srgbClr val="000000"/>
                </a:solidFill>
                <a:latin typeface="+mn-lt"/>
                <a:ea typeface="+mn-ea"/>
                <a:cs typeface="+mn-cs"/>
              </a:rPr>
              <a:t>一个个性化引擎</a:t>
            </a:r>
          </a:p>
        </p:txBody>
      </p:sp>
      <p:grpSp>
        <p:nvGrpSpPr>
          <p:cNvPr id="17" name="组合 16">
            <a:extLst>
              <a:ext uri="{FF2B5EF4-FFF2-40B4-BE49-F238E27FC236}">
                <a16:creationId xmlns:a16="http://schemas.microsoft.com/office/drawing/2014/main" id="{C136F000-05BF-437D-ACC2-ACC76C625584}"/>
              </a:ext>
            </a:extLst>
          </p:cNvPr>
          <p:cNvGrpSpPr/>
          <p:nvPr/>
        </p:nvGrpSpPr>
        <p:grpSpPr>
          <a:xfrm>
            <a:off x="1258772" y="420418"/>
            <a:ext cx="8999768" cy="910958"/>
            <a:chOff x="1310741" y="590679"/>
            <a:chExt cx="8999768" cy="910958"/>
          </a:xfrm>
        </p:grpSpPr>
        <p:sp>
          <p:nvSpPr>
            <p:cNvPr id="18" name="文本框 17">
              <a:extLst>
                <a:ext uri="{FF2B5EF4-FFF2-40B4-BE49-F238E27FC236}">
                  <a16:creationId xmlns:a16="http://schemas.microsoft.com/office/drawing/2014/main" id="{38FEEBC0-4333-4E8A-B75E-94EE1106A33D}"/>
                </a:ext>
              </a:extLst>
            </p:cNvPr>
            <p:cNvSpPr txBox="1"/>
            <p:nvPr/>
          </p:nvSpPr>
          <p:spPr>
            <a:xfrm>
              <a:off x="1310741" y="590679"/>
              <a:ext cx="8999768" cy="584775"/>
            </a:xfrm>
            <a:prstGeom prst="rect">
              <a:avLst/>
            </a:prstGeom>
            <a:noFill/>
          </p:spPr>
          <p:txBody>
            <a:bodyPr wrap="square" rtlCol="0">
              <a:spAutoFit/>
            </a:bodyPr>
            <a:lstStyle/>
            <a:p>
              <a:r>
                <a:rPr kumimoji="1" lang="zh-CN" altLang="en-US" sz="3200" b="1" dirty="0"/>
                <a:t>我们打造“四大产品”</a:t>
              </a:r>
              <a:r>
                <a:rPr kumimoji="1" lang="en-US" altLang="zh-CN" sz="3200" b="1" dirty="0"/>
                <a:t>+</a:t>
              </a:r>
              <a:r>
                <a:rPr kumimoji="1" lang="zh-CN" altLang="en-US" sz="3200" b="1" dirty="0"/>
                <a:t>“一个引擎”实现智能个性化</a:t>
              </a:r>
            </a:p>
          </p:txBody>
        </p:sp>
        <p:sp>
          <p:nvSpPr>
            <p:cNvPr id="19" name="矩形 18">
              <a:extLst>
                <a:ext uri="{FF2B5EF4-FFF2-40B4-BE49-F238E27FC236}">
                  <a16:creationId xmlns:a16="http://schemas.microsoft.com/office/drawing/2014/main" id="{20455438-E3B9-4C02-9977-D85058651A40}"/>
                </a:ext>
              </a:extLst>
            </p:cNvPr>
            <p:cNvSpPr/>
            <p:nvPr/>
          </p:nvSpPr>
          <p:spPr>
            <a:xfrm>
              <a:off x="1478539" y="1393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E74FBE69-6268-4159-B8EA-1A938A6C62F4}"/>
                </a:ext>
              </a:extLst>
            </p:cNvPr>
            <p:cNvSpPr/>
            <p:nvPr/>
          </p:nvSpPr>
          <p:spPr>
            <a:xfrm>
              <a:off x="5552136" y="1393637"/>
              <a:ext cx="3132000" cy="108000"/>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公司简介">
            <a:extLst>
              <a:ext uri="{FF2B5EF4-FFF2-40B4-BE49-F238E27FC236}">
                <a16:creationId xmlns:a16="http://schemas.microsoft.com/office/drawing/2014/main" id="{17617D4F-83F0-46CA-A629-4018FBAC2367}"/>
              </a:ext>
            </a:extLst>
          </p:cNvPr>
          <p:cNvSpPr txBox="1"/>
          <p:nvPr/>
        </p:nvSpPr>
        <p:spPr>
          <a:xfrm>
            <a:off x="1778731" y="1537469"/>
            <a:ext cx="2133575" cy="423433"/>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r>
              <a:rPr lang="zh-CN" altLang="en-US" sz="2400" dirty="0">
                <a:solidFill>
                  <a:srgbClr val="000000"/>
                </a:solidFill>
                <a:latin typeface="+mn-lt"/>
                <a:ea typeface="+mn-ea"/>
                <a:cs typeface="+mn-cs"/>
              </a:rPr>
              <a:t>四大智能产品</a:t>
            </a:r>
          </a:p>
        </p:txBody>
      </p:sp>
      <p:sp>
        <p:nvSpPr>
          <p:cNvPr id="2" name="矩形: 圆角 1">
            <a:extLst>
              <a:ext uri="{FF2B5EF4-FFF2-40B4-BE49-F238E27FC236}">
                <a16:creationId xmlns:a16="http://schemas.microsoft.com/office/drawing/2014/main" id="{4EB58C9C-C089-4BE5-AF3E-3D81A7D9F9B4}"/>
              </a:ext>
            </a:extLst>
          </p:cNvPr>
          <p:cNvSpPr/>
          <p:nvPr/>
        </p:nvSpPr>
        <p:spPr>
          <a:xfrm>
            <a:off x="1674678" y="1641185"/>
            <a:ext cx="18000" cy="180000"/>
          </a:xfrm>
          <a:prstGeom prst="roundRect">
            <a:avLst/>
          </a:prstGeom>
          <a:solidFill>
            <a:srgbClr val="D1CE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a:extLst>
              <a:ext uri="{FF2B5EF4-FFF2-40B4-BE49-F238E27FC236}">
                <a16:creationId xmlns:a16="http://schemas.microsoft.com/office/drawing/2014/main" id="{C33354FA-9B03-4CAD-9670-1DFF7168631E}"/>
              </a:ext>
            </a:extLst>
          </p:cNvPr>
          <p:cNvSpPr/>
          <p:nvPr/>
        </p:nvSpPr>
        <p:spPr>
          <a:xfrm>
            <a:off x="1577633" y="4263132"/>
            <a:ext cx="18000" cy="180000"/>
          </a:xfrm>
          <a:prstGeom prst="roundRect">
            <a:avLst/>
          </a:prstGeom>
          <a:solidFill>
            <a:srgbClr val="D1CE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公司简介">
            <a:extLst>
              <a:ext uri="{FF2B5EF4-FFF2-40B4-BE49-F238E27FC236}">
                <a16:creationId xmlns:a16="http://schemas.microsoft.com/office/drawing/2014/main" id="{702BF1FD-36AF-470A-B6D5-685722E2900B}"/>
              </a:ext>
            </a:extLst>
          </p:cNvPr>
          <p:cNvSpPr txBox="1"/>
          <p:nvPr/>
        </p:nvSpPr>
        <p:spPr>
          <a:xfrm>
            <a:off x="1692678" y="1976767"/>
            <a:ext cx="4359197" cy="1334452"/>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pPr algn="l">
              <a:lnSpc>
                <a:spcPct val="130000"/>
              </a:lnSpc>
            </a:pPr>
            <a:r>
              <a:rPr lang="zh-CN" altLang="en-US" sz="1600" dirty="0">
                <a:solidFill>
                  <a:srgbClr val="000000"/>
                </a:solidFill>
                <a:latin typeface="+mn-lt"/>
                <a:ea typeface="+mn-ea"/>
                <a:cs typeface="+mn-cs"/>
              </a:rPr>
              <a:t>智能画像：投资者和金融产品的精细理解</a:t>
            </a:r>
            <a:endParaRPr lang="en-US" altLang="zh-CN" sz="1600" dirty="0">
              <a:solidFill>
                <a:srgbClr val="000000"/>
              </a:solidFill>
              <a:latin typeface="+mn-lt"/>
              <a:ea typeface="+mn-ea"/>
              <a:cs typeface="+mn-cs"/>
            </a:endParaRPr>
          </a:p>
          <a:p>
            <a:pPr algn="l">
              <a:lnSpc>
                <a:spcPct val="130000"/>
              </a:lnSpc>
            </a:pPr>
            <a:r>
              <a:rPr lang="zh-CN" altLang="en-US" sz="1600" dirty="0">
                <a:solidFill>
                  <a:srgbClr val="000000"/>
                </a:solidFill>
                <a:latin typeface="+mn-lt"/>
                <a:ea typeface="+mn-ea"/>
                <a:cs typeface="+mn-cs"/>
              </a:rPr>
              <a:t>智能教育：伴随式情景化金融教学</a:t>
            </a:r>
            <a:endParaRPr lang="en-US" altLang="zh-CN" sz="1600" dirty="0">
              <a:solidFill>
                <a:srgbClr val="000000"/>
              </a:solidFill>
              <a:latin typeface="+mn-lt"/>
              <a:ea typeface="+mn-ea"/>
              <a:cs typeface="+mn-cs"/>
            </a:endParaRPr>
          </a:p>
          <a:p>
            <a:pPr algn="l">
              <a:lnSpc>
                <a:spcPct val="130000"/>
              </a:lnSpc>
            </a:pPr>
            <a:r>
              <a:rPr lang="zh-CN" altLang="en-US" sz="1600" dirty="0">
                <a:solidFill>
                  <a:srgbClr val="000000"/>
                </a:solidFill>
                <a:latin typeface="+mn-lt"/>
                <a:ea typeface="+mn-ea"/>
                <a:cs typeface="+mn-cs"/>
              </a:rPr>
              <a:t>智能投资：一站式资产配置解决方案</a:t>
            </a:r>
            <a:endParaRPr lang="en-US" altLang="zh-CN" sz="1600" dirty="0">
              <a:solidFill>
                <a:srgbClr val="000000"/>
              </a:solidFill>
              <a:latin typeface="+mn-lt"/>
              <a:ea typeface="+mn-ea"/>
              <a:cs typeface="+mn-cs"/>
            </a:endParaRPr>
          </a:p>
          <a:p>
            <a:pPr algn="l">
              <a:lnSpc>
                <a:spcPct val="130000"/>
              </a:lnSpc>
            </a:pPr>
            <a:r>
              <a:rPr lang="zh-CN" altLang="en-US" sz="1600" dirty="0">
                <a:solidFill>
                  <a:srgbClr val="000000"/>
                </a:solidFill>
                <a:latin typeface="+mn-lt"/>
                <a:ea typeface="+mn-ea"/>
                <a:cs typeface="+mn-cs"/>
              </a:rPr>
              <a:t>智能交易：降低投资交易的专业门槛</a:t>
            </a:r>
            <a:endParaRPr lang="zh-CN" altLang="zh-CN" sz="1600" dirty="0">
              <a:solidFill>
                <a:srgbClr val="000000"/>
              </a:solidFill>
              <a:latin typeface="+mn-lt"/>
              <a:ea typeface="+mn-ea"/>
              <a:cs typeface="+mn-cs"/>
            </a:endParaRPr>
          </a:p>
        </p:txBody>
      </p:sp>
      <p:grpSp>
        <p:nvGrpSpPr>
          <p:cNvPr id="4" name="组合 3">
            <a:extLst>
              <a:ext uri="{FF2B5EF4-FFF2-40B4-BE49-F238E27FC236}">
                <a16:creationId xmlns:a16="http://schemas.microsoft.com/office/drawing/2014/main" id="{92E2BCC4-FF68-4049-84F4-5FB0609CD50A}"/>
              </a:ext>
            </a:extLst>
          </p:cNvPr>
          <p:cNvGrpSpPr/>
          <p:nvPr/>
        </p:nvGrpSpPr>
        <p:grpSpPr>
          <a:xfrm>
            <a:off x="6101404" y="4371163"/>
            <a:ext cx="3498639" cy="2414868"/>
            <a:chOff x="6613518" y="2996139"/>
            <a:chExt cx="4577071" cy="3442789"/>
          </a:xfrm>
        </p:grpSpPr>
        <p:pic>
          <p:nvPicPr>
            <p:cNvPr id="11" name="图片 10">
              <a:extLst>
                <a:ext uri="{FF2B5EF4-FFF2-40B4-BE49-F238E27FC236}">
                  <a16:creationId xmlns:a16="http://schemas.microsoft.com/office/drawing/2014/main" id="{B5C01F54-3081-4311-9F96-E60C1F927FCF}"/>
                </a:ext>
              </a:extLst>
            </p:cNvPr>
            <p:cNvPicPr>
              <a:picLocks noChangeAspect="1"/>
            </p:cNvPicPr>
            <p:nvPr/>
          </p:nvPicPr>
          <p:blipFill rotWithShape="1">
            <a:blip r:embed="rId5"/>
            <a:srcRect l="25688" t="36738" r="30206" b="5976"/>
            <a:stretch/>
          </p:blipFill>
          <p:spPr>
            <a:xfrm>
              <a:off x="6687667" y="2996139"/>
              <a:ext cx="4485814" cy="3442789"/>
            </a:xfrm>
            <a:prstGeom prst="rect">
              <a:avLst/>
            </a:prstGeom>
          </p:spPr>
        </p:pic>
        <p:sp>
          <p:nvSpPr>
            <p:cNvPr id="3" name="椭圆 2">
              <a:extLst>
                <a:ext uri="{FF2B5EF4-FFF2-40B4-BE49-F238E27FC236}">
                  <a16:creationId xmlns:a16="http://schemas.microsoft.com/office/drawing/2014/main" id="{BBBEEA6E-9518-4CCB-8AA8-5F5260C5031C}"/>
                </a:ext>
              </a:extLst>
            </p:cNvPr>
            <p:cNvSpPr/>
            <p:nvPr/>
          </p:nvSpPr>
          <p:spPr>
            <a:xfrm>
              <a:off x="6613518" y="3990109"/>
              <a:ext cx="158155" cy="374189"/>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274DE31A-960B-4EC9-B52A-319712D694FE}"/>
                </a:ext>
              </a:extLst>
            </p:cNvPr>
            <p:cNvSpPr/>
            <p:nvPr/>
          </p:nvSpPr>
          <p:spPr>
            <a:xfrm>
              <a:off x="11032434" y="4043668"/>
              <a:ext cx="158155" cy="374189"/>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697347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0" name="14441896787_163b98fa52_b.jpg" descr="14441896787_163b98fa52_b.jpg"/>
          <p:cNvPicPr>
            <a:picLocks noChangeAspect="1"/>
          </p:cNvPicPr>
          <p:nvPr/>
        </p:nvPicPr>
        <p:blipFill>
          <a:blip r:embed="rId2">
            <a:alphaModFix amt="23803"/>
            <a:extLst/>
          </a:blip>
          <a:stretch>
            <a:fillRect/>
          </a:stretch>
        </p:blipFill>
        <p:spPr>
          <a:xfrm>
            <a:off x="0" y="0"/>
            <a:ext cx="12192000" cy="6858000"/>
          </a:xfrm>
          <a:prstGeom prst="rect">
            <a:avLst/>
          </a:prstGeom>
          <a:ln w="3175">
            <a:miter lim="400000"/>
          </a:ln>
        </p:spPr>
      </p:pic>
      <p:pic>
        <p:nvPicPr>
          <p:cNvPr id="171" name="图像" descr="图像"/>
          <p:cNvPicPr>
            <a:picLocks noChangeAspect="1"/>
          </p:cNvPicPr>
          <p:nvPr/>
        </p:nvPicPr>
        <p:blipFill>
          <a:blip r:embed="rId3">
            <a:extLst/>
          </a:blip>
          <a:stretch>
            <a:fillRect/>
          </a:stretch>
        </p:blipFill>
        <p:spPr>
          <a:xfrm>
            <a:off x="10444834" y="466533"/>
            <a:ext cx="1253577" cy="332979"/>
          </a:xfrm>
          <a:prstGeom prst="rect">
            <a:avLst/>
          </a:prstGeom>
          <a:ln w="3175">
            <a:miter lim="400000"/>
          </a:ln>
        </p:spPr>
      </p:pic>
      <p:sp>
        <p:nvSpPr>
          <p:cNvPr id="172" name="矩形"/>
          <p:cNvSpPr/>
          <p:nvPr/>
        </p:nvSpPr>
        <p:spPr>
          <a:xfrm>
            <a:off x="-48235" y="1797772"/>
            <a:ext cx="7761787" cy="2983056"/>
          </a:xfrm>
          <a:prstGeom prst="rect">
            <a:avLst/>
          </a:prstGeom>
          <a:solidFill>
            <a:srgbClr val="CAA354"/>
          </a:solidFill>
          <a:ln w="3175">
            <a:miter lim="400000"/>
          </a:ln>
        </p:spPr>
        <p:txBody>
          <a:bodyPr lIns="26789" tIns="26789" rIns="26789" bIns="26789" anchor="ctr"/>
          <a:lstStyle/>
          <a:p>
            <a:pPr>
              <a:defRPr sz="1400">
                <a:latin typeface="+mn-lt"/>
                <a:ea typeface="+mn-ea"/>
                <a:cs typeface="+mn-cs"/>
                <a:sym typeface="Helvetica Neue Medium"/>
              </a:defRPr>
            </a:pPr>
            <a:endParaRPr/>
          </a:p>
        </p:txBody>
      </p:sp>
      <p:sp>
        <p:nvSpPr>
          <p:cNvPr id="173" name="大标题"/>
          <p:cNvSpPr txBox="1"/>
          <p:nvPr/>
        </p:nvSpPr>
        <p:spPr>
          <a:xfrm>
            <a:off x="237258" y="2539081"/>
            <a:ext cx="7935192" cy="1162097"/>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3800">
                <a:latin typeface="PingFang SC Semibold"/>
                <a:ea typeface="PingFang SC Semibold"/>
                <a:cs typeface="PingFang SC Semibold"/>
                <a:sym typeface="PingFang SC Semibold"/>
              </a:defRPr>
            </a:lvl1pPr>
          </a:lstStyle>
          <a:p>
            <a:pPr algn="l"/>
            <a:r>
              <a:rPr lang="en-US" altLang="zh-CN" sz="3600" dirty="0" err="1">
                <a:solidFill>
                  <a:schemeClr val="bg1"/>
                </a:solidFill>
              </a:rPr>
              <a:t>FDTSCore</a:t>
            </a:r>
            <a:r>
              <a:rPr lang="zh-CN" altLang="en-US" sz="3600" dirty="0">
                <a:solidFill>
                  <a:schemeClr val="bg1"/>
                </a:solidFill>
              </a:rPr>
              <a:t>智能投资者画像：</a:t>
            </a:r>
            <a:endParaRPr lang="en-US" altLang="zh-CN" sz="3600" dirty="0">
              <a:solidFill>
                <a:schemeClr val="bg1"/>
              </a:solidFill>
            </a:endParaRPr>
          </a:p>
          <a:p>
            <a:pPr algn="l"/>
            <a:r>
              <a:rPr lang="zh-CN" altLang="en-US" sz="3600" dirty="0">
                <a:solidFill>
                  <a:schemeClr val="bg1"/>
                </a:solidFill>
              </a:rPr>
              <a:t>懂你的与众不同</a:t>
            </a:r>
            <a:endParaRPr lang="en-US" altLang="zh-CN" sz="3600" dirty="0">
              <a:solidFill>
                <a:schemeClr val="bg1"/>
              </a:solidFill>
            </a:endParaRPr>
          </a:p>
        </p:txBody>
      </p:sp>
      <p:sp>
        <p:nvSpPr>
          <p:cNvPr id="175" name="矩形"/>
          <p:cNvSpPr/>
          <p:nvPr/>
        </p:nvSpPr>
        <p:spPr>
          <a:xfrm>
            <a:off x="189304" y="219031"/>
            <a:ext cx="11813392" cy="6419938"/>
          </a:xfrm>
          <a:prstGeom prst="rect">
            <a:avLst/>
          </a:prstGeom>
          <a:ln>
            <a:solidFill>
              <a:srgbClr val="FFFFFF"/>
            </a:solidFill>
            <a:miter lim="400000"/>
          </a:ln>
        </p:spPr>
        <p:txBody>
          <a:bodyPr lIns="26789" tIns="26789" rIns="26789" bIns="26789" anchor="ctr"/>
          <a:lstStyle/>
          <a:p>
            <a:pPr>
              <a:defRPr sz="1400">
                <a:latin typeface="+mn-lt"/>
                <a:ea typeface="+mn-ea"/>
                <a:cs typeface="+mn-cs"/>
                <a:sym typeface="Helvetica Neue Medium"/>
              </a:defRPr>
            </a:pPr>
            <a:endParaRPr/>
          </a:p>
        </p:txBody>
      </p:sp>
    </p:spTree>
    <p:extLst>
      <p:ext uri="{BB962C8B-B14F-4D97-AF65-F5344CB8AC3E}">
        <p14:creationId xmlns:p14="http://schemas.microsoft.com/office/powerpoint/2010/main" val="132235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57"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8"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9" name="04"/>
          <p:cNvSpPr txBox="1"/>
          <p:nvPr/>
        </p:nvSpPr>
        <p:spPr>
          <a:xfrm>
            <a:off x="356995" y="6344413"/>
            <a:ext cx="218679" cy="231380"/>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lvl1pPr>
              <a:defRPr sz="1000">
                <a:solidFill>
                  <a:srgbClr val="CAA354"/>
                </a:solidFill>
                <a:latin typeface="PingFang SC Regular"/>
                <a:ea typeface="PingFang SC Regular"/>
                <a:cs typeface="PingFang SC Regular"/>
                <a:sym typeface="PingFang SC Regular"/>
              </a:defRPr>
            </a:lvl1pPr>
          </a:lstStyle>
          <a:p>
            <a:r>
              <a:rPr dirty="0"/>
              <a:t>04</a:t>
            </a:r>
          </a:p>
        </p:txBody>
      </p:sp>
      <p:pic>
        <p:nvPicPr>
          <p:cNvPr id="32" name="图像" descr="图像"/>
          <p:cNvPicPr>
            <a:picLocks noChangeAspect="1"/>
          </p:cNvPicPr>
          <p:nvPr/>
        </p:nvPicPr>
        <p:blipFill>
          <a:blip r:embed="rId3">
            <a:extLst/>
          </a:blip>
          <a:stretch>
            <a:fillRect/>
          </a:stretch>
        </p:blipFill>
        <p:spPr>
          <a:xfrm>
            <a:off x="10484724" y="427048"/>
            <a:ext cx="1253576" cy="332979"/>
          </a:xfrm>
          <a:prstGeom prst="rect">
            <a:avLst/>
          </a:prstGeom>
          <a:ln w="3175">
            <a:miter lim="400000"/>
          </a:ln>
        </p:spPr>
      </p:pic>
      <p:sp>
        <p:nvSpPr>
          <p:cNvPr id="29" name="文本框 28"/>
          <p:cNvSpPr txBox="1"/>
          <p:nvPr/>
        </p:nvSpPr>
        <p:spPr>
          <a:xfrm>
            <a:off x="1214668" y="274314"/>
            <a:ext cx="7010400" cy="584775"/>
          </a:xfrm>
          <a:prstGeom prst="rect">
            <a:avLst/>
          </a:prstGeom>
          <a:noFill/>
        </p:spPr>
        <p:txBody>
          <a:bodyPr wrap="square" rtlCol="0">
            <a:spAutoFit/>
          </a:bodyPr>
          <a:lstStyle/>
          <a:p>
            <a:r>
              <a:rPr kumimoji="1" lang="zh-CN" altLang="en-US" sz="3200" b="1" dirty="0"/>
              <a:t>精准理解每位投资者的与众不同</a:t>
            </a:r>
          </a:p>
        </p:txBody>
      </p:sp>
      <p:sp>
        <p:nvSpPr>
          <p:cNvPr id="33" name="矩形 32">
            <a:extLst>
              <a:ext uri="{FF2B5EF4-FFF2-40B4-BE49-F238E27FC236}">
                <a16:creationId xmlns:a16="http://schemas.microsoft.com/office/drawing/2014/main" id="{07CCDA19-C78F-4FEF-9A33-1AEE922E976D}"/>
              </a:ext>
            </a:extLst>
          </p:cNvPr>
          <p:cNvSpPr/>
          <p:nvPr/>
        </p:nvSpPr>
        <p:spPr>
          <a:xfrm>
            <a:off x="1313439"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FD35F411-A1E5-4031-B455-0E2C81A8D091}"/>
              </a:ext>
            </a:extLst>
          </p:cNvPr>
          <p:cNvSpPr/>
          <p:nvPr/>
        </p:nvSpPr>
        <p:spPr>
          <a:xfrm>
            <a:off x="5387036"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Shape 208">
            <a:extLst>
              <a:ext uri="{FF2B5EF4-FFF2-40B4-BE49-F238E27FC236}">
                <a16:creationId xmlns:a16="http://schemas.microsoft.com/office/drawing/2014/main" id="{1071937A-BFC9-4867-9394-D457980D16E9}"/>
              </a:ext>
            </a:extLst>
          </p:cNvPr>
          <p:cNvSpPr/>
          <p:nvPr/>
        </p:nvSpPr>
        <p:spPr>
          <a:xfrm>
            <a:off x="1310085" y="1449855"/>
            <a:ext cx="2154954" cy="3720570"/>
          </a:xfrm>
          <a:prstGeom prst="rect">
            <a:avLst/>
          </a:prstGeom>
          <a:ln w="12700">
            <a:miter lim="400000"/>
          </a:ln>
        </p:spPr>
        <p:txBody>
          <a:bodyPr wrap="square" lIns="45719" rIns="45719">
            <a:spAutoFit/>
          </a:bodyPr>
          <a:lstStyle/>
          <a:p>
            <a:pPr lvl="0">
              <a:lnSpc>
                <a:spcPct val="120000"/>
              </a:lnSpc>
              <a:defRPr>
                <a:solidFill>
                  <a:srgbClr val="000000"/>
                </a:solidFill>
              </a:defRPr>
            </a:pPr>
            <a:r>
              <a:rPr lang="zh-CN" altLang="en-US" b="1" dirty="0">
                <a:latin typeface="PingFang SC" charset="-122"/>
                <a:ea typeface="PingFang SC" charset="-122"/>
                <a:cs typeface="PingFang SC" charset="-122"/>
              </a:rPr>
              <a:t>智能投资者画像：</a:t>
            </a:r>
            <a:r>
              <a:rPr lang="zh-CN" altLang="en-US" dirty="0">
                <a:latin typeface="PingFang SC" charset="-122"/>
                <a:ea typeface="PingFang SC" charset="-122"/>
                <a:cs typeface="PingFang SC" charset="-122"/>
              </a:rPr>
              <a:t>是对投资者的深入理解，即，运用机器学习技术和行为金融学理论，通过分析投资者的静态基本数据和动态行为数据，对投资者的投资偏好、风控偏好、风控能力、盈利能力、心理偏差等投资特征做综合评价。</a:t>
            </a:r>
          </a:p>
        </p:txBody>
      </p:sp>
      <p:sp>
        <p:nvSpPr>
          <p:cNvPr id="19" name="矩形 18">
            <a:extLst>
              <a:ext uri="{FF2B5EF4-FFF2-40B4-BE49-F238E27FC236}">
                <a16:creationId xmlns:a16="http://schemas.microsoft.com/office/drawing/2014/main" id="{E2F60983-EAAA-478D-8761-E4768A589D1B}"/>
              </a:ext>
            </a:extLst>
          </p:cNvPr>
          <p:cNvSpPr/>
          <p:nvPr/>
        </p:nvSpPr>
        <p:spPr>
          <a:xfrm>
            <a:off x="3705787" y="1385222"/>
            <a:ext cx="7771057" cy="4087555"/>
          </a:xfrm>
          <a:prstGeom prst="rect">
            <a:avLst/>
          </a:prstGeom>
          <a:noFill/>
          <a:ln w="12700" cmpd="thinThick">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solidFill>
                <a:srgbClr val="00B0F0"/>
              </a:solidFill>
              <a:latin typeface="KaiTi" charset="-122"/>
              <a:ea typeface="PingFang SC"/>
              <a:cs typeface="KaiTi" charset="-122"/>
            </a:endParaRPr>
          </a:p>
        </p:txBody>
      </p:sp>
      <p:sp>
        <p:nvSpPr>
          <p:cNvPr id="20" name="文本框 19">
            <a:extLst>
              <a:ext uri="{FF2B5EF4-FFF2-40B4-BE49-F238E27FC236}">
                <a16:creationId xmlns:a16="http://schemas.microsoft.com/office/drawing/2014/main" id="{BF362BA5-6D41-4A76-96BD-46397C0037E9}"/>
              </a:ext>
            </a:extLst>
          </p:cNvPr>
          <p:cNvSpPr txBox="1"/>
          <p:nvPr/>
        </p:nvSpPr>
        <p:spPr>
          <a:xfrm>
            <a:off x="3882280" y="1569499"/>
            <a:ext cx="1140099" cy="584775"/>
          </a:xfrm>
          <a:prstGeom prst="rect">
            <a:avLst/>
          </a:prstGeom>
          <a:noFill/>
          <a:ln>
            <a:solidFill>
              <a:schemeClr val="tx1"/>
            </a:solidFill>
          </a:ln>
        </p:spPr>
        <p:txBody>
          <a:bodyPr wrap="square" rtlCol="0">
            <a:spAutoFit/>
          </a:bodyPr>
          <a:lstStyle/>
          <a:p>
            <a:pPr algn="ctr"/>
            <a:r>
              <a:rPr kumimoji="1" lang="zh-CN" altLang="en-US" sz="1600" dirty="0">
                <a:latin typeface="KaiTi" charset="-122"/>
                <a:ea typeface="KaiTi" charset="-122"/>
                <a:cs typeface="KaiTi" charset="-122"/>
              </a:rPr>
              <a:t>投资者</a:t>
            </a:r>
            <a:endParaRPr kumimoji="1" lang="en-US" altLang="zh-CN" sz="1600" dirty="0">
              <a:latin typeface="KaiTi" charset="-122"/>
              <a:ea typeface="KaiTi" charset="-122"/>
              <a:cs typeface="KaiTi" charset="-122"/>
            </a:endParaRPr>
          </a:p>
          <a:p>
            <a:pPr algn="ctr"/>
            <a:r>
              <a:rPr kumimoji="1" lang="zh-CN" altLang="en-US" sz="1600" dirty="0">
                <a:latin typeface="KaiTi" charset="-122"/>
                <a:ea typeface="KaiTi" charset="-122"/>
                <a:cs typeface="KaiTi" charset="-122"/>
              </a:rPr>
              <a:t>画像</a:t>
            </a:r>
          </a:p>
        </p:txBody>
      </p:sp>
      <p:sp>
        <p:nvSpPr>
          <p:cNvPr id="21" name="矩形 20">
            <a:extLst>
              <a:ext uri="{FF2B5EF4-FFF2-40B4-BE49-F238E27FC236}">
                <a16:creationId xmlns:a16="http://schemas.microsoft.com/office/drawing/2014/main" id="{B2E83AE0-4D8A-4AA9-A2EA-E3641FBB4F17}"/>
              </a:ext>
            </a:extLst>
          </p:cNvPr>
          <p:cNvSpPr/>
          <p:nvPr/>
        </p:nvSpPr>
        <p:spPr>
          <a:xfrm>
            <a:off x="5175558" y="1530783"/>
            <a:ext cx="1072566" cy="412304"/>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投资偏好</a:t>
            </a:r>
          </a:p>
        </p:txBody>
      </p:sp>
      <p:sp>
        <p:nvSpPr>
          <p:cNvPr id="22" name="矩形 21">
            <a:extLst>
              <a:ext uri="{FF2B5EF4-FFF2-40B4-BE49-F238E27FC236}">
                <a16:creationId xmlns:a16="http://schemas.microsoft.com/office/drawing/2014/main" id="{B73B3B17-CA6D-4AD6-B18C-97A9C61B554B}"/>
              </a:ext>
            </a:extLst>
          </p:cNvPr>
          <p:cNvSpPr/>
          <p:nvPr/>
        </p:nvSpPr>
        <p:spPr>
          <a:xfrm>
            <a:off x="6385882" y="1526297"/>
            <a:ext cx="1072566" cy="412304"/>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风险偏好</a:t>
            </a:r>
          </a:p>
        </p:txBody>
      </p:sp>
      <p:sp>
        <p:nvSpPr>
          <p:cNvPr id="23" name="矩形 22">
            <a:extLst>
              <a:ext uri="{FF2B5EF4-FFF2-40B4-BE49-F238E27FC236}">
                <a16:creationId xmlns:a16="http://schemas.microsoft.com/office/drawing/2014/main" id="{D068391E-8519-4666-9C42-FC478B8C96F0}"/>
              </a:ext>
            </a:extLst>
          </p:cNvPr>
          <p:cNvSpPr/>
          <p:nvPr/>
        </p:nvSpPr>
        <p:spPr>
          <a:xfrm>
            <a:off x="7591316" y="1554124"/>
            <a:ext cx="1072566" cy="406135"/>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行为偏好</a:t>
            </a:r>
          </a:p>
        </p:txBody>
      </p:sp>
      <p:sp>
        <p:nvSpPr>
          <p:cNvPr id="24" name="矩形 23">
            <a:extLst>
              <a:ext uri="{FF2B5EF4-FFF2-40B4-BE49-F238E27FC236}">
                <a16:creationId xmlns:a16="http://schemas.microsoft.com/office/drawing/2014/main" id="{BFDC1E5E-5B0D-4F0B-BE2E-85A6B9E202A6}"/>
              </a:ext>
            </a:extLst>
          </p:cNvPr>
          <p:cNvSpPr/>
          <p:nvPr/>
        </p:nvSpPr>
        <p:spPr>
          <a:xfrm>
            <a:off x="8828469" y="1544676"/>
            <a:ext cx="1072566" cy="412304"/>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周期偏好</a:t>
            </a:r>
          </a:p>
        </p:txBody>
      </p:sp>
      <p:sp>
        <p:nvSpPr>
          <p:cNvPr id="25" name="矩形 24">
            <a:extLst>
              <a:ext uri="{FF2B5EF4-FFF2-40B4-BE49-F238E27FC236}">
                <a16:creationId xmlns:a16="http://schemas.microsoft.com/office/drawing/2014/main" id="{A16320C8-2A7C-4F2E-BBA4-D7531A8587F2}"/>
              </a:ext>
            </a:extLst>
          </p:cNvPr>
          <p:cNvSpPr/>
          <p:nvPr/>
        </p:nvSpPr>
        <p:spPr>
          <a:xfrm>
            <a:off x="9998774" y="1544676"/>
            <a:ext cx="1072566" cy="412304"/>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mr-IN" altLang="zh-CN" sz="1600" dirty="0">
                <a:solidFill>
                  <a:schemeClr val="bg1"/>
                </a:solidFill>
                <a:latin typeface="KaiTi" charset="-122"/>
                <a:ea typeface="KaiTi" charset="-122"/>
                <a:cs typeface="KaiTi" charset="-122"/>
              </a:rPr>
              <a:t>…</a:t>
            </a:r>
            <a:endParaRPr kumimoji="1" lang="zh-CN" altLang="en-US" sz="1600" dirty="0">
              <a:solidFill>
                <a:schemeClr val="bg1"/>
              </a:solidFill>
              <a:latin typeface="KaiTi" charset="-122"/>
              <a:ea typeface="KaiTi" charset="-122"/>
              <a:cs typeface="KaiTi" charset="-122"/>
            </a:endParaRPr>
          </a:p>
        </p:txBody>
      </p:sp>
      <p:sp>
        <p:nvSpPr>
          <p:cNvPr id="26" name="矩形 25">
            <a:extLst>
              <a:ext uri="{FF2B5EF4-FFF2-40B4-BE49-F238E27FC236}">
                <a16:creationId xmlns:a16="http://schemas.microsoft.com/office/drawing/2014/main" id="{000FC0EE-3942-4281-9599-63E7EE8FB344}"/>
              </a:ext>
            </a:extLst>
          </p:cNvPr>
          <p:cNvSpPr/>
          <p:nvPr/>
        </p:nvSpPr>
        <p:spPr>
          <a:xfrm>
            <a:off x="5175558" y="2382822"/>
            <a:ext cx="1072566" cy="412304"/>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用户价值</a:t>
            </a:r>
          </a:p>
        </p:txBody>
      </p:sp>
      <p:sp>
        <p:nvSpPr>
          <p:cNvPr id="28" name="矩形 27">
            <a:extLst>
              <a:ext uri="{FF2B5EF4-FFF2-40B4-BE49-F238E27FC236}">
                <a16:creationId xmlns:a16="http://schemas.microsoft.com/office/drawing/2014/main" id="{7A396CE5-CF39-4169-82A3-330E37EA1141}"/>
              </a:ext>
            </a:extLst>
          </p:cNvPr>
          <p:cNvSpPr/>
          <p:nvPr/>
        </p:nvSpPr>
        <p:spPr>
          <a:xfrm>
            <a:off x="6361865" y="2391550"/>
            <a:ext cx="1072566" cy="412304"/>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活跃度</a:t>
            </a:r>
          </a:p>
        </p:txBody>
      </p:sp>
      <p:sp>
        <p:nvSpPr>
          <p:cNvPr id="30" name="矩形 29">
            <a:extLst>
              <a:ext uri="{FF2B5EF4-FFF2-40B4-BE49-F238E27FC236}">
                <a16:creationId xmlns:a16="http://schemas.microsoft.com/office/drawing/2014/main" id="{BB8CC2D8-4A46-415D-AD2B-EAAE7BFA9450}"/>
              </a:ext>
            </a:extLst>
          </p:cNvPr>
          <p:cNvSpPr/>
          <p:nvPr/>
        </p:nvSpPr>
        <p:spPr>
          <a:xfrm>
            <a:off x="7582470" y="2392426"/>
            <a:ext cx="1072566" cy="406135"/>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忠诚度</a:t>
            </a:r>
          </a:p>
        </p:txBody>
      </p:sp>
      <p:sp>
        <p:nvSpPr>
          <p:cNvPr id="31" name="矩形 30">
            <a:extLst>
              <a:ext uri="{FF2B5EF4-FFF2-40B4-BE49-F238E27FC236}">
                <a16:creationId xmlns:a16="http://schemas.microsoft.com/office/drawing/2014/main" id="{84C43F38-5675-4487-8679-BE0F003E0B7B}"/>
              </a:ext>
            </a:extLst>
          </p:cNvPr>
          <p:cNvSpPr/>
          <p:nvPr/>
        </p:nvSpPr>
        <p:spPr>
          <a:xfrm>
            <a:off x="8791298" y="2382822"/>
            <a:ext cx="1072566" cy="412304"/>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投资需求</a:t>
            </a:r>
          </a:p>
        </p:txBody>
      </p:sp>
      <p:sp>
        <p:nvSpPr>
          <p:cNvPr id="37" name="矩形 36">
            <a:extLst>
              <a:ext uri="{FF2B5EF4-FFF2-40B4-BE49-F238E27FC236}">
                <a16:creationId xmlns:a16="http://schemas.microsoft.com/office/drawing/2014/main" id="{4DE2E4F5-9563-48B9-90D3-A5CDC7E1F2FF}"/>
              </a:ext>
            </a:extLst>
          </p:cNvPr>
          <p:cNvSpPr/>
          <p:nvPr/>
        </p:nvSpPr>
        <p:spPr>
          <a:xfrm>
            <a:off x="9998774" y="2382578"/>
            <a:ext cx="1072566" cy="412304"/>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mr-IN" altLang="zh-CN" sz="1600" dirty="0">
                <a:solidFill>
                  <a:schemeClr val="bg1"/>
                </a:solidFill>
                <a:latin typeface="KaiTi" charset="-122"/>
                <a:ea typeface="KaiTi" charset="-122"/>
                <a:cs typeface="KaiTi" charset="-122"/>
              </a:rPr>
              <a:t>…</a:t>
            </a:r>
            <a:endParaRPr kumimoji="1" lang="zh-CN" altLang="en-US" sz="1600" dirty="0">
              <a:solidFill>
                <a:schemeClr val="bg1"/>
              </a:solidFill>
              <a:latin typeface="KaiTi" charset="-122"/>
              <a:ea typeface="KaiTi" charset="-122"/>
              <a:cs typeface="KaiTi" charset="-122"/>
            </a:endParaRPr>
          </a:p>
        </p:txBody>
      </p:sp>
      <p:sp>
        <p:nvSpPr>
          <p:cNvPr id="39" name="矩形 38">
            <a:extLst>
              <a:ext uri="{FF2B5EF4-FFF2-40B4-BE49-F238E27FC236}">
                <a16:creationId xmlns:a16="http://schemas.microsoft.com/office/drawing/2014/main" id="{3EB8AC54-52F0-4594-BD9F-DBE871B3B67E}"/>
              </a:ext>
            </a:extLst>
          </p:cNvPr>
          <p:cNvSpPr/>
          <p:nvPr/>
        </p:nvSpPr>
        <p:spPr>
          <a:xfrm>
            <a:off x="5175559" y="3255184"/>
            <a:ext cx="1408389" cy="436555"/>
          </a:xfrm>
          <a:prstGeom prst="rect">
            <a:avLst/>
          </a:prstGeom>
          <a:solidFill>
            <a:schemeClr val="accent6">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线性层次模型</a:t>
            </a:r>
          </a:p>
        </p:txBody>
      </p:sp>
      <p:sp>
        <p:nvSpPr>
          <p:cNvPr id="40" name="矩形 39">
            <a:extLst>
              <a:ext uri="{FF2B5EF4-FFF2-40B4-BE49-F238E27FC236}">
                <a16:creationId xmlns:a16="http://schemas.microsoft.com/office/drawing/2014/main" id="{27C0BC29-486B-4FE1-B893-7C09AD035BB6}"/>
              </a:ext>
            </a:extLst>
          </p:cNvPr>
          <p:cNvSpPr/>
          <p:nvPr/>
        </p:nvSpPr>
        <p:spPr>
          <a:xfrm>
            <a:off x="6874028" y="3263231"/>
            <a:ext cx="1319079" cy="442607"/>
          </a:xfrm>
          <a:prstGeom prst="rect">
            <a:avLst/>
          </a:prstGeom>
          <a:solidFill>
            <a:schemeClr val="accent6">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集成树模型</a:t>
            </a:r>
          </a:p>
        </p:txBody>
      </p:sp>
      <p:sp>
        <p:nvSpPr>
          <p:cNvPr id="41" name="矩形 40">
            <a:extLst>
              <a:ext uri="{FF2B5EF4-FFF2-40B4-BE49-F238E27FC236}">
                <a16:creationId xmlns:a16="http://schemas.microsoft.com/office/drawing/2014/main" id="{CCFDD781-3A64-48A3-82C9-2103F64CB541}"/>
              </a:ext>
            </a:extLst>
          </p:cNvPr>
          <p:cNvSpPr/>
          <p:nvPr/>
        </p:nvSpPr>
        <p:spPr>
          <a:xfrm>
            <a:off x="8470262" y="3255610"/>
            <a:ext cx="1238432" cy="453673"/>
          </a:xfrm>
          <a:prstGeom prst="rect">
            <a:avLst/>
          </a:prstGeom>
          <a:solidFill>
            <a:schemeClr val="accent6">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贝叶斯算法</a:t>
            </a:r>
          </a:p>
        </p:txBody>
      </p:sp>
      <p:sp>
        <p:nvSpPr>
          <p:cNvPr id="42" name="矩形 41">
            <a:extLst>
              <a:ext uri="{FF2B5EF4-FFF2-40B4-BE49-F238E27FC236}">
                <a16:creationId xmlns:a16="http://schemas.microsoft.com/office/drawing/2014/main" id="{89D1F3C9-1757-4F8E-A5ED-46566DC42610}"/>
              </a:ext>
            </a:extLst>
          </p:cNvPr>
          <p:cNvSpPr/>
          <p:nvPr/>
        </p:nvSpPr>
        <p:spPr>
          <a:xfrm>
            <a:off x="5175558" y="4138328"/>
            <a:ext cx="1072566" cy="412304"/>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特征抽取</a:t>
            </a:r>
          </a:p>
        </p:txBody>
      </p:sp>
      <p:sp>
        <p:nvSpPr>
          <p:cNvPr id="43" name="矩形 42">
            <a:extLst>
              <a:ext uri="{FF2B5EF4-FFF2-40B4-BE49-F238E27FC236}">
                <a16:creationId xmlns:a16="http://schemas.microsoft.com/office/drawing/2014/main" id="{19F67A3D-C488-46CA-AFF8-9A90B65DECD9}"/>
              </a:ext>
            </a:extLst>
          </p:cNvPr>
          <p:cNvSpPr/>
          <p:nvPr/>
        </p:nvSpPr>
        <p:spPr>
          <a:xfrm>
            <a:off x="6383042" y="4146962"/>
            <a:ext cx="1631806" cy="406134"/>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归一化及标准化</a:t>
            </a:r>
          </a:p>
        </p:txBody>
      </p:sp>
      <p:sp>
        <p:nvSpPr>
          <p:cNvPr id="44" name="矩形 43">
            <a:extLst>
              <a:ext uri="{FF2B5EF4-FFF2-40B4-BE49-F238E27FC236}">
                <a16:creationId xmlns:a16="http://schemas.microsoft.com/office/drawing/2014/main" id="{AA7FABE9-2D04-4A5A-9D12-2CE1B6FDFE9A}"/>
              </a:ext>
            </a:extLst>
          </p:cNvPr>
          <p:cNvSpPr/>
          <p:nvPr/>
        </p:nvSpPr>
        <p:spPr>
          <a:xfrm>
            <a:off x="8149766" y="4146962"/>
            <a:ext cx="1744002" cy="40524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特征选取及组合</a:t>
            </a:r>
          </a:p>
        </p:txBody>
      </p:sp>
      <p:sp>
        <p:nvSpPr>
          <p:cNvPr id="45" name="矩形 44">
            <a:extLst>
              <a:ext uri="{FF2B5EF4-FFF2-40B4-BE49-F238E27FC236}">
                <a16:creationId xmlns:a16="http://schemas.microsoft.com/office/drawing/2014/main" id="{02A72799-CDEE-400C-A914-1F2EC63A3F94}"/>
              </a:ext>
            </a:extLst>
          </p:cNvPr>
          <p:cNvSpPr/>
          <p:nvPr/>
        </p:nvSpPr>
        <p:spPr>
          <a:xfrm>
            <a:off x="9998774" y="4136762"/>
            <a:ext cx="1072566" cy="412304"/>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mr-IN" altLang="zh-CN" sz="1600" dirty="0">
                <a:solidFill>
                  <a:schemeClr val="bg1"/>
                </a:solidFill>
                <a:latin typeface="KaiTi" charset="-122"/>
                <a:ea typeface="KaiTi" charset="-122"/>
                <a:cs typeface="KaiTi" charset="-122"/>
              </a:rPr>
              <a:t>…</a:t>
            </a:r>
            <a:endParaRPr kumimoji="1" lang="zh-CN" altLang="en-US" sz="1600" dirty="0">
              <a:solidFill>
                <a:schemeClr val="bg1"/>
              </a:solidFill>
              <a:latin typeface="KaiTi" charset="-122"/>
              <a:ea typeface="KaiTi" charset="-122"/>
              <a:cs typeface="KaiTi" charset="-122"/>
            </a:endParaRPr>
          </a:p>
        </p:txBody>
      </p:sp>
      <p:sp>
        <p:nvSpPr>
          <p:cNvPr id="46" name="矩形 45">
            <a:extLst>
              <a:ext uri="{FF2B5EF4-FFF2-40B4-BE49-F238E27FC236}">
                <a16:creationId xmlns:a16="http://schemas.microsoft.com/office/drawing/2014/main" id="{46F05D20-F836-4F46-9941-6A518C08AA56}"/>
              </a:ext>
            </a:extLst>
          </p:cNvPr>
          <p:cNvSpPr/>
          <p:nvPr/>
        </p:nvSpPr>
        <p:spPr>
          <a:xfrm>
            <a:off x="5175558" y="4983609"/>
            <a:ext cx="1072566" cy="412304"/>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行为数据</a:t>
            </a:r>
          </a:p>
        </p:txBody>
      </p:sp>
      <p:sp>
        <p:nvSpPr>
          <p:cNvPr id="47" name="矩形 46">
            <a:extLst>
              <a:ext uri="{FF2B5EF4-FFF2-40B4-BE49-F238E27FC236}">
                <a16:creationId xmlns:a16="http://schemas.microsoft.com/office/drawing/2014/main" id="{364B6888-08D5-4A1E-91E7-5D101AEB7F73}"/>
              </a:ext>
            </a:extLst>
          </p:cNvPr>
          <p:cNvSpPr/>
          <p:nvPr/>
        </p:nvSpPr>
        <p:spPr>
          <a:xfrm>
            <a:off x="6385882" y="4992422"/>
            <a:ext cx="1072566" cy="412304"/>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交易数据</a:t>
            </a:r>
          </a:p>
        </p:txBody>
      </p:sp>
      <p:sp>
        <p:nvSpPr>
          <p:cNvPr id="48" name="矩形 47">
            <a:extLst>
              <a:ext uri="{FF2B5EF4-FFF2-40B4-BE49-F238E27FC236}">
                <a16:creationId xmlns:a16="http://schemas.microsoft.com/office/drawing/2014/main" id="{9278D5DD-E4AE-447A-91BC-DF3BFB383137}"/>
              </a:ext>
            </a:extLst>
          </p:cNvPr>
          <p:cNvSpPr/>
          <p:nvPr/>
        </p:nvSpPr>
        <p:spPr>
          <a:xfrm>
            <a:off x="7595174" y="4992423"/>
            <a:ext cx="1072566" cy="406135"/>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基础数据</a:t>
            </a:r>
          </a:p>
        </p:txBody>
      </p:sp>
      <p:sp>
        <p:nvSpPr>
          <p:cNvPr id="49" name="矩形 48">
            <a:extLst>
              <a:ext uri="{FF2B5EF4-FFF2-40B4-BE49-F238E27FC236}">
                <a16:creationId xmlns:a16="http://schemas.microsoft.com/office/drawing/2014/main" id="{DD2D7C66-FFF7-49BB-892E-44BEA0BE8514}"/>
              </a:ext>
            </a:extLst>
          </p:cNvPr>
          <p:cNvSpPr/>
          <p:nvPr/>
        </p:nvSpPr>
        <p:spPr>
          <a:xfrm>
            <a:off x="8819460" y="4983608"/>
            <a:ext cx="1072566" cy="412304"/>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客服数据</a:t>
            </a:r>
          </a:p>
        </p:txBody>
      </p:sp>
      <p:sp>
        <p:nvSpPr>
          <p:cNvPr id="50" name="矩形 49">
            <a:extLst>
              <a:ext uri="{FF2B5EF4-FFF2-40B4-BE49-F238E27FC236}">
                <a16:creationId xmlns:a16="http://schemas.microsoft.com/office/drawing/2014/main" id="{0869F7A3-D3F5-4CEA-BB5D-E4D3F5365F30}"/>
              </a:ext>
            </a:extLst>
          </p:cNvPr>
          <p:cNvSpPr/>
          <p:nvPr/>
        </p:nvSpPr>
        <p:spPr>
          <a:xfrm>
            <a:off x="9998774" y="4983608"/>
            <a:ext cx="1072566" cy="412304"/>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mr-IN" altLang="zh-CN" sz="1600" dirty="0">
                <a:solidFill>
                  <a:schemeClr val="bg1"/>
                </a:solidFill>
                <a:latin typeface="KaiTi" charset="-122"/>
                <a:ea typeface="KaiTi" charset="-122"/>
                <a:cs typeface="KaiTi" charset="-122"/>
              </a:rPr>
              <a:t>…</a:t>
            </a:r>
            <a:endParaRPr kumimoji="1" lang="zh-CN" altLang="en-US" sz="1600" dirty="0">
              <a:solidFill>
                <a:schemeClr val="bg1"/>
              </a:solidFill>
              <a:latin typeface="KaiTi" charset="-122"/>
              <a:ea typeface="KaiTi" charset="-122"/>
              <a:cs typeface="KaiTi" charset="-122"/>
            </a:endParaRPr>
          </a:p>
        </p:txBody>
      </p:sp>
      <p:sp>
        <p:nvSpPr>
          <p:cNvPr id="51" name="文本框 50">
            <a:extLst>
              <a:ext uri="{FF2B5EF4-FFF2-40B4-BE49-F238E27FC236}">
                <a16:creationId xmlns:a16="http://schemas.microsoft.com/office/drawing/2014/main" id="{C70CC94C-FC02-495D-8641-2154E2C279E7}"/>
              </a:ext>
            </a:extLst>
          </p:cNvPr>
          <p:cNvSpPr txBox="1"/>
          <p:nvPr/>
        </p:nvSpPr>
        <p:spPr>
          <a:xfrm>
            <a:off x="3878841" y="5021006"/>
            <a:ext cx="1146810" cy="348557"/>
          </a:xfrm>
          <a:prstGeom prst="rect">
            <a:avLst/>
          </a:prstGeom>
          <a:noFill/>
          <a:ln>
            <a:solidFill>
              <a:schemeClr val="tx1"/>
            </a:solidFill>
          </a:ln>
        </p:spPr>
        <p:txBody>
          <a:bodyPr wrap="square" rtlCol="0">
            <a:spAutoFit/>
          </a:bodyPr>
          <a:lstStyle/>
          <a:p>
            <a:pPr algn="ctr"/>
            <a:r>
              <a:rPr kumimoji="1" lang="zh-CN" altLang="en-US" sz="1600" dirty="0">
                <a:latin typeface="KaiTi" charset="-122"/>
                <a:ea typeface="KaiTi" charset="-122"/>
                <a:cs typeface="KaiTi" charset="-122"/>
              </a:rPr>
              <a:t>数据录入</a:t>
            </a:r>
          </a:p>
        </p:txBody>
      </p:sp>
      <p:sp>
        <p:nvSpPr>
          <p:cNvPr id="52" name="矩形 51">
            <a:extLst>
              <a:ext uri="{FF2B5EF4-FFF2-40B4-BE49-F238E27FC236}">
                <a16:creationId xmlns:a16="http://schemas.microsoft.com/office/drawing/2014/main" id="{77BEF766-DC5D-4ADA-BC7E-51EE23A0C30B}"/>
              </a:ext>
            </a:extLst>
          </p:cNvPr>
          <p:cNvSpPr/>
          <p:nvPr/>
        </p:nvSpPr>
        <p:spPr>
          <a:xfrm>
            <a:off x="5175559" y="1945370"/>
            <a:ext cx="5895781" cy="427705"/>
          </a:xfrm>
          <a:prstGeom prst="rect">
            <a:avLst/>
          </a:prstGeom>
          <a:solidFill>
            <a:schemeClr val="accent3">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solidFill>
                  <a:schemeClr val="tx1"/>
                </a:solidFill>
                <a:latin typeface="KaiTi" charset="-122"/>
                <a:ea typeface="KaiTi" charset="-122"/>
                <a:cs typeface="KaiTi" charset="-122"/>
              </a:rPr>
              <a:t>标签</a:t>
            </a:r>
            <a:r>
              <a:rPr kumimoji="1" lang="en-US" altLang="zh-CN" sz="1600" b="1" dirty="0">
                <a:solidFill>
                  <a:schemeClr val="tx1"/>
                </a:solidFill>
                <a:latin typeface="KaiTi" charset="-122"/>
                <a:ea typeface="KaiTi" charset="-122"/>
                <a:cs typeface="KaiTi" charset="-122"/>
              </a:rPr>
              <a:t>+</a:t>
            </a:r>
            <a:r>
              <a:rPr kumimoji="1" lang="zh-CN" altLang="en-US" sz="1600" b="1" dirty="0">
                <a:solidFill>
                  <a:schemeClr val="tx1"/>
                </a:solidFill>
                <a:latin typeface="KaiTi" charset="-122"/>
                <a:ea typeface="KaiTi" charset="-122"/>
                <a:cs typeface="KaiTi" charset="-122"/>
              </a:rPr>
              <a:t>营销模型建模</a:t>
            </a:r>
          </a:p>
        </p:txBody>
      </p:sp>
      <p:sp>
        <p:nvSpPr>
          <p:cNvPr id="53" name="矩形 52">
            <a:extLst>
              <a:ext uri="{FF2B5EF4-FFF2-40B4-BE49-F238E27FC236}">
                <a16:creationId xmlns:a16="http://schemas.microsoft.com/office/drawing/2014/main" id="{184F911D-0193-4030-8388-90E6DA29EBC5}"/>
              </a:ext>
            </a:extLst>
          </p:cNvPr>
          <p:cNvSpPr/>
          <p:nvPr/>
        </p:nvSpPr>
        <p:spPr>
          <a:xfrm>
            <a:off x="5175559" y="2808420"/>
            <a:ext cx="5895781" cy="427705"/>
          </a:xfrm>
          <a:prstGeom prst="rect">
            <a:avLst/>
          </a:prstGeom>
          <a:solidFill>
            <a:schemeClr val="accent3">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solidFill>
                  <a:schemeClr val="tx1"/>
                </a:solidFill>
                <a:latin typeface="KaiTi" charset="-122"/>
                <a:ea typeface="KaiTi" charset="-122"/>
                <a:cs typeface="KaiTi" charset="-122"/>
              </a:rPr>
              <a:t>机器学习建模</a:t>
            </a:r>
          </a:p>
        </p:txBody>
      </p:sp>
      <p:sp>
        <p:nvSpPr>
          <p:cNvPr id="54" name="矩形 53">
            <a:extLst>
              <a:ext uri="{FF2B5EF4-FFF2-40B4-BE49-F238E27FC236}">
                <a16:creationId xmlns:a16="http://schemas.microsoft.com/office/drawing/2014/main" id="{AFB6263F-9999-45B9-833E-D30EF9215B47}"/>
              </a:ext>
            </a:extLst>
          </p:cNvPr>
          <p:cNvSpPr/>
          <p:nvPr/>
        </p:nvSpPr>
        <p:spPr>
          <a:xfrm>
            <a:off x="5175559" y="3692470"/>
            <a:ext cx="5895781" cy="427705"/>
          </a:xfrm>
          <a:prstGeom prst="rect">
            <a:avLst/>
          </a:prstGeom>
          <a:solidFill>
            <a:schemeClr val="accent3">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solidFill>
                  <a:schemeClr val="tx1"/>
                </a:solidFill>
                <a:latin typeface="KaiTi" charset="-122"/>
                <a:ea typeface="KaiTi" charset="-122"/>
                <a:cs typeface="KaiTi" charset="-122"/>
              </a:rPr>
              <a:t>特征及标签生成</a:t>
            </a:r>
          </a:p>
        </p:txBody>
      </p:sp>
      <p:sp>
        <p:nvSpPr>
          <p:cNvPr id="55" name="矩形 54">
            <a:extLst>
              <a:ext uri="{FF2B5EF4-FFF2-40B4-BE49-F238E27FC236}">
                <a16:creationId xmlns:a16="http://schemas.microsoft.com/office/drawing/2014/main" id="{BA1E6DB6-8897-44F1-BFF8-FE59CF647C00}"/>
              </a:ext>
            </a:extLst>
          </p:cNvPr>
          <p:cNvSpPr/>
          <p:nvPr/>
        </p:nvSpPr>
        <p:spPr>
          <a:xfrm>
            <a:off x="5175559" y="4545773"/>
            <a:ext cx="5895781" cy="427705"/>
          </a:xfrm>
          <a:prstGeom prst="rect">
            <a:avLst/>
          </a:prstGeom>
          <a:solidFill>
            <a:schemeClr val="accent3">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solidFill>
                  <a:schemeClr val="tx1">
                    <a:lumMod val="95000"/>
                    <a:lumOff val="5000"/>
                  </a:schemeClr>
                </a:solidFill>
                <a:latin typeface="KaiTi" charset="-122"/>
                <a:ea typeface="KaiTi" charset="-122"/>
                <a:cs typeface="KaiTi" charset="-122"/>
              </a:rPr>
              <a:t>清洗、结构化、统计建模</a:t>
            </a:r>
          </a:p>
        </p:txBody>
      </p:sp>
      <p:sp>
        <p:nvSpPr>
          <p:cNvPr id="56" name="矩形 55">
            <a:extLst>
              <a:ext uri="{FF2B5EF4-FFF2-40B4-BE49-F238E27FC236}">
                <a16:creationId xmlns:a16="http://schemas.microsoft.com/office/drawing/2014/main" id="{51C6101F-830C-4890-BE53-416EDB656D31}"/>
              </a:ext>
            </a:extLst>
          </p:cNvPr>
          <p:cNvSpPr/>
          <p:nvPr/>
        </p:nvSpPr>
        <p:spPr>
          <a:xfrm>
            <a:off x="9998774" y="3263356"/>
            <a:ext cx="1072566" cy="409397"/>
          </a:xfrm>
          <a:prstGeom prst="rect">
            <a:avLst/>
          </a:prstGeom>
          <a:solidFill>
            <a:schemeClr val="accent6">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mr-IN" altLang="zh-CN" sz="1600" dirty="0">
                <a:solidFill>
                  <a:schemeClr val="bg1"/>
                </a:solidFill>
                <a:latin typeface="KaiTi" charset="-122"/>
                <a:ea typeface="KaiTi" charset="-122"/>
                <a:cs typeface="KaiTi" charset="-122"/>
              </a:rPr>
              <a:t>…</a:t>
            </a:r>
            <a:endParaRPr kumimoji="1" lang="zh-CN" altLang="en-US" sz="1600" dirty="0">
              <a:solidFill>
                <a:schemeClr val="bg1"/>
              </a:solidFill>
              <a:latin typeface="KaiTi" charset="-122"/>
              <a:ea typeface="KaiTi" charset="-122"/>
              <a:cs typeface="KaiTi" charset="-122"/>
            </a:endParaRPr>
          </a:p>
        </p:txBody>
      </p:sp>
      <p:sp>
        <p:nvSpPr>
          <p:cNvPr id="57" name="文本框 56">
            <a:extLst>
              <a:ext uri="{FF2B5EF4-FFF2-40B4-BE49-F238E27FC236}">
                <a16:creationId xmlns:a16="http://schemas.microsoft.com/office/drawing/2014/main" id="{58D261A6-0F20-4424-8CE4-7D9848993F50}"/>
              </a:ext>
            </a:extLst>
          </p:cNvPr>
          <p:cNvSpPr txBox="1"/>
          <p:nvPr/>
        </p:nvSpPr>
        <p:spPr>
          <a:xfrm>
            <a:off x="3878841" y="4133435"/>
            <a:ext cx="1146810" cy="348557"/>
          </a:xfrm>
          <a:prstGeom prst="rect">
            <a:avLst/>
          </a:prstGeom>
          <a:noFill/>
          <a:ln>
            <a:solidFill>
              <a:schemeClr val="tx1"/>
            </a:solidFill>
          </a:ln>
        </p:spPr>
        <p:txBody>
          <a:bodyPr wrap="square" rtlCol="0">
            <a:spAutoFit/>
          </a:bodyPr>
          <a:lstStyle/>
          <a:p>
            <a:pPr algn="ctr"/>
            <a:r>
              <a:rPr kumimoji="1" lang="zh-CN" altLang="en-US" sz="1600" dirty="0">
                <a:latin typeface="KaiTi" charset="-122"/>
                <a:ea typeface="KaiTi" charset="-122"/>
                <a:cs typeface="KaiTi" charset="-122"/>
              </a:rPr>
              <a:t>特征计算</a:t>
            </a:r>
          </a:p>
        </p:txBody>
      </p:sp>
      <p:sp>
        <p:nvSpPr>
          <p:cNvPr id="58" name="文本框 57">
            <a:extLst>
              <a:ext uri="{FF2B5EF4-FFF2-40B4-BE49-F238E27FC236}">
                <a16:creationId xmlns:a16="http://schemas.microsoft.com/office/drawing/2014/main" id="{86762E2C-98A5-4C8B-B577-1B3121B6F888}"/>
              </a:ext>
            </a:extLst>
          </p:cNvPr>
          <p:cNvSpPr txBox="1"/>
          <p:nvPr/>
        </p:nvSpPr>
        <p:spPr>
          <a:xfrm>
            <a:off x="3878841" y="3295252"/>
            <a:ext cx="1146810" cy="348557"/>
          </a:xfrm>
          <a:prstGeom prst="rect">
            <a:avLst/>
          </a:prstGeom>
          <a:noFill/>
          <a:ln>
            <a:solidFill>
              <a:schemeClr val="tx1"/>
            </a:solidFill>
          </a:ln>
        </p:spPr>
        <p:txBody>
          <a:bodyPr wrap="square" rtlCol="0">
            <a:spAutoFit/>
          </a:bodyPr>
          <a:lstStyle/>
          <a:p>
            <a:pPr algn="ctr"/>
            <a:r>
              <a:rPr kumimoji="1" lang="zh-CN" altLang="en-US" sz="1600" dirty="0">
                <a:latin typeface="KaiTi" charset="-122"/>
                <a:ea typeface="KaiTi" charset="-122"/>
                <a:cs typeface="KaiTi" charset="-122"/>
              </a:rPr>
              <a:t>机器学习</a:t>
            </a:r>
          </a:p>
        </p:txBody>
      </p:sp>
      <p:sp>
        <p:nvSpPr>
          <p:cNvPr id="59" name="文本框 58">
            <a:extLst>
              <a:ext uri="{FF2B5EF4-FFF2-40B4-BE49-F238E27FC236}">
                <a16:creationId xmlns:a16="http://schemas.microsoft.com/office/drawing/2014/main" id="{20F647BB-E742-4043-8832-DFB4D7CA5730}"/>
              </a:ext>
            </a:extLst>
          </p:cNvPr>
          <p:cNvSpPr txBox="1"/>
          <p:nvPr/>
        </p:nvSpPr>
        <p:spPr>
          <a:xfrm>
            <a:off x="3878841" y="2393837"/>
            <a:ext cx="1146810" cy="348557"/>
          </a:xfrm>
          <a:prstGeom prst="rect">
            <a:avLst/>
          </a:prstGeom>
          <a:noFill/>
          <a:ln>
            <a:solidFill>
              <a:schemeClr val="tx1"/>
            </a:solidFill>
          </a:ln>
        </p:spPr>
        <p:txBody>
          <a:bodyPr wrap="square" rtlCol="0">
            <a:spAutoFit/>
          </a:bodyPr>
          <a:lstStyle/>
          <a:p>
            <a:pPr algn="ctr"/>
            <a:r>
              <a:rPr kumimoji="1" lang="zh-CN" altLang="en-US" sz="1600" dirty="0">
                <a:latin typeface="KaiTi" charset="-122"/>
                <a:ea typeface="KaiTi" charset="-122"/>
                <a:cs typeface="KaiTi" charset="-122"/>
              </a:rPr>
              <a:t>模型预测</a:t>
            </a:r>
          </a:p>
        </p:txBody>
      </p:sp>
    </p:spTree>
    <p:extLst>
      <p:ext uri="{BB962C8B-B14F-4D97-AF65-F5344CB8AC3E}">
        <p14:creationId xmlns:p14="http://schemas.microsoft.com/office/powerpoint/2010/main" val="392676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B59312A5-2FEC-4039-8BBF-BE37A4995239}"/>
              </a:ext>
            </a:extLst>
          </p:cNvPr>
          <p:cNvPicPr>
            <a:picLocks noChangeAspect="1"/>
          </p:cNvPicPr>
          <p:nvPr/>
        </p:nvPicPr>
        <p:blipFill>
          <a:blip r:embed="rId3"/>
          <a:stretch>
            <a:fillRect/>
          </a:stretch>
        </p:blipFill>
        <p:spPr>
          <a:xfrm>
            <a:off x="2443398" y="3733471"/>
            <a:ext cx="2143125" cy="2143125"/>
          </a:xfrm>
          <a:prstGeom prst="rect">
            <a:avLst/>
          </a:prstGeom>
        </p:spPr>
      </p:pic>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57"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8"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9" name="04"/>
          <p:cNvSpPr txBox="1"/>
          <p:nvPr/>
        </p:nvSpPr>
        <p:spPr>
          <a:xfrm>
            <a:off x="356995" y="6344413"/>
            <a:ext cx="218679" cy="231380"/>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lvl1pPr>
              <a:defRPr sz="1000">
                <a:solidFill>
                  <a:srgbClr val="CAA354"/>
                </a:solidFill>
                <a:latin typeface="PingFang SC Regular"/>
                <a:ea typeface="PingFang SC Regular"/>
                <a:cs typeface="PingFang SC Regular"/>
                <a:sym typeface="PingFang SC Regular"/>
              </a:defRPr>
            </a:lvl1pPr>
          </a:lstStyle>
          <a:p>
            <a:r>
              <a:rPr dirty="0"/>
              <a:t>04</a:t>
            </a:r>
          </a:p>
        </p:txBody>
      </p:sp>
      <p:pic>
        <p:nvPicPr>
          <p:cNvPr id="32" name="图像" descr="图像"/>
          <p:cNvPicPr>
            <a:picLocks noChangeAspect="1"/>
          </p:cNvPicPr>
          <p:nvPr/>
        </p:nvPicPr>
        <p:blipFill>
          <a:blip r:embed="rId4">
            <a:extLst/>
          </a:blip>
          <a:stretch>
            <a:fillRect/>
          </a:stretch>
        </p:blipFill>
        <p:spPr>
          <a:xfrm>
            <a:off x="10484724" y="427048"/>
            <a:ext cx="1253576" cy="332979"/>
          </a:xfrm>
          <a:prstGeom prst="rect">
            <a:avLst/>
          </a:prstGeom>
          <a:ln w="3175">
            <a:miter lim="400000"/>
          </a:ln>
        </p:spPr>
      </p:pic>
      <p:sp>
        <p:nvSpPr>
          <p:cNvPr id="29" name="文本框 28"/>
          <p:cNvSpPr txBox="1"/>
          <p:nvPr/>
        </p:nvSpPr>
        <p:spPr>
          <a:xfrm>
            <a:off x="1214667" y="274314"/>
            <a:ext cx="9453327" cy="584775"/>
          </a:xfrm>
          <a:prstGeom prst="rect">
            <a:avLst/>
          </a:prstGeom>
          <a:noFill/>
        </p:spPr>
        <p:txBody>
          <a:bodyPr wrap="square" rtlCol="0">
            <a:spAutoFit/>
          </a:bodyPr>
          <a:lstStyle/>
          <a:p>
            <a:r>
              <a:rPr kumimoji="1" lang="zh-CN" altLang="en-US" sz="3200" b="1" dirty="0"/>
              <a:t>不是不想要，只是因为没有，因为不够“傻瓜”</a:t>
            </a:r>
          </a:p>
        </p:txBody>
      </p:sp>
      <p:sp>
        <p:nvSpPr>
          <p:cNvPr id="33" name="矩形 32">
            <a:extLst>
              <a:ext uri="{FF2B5EF4-FFF2-40B4-BE49-F238E27FC236}">
                <a16:creationId xmlns:a16="http://schemas.microsoft.com/office/drawing/2014/main" id="{07CCDA19-C78F-4FEF-9A33-1AEE922E976D}"/>
              </a:ext>
            </a:extLst>
          </p:cNvPr>
          <p:cNvSpPr/>
          <p:nvPr/>
        </p:nvSpPr>
        <p:spPr>
          <a:xfrm>
            <a:off x="1313439"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FD35F411-A1E5-4031-B455-0E2C81A8D091}"/>
              </a:ext>
            </a:extLst>
          </p:cNvPr>
          <p:cNvSpPr/>
          <p:nvPr/>
        </p:nvSpPr>
        <p:spPr>
          <a:xfrm>
            <a:off x="5387036"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Shape 204">
            <a:extLst>
              <a:ext uri="{FF2B5EF4-FFF2-40B4-BE49-F238E27FC236}">
                <a16:creationId xmlns:a16="http://schemas.microsoft.com/office/drawing/2014/main" id="{A70DE6D9-6644-4BAA-B30A-03A35750868A}"/>
              </a:ext>
            </a:extLst>
          </p:cNvPr>
          <p:cNvSpPr/>
          <p:nvPr/>
        </p:nvSpPr>
        <p:spPr>
          <a:xfrm rot="5400000">
            <a:off x="4754187" y="3959872"/>
            <a:ext cx="3390695" cy="10243946"/>
          </a:xfrm>
          <a:prstGeom prst="rect">
            <a:avLst/>
          </a:prstGeom>
          <a:solidFill>
            <a:srgbClr val="CAA354"/>
          </a:solidFill>
          <a:ln w="12700" cap="flat">
            <a:noFill/>
            <a:miter lim="400000"/>
          </a:ln>
          <a:effectLst/>
        </p:spPr>
        <p:txBody>
          <a:bodyPr wrap="square" lIns="0" tIns="0" rIns="0" bIns="0" numCol="1" anchor="ctr">
            <a:noAutofit/>
          </a:bodyPr>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dirty="0">
              <a:latin typeface="PingFang SC" charset="-122"/>
              <a:ea typeface="PingFang SC" charset="-122"/>
              <a:cs typeface="PingFang SC" charset="-122"/>
            </a:endParaRPr>
          </a:p>
        </p:txBody>
      </p:sp>
      <p:sp>
        <p:nvSpPr>
          <p:cNvPr id="35" name="Shape 207">
            <a:extLst>
              <a:ext uri="{FF2B5EF4-FFF2-40B4-BE49-F238E27FC236}">
                <a16:creationId xmlns:a16="http://schemas.microsoft.com/office/drawing/2014/main" id="{88DCFFFE-92B4-4276-982E-0AADE738E7F7}"/>
              </a:ext>
            </a:extLst>
          </p:cNvPr>
          <p:cNvSpPr/>
          <p:nvPr/>
        </p:nvSpPr>
        <p:spPr>
          <a:xfrm>
            <a:off x="1367431" y="1056093"/>
            <a:ext cx="9953360" cy="1015663"/>
          </a:xfrm>
          <a:prstGeom prst="rect">
            <a:avLst/>
          </a:prstGeom>
          <a:ln w="12700">
            <a:miter lim="400000"/>
          </a:ln>
        </p:spPr>
        <p:txBody>
          <a:bodyPr wrap="square" lIns="45719" rIns="45719">
            <a:spAutoFit/>
          </a:bodyPr>
          <a:lstStyle/>
          <a:p>
            <a:pPr lvl="0">
              <a:lnSpc>
                <a:spcPct val="120000"/>
              </a:lnSpc>
              <a:defRPr>
                <a:solidFill>
                  <a:srgbClr val="000000"/>
                </a:solidFill>
              </a:defRPr>
            </a:pPr>
            <a:r>
              <a:rPr lang="zh-CN" altLang="en-US" sz="1600" b="1" dirty="0">
                <a:latin typeface="PingFang SC" charset="-122"/>
                <a:ea typeface="PingFang SC" charset="-122"/>
                <a:cs typeface="PingFang SC" charset="-122"/>
              </a:rPr>
              <a:t>个人投资者</a:t>
            </a:r>
            <a:r>
              <a:rPr lang="zh-CN" altLang="en-US" sz="1600" dirty="0">
                <a:latin typeface="PingFang SC" charset="-122"/>
                <a:ea typeface="PingFang SC" charset="-122"/>
                <a:cs typeface="PingFang SC" charset="-122"/>
              </a:rPr>
              <a:t>对自己的投资表现分析停留在“是否赚钱”层面，缺少足够的知识和能力对自我投资的特点进行分析和认知。</a:t>
            </a:r>
            <a:r>
              <a:rPr lang="zh-CN" altLang="en-US" sz="1600" b="1" dirty="0">
                <a:latin typeface="PingFang SC" charset="-122"/>
                <a:ea typeface="PingFang SC" charset="-122"/>
                <a:cs typeface="PingFang SC" charset="-122"/>
              </a:rPr>
              <a:t>金融机构</a:t>
            </a:r>
            <a:r>
              <a:rPr lang="zh-CN" altLang="en-US" sz="1600" dirty="0">
                <a:latin typeface="PingFang SC" charset="-122"/>
                <a:ea typeface="PingFang SC" charset="-122"/>
                <a:cs typeface="PingFang SC" charset="-122"/>
              </a:rPr>
              <a:t>或者缺少对个人投资者的投资特点分析，或者投入大量一线营销人员进行非系统化的分析。总而言之，市场缺少一套</a:t>
            </a:r>
            <a:r>
              <a:rPr kumimoji="1" lang="zh-CN" altLang="en-US" sz="1600" b="1" dirty="0">
                <a:latin typeface="PingFang SC" charset="-122"/>
                <a:ea typeface="PingFang SC" charset="-122"/>
                <a:cs typeface="PingFang SC" charset="-122"/>
              </a:rPr>
              <a:t>“傻瓜式”</a:t>
            </a:r>
            <a:r>
              <a:rPr kumimoji="1" lang="zh-CN" altLang="en-US" b="1" dirty="0"/>
              <a:t>系统化的个人投资特征分析解决方案。</a:t>
            </a:r>
            <a:endParaRPr lang="en-US" altLang="zh-CN" dirty="0">
              <a:latin typeface="PingFang SC" charset="-122"/>
              <a:ea typeface="PingFang SC" charset="-122"/>
              <a:cs typeface="PingFang SC" charset="-122"/>
            </a:endParaRPr>
          </a:p>
        </p:txBody>
      </p:sp>
      <p:sp>
        <p:nvSpPr>
          <p:cNvPr id="38" name="Shape 210">
            <a:extLst>
              <a:ext uri="{FF2B5EF4-FFF2-40B4-BE49-F238E27FC236}">
                <a16:creationId xmlns:a16="http://schemas.microsoft.com/office/drawing/2014/main" id="{E62CE1C1-A84D-47E5-B073-B1070B147C9E}"/>
              </a:ext>
            </a:extLst>
          </p:cNvPr>
          <p:cNvSpPr/>
          <p:nvPr/>
        </p:nvSpPr>
        <p:spPr>
          <a:xfrm>
            <a:off x="6057648" y="7737745"/>
            <a:ext cx="686057" cy="1928588"/>
          </a:xfrm>
          <a:custGeom>
            <a:avLst/>
            <a:gdLst/>
            <a:ahLst/>
            <a:cxnLst>
              <a:cxn ang="0">
                <a:pos x="wd2" y="hd2"/>
              </a:cxn>
              <a:cxn ang="5400000">
                <a:pos x="wd2" y="hd2"/>
              </a:cxn>
              <a:cxn ang="10800000">
                <a:pos x="wd2" y="hd2"/>
              </a:cxn>
              <a:cxn ang="16200000">
                <a:pos x="wd2" y="hd2"/>
              </a:cxn>
            </a:cxnLst>
            <a:rect l="0" t="0" r="r" b="b"/>
            <a:pathLst>
              <a:path w="21600" h="21579" extrusionOk="0">
                <a:moveTo>
                  <a:pt x="9888" y="4905"/>
                </a:moveTo>
                <a:cubicBezTo>
                  <a:pt x="11767" y="4905"/>
                  <a:pt x="11767" y="4905"/>
                  <a:pt x="11767" y="4905"/>
                </a:cubicBezTo>
                <a:cubicBezTo>
                  <a:pt x="11767" y="5460"/>
                  <a:pt x="11767" y="5460"/>
                  <a:pt x="11767" y="5460"/>
                </a:cubicBezTo>
                <a:cubicBezTo>
                  <a:pt x="11435" y="5460"/>
                  <a:pt x="11435" y="5460"/>
                  <a:pt x="11435" y="5460"/>
                </a:cubicBezTo>
                <a:cubicBezTo>
                  <a:pt x="12540" y="7307"/>
                  <a:pt x="12540" y="7307"/>
                  <a:pt x="12540" y="7307"/>
                </a:cubicBezTo>
                <a:cubicBezTo>
                  <a:pt x="15192" y="5229"/>
                  <a:pt x="15192" y="5229"/>
                  <a:pt x="15192" y="5229"/>
                </a:cubicBezTo>
                <a:cubicBezTo>
                  <a:pt x="16131" y="5229"/>
                  <a:pt x="17015" y="5229"/>
                  <a:pt x="17954" y="5229"/>
                </a:cubicBezTo>
                <a:cubicBezTo>
                  <a:pt x="19943" y="7053"/>
                  <a:pt x="21103" y="8947"/>
                  <a:pt x="21600" y="10887"/>
                </a:cubicBezTo>
                <a:cubicBezTo>
                  <a:pt x="20329" y="11464"/>
                  <a:pt x="19114" y="12064"/>
                  <a:pt x="17843" y="12642"/>
                </a:cubicBezTo>
                <a:cubicBezTo>
                  <a:pt x="18120" y="15621"/>
                  <a:pt x="17402" y="18600"/>
                  <a:pt x="17678" y="21579"/>
                </a:cubicBezTo>
                <a:cubicBezTo>
                  <a:pt x="15855" y="21579"/>
                  <a:pt x="15026" y="21579"/>
                  <a:pt x="13203" y="21579"/>
                </a:cubicBezTo>
                <a:cubicBezTo>
                  <a:pt x="12816" y="19062"/>
                  <a:pt x="12043" y="16545"/>
                  <a:pt x="11656" y="14027"/>
                </a:cubicBezTo>
                <a:cubicBezTo>
                  <a:pt x="10828" y="14027"/>
                  <a:pt x="11270" y="14027"/>
                  <a:pt x="10441" y="14027"/>
                </a:cubicBezTo>
                <a:cubicBezTo>
                  <a:pt x="10109" y="16545"/>
                  <a:pt x="8894" y="19062"/>
                  <a:pt x="8563" y="21579"/>
                </a:cubicBezTo>
                <a:cubicBezTo>
                  <a:pt x="6629" y="21579"/>
                  <a:pt x="5856" y="21579"/>
                  <a:pt x="3922" y="21579"/>
                </a:cubicBezTo>
                <a:cubicBezTo>
                  <a:pt x="4364" y="18600"/>
                  <a:pt x="3591" y="15621"/>
                  <a:pt x="4033" y="12642"/>
                </a:cubicBezTo>
                <a:cubicBezTo>
                  <a:pt x="2707" y="12226"/>
                  <a:pt x="1381" y="11810"/>
                  <a:pt x="0" y="11372"/>
                </a:cubicBezTo>
                <a:cubicBezTo>
                  <a:pt x="608" y="9270"/>
                  <a:pt x="1436" y="7192"/>
                  <a:pt x="3094" y="5229"/>
                </a:cubicBezTo>
                <a:cubicBezTo>
                  <a:pt x="4198" y="5229"/>
                  <a:pt x="5303" y="5229"/>
                  <a:pt x="6353" y="5229"/>
                </a:cubicBezTo>
                <a:cubicBezTo>
                  <a:pt x="9447" y="7330"/>
                  <a:pt x="9447" y="7330"/>
                  <a:pt x="9447" y="7330"/>
                </a:cubicBezTo>
                <a:cubicBezTo>
                  <a:pt x="10165" y="5460"/>
                  <a:pt x="10165" y="5460"/>
                  <a:pt x="10165" y="5460"/>
                </a:cubicBezTo>
                <a:cubicBezTo>
                  <a:pt x="9888" y="5460"/>
                  <a:pt x="9888" y="5460"/>
                  <a:pt x="9888" y="5460"/>
                </a:cubicBezTo>
                <a:cubicBezTo>
                  <a:pt x="9888" y="4905"/>
                  <a:pt x="9888" y="4905"/>
                  <a:pt x="9888" y="4905"/>
                </a:cubicBezTo>
                <a:close/>
                <a:moveTo>
                  <a:pt x="10835" y="2"/>
                </a:moveTo>
                <a:cubicBezTo>
                  <a:pt x="12454" y="25"/>
                  <a:pt x="14058" y="245"/>
                  <a:pt x="14749" y="660"/>
                </a:cubicBezTo>
                <a:cubicBezTo>
                  <a:pt x="15579" y="1168"/>
                  <a:pt x="15579" y="2600"/>
                  <a:pt x="14086" y="3132"/>
                </a:cubicBezTo>
                <a:cubicBezTo>
                  <a:pt x="14196" y="2416"/>
                  <a:pt x="14086" y="2000"/>
                  <a:pt x="13864" y="1492"/>
                </a:cubicBezTo>
                <a:cubicBezTo>
                  <a:pt x="11873" y="1746"/>
                  <a:pt x="9328" y="2416"/>
                  <a:pt x="7613" y="1469"/>
                </a:cubicBezTo>
                <a:cubicBezTo>
                  <a:pt x="7170" y="2069"/>
                  <a:pt x="7170" y="2508"/>
                  <a:pt x="7336" y="3108"/>
                </a:cubicBezTo>
                <a:cubicBezTo>
                  <a:pt x="5511" y="2716"/>
                  <a:pt x="6285" y="799"/>
                  <a:pt x="6838" y="522"/>
                </a:cubicBezTo>
                <a:cubicBezTo>
                  <a:pt x="7585" y="152"/>
                  <a:pt x="9217" y="-21"/>
                  <a:pt x="10835" y="2"/>
                </a:cubicBezTo>
                <a:close/>
              </a:path>
            </a:pathLst>
          </a:custGeom>
          <a:solidFill>
            <a:srgbClr val="445469"/>
          </a:solidFill>
          <a:ln w="12700">
            <a:miter lim="400000"/>
          </a:ln>
        </p:spPr>
        <p:txBody>
          <a:bodyPr lIns="45719" rIns="45719"/>
          <a:lstStyle/>
          <a:p>
            <a:pPr lvl="0" algn="ctr" defTabSz="912495">
              <a:lnSpc>
                <a:spcPct val="100000"/>
              </a:lnSpc>
              <a:spcBef>
                <a:spcPts val="0"/>
              </a:spcBef>
              <a:defRPr sz="2300">
                <a:solidFill>
                  <a:srgbClr val="E5E3EB"/>
                </a:solidFill>
                <a:latin typeface="Arial" panose="020B0604020202020204"/>
                <a:ea typeface="Arial" panose="020B0604020202020204"/>
                <a:cs typeface="Arial" panose="020B0604020202020204"/>
                <a:sym typeface="Arial" panose="020B0604020202020204"/>
              </a:defRPr>
            </a:pPr>
            <a:endParaRPr>
              <a:latin typeface="PingFang SC" charset="-122"/>
              <a:ea typeface="PingFang SC" charset="-122"/>
              <a:cs typeface="PingFang SC" charset="-122"/>
            </a:endParaRPr>
          </a:p>
        </p:txBody>
      </p:sp>
      <p:sp>
        <p:nvSpPr>
          <p:cNvPr id="17" name="Shape 207">
            <a:extLst>
              <a:ext uri="{FF2B5EF4-FFF2-40B4-BE49-F238E27FC236}">
                <a16:creationId xmlns:a16="http://schemas.microsoft.com/office/drawing/2014/main" id="{1342F9C5-3BAD-4C7D-A15F-118484DC5D3C}"/>
              </a:ext>
            </a:extLst>
          </p:cNvPr>
          <p:cNvSpPr/>
          <p:nvPr/>
        </p:nvSpPr>
        <p:spPr>
          <a:xfrm>
            <a:off x="7243008" y="7386494"/>
            <a:ext cx="3820335" cy="3293209"/>
          </a:xfrm>
          <a:prstGeom prst="rect">
            <a:avLst/>
          </a:prstGeom>
          <a:ln w="12700">
            <a:miter lim="400000"/>
          </a:ln>
        </p:spPr>
        <p:txBody>
          <a:bodyPr wrap="square" lIns="45719" rIns="45719">
            <a:spAutoFit/>
          </a:bodyPr>
          <a:lstStyle/>
          <a:p>
            <a:pPr lvl="0">
              <a:defRPr>
                <a:solidFill>
                  <a:srgbClr val="000000"/>
                </a:solidFill>
              </a:defRPr>
            </a:pPr>
            <a:r>
              <a:rPr lang="zh-CN" altLang="en-US" sz="1600" b="1" dirty="0">
                <a:latin typeface="PingFang SC" charset="-122"/>
                <a:ea typeface="PingFang SC" charset="-122"/>
                <a:cs typeface="PingFang SC" charset="-122"/>
              </a:rPr>
              <a:t>投资者：</a:t>
            </a:r>
            <a:r>
              <a:rPr lang="zh-CN" altLang="en-US" sz="1600" dirty="0">
                <a:latin typeface="PingFang SC" charset="-122"/>
                <a:ea typeface="PingFang SC" charset="-122"/>
                <a:cs typeface="PingFang SC" charset="-122"/>
              </a:rPr>
              <a:t>面对股市</a:t>
            </a:r>
            <a:r>
              <a:rPr lang="en-US" altLang="zh-CN" sz="1600" dirty="0">
                <a:latin typeface="PingFang SC" charset="-122"/>
                <a:ea typeface="PingFang SC" charset="-122"/>
                <a:cs typeface="PingFang SC" charset="-122"/>
              </a:rPr>
              <a:t>3000</a:t>
            </a:r>
            <a:r>
              <a:rPr lang="zh-CN" altLang="en-US" sz="1600" dirty="0">
                <a:latin typeface="PingFang SC" charset="-122"/>
                <a:ea typeface="PingFang SC" charset="-122"/>
                <a:cs typeface="PingFang SC" charset="-122"/>
              </a:rPr>
              <a:t>多只股票，还有众多基金产品，投资者在海量资讯信息中不知道自己应该投什么，不了解这些金融产品背后有什么风险，同时也对自己的投资表现缺乏正确的认知，导致屡战屡败还没有进步，最终亏损出局</a:t>
            </a:r>
          </a:p>
          <a:p>
            <a:pPr lvl="0">
              <a:defRPr>
                <a:solidFill>
                  <a:srgbClr val="000000"/>
                </a:solidFill>
              </a:defRPr>
            </a:pPr>
            <a:endParaRPr lang="en-US" altLang="zh-CN" sz="1600" dirty="0">
              <a:latin typeface="PingFang SC" charset="-122"/>
              <a:ea typeface="PingFang SC" charset="-122"/>
              <a:cs typeface="PingFang SC" charset="-122"/>
            </a:endParaRPr>
          </a:p>
          <a:p>
            <a:pPr lvl="0">
              <a:defRPr>
                <a:solidFill>
                  <a:srgbClr val="000000"/>
                </a:solidFill>
              </a:defRPr>
            </a:pPr>
            <a:r>
              <a:rPr lang="zh-CN" altLang="en-US" sz="1600" b="1" dirty="0">
                <a:latin typeface="PingFang SC" charset="-122"/>
                <a:ea typeface="PingFang SC" charset="-122"/>
                <a:cs typeface="PingFang SC" charset="-122"/>
              </a:rPr>
              <a:t>金融机构：</a:t>
            </a:r>
            <a:r>
              <a:rPr lang="zh-CN" altLang="en-US" sz="1600" dirty="0">
                <a:latin typeface="PingFang SC" charset="-122"/>
                <a:ea typeface="PingFang SC" charset="-122"/>
                <a:cs typeface="PingFang SC" charset="-122"/>
              </a:rPr>
              <a:t>不知道用户需要什么产品和服务，千人一面的广撒网，导致用户配合度和满意度不高，同时由于客户经理对产品和服务的不熟炼导致被投资者投诉，影响企业形象和口碑，严重情况下甚至导致被监管机构处罚</a:t>
            </a:r>
            <a:endParaRPr lang="en-US" altLang="zh-CN" dirty="0">
              <a:latin typeface="PingFang SC" charset="-122"/>
              <a:ea typeface="PingFang SC" charset="-122"/>
              <a:cs typeface="PingFang SC" charset="-122"/>
            </a:endParaRPr>
          </a:p>
        </p:txBody>
      </p:sp>
      <p:sp>
        <p:nvSpPr>
          <p:cNvPr id="20" name="矩形 19">
            <a:extLst>
              <a:ext uri="{FF2B5EF4-FFF2-40B4-BE49-F238E27FC236}">
                <a16:creationId xmlns:a16="http://schemas.microsoft.com/office/drawing/2014/main" id="{D75DA98A-22D7-4F04-A6BF-4664F23B4FDD}"/>
              </a:ext>
            </a:extLst>
          </p:cNvPr>
          <p:cNvSpPr/>
          <p:nvPr/>
        </p:nvSpPr>
        <p:spPr>
          <a:xfrm>
            <a:off x="2243326" y="5887265"/>
            <a:ext cx="3467211" cy="508000"/>
          </a:xfrm>
          <a:prstGeom prst="rect">
            <a:avLst/>
          </a:prstGeom>
          <a:solidFill>
            <a:srgbClr val="991E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如何认清自我</a:t>
            </a:r>
            <a:endParaRPr kumimoji="1" lang="en-US" altLang="zh-CN" dirty="0"/>
          </a:p>
        </p:txBody>
      </p:sp>
      <p:sp>
        <p:nvSpPr>
          <p:cNvPr id="23" name="圆角矩形标注 6">
            <a:extLst>
              <a:ext uri="{FF2B5EF4-FFF2-40B4-BE49-F238E27FC236}">
                <a16:creationId xmlns:a16="http://schemas.microsoft.com/office/drawing/2014/main" id="{2E0330C8-0750-49B7-AB30-7F2FCBBA4F7F}"/>
              </a:ext>
            </a:extLst>
          </p:cNvPr>
          <p:cNvSpPr/>
          <p:nvPr/>
        </p:nvSpPr>
        <p:spPr>
          <a:xfrm>
            <a:off x="4294479" y="3447491"/>
            <a:ext cx="1851958" cy="894327"/>
          </a:xfrm>
          <a:prstGeom prst="wedgeRoundRectCallout">
            <a:avLst>
              <a:gd name="adj1" fmla="val -59627"/>
              <a:gd name="adj2" fmla="val 34505"/>
              <a:gd name="adj3" fmla="val 16667"/>
            </a:avLst>
          </a:prstGeom>
          <a:ln>
            <a:solidFill>
              <a:srgbClr val="991E23"/>
            </a:solidFill>
          </a:ln>
        </p:spPr>
        <p:style>
          <a:lnRef idx="2">
            <a:schemeClr val="accent2"/>
          </a:lnRef>
          <a:fillRef idx="1">
            <a:schemeClr val="lt1"/>
          </a:fillRef>
          <a:effectRef idx="0">
            <a:schemeClr val="accent2"/>
          </a:effectRef>
          <a:fontRef idx="minor">
            <a:schemeClr val="dk1"/>
          </a:fontRef>
        </p:style>
        <p:txBody>
          <a:bodyPr rtlCol="0" anchor="ctr"/>
          <a:lstStyle/>
          <a:p>
            <a:r>
              <a:rPr kumimoji="1" lang="zh-CN" altLang="en-US" sz="1400" dirty="0"/>
              <a:t>周围人都在赚钱，就我亏钱，搞不懂为啥</a:t>
            </a:r>
          </a:p>
        </p:txBody>
      </p:sp>
      <p:sp>
        <p:nvSpPr>
          <p:cNvPr id="24" name="圆角矩形标注 31">
            <a:extLst>
              <a:ext uri="{FF2B5EF4-FFF2-40B4-BE49-F238E27FC236}">
                <a16:creationId xmlns:a16="http://schemas.microsoft.com/office/drawing/2014/main" id="{62375DA1-3E98-4250-8D4C-D0F38B4CC0C7}"/>
              </a:ext>
            </a:extLst>
          </p:cNvPr>
          <p:cNvSpPr/>
          <p:nvPr/>
        </p:nvSpPr>
        <p:spPr>
          <a:xfrm>
            <a:off x="6784383" y="2482975"/>
            <a:ext cx="1786058" cy="1218869"/>
          </a:xfrm>
          <a:prstGeom prst="wedgeRoundRectCallout">
            <a:avLst>
              <a:gd name="adj1" fmla="val -20468"/>
              <a:gd name="adj2" fmla="val 58586"/>
              <a:gd name="adj3" fmla="val 16667"/>
            </a:avLst>
          </a:prstGeom>
          <a:ln>
            <a:solidFill>
              <a:srgbClr val="991E23"/>
            </a:solidFill>
          </a:ln>
        </p:spPr>
        <p:style>
          <a:lnRef idx="2">
            <a:schemeClr val="accent2"/>
          </a:lnRef>
          <a:fillRef idx="1">
            <a:schemeClr val="lt1"/>
          </a:fillRef>
          <a:effectRef idx="0">
            <a:schemeClr val="accent2"/>
          </a:effectRef>
          <a:fontRef idx="minor">
            <a:schemeClr val="dk1"/>
          </a:fontRef>
        </p:style>
        <p:txBody>
          <a:bodyPr rtlCol="0" anchor="ctr"/>
          <a:lstStyle/>
          <a:p>
            <a:r>
              <a:rPr kumimoji="1" lang="zh-CN" altLang="en-US" sz="1400" dirty="0"/>
              <a:t>张阿姨：小王啊，最近好多人买</a:t>
            </a:r>
            <a:r>
              <a:rPr kumimoji="1" lang="en-US" altLang="zh-CN" sz="1400" dirty="0" err="1"/>
              <a:t>st</a:t>
            </a:r>
            <a:r>
              <a:rPr kumimoji="1" lang="zh-CN" altLang="en-US" sz="1400" dirty="0"/>
              <a:t>股，我也想买点，但自己又不太懂，你觉得呢？</a:t>
            </a:r>
            <a:endParaRPr kumimoji="1" lang="en-US" altLang="zh-CN" sz="1400" dirty="0"/>
          </a:p>
        </p:txBody>
      </p:sp>
      <p:sp>
        <p:nvSpPr>
          <p:cNvPr id="25" name="矩形 24">
            <a:extLst>
              <a:ext uri="{FF2B5EF4-FFF2-40B4-BE49-F238E27FC236}">
                <a16:creationId xmlns:a16="http://schemas.microsoft.com/office/drawing/2014/main" id="{82FF1D26-8708-4237-AF3C-C8D0B7BF69A8}"/>
              </a:ext>
            </a:extLst>
          </p:cNvPr>
          <p:cNvSpPr/>
          <p:nvPr/>
        </p:nvSpPr>
        <p:spPr>
          <a:xfrm>
            <a:off x="6985793" y="5892226"/>
            <a:ext cx="3393253" cy="508000"/>
          </a:xfrm>
          <a:prstGeom prst="rect">
            <a:avLst/>
          </a:prstGeom>
          <a:solidFill>
            <a:srgbClr val="991E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如何认清客户</a:t>
            </a:r>
            <a:endParaRPr kumimoji="1" lang="en-US" altLang="zh-CN" dirty="0"/>
          </a:p>
        </p:txBody>
      </p:sp>
      <p:sp>
        <p:nvSpPr>
          <p:cNvPr id="21" name="圆角矩形标注 31">
            <a:extLst>
              <a:ext uri="{FF2B5EF4-FFF2-40B4-BE49-F238E27FC236}">
                <a16:creationId xmlns:a16="http://schemas.microsoft.com/office/drawing/2014/main" id="{D21A1D77-6DF5-489F-AEF4-2083A769F005}"/>
              </a:ext>
            </a:extLst>
          </p:cNvPr>
          <p:cNvSpPr/>
          <p:nvPr/>
        </p:nvSpPr>
        <p:spPr>
          <a:xfrm>
            <a:off x="9055117" y="3161211"/>
            <a:ext cx="1479758" cy="546688"/>
          </a:xfrm>
          <a:prstGeom prst="wedgeRoundRectCallout">
            <a:avLst>
              <a:gd name="adj1" fmla="val -20468"/>
              <a:gd name="adj2" fmla="val 58586"/>
              <a:gd name="adj3" fmla="val 16667"/>
            </a:avLst>
          </a:prstGeom>
          <a:ln>
            <a:solidFill>
              <a:srgbClr val="991E23"/>
            </a:solidFill>
          </a:ln>
        </p:spPr>
        <p:style>
          <a:lnRef idx="2">
            <a:schemeClr val="accent2"/>
          </a:lnRef>
          <a:fillRef idx="1">
            <a:schemeClr val="lt1"/>
          </a:fillRef>
          <a:effectRef idx="0">
            <a:schemeClr val="accent2"/>
          </a:effectRef>
          <a:fontRef idx="minor">
            <a:schemeClr val="dk1"/>
          </a:fontRef>
        </p:style>
        <p:txBody>
          <a:bodyPr rtlCol="0" anchor="ctr"/>
          <a:lstStyle/>
          <a:p>
            <a:r>
              <a:rPr kumimoji="1" lang="zh-CN" altLang="en-US" sz="1400" dirty="0"/>
              <a:t>小王：这个</a:t>
            </a:r>
            <a:r>
              <a:rPr kumimoji="1" lang="en-US" altLang="zh-CN" sz="1400" dirty="0"/>
              <a:t>……</a:t>
            </a:r>
            <a:endParaRPr kumimoji="1" lang="zh-CN" altLang="en-US" sz="1400" dirty="0"/>
          </a:p>
        </p:txBody>
      </p:sp>
      <p:pic>
        <p:nvPicPr>
          <p:cNvPr id="8" name="图片 7">
            <a:extLst>
              <a:ext uri="{FF2B5EF4-FFF2-40B4-BE49-F238E27FC236}">
                <a16:creationId xmlns:a16="http://schemas.microsoft.com/office/drawing/2014/main" id="{0B2337FD-B9E9-4C8E-A05B-2F6E09F53666}"/>
              </a:ext>
            </a:extLst>
          </p:cNvPr>
          <p:cNvPicPr>
            <a:picLocks noChangeAspect="1"/>
          </p:cNvPicPr>
          <p:nvPr/>
        </p:nvPicPr>
        <p:blipFill>
          <a:blip r:embed="rId5"/>
          <a:stretch>
            <a:fillRect/>
          </a:stretch>
        </p:blipFill>
        <p:spPr>
          <a:xfrm>
            <a:off x="8881935" y="3976549"/>
            <a:ext cx="1786059" cy="1786059"/>
          </a:xfrm>
          <a:prstGeom prst="rect">
            <a:avLst/>
          </a:prstGeom>
        </p:spPr>
      </p:pic>
      <p:pic>
        <p:nvPicPr>
          <p:cNvPr id="14" name="图片 13">
            <a:extLst>
              <a:ext uri="{FF2B5EF4-FFF2-40B4-BE49-F238E27FC236}">
                <a16:creationId xmlns:a16="http://schemas.microsoft.com/office/drawing/2014/main" id="{FF306B20-6E2E-4751-9AE1-2FA6986DB931}"/>
              </a:ext>
            </a:extLst>
          </p:cNvPr>
          <p:cNvPicPr>
            <a:picLocks noChangeAspect="1"/>
          </p:cNvPicPr>
          <p:nvPr/>
        </p:nvPicPr>
        <p:blipFill>
          <a:blip r:embed="rId6"/>
          <a:stretch>
            <a:fillRect/>
          </a:stretch>
        </p:blipFill>
        <p:spPr>
          <a:xfrm>
            <a:off x="7243008" y="4082250"/>
            <a:ext cx="1647540" cy="1647540"/>
          </a:xfrm>
          <a:prstGeom prst="rect">
            <a:avLst/>
          </a:prstGeom>
        </p:spPr>
      </p:pic>
    </p:spTree>
    <p:extLst>
      <p:ext uri="{BB962C8B-B14F-4D97-AF65-F5344CB8AC3E}">
        <p14:creationId xmlns:p14="http://schemas.microsoft.com/office/powerpoint/2010/main" val="3027973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968BC343-8E2A-4EBE-A244-9EC4025B2BD1}"/>
              </a:ext>
            </a:extLst>
          </p:cNvPr>
          <p:cNvPicPr>
            <a:picLocks noChangeAspect="1"/>
          </p:cNvPicPr>
          <p:nvPr/>
        </p:nvPicPr>
        <p:blipFill>
          <a:blip r:embed="rId3"/>
          <a:stretch>
            <a:fillRect/>
          </a:stretch>
        </p:blipFill>
        <p:spPr>
          <a:xfrm>
            <a:off x="6702425" y="3658839"/>
            <a:ext cx="2114550" cy="2162175"/>
          </a:xfrm>
          <a:prstGeom prst="rect">
            <a:avLst/>
          </a:prstGeom>
        </p:spPr>
      </p:pic>
      <p:pic>
        <p:nvPicPr>
          <p:cNvPr id="4" name="图片 3">
            <a:extLst>
              <a:ext uri="{FF2B5EF4-FFF2-40B4-BE49-F238E27FC236}">
                <a16:creationId xmlns:a16="http://schemas.microsoft.com/office/drawing/2014/main" id="{4B682832-9459-4041-A41C-853177F17B0D}"/>
              </a:ext>
            </a:extLst>
          </p:cNvPr>
          <p:cNvPicPr>
            <a:picLocks noChangeAspect="1"/>
          </p:cNvPicPr>
          <p:nvPr/>
        </p:nvPicPr>
        <p:blipFill rotWithShape="1">
          <a:blip r:embed="rId4"/>
          <a:srcRect b="5090"/>
          <a:stretch/>
        </p:blipFill>
        <p:spPr>
          <a:xfrm>
            <a:off x="2766363" y="3990729"/>
            <a:ext cx="1851958" cy="1757700"/>
          </a:xfrm>
          <a:prstGeom prst="rect">
            <a:avLst/>
          </a:prstGeom>
        </p:spPr>
      </p:pic>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57"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8"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9" name="04"/>
          <p:cNvSpPr txBox="1"/>
          <p:nvPr/>
        </p:nvSpPr>
        <p:spPr>
          <a:xfrm>
            <a:off x="356995" y="6344413"/>
            <a:ext cx="218679" cy="231380"/>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lvl1pPr>
              <a:defRPr sz="1000">
                <a:solidFill>
                  <a:srgbClr val="CAA354"/>
                </a:solidFill>
                <a:latin typeface="PingFang SC Regular"/>
                <a:ea typeface="PingFang SC Regular"/>
                <a:cs typeface="PingFang SC Regular"/>
                <a:sym typeface="PingFang SC Regular"/>
              </a:defRPr>
            </a:lvl1pPr>
          </a:lstStyle>
          <a:p>
            <a:r>
              <a:rPr dirty="0"/>
              <a:t>04</a:t>
            </a:r>
          </a:p>
        </p:txBody>
      </p:sp>
      <p:pic>
        <p:nvPicPr>
          <p:cNvPr id="32" name="图像" descr="图像"/>
          <p:cNvPicPr>
            <a:picLocks noChangeAspect="1"/>
          </p:cNvPicPr>
          <p:nvPr/>
        </p:nvPicPr>
        <p:blipFill>
          <a:blip r:embed="rId5">
            <a:extLst/>
          </a:blip>
          <a:stretch>
            <a:fillRect/>
          </a:stretch>
        </p:blipFill>
        <p:spPr>
          <a:xfrm>
            <a:off x="10484724" y="427048"/>
            <a:ext cx="1253576" cy="332979"/>
          </a:xfrm>
          <a:prstGeom prst="rect">
            <a:avLst/>
          </a:prstGeom>
          <a:ln w="3175">
            <a:miter lim="400000"/>
          </a:ln>
        </p:spPr>
      </p:pic>
      <p:sp>
        <p:nvSpPr>
          <p:cNvPr id="33" name="矩形 32">
            <a:extLst>
              <a:ext uri="{FF2B5EF4-FFF2-40B4-BE49-F238E27FC236}">
                <a16:creationId xmlns:a16="http://schemas.microsoft.com/office/drawing/2014/main" id="{07CCDA19-C78F-4FEF-9A33-1AEE922E976D}"/>
              </a:ext>
            </a:extLst>
          </p:cNvPr>
          <p:cNvSpPr/>
          <p:nvPr/>
        </p:nvSpPr>
        <p:spPr>
          <a:xfrm>
            <a:off x="1313439"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FD35F411-A1E5-4031-B455-0E2C81A8D091}"/>
              </a:ext>
            </a:extLst>
          </p:cNvPr>
          <p:cNvSpPr/>
          <p:nvPr/>
        </p:nvSpPr>
        <p:spPr>
          <a:xfrm>
            <a:off x="5387036"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Shape 204">
            <a:extLst>
              <a:ext uri="{FF2B5EF4-FFF2-40B4-BE49-F238E27FC236}">
                <a16:creationId xmlns:a16="http://schemas.microsoft.com/office/drawing/2014/main" id="{A70DE6D9-6644-4BAA-B30A-03A35750868A}"/>
              </a:ext>
            </a:extLst>
          </p:cNvPr>
          <p:cNvSpPr/>
          <p:nvPr/>
        </p:nvSpPr>
        <p:spPr>
          <a:xfrm rot="5400000">
            <a:off x="4754187" y="3959872"/>
            <a:ext cx="3390695" cy="10243946"/>
          </a:xfrm>
          <a:prstGeom prst="rect">
            <a:avLst/>
          </a:prstGeom>
          <a:solidFill>
            <a:srgbClr val="CAA354"/>
          </a:solidFill>
          <a:ln w="12700" cap="flat">
            <a:noFill/>
            <a:miter lim="400000"/>
          </a:ln>
          <a:effectLst/>
        </p:spPr>
        <p:txBody>
          <a:bodyPr wrap="square" lIns="0" tIns="0" rIns="0" bIns="0" numCol="1" anchor="ctr">
            <a:noAutofit/>
          </a:bodyPr>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dirty="0">
              <a:latin typeface="PingFang SC" charset="-122"/>
              <a:ea typeface="PingFang SC" charset="-122"/>
              <a:cs typeface="PingFang SC" charset="-122"/>
            </a:endParaRPr>
          </a:p>
        </p:txBody>
      </p:sp>
      <p:sp>
        <p:nvSpPr>
          <p:cNvPr id="38" name="Shape 210">
            <a:extLst>
              <a:ext uri="{FF2B5EF4-FFF2-40B4-BE49-F238E27FC236}">
                <a16:creationId xmlns:a16="http://schemas.microsoft.com/office/drawing/2014/main" id="{E62CE1C1-A84D-47E5-B073-B1070B147C9E}"/>
              </a:ext>
            </a:extLst>
          </p:cNvPr>
          <p:cNvSpPr/>
          <p:nvPr/>
        </p:nvSpPr>
        <p:spPr>
          <a:xfrm>
            <a:off x="6057648" y="7737745"/>
            <a:ext cx="686057" cy="1928588"/>
          </a:xfrm>
          <a:custGeom>
            <a:avLst/>
            <a:gdLst/>
            <a:ahLst/>
            <a:cxnLst>
              <a:cxn ang="0">
                <a:pos x="wd2" y="hd2"/>
              </a:cxn>
              <a:cxn ang="5400000">
                <a:pos x="wd2" y="hd2"/>
              </a:cxn>
              <a:cxn ang="10800000">
                <a:pos x="wd2" y="hd2"/>
              </a:cxn>
              <a:cxn ang="16200000">
                <a:pos x="wd2" y="hd2"/>
              </a:cxn>
            </a:cxnLst>
            <a:rect l="0" t="0" r="r" b="b"/>
            <a:pathLst>
              <a:path w="21600" h="21579" extrusionOk="0">
                <a:moveTo>
                  <a:pt x="9888" y="4905"/>
                </a:moveTo>
                <a:cubicBezTo>
                  <a:pt x="11767" y="4905"/>
                  <a:pt x="11767" y="4905"/>
                  <a:pt x="11767" y="4905"/>
                </a:cubicBezTo>
                <a:cubicBezTo>
                  <a:pt x="11767" y="5460"/>
                  <a:pt x="11767" y="5460"/>
                  <a:pt x="11767" y="5460"/>
                </a:cubicBezTo>
                <a:cubicBezTo>
                  <a:pt x="11435" y="5460"/>
                  <a:pt x="11435" y="5460"/>
                  <a:pt x="11435" y="5460"/>
                </a:cubicBezTo>
                <a:cubicBezTo>
                  <a:pt x="12540" y="7307"/>
                  <a:pt x="12540" y="7307"/>
                  <a:pt x="12540" y="7307"/>
                </a:cubicBezTo>
                <a:cubicBezTo>
                  <a:pt x="15192" y="5229"/>
                  <a:pt x="15192" y="5229"/>
                  <a:pt x="15192" y="5229"/>
                </a:cubicBezTo>
                <a:cubicBezTo>
                  <a:pt x="16131" y="5229"/>
                  <a:pt x="17015" y="5229"/>
                  <a:pt x="17954" y="5229"/>
                </a:cubicBezTo>
                <a:cubicBezTo>
                  <a:pt x="19943" y="7053"/>
                  <a:pt x="21103" y="8947"/>
                  <a:pt x="21600" y="10887"/>
                </a:cubicBezTo>
                <a:cubicBezTo>
                  <a:pt x="20329" y="11464"/>
                  <a:pt x="19114" y="12064"/>
                  <a:pt x="17843" y="12642"/>
                </a:cubicBezTo>
                <a:cubicBezTo>
                  <a:pt x="18120" y="15621"/>
                  <a:pt x="17402" y="18600"/>
                  <a:pt x="17678" y="21579"/>
                </a:cubicBezTo>
                <a:cubicBezTo>
                  <a:pt x="15855" y="21579"/>
                  <a:pt x="15026" y="21579"/>
                  <a:pt x="13203" y="21579"/>
                </a:cubicBezTo>
                <a:cubicBezTo>
                  <a:pt x="12816" y="19062"/>
                  <a:pt x="12043" y="16545"/>
                  <a:pt x="11656" y="14027"/>
                </a:cubicBezTo>
                <a:cubicBezTo>
                  <a:pt x="10828" y="14027"/>
                  <a:pt x="11270" y="14027"/>
                  <a:pt x="10441" y="14027"/>
                </a:cubicBezTo>
                <a:cubicBezTo>
                  <a:pt x="10109" y="16545"/>
                  <a:pt x="8894" y="19062"/>
                  <a:pt x="8563" y="21579"/>
                </a:cubicBezTo>
                <a:cubicBezTo>
                  <a:pt x="6629" y="21579"/>
                  <a:pt x="5856" y="21579"/>
                  <a:pt x="3922" y="21579"/>
                </a:cubicBezTo>
                <a:cubicBezTo>
                  <a:pt x="4364" y="18600"/>
                  <a:pt x="3591" y="15621"/>
                  <a:pt x="4033" y="12642"/>
                </a:cubicBezTo>
                <a:cubicBezTo>
                  <a:pt x="2707" y="12226"/>
                  <a:pt x="1381" y="11810"/>
                  <a:pt x="0" y="11372"/>
                </a:cubicBezTo>
                <a:cubicBezTo>
                  <a:pt x="608" y="9270"/>
                  <a:pt x="1436" y="7192"/>
                  <a:pt x="3094" y="5229"/>
                </a:cubicBezTo>
                <a:cubicBezTo>
                  <a:pt x="4198" y="5229"/>
                  <a:pt x="5303" y="5229"/>
                  <a:pt x="6353" y="5229"/>
                </a:cubicBezTo>
                <a:cubicBezTo>
                  <a:pt x="9447" y="7330"/>
                  <a:pt x="9447" y="7330"/>
                  <a:pt x="9447" y="7330"/>
                </a:cubicBezTo>
                <a:cubicBezTo>
                  <a:pt x="10165" y="5460"/>
                  <a:pt x="10165" y="5460"/>
                  <a:pt x="10165" y="5460"/>
                </a:cubicBezTo>
                <a:cubicBezTo>
                  <a:pt x="9888" y="5460"/>
                  <a:pt x="9888" y="5460"/>
                  <a:pt x="9888" y="5460"/>
                </a:cubicBezTo>
                <a:cubicBezTo>
                  <a:pt x="9888" y="4905"/>
                  <a:pt x="9888" y="4905"/>
                  <a:pt x="9888" y="4905"/>
                </a:cubicBezTo>
                <a:close/>
                <a:moveTo>
                  <a:pt x="10835" y="2"/>
                </a:moveTo>
                <a:cubicBezTo>
                  <a:pt x="12454" y="25"/>
                  <a:pt x="14058" y="245"/>
                  <a:pt x="14749" y="660"/>
                </a:cubicBezTo>
                <a:cubicBezTo>
                  <a:pt x="15579" y="1168"/>
                  <a:pt x="15579" y="2600"/>
                  <a:pt x="14086" y="3132"/>
                </a:cubicBezTo>
                <a:cubicBezTo>
                  <a:pt x="14196" y="2416"/>
                  <a:pt x="14086" y="2000"/>
                  <a:pt x="13864" y="1492"/>
                </a:cubicBezTo>
                <a:cubicBezTo>
                  <a:pt x="11873" y="1746"/>
                  <a:pt x="9328" y="2416"/>
                  <a:pt x="7613" y="1469"/>
                </a:cubicBezTo>
                <a:cubicBezTo>
                  <a:pt x="7170" y="2069"/>
                  <a:pt x="7170" y="2508"/>
                  <a:pt x="7336" y="3108"/>
                </a:cubicBezTo>
                <a:cubicBezTo>
                  <a:pt x="5511" y="2716"/>
                  <a:pt x="6285" y="799"/>
                  <a:pt x="6838" y="522"/>
                </a:cubicBezTo>
                <a:cubicBezTo>
                  <a:pt x="7585" y="152"/>
                  <a:pt x="9217" y="-21"/>
                  <a:pt x="10835" y="2"/>
                </a:cubicBezTo>
                <a:close/>
              </a:path>
            </a:pathLst>
          </a:custGeom>
          <a:solidFill>
            <a:srgbClr val="445469"/>
          </a:solidFill>
          <a:ln w="12700">
            <a:miter lim="400000"/>
          </a:ln>
        </p:spPr>
        <p:txBody>
          <a:bodyPr lIns="45719" rIns="45719"/>
          <a:lstStyle/>
          <a:p>
            <a:pPr lvl="0" algn="ctr" defTabSz="912495">
              <a:lnSpc>
                <a:spcPct val="100000"/>
              </a:lnSpc>
              <a:spcBef>
                <a:spcPts val="0"/>
              </a:spcBef>
              <a:defRPr sz="2300">
                <a:solidFill>
                  <a:srgbClr val="E5E3EB"/>
                </a:solidFill>
                <a:latin typeface="Arial" panose="020B0604020202020204"/>
                <a:ea typeface="Arial" panose="020B0604020202020204"/>
                <a:cs typeface="Arial" panose="020B0604020202020204"/>
                <a:sym typeface="Arial" panose="020B0604020202020204"/>
              </a:defRPr>
            </a:pPr>
            <a:endParaRPr>
              <a:latin typeface="PingFang SC" charset="-122"/>
              <a:ea typeface="PingFang SC" charset="-122"/>
              <a:cs typeface="PingFang SC" charset="-122"/>
            </a:endParaRPr>
          </a:p>
        </p:txBody>
      </p:sp>
      <p:sp>
        <p:nvSpPr>
          <p:cNvPr id="17" name="Shape 207">
            <a:extLst>
              <a:ext uri="{FF2B5EF4-FFF2-40B4-BE49-F238E27FC236}">
                <a16:creationId xmlns:a16="http://schemas.microsoft.com/office/drawing/2014/main" id="{1342F9C5-3BAD-4C7D-A15F-118484DC5D3C}"/>
              </a:ext>
            </a:extLst>
          </p:cNvPr>
          <p:cNvSpPr/>
          <p:nvPr/>
        </p:nvSpPr>
        <p:spPr>
          <a:xfrm>
            <a:off x="7243008" y="7386494"/>
            <a:ext cx="3820335" cy="3293209"/>
          </a:xfrm>
          <a:prstGeom prst="rect">
            <a:avLst/>
          </a:prstGeom>
          <a:ln w="12700">
            <a:miter lim="400000"/>
          </a:ln>
        </p:spPr>
        <p:txBody>
          <a:bodyPr wrap="square" lIns="45719" rIns="45719">
            <a:spAutoFit/>
          </a:bodyPr>
          <a:lstStyle/>
          <a:p>
            <a:pPr lvl="0">
              <a:defRPr>
                <a:solidFill>
                  <a:srgbClr val="000000"/>
                </a:solidFill>
              </a:defRPr>
            </a:pPr>
            <a:r>
              <a:rPr lang="zh-CN" altLang="en-US" sz="1600" b="1" dirty="0">
                <a:latin typeface="PingFang SC" charset="-122"/>
                <a:ea typeface="PingFang SC" charset="-122"/>
                <a:cs typeface="PingFang SC" charset="-122"/>
              </a:rPr>
              <a:t>投资者：</a:t>
            </a:r>
            <a:r>
              <a:rPr lang="zh-CN" altLang="en-US" sz="1600" dirty="0">
                <a:latin typeface="PingFang SC" charset="-122"/>
                <a:ea typeface="PingFang SC" charset="-122"/>
                <a:cs typeface="PingFang SC" charset="-122"/>
              </a:rPr>
              <a:t>面对股市</a:t>
            </a:r>
            <a:r>
              <a:rPr lang="en-US" altLang="zh-CN" sz="1600" dirty="0">
                <a:latin typeface="PingFang SC" charset="-122"/>
                <a:ea typeface="PingFang SC" charset="-122"/>
                <a:cs typeface="PingFang SC" charset="-122"/>
              </a:rPr>
              <a:t>3000</a:t>
            </a:r>
            <a:r>
              <a:rPr lang="zh-CN" altLang="en-US" sz="1600" dirty="0">
                <a:latin typeface="PingFang SC" charset="-122"/>
                <a:ea typeface="PingFang SC" charset="-122"/>
                <a:cs typeface="PingFang SC" charset="-122"/>
              </a:rPr>
              <a:t>多只股票，还有众多基金产品，投资者在海量资讯信息中不知道自己应该投什么，不了解这些金融产品背后有什么风险，同时也对自己的投资表现缺乏正确的认知，导致屡战屡败还没有进步，最终亏损出局</a:t>
            </a:r>
          </a:p>
          <a:p>
            <a:pPr lvl="0">
              <a:defRPr>
                <a:solidFill>
                  <a:srgbClr val="000000"/>
                </a:solidFill>
              </a:defRPr>
            </a:pPr>
            <a:endParaRPr lang="en-US" altLang="zh-CN" sz="1600" dirty="0">
              <a:latin typeface="PingFang SC" charset="-122"/>
              <a:ea typeface="PingFang SC" charset="-122"/>
              <a:cs typeface="PingFang SC" charset="-122"/>
            </a:endParaRPr>
          </a:p>
          <a:p>
            <a:pPr lvl="0">
              <a:defRPr>
                <a:solidFill>
                  <a:srgbClr val="000000"/>
                </a:solidFill>
              </a:defRPr>
            </a:pPr>
            <a:r>
              <a:rPr lang="zh-CN" altLang="en-US" sz="1600" b="1" dirty="0">
                <a:latin typeface="PingFang SC" charset="-122"/>
                <a:ea typeface="PingFang SC" charset="-122"/>
                <a:cs typeface="PingFang SC" charset="-122"/>
              </a:rPr>
              <a:t>金融机构：</a:t>
            </a:r>
            <a:r>
              <a:rPr lang="zh-CN" altLang="en-US" sz="1600" dirty="0">
                <a:latin typeface="PingFang SC" charset="-122"/>
                <a:ea typeface="PingFang SC" charset="-122"/>
                <a:cs typeface="PingFang SC" charset="-122"/>
              </a:rPr>
              <a:t>不知道用户需要什么产品和服务，千人一面的广撒网，导致用户配合度和满意度不高，同时由于客户经理对产品和服务的不熟炼导致被投资者投诉，影响企业形象和口碑，严重情况下甚至导致被监管机构处罚</a:t>
            </a:r>
            <a:endParaRPr lang="en-US" altLang="zh-CN" dirty="0">
              <a:latin typeface="PingFang SC" charset="-122"/>
              <a:ea typeface="PingFang SC" charset="-122"/>
              <a:cs typeface="PingFang SC" charset="-122"/>
            </a:endParaRPr>
          </a:p>
        </p:txBody>
      </p:sp>
      <p:sp>
        <p:nvSpPr>
          <p:cNvPr id="20" name="矩形 19">
            <a:extLst>
              <a:ext uri="{FF2B5EF4-FFF2-40B4-BE49-F238E27FC236}">
                <a16:creationId xmlns:a16="http://schemas.microsoft.com/office/drawing/2014/main" id="{D75DA98A-22D7-4F04-A6BF-4664F23B4FDD}"/>
              </a:ext>
            </a:extLst>
          </p:cNvPr>
          <p:cNvSpPr/>
          <p:nvPr/>
        </p:nvSpPr>
        <p:spPr>
          <a:xfrm>
            <a:off x="2243326" y="5887265"/>
            <a:ext cx="3467211" cy="508000"/>
          </a:xfrm>
          <a:prstGeom prst="rect">
            <a:avLst/>
          </a:prstGeom>
          <a:solidFill>
            <a:srgbClr val="991E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人贵有自知之明</a:t>
            </a:r>
            <a:endParaRPr kumimoji="1" lang="en-US" altLang="zh-CN" dirty="0"/>
          </a:p>
        </p:txBody>
      </p:sp>
      <p:sp>
        <p:nvSpPr>
          <p:cNvPr id="23" name="圆角矩形标注 6">
            <a:extLst>
              <a:ext uri="{FF2B5EF4-FFF2-40B4-BE49-F238E27FC236}">
                <a16:creationId xmlns:a16="http://schemas.microsoft.com/office/drawing/2014/main" id="{2E0330C8-0750-49B7-AB30-7F2FCBBA4F7F}"/>
              </a:ext>
            </a:extLst>
          </p:cNvPr>
          <p:cNvSpPr/>
          <p:nvPr/>
        </p:nvSpPr>
        <p:spPr>
          <a:xfrm>
            <a:off x="4321205" y="3785868"/>
            <a:ext cx="1851958" cy="894327"/>
          </a:xfrm>
          <a:prstGeom prst="wedgeRoundRectCallout">
            <a:avLst>
              <a:gd name="adj1" fmla="val -59627"/>
              <a:gd name="adj2" fmla="val 34505"/>
              <a:gd name="adj3" fmla="val 16667"/>
            </a:avLst>
          </a:prstGeom>
          <a:ln>
            <a:solidFill>
              <a:srgbClr val="991E23"/>
            </a:solidFill>
          </a:ln>
        </p:spPr>
        <p:style>
          <a:lnRef idx="2">
            <a:schemeClr val="accent2"/>
          </a:lnRef>
          <a:fillRef idx="1">
            <a:schemeClr val="lt1"/>
          </a:fillRef>
          <a:effectRef idx="0">
            <a:schemeClr val="accent2"/>
          </a:effectRef>
          <a:fontRef idx="minor">
            <a:schemeClr val="dk1"/>
          </a:fontRef>
        </p:style>
        <p:txBody>
          <a:bodyPr rtlCol="0" anchor="ctr"/>
          <a:lstStyle/>
          <a:p>
            <a:r>
              <a:rPr kumimoji="1" lang="zh-CN" altLang="en-US" sz="1400" dirty="0"/>
              <a:t>周围人都在赚钱，就我亏钱，搞不懂为啥</a:t>
            </a:r>
          </a:p>
        </p:txBody>
      </p:sp>
      <p:sp>
        <p:nvSpPr>
          <p:cNvPr id="25" name="矩形 24">
            <a:extLst>
              <a:ext uri="{FF2B5EF4-FFF2-40B4-BE49-F238E27FC236}">
                <a16:creationId xmlns:a16="http://schemas.microsoft.com/office/drawing/2014/main" id="{82FF1D26-8708-4237-AF3C-C8D0B7BF69A8}"/>
              </a:ext>
            </a:extLst>
          </p:cNvPr>
          <p:cNvSpPr/>
          <p:nvPr/>
        </p:nvSpPr>
        <p:spPr>
          <a:xfrm>
            <a:off x="6985793" y="5892226"/>
            <a:ext cx="3393253" cy="508000"/>
          </a:xfrm>
          <a:prstGeom prst="rect">
            <a:avLst/>
          </a:prstGeom>
          <a:solidFill>
            <a:srgbClr val="991E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理解才能信任</a:t>
            </a:r>
            <a:endParaRPr kumimoji="1" lang="en-US" altLang="zh-CN" dirty="0"/>
          </a:p>
        </p:txBody>
      </p:sp>
      <p:sp>
        <p:nvSpPr>
          <p:cNvPr id="3" name="文本框 2">
            <a:extLst>
              <a:ext uri="{FF2B5EF4-FFF2-40B4-BE49-F238E27FC236}">
                <a16:creationId xmlns:a16="http://schemas.microsoft.com/office/drawing/2014/main" id="{43694172-B6A4-4698-B73E-186ED225BBB8}"/>
              </a:ext>
            </a:extLst>
          </p:cNvPr>
          <p:cNvSpPr txBox="1"/>
          <p:nvPr/>
        </p:nvSpPr>
        <p:spPr>
          <a:xfrm>
            <a:off x="1317614" y="2943952"/>
            <a:ext cx="3123753" cy="1384995"/>
          </a:xfrm>
          <a:prstGeom prst="rect">
            <a:avLst/>
          </a:prstGeom>
          <a:noFill/>
        </p:spPr>
        <p:txBody>
          <a:bodyPr wrap="square" rtlCol="0">
            <a:spAutoFit/>
          </a:bodyPr>
          <a:lstStyle/>
          <a:p>
            <a:r>
              <a:rPr lang="zh-CN" altLang="en-US" sz="1400" dirty="0">
                <a:ea typeface="PingFang SC"/>
              </a:rPr>
              <a:t>智能评分：</a:t>
            </a:r>
            <a:endParaRPr lang="en-US" altLang="zh-CN" sz="1400" dirty="0">
              <a:ea typeface="PingFang SC"/>
            </a:endParaRPr>
          </a:p>
          <a:p>
            <a:r>
              <a:rPr lang="zh-CN" altLang="en-US" sz="1400" dirty="0">
                <a:ea typeface="PingFang SC"/>
              </a:rPr>
              <a:t>止损能力</a:t>
            </a:r>
            <a:r>
              <a:rPr lang="en-US" altLang="zh-CN" sz="1400" dirty="0">
                <a:ea typeface="PingFang SC"/>
              </a:rPr>
              <a:t>12.16V.S</a:t>
            </a:r>
            <a:r>
              <a:rPr lang="zh-CN" altLang="en-US" sz="1400" dirty="0">
                <a:ea typeface="PingFang SC"/>
              </a:rPr>
              <a:t>平均止损能力</a:t>
            </a:r>
            <a:r>
              <a:rPr lang="en-US" altLang="zh-CN" sz="1400" dirty="0">
                <a:ea typeface="PingFang SC"/>
              </a:rPr>
              <a:t>67.23</a:t>
            </a:r>
          </a:p>
          <a:p>
            <a:r>
              <a:rPr lang="zh-CN" altLang="en-US" sz="1400" dirty="0">
                <a:ea typeface="PingFang SC"/>
              </a:rPr>
              <a:t>智能点评：</a:t>
            </a:r>
            <a:endParaRPr lang="en-US" altLang="zh-CN" sz="1400" dirty="0">
              <a:ea typeface="PingFang SC"/>
            </a:endParaRPr>
          </a:p>
          <a:p>
            <a:r>
              <a:rPr lang="zh-CN" altLang="en-US" sz="1400" dirty="0">
                <a:ea typeface="PingFang SC"/>
              </a:rPr>
              <a:t>你的止损能力分数远低于平均值，别人亏得少赚得多所以赚钱，是时候认真考虑下自己如何止损了！</a:t>
            </a:r>
            <a:endParaRPr lang="en-US" altLang="zh-CN" sz="1400" dirty="0">
              <a:ea typeface="PingFang SC"/>
            </a:endParaRPr>
          </a:p>
        </p:txBody>
      </p:sp>
      <p:sp>
        <p:nvSpPr>
          <p:cNvPr id="21" name="圆角矩形标注 31">
            <a:extLst>
              <a:ext uri="{FF2B5EF4-FFF2-40B4-BE49-F238E27FC236}">
                <a16:creationId xmlns:a16="http://schemas.microsoft.com/office/drawing/2014/main" id="{D21A1D77-6DF5-489F-AEF4-2083A769F005}"/>
              </a:ext>
            </a:extLst>
          </p:cNvPr>
          <p:cNvSpPr/>
          <p:nvPr/>
        </p:nvSpPr>
        <p:spPr>
          <a:xfrm>
            <a:off x="6685122" y="2330386"/>
            <a:ext cx="2321175" cy="1390638"/>
          </a:xfrm>
          <a:prstGeom prst="wedgeRoundRectCallout">
            <a:avLst>
              <a:gd name="adj1" fmla="val -20468"/>
              <a:gd name="adj2" fmla="val 58586"/>
              <a:gd name="adj3" fmla="val 16667"/>
            </a:avLst>
          </a:prstGeom>
          <a:ln>
            <a:solidFill>
              <a:srgbClr val="991E23"/>
            </a:solidFill>
          </a:ln>
        </p:spPr>
        <p:style>
          <a:lnRef idx="2">
            <a:schemeClr val="accent2"/>
          </a:lnRef>
          <a:fillRef idx="1">
            <a:schemeClr val="lt1"/>
          </a:fillRef>
          <a:effectRef idx="0">
            <a:schemeClr val="accent2"/>
          </a:effectRef>
          <a:fontRef idx="minor">
            <a:schemeClr val="dk1"/>
          </a:fontRef>
        </p:style>
        <p:txBody>
          <a:bodyPr rtlCol="0" anchor="ctr"/>
          <a:lstStyle/>
          <a:p>
            <a:r>
              <a:rPr kumimoji="1" lang="zh-CN" altLang="en-US" sz="1400" dirty="0"/>
              <a:t>小王：</a:t>
            </a:r>
            <a:r>
              <a:rPr kumimoji="1" lang="en-US" altLang="zh-CN" sz="1400" dirty="0" err="1"/>
              <a:t>st</a:t>
            </a:r>
            <a:r>
              <a:rPr kumimoji="1" lang="zh-CN" altLang="en-US" sz="1400" dirty="0"/>
              <a:t>股风险挺高，搞不好一个月</a:t>
            </a:r>
            <a:r>
              <a:rPr kumimoji="1" lang="en-US" altLang="zh-CN" sz="1400" dirty="0"/>
              <a:t>20%</a:t>
            </a:r>
            <a:r>
              <a:rPr kumimoji="1" lang="zh-CN" altLang="en-US" sz="1400" dirty="0"/>
              <a:t>就没了，您之前最多亏</a:t>
            </a:r>
            <a:r>
              <a:rPr kumimoji="1" lang="en-US" altLang="zh-CN" sz="1400" dirty="0"/>
              <a:t>10%</a:t>
            </a:r>
            <a:r>
              <a:rPr kumimoji="1" lang="zh-CN" altLang="en-US" sz="1400" dirty="0"/>
              <a:t>就心疼了，不太适合您，您再考虑考虑？</a:t>
            </a:r>
          </a:p>
        </p:txBody>
      </p:sp>
      <p:pic>
        <p:nvPicPr>
          <p:cNvPr id="6" name="图片 5">
            <a:extLst>
              <a:ext uri="{FF2B5EF4-FFF2-40B4-BE49-F238E27FC236}">
                <a16:creationId xmlns:a16="http://schemas.microsoft.com/office/drawing/2014/main" id="{210C2143-4475-4757-8BAB-74334832D374}"/>
              </a:ext>
            </a:extLst>
          </p:cNvPr>
          <p:cNvPicPr>
            <a:picLocks noChangeAspect="1"/>
          </p:cNvPicPr>
          <p:nvPr/>
        </p:nvPicPr>
        <p:blipFill>
          <a:blip r:embed="rId6"/>
          <a:stretch>
            <a:fillRect/>
          </a:stretch>
        </p:blipFill>
        <p:spPr>
          <a:xfrm>
            <a:off x="8816975" y="3997182"/>
            <a:ext cx="2027539" cy="1793062"/>
          </a:xfrm>
          <a:prstGeom prst="rect">
            <a:avLst/>
          </a:prstGeom>
        </p:spPr>
      </p:pic>
      <p:sp>
        <p:nvSpPr>
          <p:cNvPr id="26" name="文本框 25">
            <a:extLst>
              <a:ext uri="{FF2B5EF4-FFF2-40B4-BE49-F238E27FC236}">
                <a16:creationId xmlns:a16="http://schemas.microsoft.com/office/drawing/2014/main" id="{ADD8F165-9D35-465D-BA33-0FB2108790E3}"/>
              </a:ext>
            </a:extLst>
          </p:cNvPr>
          <p:cNvSpPr txBox="1"/>
          <p:nvPr/>
        </p:nvSpPr>
        <p:spPr>
          <a:xfrm>
            <a:off x="1214667" y="274314"/>
            <a:ext cx="7700731" cy="584775"/>
          </a:xfrm>
          <a:prstGeom prst="rect">
            <a:avLst/>
          </a:prstGeom>
          <a:noFill/>
        </p:spPr>
        <p:txBody>
          <a:bodyPr wrap="square" rtlCol="0">
            <a:spAutoFit/>
          </a:bodyPr>
          <a:lstStyle/>
          <a:p>
            <a:r>
              <a:rPr kumimoji="1" lang="zh-CN" altLang="en-US" sz="3200" b="1" dirty="0"/>
              <a:t>轻松了解你和你的客户</a:t>
            </a:r>
          </a:p>
        </p:txBody>
      </p:sp>
      <p:sp>
        <p:nvSpPr>
          <p:cNvPr id="28" name="Shape 213">
            <a:extLst>
              <a:ext uri="{FF2B5EF4-FFF2-40B4-BE49-F238E27FC236}">
                <a16:creationId xmlns:a16="http://schemas.microsoft.com/office/drawing/2014/main" id="{EE1122D5-9F4C-4088-9EC4-BEF5385E07C7}"/>
              </a:ext>
            </a:extLst>
          </p:cNvPr>
          <p:cNvSpPr/>
          <p:nvPr/>
        </p:nvSpPr>
        <p:spPr>
          <a:xfrm>
            <a:off x="1282984" y="1045613"/>
            <a:ext cx="9780359" cy="615553"/>
          </a:xfrm>
          <a:prstGeom prst="rect">
            <a:avLst/>
          </a:prstGeom>
          <a:ln w="12700">
            <a:miter lim="400000"/>
          </a:ln>
        </p:spPr>
        <p:txBody>
          <a:bodyPr wrap="square" lIns="45719" rIns="45719">
            <a:spAutoFit/>
          </a:bodyPr>
          <a:lstStyle/>
          <a:p>
            <a:pPr lvl="0">
              <a:defRPr>
                <a:solidFill>
                  <a:srgbClr val="000000"/>
                </a:solidFill>
              </a:defRPr>
            </a:pPr>
            <a:r>
              <a:rPr lang="zh-CN" altLang="en-US" b="1" dirty="0">
                <a:latin typeface="PingFang SC" charset="-122"/>
                <a:ea typeface="PingFang SC" charset="-122"/>
                <a:cs typeface="PingFang SC" charset="-122"/>
              </a:rPr>
              <a:t>智能评分</a:t>
            </a:r>
            <a:r>
              <a:rPr lang="zh-CN" altLang="en-US" dirty="0">
                <a:latin typeface="PingFang SC" charset="-122"/>
                <a:ea typeface="PingFang SC" charset="-122"/>
                <a:cs typeface="PingFang SC" charset="-122"/>
              </a:rPr>
              <a:t>：</a:t>
            </a:r>
            <a:r>
              <a:rPr lang="zh-CN" altLang="en-US" sz="1600" dirty="0">
                <a:latin typeface="PingFang SC" charset="-122"/>
                <a:ea typeface="PingFang SC" charset="-122"/>
                <a:cs typeface="PingFang SC" charset="-122"/>
              </a:rPr>
              <a:t>基于投资者的投资交易记录信息对投资者的投资表现进行量化评估，涵盖风险控制能力、盈利能力、稳定性和活跃度四大维度的</a:t>
            </a:r>
            <a:r>
              <a:rPr lang="en-US" altLang="zh-CN" sz="1600" dirty="0">
                <a:latin typeface="PingFang SC" charset="-122"/>
                <a:ea typeface="PingFang SC" charset="-122"/>
                <a:cs typeface="PingFang SC" charset="-122"/>
              </a:rPr>
              <a:t>100</a:t>
            </a:r>
            <a:r>
              <a:rPr lang="zh-CN" altLang="en-US" sz="1600" dirty="0">
                <a:latin typeface="PingFang SC" charset="-122"/>
                <a:ea typeface="PingFang SC" charset="-122"/>
                <a:cs typeface="PingFang SC" charset="-122"/>
              </a:rPr>
              <a:t>多个投资交易特征。</a:t>
            </a:r>
            <a:endParaRPr lang="en-US" altLang="zh-CN" sz="1600" dirty="0">
              <a:latin typeface="PingFang SC" charset="-122"/>
              <a:ea typeface="PingFang SC" charset="-122"/>
              <a:cs typeface="PingFang SC" charset="-122"/>
            </a:endParaRPr>
          </a:p>
        </p:txBody>
      </p:sp>
      <p:sp>
        <p:nvSpPr>
          <p:cNvPr id="30" name="矩形 29">
            <a:extLst>
              <a:ext uri="{FF2B5EF4-FFF2-40B4-BE49-F238E27FC236}">
                <a16:creationId xmlns:a16="http://schemas.microsoft.com/office/drawing/2014/main" id="{E1DBD1ED-7318-4FCD-B55E-0FC274F4D937}"/>
              </a:ext>
            </a:extLst>
          </p:cNvPr>
          <p:cNvSpPr/>
          <p:nvPr/>
        </p:nvSpPr>
        <p:spPr>
          <a:xfrm>
            <a:off x="1221677" y="1640732"/>
            <a:ext cx="10099118" cy="615553"/>
          </a:xfrm>
          <a:prstGeom prst="rect">
            <a:avLst/>
          </a:prstGeom>
        </p:spPr>
        <p:txBody>
          <a:bodyPr wrap="square">
            <a:spAutoFit/>
          </a:bodyPr>
          <a:lstStyle/>
          <a:p>
            <a:pPr rtl="0" fontAlgn="base">
              <a:spcAft>
                <a:spcPts val="0"/>
              </a:spcAft>
              <a:defRPr>
                <a:solidFill>
                  <a:srgbClr val="000000"/>
                </a:solidFill>
              </a:defRPr>
            </a:pPr>
            <a:r>
              <a:rPr lang="zh-CN" altLang="en-US" b="1" dirty="0">
                <a:latin typeface="PingFang SC" charset="-122"/>
                <a:ea typeface="PingFang SC" charset="-122"/>
                <a:cs typeface="PingFang SC" charset="-122"/>
              </a:rPr>
              <a:t>智能点评：</a:t>
            </a:r>
            <a:r>
              <a:rPr lang="zh-CN" altLang="en-US" sz="1600" dirty="0">
                <a:latin typeface="PingFang SC" charset="-122"/>
                <a:ea typeface="PingFang SC" charset="-122"/>
                <a:cs typeface="PingFang SC" charset="-122"/>
              </a:rPr>
              <a:t>总结投资者的不同指标的分数情况， 评估投资者的优势和不足，对投资者的投资交易特征给出简单易懂的个性化点评和建议。</a:t>
            </a:r>
          </a:p>
        </p:txBody>
      </p:sp>
      <p:sp>
        <p:nvSpPr>
          <p:cNvPr id="36" name="文本框 35">
            <a:extLst>
              <a:ext uri="{FF2B5EF4-FFF2-40B4-BE49-F238E27FC236}">
                <a16:creationId xmlns:a16="http://schemas.microsoft.com/office/drawing/2014/main" id="{02A44CB9-46C6-4367-8B63-00D7BBC4AD79}"/>
              </a:ext>
            </a:extLst>
          </p:cNvPr>
          <p:cNvSpPr txBox="1"/>
          <p:nvPr/>
        </p:nvSpPr>
        <p:spPr>
          <a:xfrm>
            <a:off x="9178141" y="2297464"/>
            <a:ext cx="2464664" cy="1754326"/>
          </a:xfrm>
          <a:prstGeom prst="rect">
            <a:avLst/>
          </a:prstGeom>
          <a:noFill/>
        </p:spPr>
        <p:txBody>
          <a:bodyPr wrap="square" rtlCol="0">
            <a:spAutoFit/>
          </a:bodyPr>
          <a:lstStyle/>
          <a:p>
            <a:r>
              <a:rPr lang="zh-CN" altLang="en-US" sz="1400" dirty="0">
                <a:ea typeface="PingFang SC"/>
              </a:rPr>
              <a:t>智能评分：</a:t>
            </a:r>
            <a:endParaRPr lang="en-US" altLang="zh-CN" sz="1400" dirty="0">
              <a:ea typeface="PingFang SC"/>
            </a:endParaRPr>
          </a:p>
          <a:p>
            <a:r>
              <a:rPr lang="zh-CN" altLang="en-US" sz="1200" dirty="0">
                <a:ea typeface="PingFang SC"/>
              </a:rPr>
              <a:t>最大容忍损失</a:t>
            </a:r>
            <a:r>
              <a:rPr lang="en-US" altLang="zh-CN" sz="1200" dirty="0">
                <a:ea typeface="PingFang SC"/>
              </a:rPr>
              <a:t>10%</a:t>
            </a:r>
          </a:p>
          <a:p>
            <a:r>
              <a:rPr lang="zh-CN" altLang="en-US" sz="1200" dirty="0">
                <a:ea typeface="PingFang SC"/>
              </a:rPr>
              <a:t>羊群效应</a:t>
            </a:r>
            <a:r>
              <a:rPr lang="en-US" altLang="zh-CN" sz="1200" dirty="0">
                <a:ea typeface="PingFang SC"/>
              </a:rPr>
              <a:t>15.72</a:t>
            </a:r>
          </a:p>
          <a:p>
            <a:endParaRPr lang="en-US" altLang="zh-CN" sz="1400" dirty="0">
              <a:ea typeface="PingFang SC"/>
            </a:endParaRPr>
          </a:p>
          <a:p>
            <a:r>
              <a:rPr lang="zh-CN" altLang="en-US" sz="1400" dirty="0">
                <a:ea typeface="PingFang SC"/>
              </a:rPr>
              <a:t>智能点评：</a:t>
            </a:r>
            <a:endParaRPr lang="en-US" altLang="zh-CN" sz="1400" dirty="0">
              <a:ea typeface="PingFang SC"/>
            </a:endParaRPr>
          </a:p>
          <a:p>
            <a:r>
              <a:rPr lang="zh-CN" altLang="en-US" sz="1400" dirty="0">
                <a:ea typeface="PingFang SC"/>
              </a:rPr>
              <a:t>不太爱跟风，能忍受的最大损失</a:t>
            </a:r>
            <a:r>
              <a:rPr lang="en-US" altLang="zh-CN" sz="1400" dirty="0">
                <a:ea typeface="PingFang SC"/>
              </a:rPr>
              <a:t>10%</a:t>
            </a:r>
            <a:r>
              <a:rPr lang="zh-CN" altLang="en-US" sz="1400" dirty="0">
                <a:ea typeface="PingFang SC"/>
              </a:rPr>
              <a:t>，比较偏理性的稳健投资者。</a:t>
            </a:r>
            <a:endParaRPr lang="en-US" altLang="zh-CN" sz="1400" dirty="0">
              <a:ea typeface="PingFang SC"/>
            </a:endParaRPr>
          </a:p>
        </p:txBody>
      </p:sp>
    </p:spTree>
    <p:extLst>
      <p:ext uri="{BB962C8B-B14F-4D97-AF65-F5344CB8AC3E}">
        <p14:creationId xmlns:p14="http://schemas.microsoft.com/office/powerpoint/2010/main" val="26248126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57"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8"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9" name="04"/>
          <p:cNvSpPr txBox="1"/>
          <p:nvPr/>
        </p:nvSpPr>
        <p:spPr>
          <a:xfrm>
            <a:off x="356995" y="6344413"/>
            <a:ext cx="218679" cy="231380"/>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lvl1pPr>
              <a:defRPr sz="1000">
                <a:solidFill>
                  <a:srgbClr val="CAA354"/>
                </a:solidFill>
                <a:latin typeface="PingFang SC Regular"/>
                <a:ea typeface="PingFang SC Regular"/>
                <a:cs typeface="PingFang SC Regular"/>
                <a:sym typeface="PingFang SC Regular"/>
              </a:defRPr>
            </a:lvl1pPr>
          </a:lstStyle>
          <a:p>
            <a:r>
              <a:rPr dirty="0"/>
              <a:t>04</a:t>
            </a:r>
          </a:p>
        </p:txBody>
      </p:sp>
      <p:pic>
        <p:nvPicPr>
          <p:cNvPr id="32" name="图像" descr="图像"/>
          <p:cNvPicPr>
            <a:picLocks noChangeAspect="1"/>
          </p:cNvPicPr>
          <p:nvPr/>
        </p:nvPicPr>
        <p:blipFill>
          <a:blip r:embed="rId3">
            <a:extLst/>
          </a:blip>
          <a:stretch>
            <a:fillRect/>
          </a:stretch>
        </p:blipFill>
        <p:spPr>
          <a:xfrm>
            <a:off x="10484724" y="427048"/>
            <a:ext cx="1253576" cy="332979"/>
          </a:xfrm>
          <a:prstGeom prst="rect">
            <a:avLst/>
          </a:prstGeom>
          <a:ln w="3175">
            <a:miter lim="400000"/>
          </a:ln>
        </p:spPr>
      </p:pic>
      <p:sp>
        <p:nvSpPr>
          <p:cNvPr id="29" name="文本框 28"/>
          <p:cNvSpPr txBox="1"/>
          <p:nvPr/>
        </p:nvSpPr>
        <p:spPr>
          <a:xfrm>
            <a:off x="1214668" y="274314"/>
            <a:ext cx="7010400" cy="584775"/>
          </a:xfrm>
          <a:prstGeom prst="rect">
            <a:avLst/>
          </a:prstGeom>
          <a:noFill/>
        </p:spPr>
        <p:txBody>
          <a:bodyPr wrap="square" rtlCol="0">
            <a:spAutoFit/>
          </a:bodyPr>
          <a:lstStyle/>
          <a:p>
            <a:r>
              <a:rPr kumimoji="1" lang="zh-CN" altLang="en-US" sz="3200" b="1" dirty="0"/>
              <a:t>不同的数据定义不同的投资者</a:t>
            </a:r>
          </a:p>
        </p:txBody>
      </p:sp>
      <p:sp>
        <p:nvSpPr>
          <p:cNvPr id="33" name="矩形 32">
            <a:extLst>
              <a:ext uri="{FF2B5EF4-FFF2-40B4-BE49-F238E27FC236}">
                <a16:creationId xmlns:a16="http://schemas.microsoft.com/office/drawing/2014/main" id="{07CCDA19-C78F-4FEF-9A33-1AEE922E976D}"/>
              </a:ext>
            </a:extLst>
          </p:cNvPr>
          <p:cNvSpPr/>
          <p:nvPr/>
        </p:nvSpPr>
        <p:spPr>
          <a:xfrm>
            <a:off x="1313439"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FD35F411-A1E5-4031-B455-0E2C81A8D091}"/>
              </a:ext>
            </a:extLst>
          </p:cNvPr>
          <p:cNvSpPr/>
          <p:nvPr/>
        </p:nvSpPr>
        <p:spPr>
          <a:xfrm>
            <a:off x="5387036"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CA2261E7-961F-4A16-89C9-4A576CC959B6}"/>
              </a:ext>
            </a:extLst>
          </p:cNvPr>
          <p:cNvPicPr>
            <a:picLocks noChangeAspect="1"/>
          </p:cNvPicPr>
          <p:nvPr/>
        </p:nvPicPr>
        <p:blipFill>
          <a:blip r:embed="rId4"/>
          <a:stretch>
            <a:fillRect/>
          </a:stretch>
        </p:blipFill>
        <p:spPr>
          <a:xfrm>
            <a:off x="6119517" y="1592177"/>
            <a:ext cx="5480030" cy="1730994"/>
          </a:xfrm>
          <a:prstGeom prst="rect">
            <a:avLst/>
          </a:prstGeom>
        </p:spPr>
      </p:pic>
      <p:pic>
        <p:nvPicPr>
          <p:cNvPr id="11" name="图片 10">
            <a:extLst>
              <a:ext uri="{FF2B5EF4-FFF2-40B4-BE49-F238E27FC236}">
                <a16:creationId xmlns:a16="http://schemas.microsoft.com/office/drawing/2014/main" id="{31B0417A-43B2-472E-A642-2BDCE6DC67BF}"/>
              </a:ext>
            </a:extLst>
          </p:cNvPr>
          <p:cNvPicPr>
            <a:picLocks noChangeAspect="1"/>
          </p:cNvPicPr>
          <p:nvPr/>
        </p:nvPicPr>
        <p:blipFill>
          <a:blip r:embed="rId5"/>
          <a:stretch>
            <a:fillRect/>
          </a:stretch>
        </p:blipFill>
        <p:spPr>
          <a:xfrm>
            <a:off x="1597661" y="1191678"/>
            <a:ext cx="3092527" cy="1628820"/>
          </a:xfrm>
          <a:prstGeom prst="rect">
            <a:avLst/>
          </a:prstGeom>
        </p:spPr>
      </p:pic>
      <p:pic>
        <p:nvPicPr>
          <p:cNvPr id="3" name="图片 2">
            <a:extLst>
              <a:ext uri="{FF2B5EF4-FFF2-40B4-BE49-F238E27FC236}">
                <a16:creationId xmlns:a16="http://schemas.microsoft.com/office/drawing/2014/main" id="{A5D36E6A-1FF9-4EAE-83F7-3BB0875A85FE}"/>
              </a:ext>
            </a:extLst>
          </p:cNvPr>
          <p:cNvPicPr>
            <a:picLocks noChangeAspect="1"/>
          </p:cNvPicPr>
          <p:nvPr/>
        </p:nvPicPr>
        <p:blipFill>
          <a:blip r:embed="rId6"/>
          <a:stretch>
            <a:fillRect/>
          </a:stretch>
        </p:blipFill>
        <p:spPr>
          <a:xfrm>
            <a:off x="1362764" y="2710817"/>
            <a:ext cx="4733236" cy="3737483"/>
          </a:xfrm>
          <a:prstGeom prst="rect">
            <a:avLst/>
          </a:prstGeom>
        </p:spPr>
      </p:pic>
      <p:pic>
        <p:nvPicPr>
          <p:cNvPr id="7" name="图片 6">
            <a:extLst>
              <a:ext uri="{FF2B5EF4-FFF2-40B4-BE49-F238E27FC236}">
                <a16:creationId xmlns:a16="http://schemas.microsoft.com/office/drawing/2014/main" id="{D423580F-1560-49CC-BFA7-E4DB36A9C86E}"/>
              </a:ext>
            </a:extLst>
          </p:cNvPr>
          <p:cNvPicPr>
            <a:picLocks noChangeAspect="1"/>
          </p:cNvPicPr>
          <p:nvPr/>
        </p:nvPicPr>
        <p:blipFill>
          <a:blip r:embed="rId7"/>
          <a:stretch>
            <a:fillRect/>
          </a:stretch>
        </p:blipFill>
        <p:spPr>
          <a:xfrm>
            <a:off x="6143034" y="3169332"/>
            <a:ext cx="5480030" cy="1557073"/>
          </a:xfrm>
          <a:prstGeom prst="rect">
            <a:avLst/>
          </a:prstGeom>
        </p:spPr>
      </p:pic>
      <p:pic>
        <p:nvPicPr>
          <p:cNvPr id="5" name="图片 4">
            <a:extLst>
              <a:ext uri="{FF2B5EF4-FFF2-40B4-BE49-F238E27FC236}">
                <a16:creationId xmlns:a16="http://schemas.microsoft.com/office/drawing/2014/main" id="{4E580321-224E-47CC-BBE6-8A137B51E323}"/>
              </a:ext>
            </a:extLst>
          </p:cNvPr>
          <p:cNvPicPr>
            <a:picLocks noChangeAspect="1"/>
          </p:cNvPicPr>
          <p:nvPr/>
        </p:nvPicPr>
        <p:blipFill>
          <a:blip r:embed="rId8"/>
          <a:stretch>
            <a:fillRect/>
          </a:stretch>
        </p:blipFill>
        <p:spPr>
          <a:xfrm>
            <a:off x="6143034" y="4723703"/>
            <a:ext cx="5480030" cy="1558860"/>
          </a:xfrm>
          <a:prstGeom prst="rect">
            <a:avLst/>
          </a:prstGeom>
        </p:spPr>
      </p:pic>
    </p:spTree>
    <p:extLst>
      <p:ext uri="{BB962C8B-B14F-4D97-AF65-F5344CB8AC3E}">
        <p14:creationId xmlns:p14="http://schemas.microsoft.com/office/powerpoint/2010/main" val="3803168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0" name="14441896787_163b98fa52_b.jpg" descr="14441896787_163b98fa52_b.jpg"/>
          <p:cNvPicPr>
            <a:picLocks noChangeAspect="1"/>
          </p:cNvPicPr>
          <p:nvPr/>
        </p:nvPicPr>
        <p:blipFill>
          <a:blip r:embed="rId2">
            <a:alphaModFix amt="23803"/>
            <a:extLst/>
          </a:blip>
          <a:stretch>
            <a:fillRect/>
          </a:stretch>
        </p:blipFill>
        <p:spPr>
          <a:xfrm>
            <a:off x="0" y="0"/>
            <a:ext cx="12192000" cy="6858000"/>
          </a:xfrm>
          <a:prstGeom prst="rect">
            <a:avLst/>
          </a:prstGeom>
          <a:ln w="3175">
            <a:miter lim="400000"/>
          </a:ln>
        </p:spPr>
      </p:pic>
      <p:pic>
        <p:nvPicPr>
          <p:cNvPr id="171" name="图像" descr="图像"/>
          <p:cNvPicPr>
            <a:picLocks noChangeAspect="1"/>
          </p:cNvPicPr>
          <p:nvPr/>
        </p:nvPicPr>
        <p:blipFill>
          <a:blip r:embed="rId3">
            <a:extLst/>
          </a:blip>
          <a:stretch>
            <a:fillRect/>
          </a:stretch>
        </p:blipFill>
        <p:spPr>
          <a:xfrm>
            <a:off x="10444834" y="466533"/>
            <a:ext cx="1253577" cy="332979"/>
          </a:xfrm>
          <a:prstGeom prst="rect">
            <a:avLst/>
          </a:prstGeom>
          <a:ln w="3175">
            <a:miter lim="400000"/>
          </a:ln>
        </p:spPr>
      </p:pic>
      <p:sp>
        <p:nvSpPr>
          <p:cNvPr id="172" name="矩形"/>
          <p:cNvSpPr/>
          <p:nvPr/>
        </p:nvSpPr>
        <p:spPr>
          <a:xfrm>
            <a:off x="-48235" y="1797772"/>
            <a:ext cx="7761787" cy="2983056"/>
          </a:xfrm>
          <a:prstGeom prst="rect">
            <a:avLst/>
          </a:prstGeom>
          <a:solidFill>
            <a:srgbClr val="CAA354"/>
          </a:solidFill>
          <a:ln w="3175">
            <a:miter lim="400000"/>
          </a:ln>
        </p:spPr>
        <p:txBody>
          <a:bodyPr lIns="26789" tIns="26789" rIns="26789" bIns="26789" anchor="ctr"/>
          <a:lstStyle/>
          <a:p>
            <a:pPr>
              <a:defRPr sz="1400">
                <a:latin typeface="+mn-lt"/>
                <a:ea typeface="+mn-ea"/>
                <a:cs typeface="+mn-cs"/>
                <a:sym typeface="Helvetica Neue Medium"/>
              </a:defRPr>
            </a:pPr>
            <a:endParaRPr/>
          </a:p>
        </p:txBody>
      </p:sp>
      <p:sp>
        <p:nvSpPr>
          <p:cNvPr id="173" name="大标题"/>
          <p:cNvSpPr txBox="1"/>
          <p:nvPr/>
        </p:nvSpPr>
        <p:spPr>
          <a:xfrm>
            <a:off x="237258" y="2539081"/>
            <a:ext cx="7935192" cy="1162097"/>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3800">
                <a:latin typeface="PingFang SC Semibold"/>
                <a:ea typeface="PingFang SC Semibold"/>
                <a:cs typeface="PingFang SC Semibold"/>
                <a:sym typeface="PingFang SC Semibold"/>
              </a:defRPr>
            </a:lvl1pPr>
          </a:lstStyle>
          <a:p>
            <a:pPr algn="l"/>
            <a:r>
              <a:rPr lang="zh-CN" altLang="en-US" sz="3600" dirty="0">
                <a:solidFill>
                  <a:schemeClr val="bg1"/>
                </a:solidFill>
              </a:rPr>
              <a:t>智能金融产品画像：</a:t>
            </a:r>
            <a:endParaRPr lang="en-US" altLang="zh-CN" sz="3600" dirty="0">
              <a:solidFill>
                <a:schemeClr val="bg1"/>
              </a:solidFill>
            </a:endParaRPr>
          </a:p>
          <a:p>
            <a:pPr algn="l"/>
            <a:r>
              <a:rPr lang="zh-CN" altLang="en-US" sz="3600" dirty="0">
                <a:solidFill>
                  <a:schemeClr val="bg1"/>
                </a:solidFill>
              </a:rPr>
              <a:t>监控海量产品的火眼金睛</a:t>
            </a:r>
            <a:endParaRPr lang="en-US" altLang="zh-CN" sz="3600" dirty="0">
              <a:solidFill>
                <a:schemeClr val="bg1"/>
              </a:solidFill>
            </a:endParaRPr>
          </a:p>
        </p:txBody>
      </p:sp>
      <p:sp>
        <p:nvSpPr>
          <p:cNvPr id="175" name="矩形"/>
          <p:cNvSpPr/>
          <p:nvPr/>
        </p:nvSpPr>
        <p:spPr>
          <a:xfrm>
            <a:off x="189304" y="219031"/>
            <a:ext cx="11813392" cy="6419938"/>
          </a:xfrm>
          <a:prstGeom prst="rect">
            <a:avLst/>
          </a:prstGeom>
          <a:ln>
            <a:solidFill>
              <a:srgbClr val="FFFFFF"/>
            </a:solidFill>
            <a:miter lim="400000"/>
          </a:ln>
        </p:spPr>
        <p:txBody>
          <a:bodyPr lIns="26789" tIns="26789" rIns="26789" bIns="26789" anchor="ctr"/>
          <a:lstStyle/>
          <a:p>
            <a:pPr>
              <a:defRPr sz="1400">
                <a:latin typeface="+mn-lt"/>
                <a:ea typeface="+mn-ea"/>
                <a:cs typeface="+mn-cs"/>
                <a:sym typeface="Helvetica Neue Medium"/>
              </a:defRPr>
            </a:pPr>
            <a:endParaRPr/>
          </a:p>
        </p:txBody>
      </p:sp>
    </p:spTree>
    <p:extLst>
      <p:ext uri="{BB962C8B-B14F-4D97-AF65-F5344CB8AC3E}">
        <p14:creationId xmlns:p14="http://schemas.microsoft.com/office/powerpoint/2010/main" val="2034487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57"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8"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9" name="04"/>
          <p:cNvSpPr txBox="1"/>
          <p:nvPr/>
        </p:nvSpPr>
        <p:spPr>
          <a:xfrm>
            <a:off x="356995" y="6344413"/>
            <a:ext cx="218679" cy="231380"/>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lvl1pPr>
              <a:defRPr sz="1000">
                <a:solidFill>
                  <a:srgbClr val="CAA354"/>
                </a:solidFill>
                <a:latin typeface="PingFang SC Regular"/>
                <a:ea typeface="PingFang SC Regular"/>
                <a:cs typeface="PingFang SC Regular"/>
                <a:sym typeface="PingFang SC Regular"/>
              </a:defRPr>
            </a:lvl1pPr>
          </a:lstStyle>
          <a:p>
            <a:r>
              <a:rPr dirty="0"/>
              <a:t>04</a:t>
            </a:r>
          </a:p>
        </p:txBody>
      </p:sp>
      <p:pic>
        <p:nvPicPr>
          <p:cNvPr id="32" name="图像" descr="图像"/>
          <p:cNvPicPr>
            <a:picLocks noChangeAspect="1"/>
          </p:cNvPicPr>
          <p:nvPr/>
        </p:nvPicPr>
        <p:blipFill>
          <a:blip r:embed="rId3">
            <a:extLst/>
          </a:blip>
          <a:stretch>
            <a:fillRect/>
          </a:stretch>
        </p:blipFill>
        <p:spPr>
          <a:xfrm>
            <a:off x="10484724" y="427048"/>
            <a:ext cx="1253576" cy="332979"/>
          </a:xfrm>
          <a:prstGeom prst="rect">
            <a:avLst/>
          </a:prstGeom>
          <a:ln w="3175">
            <a:miter lim="400000"/>
          </a:ln>
        </p:spPr>
      </p:pic>
      <p:sp>
        <p:nvSpPr>
          <p:cNvPr id="29" name="文本框 28"/>
          <p:cNvSpPr txBox="1"/>
          <p:nvPr/>
        </p:nvSpPr>
        <p:spPr>
          <a:xfrm>
            <a:off x="1214668" y="274314"/>
            <a:ext cx="7010400" cy="584775"/>
          </a:xfrm>
          <a:prstGeom prst="rect">
            <a:avLst/>
          </a:prstGeom>
          <a:noFill/>
        </p:spPr>
        <p:txBody>
          <a:bodyPr wrap="square" rtlCol="0">
            <a:spAutoFit/>
          </a:bodyPr>
          <a:lstStyle/>
          <a:p>
            <a:r>
              <a:rPr kumimoji="1" lang="zh-CN" altLang="en-US" sz="3200" b="1" dirty="0"/>
              <a:t>精准理解每只金融产品的前世今生</a:t>
            </a:r>
          </a:p>
        </p:txBody>
      </p:sp>
      <p:sp>
        <p:nvSpPr>
          <p:cNvPr id="33" name="矩形 32">
            <a:extLst>
              <a:ext uri="{FF2B5EF4-FFF2-40B4-BE49-F238E27FC236}">
                <a16:creationId xmlns:a16="http://schemas.microsoft.com/office/drawing/2014/main" id="{07CCDA19-C78F-4FEF-9A33-1AEE922E976D}"/>
              </a:ext>
            </a:extLst>
          </p:cNvPr>
          <p:cNvSpPr/>
          <p:nvPr/>
        </p:nvSpPr>
        <p:spPr>
          <a:xfrm>
            <a:off x="1313439"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FD35F411-A1E5-4031-B455-0E2C81A8D091}"/>
              </a:ext>
            </a:extLst>
          </p:cNvPr>
          <p:cNvSpPr/>
          <p:nvPr/>
        </p:nvSpPr>
        <p:spPr>
          <a:xfrm>
            <a:off x="5387036"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Shape 208">
            <a:extLst>
              <a:ext uri="{FF2B5EF4-FFF2-40B4-BE49-F238E27FC236}">
                <a16:creationId xmlns:a16="http://schemas.microsoft.com/office/drawing/2014/main" id="{1071937A-BFC9-4867-9394-D457980D16E9}"/>
              </a:ext>
            </a:extLst>
          </p:cNvPr>
          <p:cNvSpPr/>
          <p:nvPr/>
        </p:nvSpPr>
        <p:spPr>
          <a:xfrm>
            <a:off x="1310085" y="1449855"/>
            <a:ext cx="2154954" cy="3055773"/>
          </a:xfrm>
          <a:prstGeom prst="rect">
            <a:avLst/>
          </a:prstGeom>
          <a:ln w="12700">
            <a:miter lim="400000"/>
          </a:ln>
        </p:spPr>
        <p:txBody>
          <a:bodyPr wrap="square" lIns="45719" rIns="45719">
            <a:spAutoFit/>
          </a:bodyPr>
          <a:lstStyle/>
          <a:p>
            <a:pPr lvl="0">
              <a:lnSpc>
                <a:spcPct val="120000"/>
              </a:lnSpc>
              <a:defRPr>
                <a:solidFill>
                  <a:srgbClr val="000000"/>
                </a:solidFill>
              </a:defRPr>
            </a:pPr>
            <a:r>
              <a:rPr lang="zh-CN" altLang="en-US" b="1" dirty="0">
                <a:latin typeface="PingFang SC" charset="-122"/>
                <a:ea typeface="PingFang SC" charset="-122"/>
                <a:cs typeface="PingFang SC" charset="-122"/>
              </a:rPr>
              <a:t>智能金融产品画像：</a:t>
            </a:r>
            <a:r>
              <a:rPr lang="zh-CN" altLang="en-US" dirty="0">
                <a:latin typeface="PingFang SC" charset="-122"/>
                <a:ea typeface="PingFang SC" charset="-122"/>
                <a:cs typeface="PingFang SC" charset="-122"/>
              </a:rPr>
              <a:t>是对金融产品的深入理解，即，运用机器学习技术和金融工程理论，通过分析金融产品的历史数据，对金融产品的价值、风险、盈利、周期等特征做综合评价。</a:t>
            </a:r>
          </a:p>
        </p:txBody>
      </p:sp>
      <p:sp>
        <p:nvSpPr>
          <p:cNvPr id="19" name="矩形 18">
            <a:extLst>
              <a:ext uri="{FF2B5EF4-FFF2-40B4-BE49-F238E27FC236}">
                <a16:creationId xmlns:a16="http://schemas.microsoft.com/office/drawing/2014/main" id="{E2F60983-EAAA-478D-8761-E4768A589D1B}"/>
              </a:ext>
            </a:extLst>
          </p:cNvPr>
          <p:cNvSpPr/>
          <p:nvPr/>
        </p:nvSpPr>
        <p:spPr>
          <a:xfrm>
            <a:off x="3705787" y="1385222"/>
            <a:ext cx="7771057" cy="4087555"/>
          </a:xfrm>
          <a:prstGeom prst="rect">
            <a:avLst/>
          </a:prstGeom>
          <a:noFill/>
          <a:ln w="12700" cmpd="thinThick">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solidFill>
                <a:srgbClr val="00B0F0"/>
              </a:solidFill>
              <a:latin typeface="KaiTi" charset="-122"/>
              <a:ea typeface="PingFang SC"/>
              <a:cs typeface="KaiTi" charset="-122"/>
            </a:endParaRPr>
          </a:p>
        </p:txBody>
      </p:sp>
      <p:sp>
        <p:nvSpPr>
          <p:cNvPr id="20" name="文本框 19">
            <a:extLst>
              <a:ext uri="{FF2B5EF4-FFF2-40B4-BE49-F238E27FC236}">
                <a16:creationId xmlns:a16="http://schemas.microsoft.com/office/drawing/2014/main" id="{BF362BA5-6D41-4A76-96BD-46397C0037E9}"/>
              </a:ext>
            </a:extLst>
          </p:cNvPr>
          <p:cNvSpPr txBox="1"/>
          <p:nvPr/>
        </p:nvSpPr>
        <p:spPr>
          <a:xfrm>
            <a:off x="3882280" y="1569499"/>
            <a:ext cx="1140099" cy="584775"/>
          </a:xfrm>
          <a:prstGeom prst="rect">
            <a:avLst/>
          </a:prstGeom>
          <a:noFill/>
          <a:ln>
            <a:solidFill>
              <a:schemeClr val="tx1"/>
            </a:solidFill>
          </a:ln>
        </p:spPr>
        <p:txBody>
          <a:bodyPr wrap="square" rtlCol="0">
            <a:spAutoFit/>
          </a:bodyPr>
          <a:lstStyle/>
          <a:p>
            <a:pPr algn="ctr"/>
            <a:r>
              <a:rPr kumimoji="1" lang="zh-CN" altLang="en-US" sz="1600" dirty="0">
                <a:latin typeface="KaiTi" charset="-122"/>
                <a:ea typeface="KaiTi" charset="-122"/>
                <a:cs typeface="KaiTi" charset="-122"/>
              </a:rPr>
              <a:t>金融产品</a:t>
            </a:r>
            <a:endParaRPr kumimoji="1" lang="en-US" altLang="zh-CN" sz="1600" dirty="0">
              <a:latin typeface="KaiTi" charset="-122"/>
              <a:ea typeface="KaiTi" charset="-122"/>
              <a:cs typeface="KaiTi" charset="-122"/>
            </a:endParaRPr>
          </a:p>
          <a:p>
            <a:pPr algn="ctr"/>
            <a:r>
              <a:rPr kumimoji="1" lang="zh-CN" altLang="en-US" sz="1600" dirty="0">
                <a:latin typeface="KaiTi" charset="-122"/>
                <a:ea typeface="KaiTi" charset="-122"/>
                <a:cs typeface="KaiTi" charset="-122"/>
              </a:rPr>
              <a:t>画像</a:t>
            </a:r>
          </a:p>
        </p:txBody>
      </p:sp>
      <p:sp>
        <p:nvSpPr>
          <p:cNvPr id="21" name="矩形 20">
            <a:extLst>
              <a:ext uri="{FF2B5EF4-FFF2-40B4-BE49-F238E27FC236}">
                <a16:creationId xmlns:a16="http://schemas.microsoft.com/office/drawing/2014/main" id="{B2E83AE0-4D8A-4AA9-A2EA-E3641FBB4F17}"/>
              </a:ext>
            </a:extLst>
          </p:cNvPr>
          <p:cNvSpPr/>
          <p:nvPr/>
        </p:nvSpPr>
        <p:spPr>
          <a:xfrm>
            <a:off x="5175558" y="1530783"/>
            <a:ext cx="1072566" cy="412304"/>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价值表现</a:t>
            </a:r>
          </a:p>
        </p:txBody>
      </p:sp>
      <p:sp>
        <p:nvSpPr>
          <p:cNvPr id="22" name="矩形 21">
            <a:extLst>
              <a:ext uri="{FF2B5EF4-FFF2-40B4-BE49-F238E27FC236}">
                <a16:creationId xmlns:a16="http://schemas.microsoft.com/office/drawing/2014/main" id="{B73B3B17-CA6D-4AD6-B18C-97A9C61B554B}"/>
              </a:ext>
            </a:extLst>
          </p:cNvPr>
          <p:cNvSpPr/>
          <p:nvPr/>
        </p:nvSpPr>
        <p:spPr>
          <a:xfrm>
            <a:off x="6385882" y="1526297"/>
            <a:ext cx="1072566" cy="412304"/>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风险表现</a:t>
            </a:r>
          </a:p>
        </p:txBody>
      </p:sp>
      <p:sp>
        <p:nvSpPr>
          <p:cNvPr id="23" name="矩形 22">
            <a:extLst>
              <a:ext uri="{FF2B5EF4-FFF2-40B4-BE49-F238E27FC236}">
                <a16:creationId xmlns:a16="http://schemas.microsoft.com/office/drawing/2014/main" id="{D068391E-8519-4666-9C42-FC478B8C96F0}"/>
              </a:ext>
            </a:extLst>
          </p:cNvPr>
          <p:cNvSpPr/>
          <p:nvPr/>
        </p:nvSpPr>
        <p:spPr>
          <a:xfrm>
            <a:off x="7591316" y="1554124"/>
            <a:ext cx="1072566" cy="406135"/>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盈利表现</a:t>
            </a:r>
          </a:p>
        </p:txBody>
      </p:sp>
      <p:sp>
        <p:nvSpPr>
          <p:cNvPr id="24" name="矩形 23">
            <a:extLst>
              <a:ext uri="{FF2B5EF4-FFF2-40B4-BE49-F238E27FC236}">
                <a16:creationId xmlns:a16="http://schemas.microsoft.com/office/drawing/2014/main" id="{BFDC1E5E-5B0D-4F0B-BE2E-85A6B9E202A6}"/>
              </a:ext>
            </a:extLst>
          </p:cNvPr>
          <p:cNvSpPr/>
          <p:nvPr/>
        </p:nvSpPr>
        <p:spPr>
          <a:xfrm>
            <a:off x="8828469" y="1544676"/>
            <a:ext cx="1072566" cy="412304"/>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周期表现</a:t>
            </a:r>
          </a:p>
        </p:txBody>
      </p:sp>
      <p:sp>
        <p:nvSpPr>
          <p:cNvPr id="25" name="矩形 24">
            <a:extLst>
              <a:ext uri="{FF2B5EF4-FFF2-40B4-BE49-F238E27FC236}">
                <a16:creationId xmlns:a16="http://schemas.microsoft.com/office/drawing/2014/main" id="{A16320C8-2A7C-4F2E-BBA4-D7531A8587F2}"/>
              </a:ext>
            </a:extLst>
          </p:cNvPr>
          <p:cNvSpPr/>
          <p:nvPr/>
        </p:nvSpPr>
        <p:spPr>
          <a:xfrm>
            <a:off x="9998774" y="1544676"/>
            <a:ext cx="1072566" cy="412304"/>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mr-IN" altLang="zh-CN" sz="1600" dirty="0">
                <a:solidFill>
                  <a:schemeClr val="bg1"/>
                </a:solidFill>
                <a:latin typeface="KaiTi" charset="-122"/>
                <a:ea typeface="KaiTi" charset="-122"/>
                <a:cs typeface="KaiTi" charset="-122"/>
              </a:rPr>
              <a:t>…</a:t>
            </a:r>
            <a:endParaRPr kumimoji="1" lang="zh-CN" altLang="en-US" sz="1600" dirty="0">
              <a:solidFill>
                <a:schemeClr val="bg1"/>
              </a:solidFill>
              <a:latin typeface="KaiTi" charset="-122"/>
              <a:ea typeface="KaiTi" charset="-122"/>
              <a:cs typeface="KaiTi" charset="-122"/>
            </a:endParaRPr>
          </a:p>
        </p:txBody>
      </p:sp>
      <p:sp>
        <p:nvSpPr>
          <p:cNvPr id="26" name="矩形 25">
            <a:extLst>
              <a:ext uri="{FF2B5EF4-FFF2-40B4-BE49-F238E27FC236}">
                <a16:creationId xmlns:a16="http://schemas.microsoft.com/office/drawing/2014/main" id="{000FC0EE-3942-4281-9599-63E7EE8FB344}"/>
              </a:ext>
            </a:extLst>
          </p:cNvPr>
          <p:cNvSpPr/>
          <p:nvPr/>
        </p:nvSpPr>
        <p:spPr>
          <a:xfrm>
            <a:off x="5175558" y="2382822"/>
            <a:ext cx="1072566" cy="412304"/>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产品价值</a:t>
            </a:r>
          </a:p>
        </p:txBody>
      </p:sp>
      <p:sp>
        <p:nvSpPr>
          <p:cNvPr id="28" name="矩形 27">
            <a:extLst>
              <a:ext uri="{FF2B5EF4-FFF2-40B4-BE49-F238E27FC236}">
                <a16:creationId xmlns:a16="http://schemas.microsoft.com/office/drawing/2014/main" id="{7A396CE5-CF39-4169-82A3-330E37EA1141}"/>
              </a:ext>
            </a:extLst>
          </p:cNvPr>
          <p:cNvSpPr/>
          <p:nvPr/>
        </p:nvSpPr>
        <p:spPr>
          <a:xfrm>
            <a:off x="6361865" y="2391550"/>
            <a:ext cx="1072566" cy="412304"/>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波动</a:t>
            </a:r>
          </a:p>
        </p:txBody>
      </p:sp>
      <p:sp>
        <p:nvSpPr>
          <p:cNvPr id="30" name="矩形 29">
            <a:extLst>
              <a:ext uri="{FF2B5EF4-FFF2-40B4-BE49-F238E27FC236}">
                <a16:creationId xmlns:a16="http://schemas.microsoft.com/office/drawing/2014/main" id="{BB8CC2D8-4A46-415D-AD2B-EAAE7BFA9450}"/>
              </a:ext>
            </a:extLst>
          </p:cNvPr>
          <p:cNvSpPr/>
          <p:nvPr/>
        </p:nvSpPr>
        <p:spPr>
          <a:xfrm>
            <a:off x="7582470" y="2392426"/>
            <a:ext cx="1072566" cy="406135"/>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风险等级</a:t>
            </a:r>
          </a:p>
        </p:txBody>
      </p:sp>
      <p:sp>
        <p:nvSpPr>
          <p:cNvPr id="31" name="矩形 30">
            <a:extLst>
              <a:ext uri="{FF2B5EF4-FFF2-40B4-BE49-F238E27FC236}">
                <a16:creationId xmlns:a16="http://schemas.microsoft.com/office/drawing/2014/main" id="{84C43F38-5675-4487-8679-BE0F003E0B7B}"/>
              </a:ext>
            </a:extLst>
          </p:cNvPr>
          <p:cNvSpPr/>
          <p:nvPr/>
        </p:nvSpPr>
        <p:spPr>
          <a:xfrm>
            <a:off x="8791298" y="2382822"/>
            <a:ext cx="1072566" cy="412304"/>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盈利性</a:t>
            </a:r>
          </a:p>
        </p:txBody>
      </p:sp>
      <p:sp>
        <p:nvSpPr>
          <p:cNvPr id="37" name="矩形 36">
            <a:extLst>
              <a:ext uri="{FF2B5EF4-FFF2-40B4-BE49-F238E27FC236}">
                <a16:creationId xmlns:a16="http://schemas.microsoft.com/office/drawing/2014/main" id="{4DE2E4F5-9563-48B9-90D3-A5CDC7E1F2FF}"/>
              </a:ext>
            </a:extLst>
          </p:cNvPr>
          <p:cNvSpPr/>
          <p:nvPr/>
        </p:nvSpPr>
        <p:spPr>
          <a:xfrm>
            <a:off x="9998774" y="2382578"/>
            <a:ext cx="1072566" cy="412304"/>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mr-IN" altLang="zh-CN" sz="1600" dirty="0">
                <a:solidFill>
                  <a:schemeClr val="bg1"/>
                </a:solidFill>
                <a:latin typeface="KaiTi" charset="-122"/>
                <a:ea typeface="KaiTi" charset="-122"/>
                <a:cs typeface="KaiTi" charset="-122"/>
              </a:rPr>
              <a:t>…</a:t>
            </a:r>
            <a:endParaRPr kumimoji="1" lang="zh-CN" altLang="en-US" sz="1600" dirty="0">
              <a:solidFill>
                <a:schemeClr val="bg1"/>
              </a:solidFill>
              <a:latin typeface="KaiTi" charset="-122"/>
              <a:ea typeface="KaiTi" charset="-122"/>
              <a:cs typeface="KaiTi" charset="-122"/>
            </a:endParaRPr>
          </a:p>
        </p:txBody>
      </p:sp>
      <p:sp>
        <p:nvSpPr>
          <p:cNvPr id="39" name="矩形 38">
            <a:extLst>
              <a:ext uri="{FF2B5EF4-FFF2-40B4-BE49-F238E27FC236}">
                <a16:creationId xmlns:a16="http://schemas.microsoft.com/office/drawing/2014/main" id="{3EB8AC54-52F0-4594-BD9F-DBE871B3B67E}"/>
              </a:ext>
            </a:extLst>
          </p:cNvPr>
          <p:cNvSpPr/>
          <p:nvPr/>
        </p:nvSpPr>
        <p:spPr>
          <a:xfrm>
            <a:off x="5175559" y="3255184"/>
            <a:ext cx="1408389" cy="436555"/>
          </a:xfrm>
          <a:prstGeom prst="rect">
            <a:avLst/>
          </a:prstGeom>
          <a:solidFill>
            <a:schemeClr val="accent6">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线性层次模型</a:t>
            </a:r>
          </a:p>
        </p:txBody>
      </p:sp>
      <p:sp>
        <p:nvSpPr>
          <p:cNvPr id="40" name="矩形 39">
            <a:extLst>
              <a:ext uri="{FF2B5EF4-FFF2-40B4-BE49-F238E27FC236}">
                <a16:creationId xmlns:a16="http://schemas.microsoft.com/office/drawing/2014/main" id="{27C0BC29-486B-4FE1-B893-7C09AD035BB6}"/>
              </a:ext>
            </a:extLst>
          </p:cNvPr>
          <p:cNvSpPr/>
          <p:nvPr/>
        </p:nvSpPr>
        <p:spPr>
          <a:xfrm>
            <a:off x="6874028" y="3263231"/>
            <a:ext cx="1319079" cy="442607"/>
          </a:xfrm>
          <a:prstGeom prst="rect">
            <a:avLst/>
          </a:prstGeom>
          <a:solidFill>
            <a:schemeClr val="accent6">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集成树模型</a:t>
            </a:r>
          </a:p>
        </p:txBody>
      </p:sp>
      <p:sp>
        <p:nvSpPr>
          <p:cNvPr id="41" name="矩形 40">
            <a:extLst>
              <a:ext uri="{FF2B5EF4-FFF2-40B4-BE49-F238E27FC236}">
                <a16:creationId xmlns:a16="http://schemas.microsoft.com/office/drawing/2014/main" id="{CCFDD781-3A64-48A3-82C9-2103F64CB541}"/>
              </a:ext>
            </a:extLst>
          </p:cNvPr>
          <p:cNvSpPr/>
          <p:nvPr/>
        </p:nvSpPr>
        <p:spPr>
          <a:xfrm>
            <a:off x="8470262" y="3255610"/>
            <a:ext cx="1238432" cy="453673"/>
          </a:xfrm>
          <a:prstGeom prst="rect">
            <a:avLst/>
          </a:prstGeom>
          <a:solidFill>
            <a:schemeClr val="accent6">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贝叶斯算法</a:t>
            </a:r>
          </a:p>
        </p:txBody>
      </p:sp>
      <p:sp>
        <p:nvSpPr>
          <p:cNvPr id="42" name="矩形 41">
            <a:extLst>
              <a:ext uri="{FF2B5EF4-FFF2-40B4-BE49-F238E27FC236}">
                <a16:creationId xmlns:a16="http://schemas.microsoft.com/office/drawing/2014/main" id="{89D1F3C9-1757-4F8E-A5ED-46566DC42610}"/>
              </a:ext>
            </a:extLst>
          </p:cNvPr>
          <p:cNvSpPr/>
          <p:nvPr/>
        </p:nvSpPr>
        <p:spPr>
          <a:xfrm>
            <a:off x="5175558" y="4138328"/>
            <a:ext cx="1072566" cy="412304"/>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特征抽取</a:t>
            </a:r>
          </a:p>
        </p:txBody>
      </p:sp>
      <p:sp>
        <p:nvSpPr>
          <p:cNvPr id="43" name="矩形 42">
            <a:extLst>
              <a:ext uri="{FF2B5EF4-FFF2-40B4-BE49-F238E27FC236}">
                <a16:creationId xmlns:a16="http://schemas.microsoft.com/office/drawing/2014/main" id="{19F67A3D-C488-46CA-AFF8-9A90B65DECD9}"/>
              </a:ext>
            </a:extLst>
          </p:cNvPr>
          <p:cNvSpPr/>
          <p:nvPr/>
        </p:nvSpPr>
        <p:spPr>
          <a:xfrm>
            <a:off x="6383042" y="4146962"/>
            <a:ext cx="1631806" cy="406134"/>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归一化及标准化</a:t>
            </a:r>
          </a:p>
        </p:txBody>
      </p:sp>
      <p:sp>
        <p:nvSpPr>
          <p:cNvPr id="44" name="矩形 43">
            <a:extLst>
              <a:ext uri="{FF2B5EF4-FFF2-40B4-BE49-F238E27FC236}">
                <a16:creationId xmlns:a16="http://schemas.microsoft.com/office/drawing/2014/main" id="{AA7FABE9-2D04-4A5A-9D12-2CE1B6FDFE9A}"/>
              </a:ext>
            </a:extLst>
          </p:cNvPr>
          <p:cNvSpPr/>
          <p:nvPr/>
        </p:nvSpPr>
        <p:spPr>
          <a:xfrm>
            <a:off x="8149766" y="4146962"/>
            <a:ext cx="1744002" cy="40524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特征选取及组合</a:t>
            </a:r>
          </a:p>
        </p:txBody>
      </p:sp>
      <p:sp>
        <p:nvSpPr>
          <p:cNvPr id="45" name="矩形 44">
            <a:extLst>
              <a:ext uri="{FF2B5EF4-FFF2-40B4-BE49-F238E27FC236}">
                <a16:creationId xmlns:a16="http://schemas.microsoft.com/office/drawing/2014/main" id="{02A72799-CDEE-400C-A914-1F2EC63A3F94}"/>
              </a:ext>
            </a:extLst>
          </p:cNvPr>
          <p:cNvSpPr/>
          <p:nvPr/>
        </p:nvSpPr>
        <p:spPr>
          <a:xfrm>
            <a:off x="9998774" y="4136762"/>
            <a:ext cx="1072566" cy="412304"/>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mr-IN" altLang="zh-CN" sz="1600" dirty="0">
                <a:solidFill>
                  <a:schemeClr val="bg1"/>
                </a:solidFill>
                <a:latin typeface="KaiTi" charset="-122"/>
                <a:ea typeface="KaiTi" charset="-122"/>
                <a:cs typeface="KaiTi" charset="-122"/>
              </a:rPr>
              <a:t>…</a:t>
            </a:r>
            <a:endParaRPr kumimoji="1" lang="zh-CN" altLang="en-US" sz="1600" dirty="0">
              <a:solidFill>
                <a:schemeClr val="bg1"/>
              </a:solidFill>
              <a:latin typeface="KaiTi" charset="-122"/>
              <a:ea typeface="KaiTi" charset="-122"/>
              <a:cs typeface="KaiTi" charset="-122"/>
            </a:endParaRPr>
          </a:p>
        </p:txBody>
      </p:sp>
      <p:sp>
        <p:nvSpPr>
          <p:cNvPr id="46" name="矩形 45">
            <a:extLst>
              <a:ext uri="{FF2B5EF4-FFF2-40B4-BE49-F238E27FC236}">
                <a16:creationId xmlns:a16="http://schemas.microsoft.com/office/drawing/2014/main" id="{46F05D20-F836-4F46-9941-6A518C08AA56}"/>
              </a:ext>
            </a:extLst>
          </p:cNvPr>
          <p:cNvSpPr/>
          <p:nvPr/>
        </p:nvSpPr>
        <p:spPr>
          <a:xfrm>
            <a:off x="5175558" y="4983609"/>
            <a:ext cx="1072566" cy="412304"/>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价格数据</a:t>
            </a:r>
          </a:p>
        </p:txBody>
      </p:sp>
      <p:sp>
        <p:nvSpPr>
          <p:cNvPr id="47" name="矩形 46">
            <a:extLst>
              <a:ext uri="{FF2B5EF4-FFF2-40B4-BE49-F238E27FC236}">
                <a16:creationId xmlns:a16="http://schemas.microsoft.com/office/drawing/2014/main" id="{364B6888-08D5-4A1E-91E7-5D101AEB7F73}"/>
              </a:ext>
            </a:extLst>
          </p:cNvPr>
          <p:cNvSpPr/>
          <p:nvPr/>
        </p:nvSpPr>
        <p:spPr>
          <a:xfrm>
            <a:off x="6385882" y="4992422"/>
            <a:ext cx="1072566" cy="412304"/>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交易数据</a:t>
            </a:r>
          </a:p>
        </p:txBody>
      </p:sp>
      <p:sp>
        <p:nvSpPr>
          <p:cNvPr id="48" name="矩形 47">
            <a:extLst>
              <a:ext uri="{FF2B5EF4-FFF2-40B4-BE49-F238E27FC236}">
                <a16:creationId xmlns:a16="http://schemas.microsoft.com/office/drawing/2014/main" id="{9278D5DD-E4AE-447A-91BC-DF3BFB383137}"/>
              </a:ext>
            </a:extLst>
          </p:cNvPr>
          <p:cNvSpPr/>
          <p:nvPr/>
        </p:nvSpPr>
        <p:spPr>
          <a:xfrm>
            <a:off x="7595174" y="4992423"/>
            <a:ext cx="1072566" cy="406135"/>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事件数据</a:t>
            </a:r>
          </a:p>
        </p:txBody>
      </p:sp>
      <p:sp>
        <p:nvSpPr>
          <p:cNvPr id="49" name="矩形 48">
            <a:extLst>
              <a:ext uri="{FF2B5EF4-FFF2-40B4-BE49-F238E27FC236}">
                <a16:creationId xmlns:a16="http://schemas.microsoft.com/office/drawing/2014/main" id="{DD2D7C66-FFF7-49BB-892E-44BEA0BE8514}"/>
              </a:ext>
            </a:extLst>
          </p:cNvPr>
          <p:cNvSpPr/>
          <p:nvPr/>
        </p:nvSpPr>
        <p:spPr>
          <a:xfrm>
            <a:off x="8819460" y="4983608"/>
            <a:ext cx="1072566" cy="412304"/>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charset="-122"/>
                <a:ea typeface="KaiTi" charset="-122"/>
                <a:cs typeface="KaiTi" charset="-122"/>
              </a:rPr>
              <a:t>财务数据</a:t>
            </a:r>
          </a:p>
        </p:txBody>
      </p:sp>
      <p:sp>
        <p:nvSpPr>
          <p:cNvPr id="50" name="矩形 49">
            <a:extLst>
              <a:ext uri="{FF2B5EF4-FFF2-40B4-BE49-F238E27FC236}">
                <a16:creationId xmlns:a16="http://schemas.microsoft.com/office/drawing/2014/main" id="{0869F7A3-D3F5-4CEA-BB5D-E4D3F5365F30}"/>
              </a:ext>
            </a:extLst>
          </p:cNvPr>
          <p:cNvSpPr/>
          <p:nvPr/>
        </p:nvSpPr>
        <p:spPr>
          <a:xfrm>
            <a:off x="9998774" y="4983608"/>
            <a:ext cx="1072566" cy="412304"/>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mr-IN" altLang="zh-CN" sz="1600" dirty="0">
                <a:solidFill>
                  <a:schemeClr val="bg1"/>
                </a:solidFill>
                <a:latin typeface="KaiTi" charset="-122"/>
                <a:ea typeface="KaiTi" charset="-122"/>
                <a:cs typeface="KaiTi" charset="-122"/>
              </a:rPr>
              <a:t>…</a:t>
            </a:r>
            <a:endParaRPr kumimoji="1" lang="zh-CN" altLang="en-US" sz="1600" dirty="0">
              <a:solidFill>
                <a:schemeClr val="bg1"/>
              </a:solidFill>
              <a:latin typeface="KaiTi" charset="-122"/>
              <a:ea typeface="KaiTi" charset="-122"/>
              <a:cs typeface="KaiTi" charset="-122"/>
            </a:endParaRPr>
          </a:p>
        </p:txBody>
      </p:sp>
      <p:sp>
        <p:nvSpPr>
          <p:cNvPr id="51" name="文本框 50">
            <a:extLst>
              <a:ext uri="{FF2B5EF4-FFF2-40B4-BE49-F238E27FC236}">
                <a16:creationId xmlns:a16="http://schemas.microsoft.com/office/drawing/2014/main" id="{C70CC94C-FC02-495D-8641-2154E2C279E7}"/>
              </a:ext>
            </a:extLst>
          </p:cNvPr>
          <p:cNvSpPr txBox="1"/>
          <p:nvPr/>
        </p:nvSpPr>
        <p:spPr>
          <a:xfrm>
            <a:off x="3878841" y="5021006"/>
            <a:ext cx="1146810" cy="348557"/>
          </a:xfrm>
          <a:prstGeom prst="rect">
            <a:avLst/>
          </a:prstGeom>
          <a:noFill/>
          <a:ln>
            <a:solidFill>
              <a:schemeClr val="tx1"/>
            </a:solidFill>
          </a:ln>
        </p:spPr>
        <p:txBody>
          <a:bodyPr wrap="square" rtlCol="0">
            <a:spAutoFit/>
          </a:bodyPr>
          <a:lstStyle/>
          <a:p>
            <a:pPr algn="ctr"/>
            <a:r>
              <a:rPr kumimoji="1" lang="zh-CN" altLang="en-US" sz="1600" dirty="0">
                <a:latin typeface="KaiTi" charset="-122"/>
                <a:ea typeface="KaiTi" charset="-122"/>
                <a:cs typeface="KaiTi" charset="-122"/>
              </a:rPr>
              <a:t>数据录入</a:t>
            </a:r>
          </a:p>
        </p:txBody>
      </p:sp>
      <p:sp>
        <p:nvSpPr>
          <p:cNvPr id="52" name="矩形 51">
            <a:extLst>
              <a:ext uri="{FF2B5EF4-FFF2-40B4-BE49-F238E27FC236}">
                <a16:creationId xmlns:a16="http://schemas.microsoft.com/office/drawing/2014/main" id="{77BEF766-DC5D-4ADA-BC7E-51EE23A0C30B}"/>
              </a:ext>
            </a:extLst>
          </p:cNvPr>
          <p:cNvSpPr/>
          <p:nvPr/>
        </p:nvSpPr>
        <p:spPr>
          <a:xfrm>
            <a:off x="5175559" y="1945370"/>
            <a:ext cx="5895781" cy="427705"/>
          </a:xfrm>
          <a:prstGeom prst="rect">
            <a:avLst/>
          </a:prstGeom>
          <a:solidFill>
            <a:schemeClr val="accent3">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solidFill>
                  <a:schemeClr val="tx1"/>
                </a:solidFill>
                <a:latin typeface="KaiTi" charset="-122"/>
                <a:ea typeface="KaiTi" charset="-122"/>
                <a:cs typeface="KaiTi" charset="-122"/>
              </a:rPr>
              <a:t>标签</a:t>
            </a:r>
            <a:r>
              <a:rPr kumimoji="1" lang="en-US" altLang="zh-CN" sz="1600" b="1" dirty="0">
                <a:solidFill>
                  <a:schemeClr val="tx1"/>
                </a:solidFill>
                <a:latin typeface="KaiTi" charset="-122"/>
                <a:ea typeface="KaiTi" charset="-122"/>
                <a:cs typeface="KaiTi" charset="-122"/>
              </a:rPr>
              <a:t>+</a:t>
            </a:r>
            <a:r>
              <a:rPr kumimoji="1" lang="zh-CN" altLang="en-US" sz="1600" b="1" dirty="0">
                <a:solidFill>
                  <a:schemeClr val="tx1"/>
                </a:solidFill>
                <a:latin typeface="KaiTi" charset="-122"/>
                <a:ea typeface="KaiTi" charset="-122"/>
                <a:cs typeface="KaiTi" charset="-122"/>
              </a:rPr>
              <a:t>营销模型建模</a:t>
            </a:r>
          </a:p>
        </p:txBody>
      </p:sp>
      <p:sp>
        <p:nvSpPr>
          <p:cNvPr id="53" name="矩形 52">
            <a:extLst>
              <a:ext uri="{FF2B5EF4-FFF2-40B4-BE49-F238E27FC236}">
                <a16:creationId xmlns:a16="http://schemas.microsoft.com/office/drawing/2014/main" id="{184F911D-0193-4030-8388-90E6DA29EBC5}"/>
              </a:ext>
            </a:extLst>
          </p:cNvPr>
          <p:cNvSpPr/>
          <p:nvPr/>
        </p:nvSpPr>
        <p:spPr>
          <a:xfrm>
            <a:off x="5175559" y="2808420"/>
            <a:ext cx="5895781" cy="427705"/>
          </a:xfrm>
          <a:prstGeom prst="rect">
            <a:avLst/>
          </a:prstGeom>
          <a:solidFill>
            <a:schemeClr val="accent3">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solidFill>
                  <a:schemeClr val="tx1"/>
                </a:solidFill>
                <a:latin typeface="KaiTi" charset="-122"/>
                <a:ea typeface="KaiTi" charset="-122"/>
                <a:cs typeface="KaiTi" charset="-122"/>
              </a:rPr>
              <a:t>机器学习建模</a:t>
            </a:r>
          </a:p>
        </p:txBody>
      </p:sp>
      <p:sp>
        <p:nvSpPr>
          <p:cNvPr id="54" name="矩形 53">
            <a:extLst>
              <a:ext uri="{FF2B5EF4-FFF2-40B4-BE49-F238E27FC236}">
                <a16:creationId xmlns:a16="http://schemas.microsoft.com/office/drawing/2014/main" id="{AFB6263F-9999-45B9-833E-D30EF9215B47}"/>
              </a:ext>
            </a:extLst>
          </p:cNvPr>
          <p:cNvSpPr/>
          <p:nvPr/>
        </p:nvSpPr>
        <p:spPr>
          <a:xfrm>
            <a:off x="5175559" y="3692470"/>
            <a:ext cx="5895781" cy="427705"/>
          </a:xfrm>
          <a:prstGeom prst="rect">
            <a:avLst/>
          </a:prstGeom>
          <a:solidFill>
            <a:schemeClr val="accent3">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solidFill>
                  <a:schemeClr val="tx1"/>
                </a:solidFill>
                <a:latin typeface="KaiTi" charset="-122"/>
                <a:ea typeface="KaiTi" charset="-122"/>
                <a:cs typeface="KaiTi" charset="-122"/>
              </a:rPr>
              <a:t>特征及标签生成</a:t>
            </a:r>
          </a:p>
        </p:txBody>
      </p:sp>
      <p:sp>
        <p:nvSpPr>
          <p:cNvPr id="55" name="矩形 54">
            <a:extLst>
              <a:ext uri="{FF2B5EF4-FFF2-40B4-BE49-F238E27FC236}">
                <a16:creationId xmlns:a16="http://schemas.microsoft.com/office/drawing/2014/main" id="{BA1E6DB6-8897-44F1-BFF8-FE59CF647C00}"/>
              </a:ext>
            </a:extLst>
          </p:cNvPr>
          <p:cNvSpPr/>
          <p:nvPr/>
        </p:nvSpPr>
        <p:spPr>
          <a:xfrm>
            <a:off x="5175559" y="4545773"/>
            <a:ext cx="5895781" cy="427705"/>
          </a:xfrm>
          <a:prstGeom prst="rect">
            <a:avLst/>
          </a:prstGeom>
          <a:solidFill>
            <a:schemeClr val="accent3">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solidFill>
                  <a:schemeClr val="tx1">
                    <a:lumMod val="95000"/>
                    <a:lumOff val="5000"/>
                  </a:schemeClr>
                </a:solidFill>
                <a:latin typeface="KaiTi" charset="-122"/>
                <a:ea typeface="KaiTi" charset="-122"/>
                <a:cs typeface="KaiTi" charset="-122"/>
              </a:rPr>
              <a:t>清洗、结构化、统计建模</a:t>
            </a:r>
          </a:p>
        </p:txBody>
      </p:sp>
      <p:sp>
        <p:nvSpPr>
          <p:cNvPr id="56" name="矩形 55">
            <a:extLst>
              <a:ext uri="{FF2B5EF4-FFF2-40B4-BE49-F238E27FC236}">
                <a16:creationId xmlns:a16="http://schemas.microsoft.com/office/drawing/2014/main" id="{51C6101F-830C-4890-BE53-416EDB656D31}"/>
              </a:ext>
            </a:extLst>
          </p:cNvPr>
          <p:cNvSpPr/>
          <p:nvPr/>
        </p:nvSpPr>
        <p:spPr>
          <a:xfrm>
            <a:off x="9998774" y="3263356"/>
            <a:ext cx="1072566" cy="409397"/>
          </a:xfrm>
          <a:prstGeom prst="rect">
            <a:avLst/>
          </a:prstGeom>
          <a:solidFill>
            <a:schemeClr val="accent6">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mr-IN" altLang="zh-CN" sz="1600" dirty="0">
                <a:solidFill>
                  <a:schemeClr val="bg1"/>
                </a:solidFill>
                <a:latin typeface="KaiTi" charset="-122"/>
                <a:ea typeface="KaiTi" charset="-122"/>
                <a:cs typeface="KaiTi" charset="-122"/>
              </a:rPr>
              <a:t>…</a:t>
            </a:r>
            <a:endParaRPr kumimoji="1" lang="zh-CN" altLang="en-US" sz="1600" dirty="0">
              <a:solidFill>
                <a:schemeClr val="bg1"/>
              </a:solidFill>
              <a:latin typeface="KaiTi" charset="-122"/>
              <a:ea typeface="KaiTi" charset="-122"/>
              <a:cs typeface="KaiTi" charset="-122"/>
            </a:endParaRPr>
          </a:p>
        </p:txBody>
      </p:sp>
      <p:sp>
        <p:nvSpPr>
          <p:cNvPr id="57" name="文本框 56">
            <a:extLst>
              <a:ext uri="{FF2B5EF4-FFF2-40B4-BE49-F238E27FC236}">
                <a16:creationId xmlns:a16="http://schemas.microsoft.com/office/drawing/2014/main" id="{58D261A6-0F20-4424-8CE4-7D9848993F50}"/>
              </a:ext>
            </a:extLst>
          </p:cNvPr>
          <p:cNvSpPr txBox="1"/>
          <p:nvPr/>
        </p:nvSpPr>
        <p:spPr>
          <a:xfrm>
            <a:off x="3878841" y="4133435"/>
            <a:ext cx="1146810" cy="348557"/>
          </a:xfrm>
          <a:prstGeom prst="rect">
            <a:avLst/>
          </a:prstGeom>
          <a:noFill/>
          <a:ln>
            <a:solidFill>
              <a:schemeClr val="tx1"/>
            </a:solidFill>
          </a:ln>
        </p:spPr>
        <p:txBody>
          <a:bodyPr wrap="square" rtlCol="0">
            <a:spAutoFit/>
          </a:bodyPr>
          <a:lstStyle/>
          <a:p>
            <a:pPr algn="ctr"/>
            <a:r>
              <a:rPr kumimoji="1" lang="zh-CN" altLang="en-US" sz="1600" dirty="0">
                <a:latin typeface="KaiTi" charset="-122"/>
                <a:ea typeface="KaiTi" charset="-122"/>
                <a:cs typeface="KaiTi" charset="-122"/>
              </a:rPr>
              <a:t>特征计算</a:t>
            </a:r>
          </a:p>
        </p:txBody>
      </p:sp>
      <p:sp>
        <p:nvSpPr>
          <p:cNvPr id="58" name="文本框 57">
            <a:extLst>
              <a:ext uri="{FF2B5EF4-FFF2-40B4-BE49-F238E27FC236}">
                <a16:creationId xmlns:a16="http://schemas.microsoft.com/office/drawing/2014/main" id="{86762E2C-98A5-4C8B-B577-1B3121B6F888}"/>
              </a:ext>
            </a:extLst>
          </p:cNvPr>
          <p:cNvSpPr txBox="1"/>
          <p:nvPr/>
        </p:nvSpPr>
        <p:spPr>
          <a:xfrm>
            <a:off x="3878841" y="3295252"/>
            <a:ext cx="1146810" cy="348557"/>
          </a:xfrm>
          <a:prstGeom prst="rect">
            <a:avLst/>
          </a:prstGeom>
          <a:noFill/>
          <a:ln>
            <a:solidFill>
              <a:schemeClr val="tx1"/>
            </a:solidFill>
          </a:ln>
        </p:spPr>
        <p:txBody>
          <a:bodyPr wrap="square" rtlCol="0">
            <a:spAutoFit/>
          </a:bodyPr>
          <a:lstStyle/>
          <a:p>
            <a:pPr algn="ctr"/>
            <a:r>
              <a:rPr kumimoji="1" lang="zh-CN" altLang="en-US" sz="1600" dirty="0">
                <a:latin typeface="KaiTi" charset="-122"/>
                <a:ea typeface="KaiTi" charset="-122"/>
                <a:cs typeface="KaiTi" charset="-122"/>
              </a:rPr>
              <a:t>机器学习</a:t>
            </a:r>
          </a:p>
        </p:txBody>
      </p:sp>
      <p:sp>
        <p:nvSpPr>
          <p:cNvPr id="59" name="文本框 58">
            <a:extLst>
              <a:ext uri="{FF2B5EF4-FFF2-40B4-BE49-F238E27FC236}">
                <a16:creationId xmlns:a16="http://schemas.microsoft.com/office/drawing/2014/main" id="{20F647BB-E742-4043-8832-DFB4D7CA5730}"/>
              </a:ext>
            </a:extLst>
          </p:cNvPr>
          <p:cNvSpPr txBox="1"/>
          <p:nvPr/>
        </p:nvSpPr>
        <p:spPr>
          <a:xfrm>
            <a:off x="3878841" y="2393837"/>
            <a:ext cx="1146810" cy="348557"/>
          </a:xfrm>
          <a:prstGeom prst="rect">
            <a:avLst/>
          </a:prstGeom>
          <a:noFill/>
          <a:ln>
            <a:solidFill>
              <a:schemeClr val="tx1"/>
            </a:solidFill>
          </a:ln>
        </p:spPr>
        <p:txBody>
          <a:bodyPr wrap="square" rtlCol="0">
            <a:spAutoFit/>
          </a:bodyPr>
          <a:lstStyle/>
          <a:p>
            <a:pPr algn="ctr"/>
            <a:r>
              <a:rPr kumimoji="1" lang="zh-CN" altLang="en-US" sz="1600" dirty="0">
                <a:latin typeface="KaiTi" charset="-122"/>
                <a:ea typeface="KaiTi" charset="-122"/>
                <a:cs typeface="KaiTi" charset="-122"/>
              </a:rPr>
              <a:t>模型预测</a:t>
            </a:r>
          </a:p>
        </p:txBody>
      </p:sp>
    </p:spTree>
    <p:extLst>
      <p:ext uri="{BB962C8B-B14F-4D97-AF65-F5344CB8AC3E}">
        <p14:creationId xmlns:p14="http://schemas.microsoft.com/office/powerpoint/2010/main" val="6037452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57"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8"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9" name="04"/>
          <p:cNvSpPr txBox="1"/>
          <p:nvPr/>
        </p:nvSpPr>
        <p:spPr>
          <a:xfrm>
            <a:off x="356995" y="6344413"/>
            <a:ext cx="218679" cy="231380"/>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lvl1pPr>
              <a:defRPr sz="1000">
                <a:solidFill>
                  <a:srgbClr val="CAA354"/>
                </a:solidFill>
                <a:latin typeface="PingFang SC Regular"/>
                <a:ea typeface="PingFang SC Regular"/>
                <a:cs typeface="PingFang SC Regular"/>
                <a:sym typeface="PingFang SC Regular"/>
              </a:defRPr>
            </a:lvl1pPr>
          </a:lstStyle>
          <a:p>
            <a:r>
              <a:rPr dirty="0"/>
              <a:t>04</a:t>
            </a:r>
          </a:p>
        </p:txBody>
      </p:sp>
      <p:pic>
        <p:nvPicPr>
          <p:cNvPr id="32" name="图像" descr="图像"/>
          <p:cNvPicPr>
            <a:picLocks noChangeAspect="1"/>
          </p:cNvPicPr>
          <p:nvPr/>
        </p:nvPicPr>
        <p:blipFill>
          <a:blip r:embed="rId3">
            <a:extLst/>
          </a:blip>
          <a:stretch>
            <a:fillRect/>
          </a:stretch>
        </p:blipFill>
        <p:spPr>
          <a:xfrm>
            <a:off x="10484724" y="427048"/>
            <a:ext cx="1253576" cy="332979"/>
          </a:xfrm>
          <a:prstGeom prst="rect">
            <a:avLst/>
          </a:prstGeom>
          <a:ln w="3175">
            <a:miter lim="400000"/>
          </a:ln>
        </p:spPr>
      </p:pic>
      <p:sp>
        <p:nvSpPr>
          <p:cNvPr id="29" name="文本框 28"/>
          <p:cNvSpPr txBox="1"/>
          <p:nvPr/>
        </p:nvSpPr>
        <p:spPr>
          <a:xfrm>
            <a:off x="1214667" y="274314"/>
            <a:ext cx="9453327" cy="584775"/>
          </a:xfrm>
          <a:prstGeom prst="rect">
            <a:avLst/>
          </a:prstGeom>
          <a:noFill/>
        </p:spPr>
        <p:txBody>
          <a:bodyPr wrap="square" rtlCol="0">
            <a:spAutoFit/>
          </a:bodyPr>
          <a:lstStyle/>
          <a:p>
            <a:r>
              <a:rPr kumimoji="1" lang="zh-CN" altLang="en-US" sz="3200" b="1" dirty="0"/>
              <a:t>没人敢挑战海量信息处理，而人工智能可以</a:t>
            </a:r>
          </a:p>
        </p:txBody>
      </p:sp>
      <p:sp>
        <p:nvSpPr>
          <p:cNvPr id="33" name="矩形 32">
            <a:extLst>
              <a:ext uri="{FF2B5EF4-FFF2-40B4-BE49-F238E27FC236}">
                <a16:creationId xmlns:a16="http://schemas.microsoft.com/office/drawing/2014/main" id="{07CCDA19-C78F-4FEF-9A33-1AEE922E976D}"/>
              </a:ext>
            </a:extLst>
          </p:cNvPr>
          <p:cNvSpPr/>
          <p:nvPr/>
        </p:nvSpPr>
        <p:spPr>
          <a:xfrm>
            <a:off x="1313439"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FD35F411-A1E5-4031-B455-0E2C81A8D091}"/>
              </a:ext>
            </a:extLst>
          </p:cNvPr>
          <p:cNvSpPr/>
          <p:nvPr/>
        </p:nvSpPr>
        <p:spPr>
          <a:xfrm>
            <a:off x="5387036"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Shape 207">
            <a:extLst>
              <a:ext uri="{FF2B5EF4-FFF2-40B4-BE49-F238E27FC236}">
                <a16:creationId xmlns:a16="http://schemas.microsoft.com/office/drawing/2014/main" id="{88DCFFFE-92B4-4276-982E-0AADE738E7F7}"/>
              </a:ext>
            </a:extLst>
          </p:cNvPr>
          <p:cNvSpPr/>
          <p:nvPr/>
        </p:nvSpPr>
        <p:spPr>
          <a:xfrm>
            <a:off x="7657645" y="2310570"/>
            <a:ext cx="4042497" cy="1726178"/>
          </a:xfrm>
          <a:prstGeom prst="rect">
            <a:avLst/>
          </a:prstGeom>
          <a:ln w="12700">
            <a:miter lim="400000"/>
          </a:ln>
        </p:spPr>
        <p:txBody>
          <a:bodyPr wrap="square" lIns="45719" rIns="45719">
            <a:spAutoFit/>
          </a:bodyPr>
          <a:lstStyle/>
          <a:p>
            <a:pPr lvl="0" indent="457200">
              <a:lnSpc>
                <a:spcPct val="120000"/>
              </a:lnSpc>
              <a:defRPr>
                <a:solidFill>
                  <a:srgbClr val="000000"/>
                </a:solidFill>
              </a:defRPr>
            </a:pPr>
            <a:r>
              <a:rPr lang="zh-CN" altLang="en-US" dirty="0">
                <a:latin typeface="PingFang SC" charset="-122"/>
                <a:ea typeface="PingFang SC" charset="-122"/>
                <a:cs typeface="PingFang SC" charset="-122"/>
              </a:rPr>
              <a:t>全球金融产品 “海量”供应，如何评价、监控和预测海量金融产品的表现成为解决 “选择困难症”的核心。现阶段，金融机构研究中心花费大量人力物力完成上述评价、监控和预测工作。</a:t>
            </a:r>
            <a:endParaRPr lang="en-US" altLang="zh-CN" dirty="0">
              <a:latin typeface="PingFang SC" charset="-122"/>
              <a:ea typeface="PingFang SC" charset="-122"/>
              <a:cs typeface="PingFang SC" charset="-122"/>
            </a:endParaRPr>
          </a:p>
        </p:txBody>
      </p:sp>
      <p:grpSp>
        <p:nvGrpSpPr>
          <p:cNvPr id="106" name="组合 105">
            <a:extLst>
              <a:ext uri="{FF2B5EF4-FFF2-40B4-BE49-F238E27FC236}">
                <a16:creationId xmlns:a16="http://schemas.microsoft.com/office/drawing/2014/main" id="{9C86FD4C-9164-4C64-857A-EFF3166CB0CD}"/>
              </a:ext>
            </a:extLst>
          </p:cNvPr>
          <p:cNvGrpSpPr/>
          <p:nvPr/>
        </p:nvGrpSpPr>
        <p:grpSpPr>
          <a:xfrm>
            <a:off x="1278168" y="1225612"/>
            <a:ext cx="6244873" cy="4937063"/>
            <a:chOff x="1278168" y="977962"/>
            <a:chExt cx="6244873" cy="4937063"/>
          </a:xfrm>
        </p:grpSpPr>
        <p:sp>
          <p:nvSpPr>
            <p:cNvPr id="109" name="Shape 204">
              <a:extLst>
                <a:ext uri="{FF2B5EF4-FFF2-40B4-BE49-F238E27FC236}">
                  <a16:creationId xmlns:a16="http://schemas.microsoft.com/office/drawing/2014/main" id="{E5126308-C574-406E-9E4A-0153166598A4}"/>
                </a:ext>
              </a:extLst>
            </p:cNvPr>
            <p:cNvSpPr/>
            <p:nvPr/>
          </p:nvSpPr>
          <p:spPr>
            <a:xfrm>
              <a:off x="1313439" y="977962"/>
              <a:ext cx="6209602" cy="4937063"/>
            </a:xfrm>
            <a:prstGeom prst="rect">
              <a:avLst/>
            </a:prstGeom>
            <a:solidFill>
              <a:srgbClr val="D1CECE"/>
            </a:solidFill>
            <a:ln w="12700" cap="flat">
              <a:noFill/>
              <a:miter lim="400000"/>
            </a:ln>
            <a:effectLst/>
          </p:spPr>
          <p:txBody>
            <a:bodyPr wrap="square" lIns="0" tIns="0" rIns="0" bIns="0" numCol="1" anchor="ctr">
              <a:noAutofit/>
            </a:bodyPr>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PingFang SC" charset="-122"/>
                <a:ea typeface="PingFang SC" charset="-122"/>
                <a:cs typeface="PingFang SC" charset="-122"/>
              </a:endParaRPr>
            </a:p>
          </p:txBody>
        </p:sp>
        <p:grpSp>
          <p:nvGrpSpPr>
            <p:cNvPr id="95" name="组合 94">
              <a:extLst>
                <a:ext uri="{FF2B5EF4-FFF2-40B4-BE49-F238E27FC236}">
                  <a16:creationId xmlns:a16="http://schemas.microsoft.com/office/drawing/2014/main" id="{1B5C42C9-3215-4522-BDA9-D84F02A4588D}"/>
                </a:ext>
              </a:extLst>
            </p:cNvPr>
            <p:cNvGrpSpPr/>
            <p:nvPr/>
          </p:nvGrpSpPr>
          <p:grpSpPr>
            <a:xfrm>
              <a:off x="1278168" y="1082945"/>
              <a:ext cx="5932755" cy="4682469"/>
              <a:chOff x="1046419" y="1564435"/>
              <a:chExt cx="5932755" cy="4682469"/>
            </a:xfrm>
          </p:grpSpPr>
          <p:grpSp>
            <p:nvGrpSpPr>
              <p:cNvPr id="85" name="组合 84">
                <a:extLst>
                  <a:ext uri="{FF2B5EF4-FFF2-40B4-BE49-F238E27FC236}">
                    <a16:creationId xmlns:a16="http://schemas.microsoft.com/office/drawing/2014/main" id="{775AEA94-4C9F-450B-BC74-55CD38E44764}"/>
                  </a:ext>
                </a:extLst>
              </p:cNvPr>
              <p:cNvGrpSpPr/>
              <p:nvPr/>
            </p:nvGrpSpPr>
            <p:grpSpPr>
              <a:xfrm>
                <a:off x="2871678" y="2247436"/>
                <a:ext cx="722370" cy="648000"/>
                <a:chOff x="3159229" y="2247436"/>
                <a:chExt cx="722370" cy="648000"/>
              </a:xfrm>
            </p:grpSpPr>
            <p:sp>
              <p:nvSpPr>
                <p:cNvPr id="15" name="椭圆 14">
                  <a:extLst>
                    <a:ext uri="{FF2B5EF4-FFF2-40B4-BE49-F238E27FC236}">
                      <a16:creationId xmlns:a16="http://schemas.microsoft.com/office/drawing/2014/main" id="{F9FBADEB-4FBC-4250-B6B3-6183737C8FC3}"/>
                    </a:ext>
                  </a:extLst>
                </p:cNvPr>
                <p:cNvSpPr/>
                <p:nvPr/>
              </p:nvSpPr>
              <p:spPr>
                <a:xfrm>
                  <a:off x="3196414" y="2247436"/>
                  <a:ext cx="648000" cy="648000"/>
                </a:xfrm>
                <a:prstGeom prst="ellipse">
                  <a:avLst/>
                </a:prstGeom>
                <a:noFill/>
                <a:ln>
                  <a:solidFill>
                    <a:srgbClr val="D2A1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22" name="文本框 21">
                  <a:extLst>
                    <a:ext uri="{FF2B5EF4-FFF2-40B4-BE49-F238E27FC236}">
                      <a16:creationId xmlns:a16="http://schemas.microsoft.com/office/drawing/2014/main" id="{02545E95-DDBA-48C3-B365-4A5D5A5240E6}"/>
                    </a:ext>
                  </a:extLst>
                </p:cNvPr>
                <p:cNvSpPr txBox="1"/>
                <p:nvPr/>
              </p:nvSpPr>
              <p:spPr>
                <a:xfrm>
                  <a:off x="3159229" y="2309826"/>
                  <a:ext cx="722370" cy="523220"/>
                </a:xfrm>
                <a:prstGeom prst="rect">
                  <a:avLst/>
                </a:prstGeom>
                <a:noFill/>
              </p:spPr>
              <p:txBody>
                <a:bodyPr wrap="square" rtlCol="0">
                  <a:spAutoFit/>
                </a:bodyPr>
                <a:lstStyle/>
                <a:p>
                  <a:pPr algn="ctr"/>
                  <a:r>
                    <a:rPr lang="en-US" altLang="zh-CN" sz="1400" dirty="0"/>
                    <a:t>11390</a:t>
                  </a:r>
                </a:p>
                <a:p>
                  <a:pPr algn="ctr"/>
                  <a:r>
                    <a:rPr lang="zh-CN" altLang="en-US" sz="1400" dirty="0"/>
                    <a:t>只</a:t>
                  </a:r>
                </a:p>
              </p:txBody>
            </p:sp>
          </p:grpSp>
          <p:grpSp>
            <p:nvGrpSpPr>
              <p:cNvPr id="20" name="组合 19">
                <a:extLst>
                  <a:ext uri="{FF2B5EF4-FFF2-40B4-BE49-F238E27FC236}">
                    <a16:creationId xmlns:a16="http://schemas.microsoft.com/office/drawing/2014/main" id="{F3AF43BB-53D5-4528-A0E8-7A4CA6E85300}"/>
                  </a:ext>
                </a:extLst>
              </p:cNvPr>
              <p:cNvGrpSpPr/>
              <p:nvPr/>
            </p:nvGrpSpPr>
            <p:grpSpPr>
              <a:xfrm>
                <a:off x="1046419" y="2247436"/>
                <a:ext cx="1603547" cy="648000"/>
                <a:chOff x="1046419" y="2247436"/>
                <a:chExt cx="1603547" cy="648000"/>
              </a:xfrm>
            </p:grpSpPr>
            <p:grpSp>
              <p:nvGrpSpPr>
                <p:cNvPr id="14" name="组合 13">
                  <a:extLst>
                    <a:ext uri="{FF2B5EF4-FFF2-40B4-BE49-F238E27FC236}">
                      <a16:creationId xmlns:a16="http://schemas.microsoft.com/office/drawing/2014/main" id="{1EDCD630-17A6-47C4-815E-5DA7929405D3}"/>
                    </a:ext>
                  </a:extLst>
                </p:cNvPr>
                <p:cNvGrpSpPr/>
                <p:nvPr/>
              </p:nvGrpSpPr>
              <p:grpSpPr>
                <a:xfrm>
                  <a:off x="2001966" y="2247436"/>
                  <a:ext cx="648000" cy="648000"/>
                  <a:chOff x="2037657" y="2247436"/>
                  <a:chExt cx="648000" cy="648000"/>
                </a:xfrm>
              </p:grpSpPr>
              <p:sp>
                <p:nvSpPr>
                  <p:cNvPr id="2" name="椭圆 1">
                    <a:extLst>
                      <a:ext uri="{FF2B5EF4-FFF2-40B4-BE49-F238E27FC236}">
                        <a16:creationId xmlns:a16="http://schemas.microsoft.com/office/drawing/2014/main" id="{F609E4F8-3600-4DCE-8679-F4A1E52FAEDA}"/>
                      </a:ext>
                    </a:extLst>
                  </p:cNvPr>
                  <p:cNvSpPr/>
                  <p:nvPr/>
                </p:nvSpPr>
                <p:spPr>
                  <a:xfrm>
                    <a:off x="2037657" y="2247436"/>
                    <a:ext cx="648000" cy="648000"/>
                  </a:xfrm>
                  <a:prstGeom prst="ellipse">
                    <a:avLst/>
                  </a:prstGeom>
                  <a:noFill/>
                  <a:ln>
                    <a:solidFill>
                      <a:srgbClr val="991E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5" name="文本框 4">
                    <a:extLst>
                      <a:ext uri="{FF2B5EF4-FFF2-40B4-BE49-F238E27FC236}">
                        <a16:creationId xmlns:a16="http://schemas.microsoft.com/office/drawing/2014/main" id="{2961835E-CDB1-4AA4-BE9E-21412329D68A}"/>
                      </a:ext>
                    </a:extLst>
                  </p:cNvPr>
                  <p:cNvSpPr txBox="1"/>
                  <p:nvPr/>
                </p:nvSpPr>
                <p:spPr>
                  <a:xfrm>
                    <a:off x="2076345" y="2310804"/>
                    <a:ext cx="570624" cy="406964"/>
                  </a:xfrm>
                  <a:prstGeom prst="rect">
                    <a:avLst/>
                  </a:prstGeom>
                  <a:noFill/>
                </p:spPr>
                <p:txBody>
                  <a:bodyPr wrap="square" rtlCol="0">
                    <a:spAutoFit/>
                  </a:bodyPr>
                  <a:lstStyle/>
                  <a:p>
                    <a:pPr algn="ctr"/>
                    <a:r>
                      <a:rPr lang="en-US" altLang="zh-CN" sz="1400" dirty="0"/>
                      <a:t>1398</a:t>
                    </a:r>
                  </a:p>
                  <a:p>
                    <a:pPr algn="ctr"/>
                    <a:r>
                      <a:rPr lang="zh-CN" altLang="en-US" sz="1400" dirty="0"/>
                      <a:t>家</a:t>
                    </a:r>
                  </a:p>
                </p:txBody>
              </p:sp>
            </p:grpSp>
            <p:sp>
              <p:nvSpPr>
                <p:cNvPr id="6" name="文本框 5">
                  <a:extLst>
                    <a:ext uri="{FF2B5EF4-FFF2-40B4-BE49-F238E27FC236}">
                      <a16:creationId xmlns:a16="http://schemas.microsoft.com/office/drawing/2014/main" id="{B20C1C9C-487B-47C9-AF1C-FE55AD0C4447}"/>
                    </a:ext>
                  </a:extLst>
                </p:cNvPr>
                <p:cNvSpPr txBox="1"/>
                <p:nvPr/>
              </p:nvSpPr>
              <p:spPr>
                <a:xfrm>
                  <a:off x="1046419" y="2417548"/>
                  <a:ext cx="792000" cy="307777"/>
                </a:xfrm>
                <a:prstGeom prst="rect">
                  <a:avLst/>
                </a:prstGeom>
                <a:noFill/>
              </p:spPr>
              <p:txBody>
                <a:bodyPr wrap="square" rtlCol="0">
                  <a:spAutoFit/>
                </a:bodyPr>
                <a:lstStyle/>
                <a:p>
                  <a:pPr algn="ctr"/>
                  <a:r>
                    <a:rPr lang="zh-CN" altLang="en-US" sz="1400" dirty="0"/>
                    <a:t>沪市</a:t>
                  </a:r>
                </a:p>
              </p:txBody>
            </p:sp>
          </p:grpSp>
          <p:grpSp>
            <p:nvGrpSpPr>
              <p:cNvPr id="84" name="组合 83">
                <a:extLst>
                  <a:ext uri="{FF2B5EF4-FFF2-40B4-BE49-F238E27FC236}">
                    <a16:creationId xmlns:a16="http://schemas.microsoft.com/office/drawing/2014/main" id="{BE12746D-E4B3-4919-B31E-74B636F8D3B4}"/>
                  </a:ext>
                </a:extLst>
              </p:cNvPr>
              <p:cNvGrpSpPr/>
              <p:nvPr/>
            </p:nvGrpSpPr>
            <p:grpSpPr>
              <a:xfrm>
                <a:off x="2908863" y="3085303"/>
                <a:ext cx="648000" cy="648000"/>
                <a:chOff x="3192298" y="3070471"/>
                <a:chExt cx="648000" cy="648000"/>
              </a:xfrm>
            </p:grpSpPr>
            <p:sp>
              <p:nvSpPr>
                <p:cNvPr id="19" name="椭圆 18">
                  <a:extLst>
                    <a:ext uri="{FF2B5EF4-FFF2-40B4-BE49-F238E27FC236}">
                      <a16:creationId xmlns:a16="http://schemas.microsoft.com/office/drawing/2014/main" id="{2ADCABB8-1A5D-47D1-B4BF-97087E98CCD4}"/>
                    </a:ext>
                  </a:extLst>
                </p:cNvPr>
                <p:cNvSpPr/>
                <p:nvPr/>
              </p:nvSpPr>
              <p:spPr>
                <a:xfrm>
                  <a:off x="3192298" y="3070471"/>
                  <a:ext cx="648000" cy="648000"/>
                </a:xfrm>
                <a:prstGeom prst="ellipse">
                  <a:avLst/>
                </a:prstGeom>
                <a:noFill/>
                <a:ln>
                  <a:solidFill>
                    <a:srgbClr val="D2A1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24" name="文本框 23">
                  <a:extLst>
                    <a:ext uri="{FF2B5EF4-FFF2-40B4-BE49-F238E27FC236}">
                      <a16:creationId xmlns:a16="http://schemas.microsoft.com/office/drawing/2014/main" id="{11AE93AB-6772-4B2D-99CB-8B20908A68C7}"/>
                    </a:ext>
                  </a:extLst>
                </p:cNvPr>
                <p:cNvSpPr txBox="1"/>
                <p:nvPr/>
              </p:nvSpPr>
              <p:spPr>
                <a:xfrm>
                  <a:off x="3230986" y="3162414"/>
                  <a:ext cx="570624" cy="406964"/>
                </a:xfrm>
                <a:prstGeom prst="rect">
                  <a:avLst/>
                </a:prstGeom>
                <a:noFill/>
              </p:spPr>
              <p:txBody>
                <a:bodyPr wrap="square" rtlCol="0">
                  <a:spAutoFit/>
                </a:bodyPr>
                <a:lstStyle/>
                <a:p>
                  <a:pPr algn="ctr"/>
                  <a:r>
                    <a:rPr lang="en-US" altLang="zh-CN" sz="1400" dirty="0"/>
                    <a:t>7045</a:t>
                  </a:r>
                </a:p>
                <a:p>
                  <a:pPr algn="ctr"/>
                  <a:r>
                    <a:rPr lang="zh-CN" altLang="en-US" sz="1400" dirty="0"/>
                    <a:t>只</a:t>
                  </a:r>
                </a:p>
              </p:txBody>
            </p:sp>
          </p:grpSp>
          <p:grpSp>
            <p:nvGrpSpPr>
              <p:cNvPr id="21" name="组合 20">
                <a:extLst>
                  <a:ext uri="{FF2B5EF4-FFF2-40B4-BE49-F238E27FC236}">
                    <a16:creationId xmlns:a16="http://schemas.microsoft.com/office/drawing/2014/main" id="{563E35AF-78A6-46B4-8989-E8D3154264BD}"/>
                  </a:ext>
                </a:extLst>
              </p:cNvPr>
              <p:cNvGrpSpPr/>
              <p:nvPr/>
            </p:nvGrpSpPr>
            <p:grpSpPr>
              <a:xfrm>
                <a:off x="1046419" y="3085303"/>
                <a:ext cx="1603547" cy="648000"/>
                <a:chOff x="1046419" y="3085303"/>
                <a:chExt cx="1603547" cy="648000"/>
              </a:xfrm>
            </p:grpSpPr>
            <p:grpSp>
              <p:nvGrpSpPr>
                <p:cNvPr id="13" name="组合 12">
                  <a:extLst>
                    <a:ext uri="{FF2B5EF4-FFF2-40B4-BE49-F238E27FC236}">
                      <a16:creationId xmlns:a16="http://schemas.microsoft.com/office/drawing/2014/main" id="{AE539B85-D3D7-4EC8-B040-059816C2CDF5}"/>
                    </a:ext>
                  </a:extLst>
                </p:cNvPr>
                <p:cNvGrpSpPr/>
                <p:nvPr/>
              </p:nvGrpSpPr>
              <p:grpSpPr>
                <a:xfrm>
                  <a:off x="2001966" y="3085303"/>
                  <a:ext cx="648000" cy="648000"/>
                  <a:chOff x="2037657" y="3070471"/>
                  <a:chExt cx="648000" cy="648000"/>
                </a:xfrm>
              </p:grpSpPr>
              <p:sp>
                <p:nvSpPr>
                  <p:cNvPr id="18" name="椭圆 17">
                    <a:extLst>
                      <a:ext uri="{FF2B5EF4-FFF2-40B4-BE49-F238E27FC236}">
                        <a16:creationId xmlns:a16="http://schemas.microsoft.com/office/drawing/2014/main" id="{057EBB95-063E-4C23-B4C4-8987CA80F821}"/>
                      </a:ext>
                    </a:extLst>
                  </p:cNvPr>
                  <p:cNvSpPr/>
                  <p:nvPr/>
                </p:nvSpPr>
                <p:spPr>
                  <a:xfrm>
                    <a:off x="2037657" y="3070471"/>
                    <a:ext cx="648000" cy="648000"/>
                  </a:xfrm>
                  <a:prstGeom prst="ellipse">
                    <a:avLst/>
                  </a:prstGeom>
                  <a:noFill/>
                  <a:ln>
                    <a:solidFill>
                      <a:srgbClr val="991E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23" name="文本框 22">
                    <a:extLst>
                      <a:ext uri="{FF2B5EF4-FFF2-40B4-BE49-F238E27FC236}">
                        <a16:creationId xmlns:a16="http://schemas.microsoft.com/office/drawing/2014/main" id="{1BA6A5B2-9E0E-41BD-8FEF-9FA1A8096A50}"/>
                      </a:ext>
                    </a:extLst>
                  </p:cNvPr>
                  <p:cNvSpPr txBox="1"/>
                  <p:nvPr/>
                </p:nvSpPr>
                <p:spPr>
                  <a:xfrm>
                    <a:off x="2076345" y="3152889"/>
                    <a:ext cx="570624" cy="406964"/>
                  </a:xfrm>
                  <a:prstGeom prst="rect">
                    <a:avLst/>
                  </a:prstGeom>
                  <a:noFill/>
                </p:spPr>
                <p:txBody>
                  <a:bodyPr wrap="square" rtlCol="0">
                    <a:spAutoFit/>
                  </a:bodyPr>
                  <a:lstStyle/>
                  <a:p>
                    <a:pPr algn="ctr"/>
                    <a:r>
                      <a:rPr lang="en-US" altLang="zh-CN" sz="1400" dirty="0"/>
                      <a:t>2091</a:t>
                    </a:r>
                  </a:p>
                  <a:p>
                    <a:pPr algn="ctr"/>
                    <a:r>
                      <a:rPr lang="zh-CN" altLang="en-US" sz="1400" dirty="0"/>
                      <a:t>家</a:t>
                    </a:r>
                  </a:p>
                </p:txBody>
              </p:sp>
            </p:grpSp>
            <p:sp>
              <p:nvSpPr>
                <p:cNvPr id="26" name="文本框 25">
                  <a:extLst>
                    <a:ext uri="{FF2B5EF4-FFF2-40B4-BE49-F238E27FC236}">
                      <a16:creationId xmlns:a16="http://schemas.microsoft.com/office/drawing/2014/main" id="{506FB721-77DE-4A6B-9949-CA201F124E50}"/>
                    </a:ext>
                  </a:extLst>
                </p:cNvPr>
                <p:cNvSpPr txBox="1"/>
                <p:nvPr/>
              </p:nvSpPr>
              <p:spPr>
                <a:xfrm>
                  <a:off x="1046419" y="3255415"/>
                  <a:ext cx="792000" cy="307777"/>
                </a:xfrm>
                <a:prstGeom prst="rect">
                  <a:avLst/>
                </a:prstGeom>
                <a:noFill/>
              </p:spPr>
              <p:txBody>
                <a:bodyPr wrap="square" rtlCol="0">
                  <a:spAutoFit/>
                </a:bodyPr>
                <a:lstStyle/>
                <a:p>
                  <a:pPr algn="ctr"/>
                  <a:r>
                    <a:rPr lang="zh-CN" altLang="en-US" sz="1400" dirty="0"/>
                    <a:t>深市</a:t>
                  </a:r>
                </a:p>
              </p:txBody>
            </p:sp>
          </p:grpSp>
          <p:sp>
            <p:nvSpPr>
              <p:cNvPr id="28" name="文本框 27">
                <a:extLst>
                  <a:ext uri="{FF2B5EF4-FFF2-40B4-BE49-F238E27FC236}">
                    <a16:creationId xmlns:a16="http://schemas.microsoft.com/office/drawing/2014/main" id="{7C2E7A32-5BA6-43A4-9484-7748D69CDB83}"/>
                  </a:ext>
                </a:extLst>
              </p:cNvPr>
              <p:cNvSpPr txBox="1"/>
              <p:nvPr/>
            </p:nvSpPr>
            <p:spPr>
              <a:xfrm>
                <a:off x="2069418" y="1612270"/>
                <a:ext cx="547541" cy="406964"/>
              </a:xfrm>
              <a:prstGeom prst="rect">
                <a:avLst/>
              </a:prstGeom>
              <a:noFill/>
            </p:spPr>
            <p:txBody>
              <a:bodyPr wrap="square" rtlCol="0">
                <a:spAutoFit/>
              </a:bodyPr>
              <a:lstStyle/>
              <a:p>
                <a:r>
                  <a:rPr lang="zh-CN" altLang="en-US" sz="1400" dirty="0"/>
                  <a:t>上市</a:t>
                </a:r>
                <a:endParaRPr lang="en-US" altLang="zh-CN" sz="1400" dirty="0"/>
              </a:p>
              <a:p>
                <a:r>
                  <a:rPr lang="zh-CN" altLang="en-US" sz="1400" dirty="0"/>
                  <a:t>公司</a:t>
                </a:r>
              </a:p>
            </p:txBody>
          </p:sp>
          <p:sp>
            <p:nvSpPr>
              <p:cNvPr id="30" name="文本框 29">
                <a:extLst>
                  <a:ext uri="{FF2B5EF4-FFF2-40B4-BE49-F238E27FC236}">
                    <a16:creationId xmlns:a16="http://schemas.microsoft.com/office/drawing/2014/main" id="{357F8C27-DA3F-4541-AB9C-B4D5A9267E80}"/>
                  </a:ext>
                </a:extLst>
              </p:cNvPr>
              <p:cNvSpPr txBox="1"/>
              <p:nvPr/>
            </p:nvSpPr>
            <p:spPr>
              <a:xfrm>
                <a:off x="2902644" y="1592432"/>
                <a:ext cx="657140" cy="523220"/>
              </a:xfrm>
              <a:prstGeom prst="rect">
                <a:avLst/>
              </a:prstGeom>
              <a:noFill/>
            </p:spPr>
            <p:txBody>
              <a:bodyPr wrap="square" rtlCol="0">
                <a:spAutoFit/>
              </a:bodyPr>
              <a:lstStyle/>
              <a:p>
                <a:pPr algn="ctr"/>
                <a:r>
                  <a:rPr lang="zh-CN" altLang="en-US" sz="1400" dirty="0"/>
                  <a:t>上市证券</a:t>
                </a:r>
              </a:p>
            </p:txBody>
          </p:sp>
          <p:grpSp>
            <p:nvGrpSpPr>
              <p:cNvPr id="94" name="组合 93">
                <a:extLst>
                  <a:ext uri="{FF2B5EF4-FFF2-40B4-BE49-F238E27FC236}">
                    <a16:creationId xmlns:a16="http://schemas.microsoft.com/office/drawing/2014/main" id="{77D22551-0FC6-4896-A69A-81F6565DFE9E}"/>
                  </a:ext>
                </a:extLst>
              </p:cNvPr>
              <p:cNvGrpSpPr/>
              <p:nvPr/>
            </p:nvGrpSpPr>
            <p:grpSpPr>
              <a:xfrm>
                <a:off x="5185972" y="2247436"/>
                <a:ext cx="648000" cy="648000"/>
                <a:chOff x="5182300" y="2130643"/>
                <a:chExt cx="648000" cy="648000"/>
              </a:xfrm>
            </p:grpSpPr>
            <p:sp>
              <p:nvSpPr>
                <p:cNvPr id="47" name="椭圆 46">
                  <a:extLst>
                    <a:ext uri="{FF2B5EF4-FFF2-40B4-BE49-F238E27FC236}">
                      <a16:creationId xmlns:a16="http://schemas.microsoft.com/office/drawing/2014/main" id="{9DCBB3C9-72C6-4D09-94C1-6131F7369BF2}"/>
                    </a:ext>
                  </a:extLst>
                </p:cNvPr>
                <p:cNvSpPr/>
                <p:nvPr/>
              </p:nvSpPr>
              <p:spPr>
                <a:xfrm>
                  <a:off x="5182300" y="2130643"/>
                  <a:ext cx="648000" cy="648000"/>
                </a:xfrm>
                <a:prstGeom prst="ellipse">
                  <a:avLst/>
                </a:prstGeom>
                <a:noFill/>
                <a:ln>
                  <a:solidFill>
                    <a:srgbClr val="991E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49" name="文本框 48">
                  <a:extLst>
                    <a:ext uri="{FF2B5EF4-FFF2-40B4-BE49-F238E27FC236}">
                      <a16:creationId xmlns:a16="http://schemas.microsoft.com/office/drawing/2014/main" id="{B934918D-1F29-4960-8B1C-CC12E3C3DA23}"/>
                    </a:ext>
                  </a:extLst>
                </p:cNvPr>
                <p:cNvSpPr txBox="1"/>
                <p:nvPr/>
              </p:nvSpPr>
              <p:spPr>
                <a:xfrm>
                  <a:off x="5206460" y="2213061"/>
                  <a:ext cx="599680" cy="406964"/>
                </a:xfrm>
                <a:prstGeom prst="rect">
                  <a:avLst/>
                </a:prstGeom>
                <a:noFill/>
              </p:spPr>
              <p:txBody>
                <a:bodyPr wrap="square" rtlCol="0">
                  <a:spAutoFit/>
                </a:bodyPr>
                <a:lstStyle/>
                <a:p>
                  <a:pPr algn="ctr"/>
                  <a:r>
                    <a:rPr lang="en-US" altLang="zh-CN" sz="1400" dirty="0"/>
                    <a:t>113</a:t>
                  </a:r>
                </a:p>
                <a:p>
                  <a:pPr algn="ctr"/>
                  <a:r>
                    <a:rPr lang="zh-CN" altLang="en-US" sz="1400" dirty="0"/>
                    <a:t>家</a:t>
                  </a:r>
                </a:p>
              </p:txBody>
            </p:sp>
          </p:grpSp>
          <p:sp>
            <p:nvSpPr>
              <p:cNvPr id="51" name="文本框 50">
                <a:extLst>
                  <a:ext uri="{FF2B5EF4-FFF2-40B4-BE49-F238E27FC236}">
                    <a16:creationId xmlns:a16="http://schemas.microsoft.com/office/drawing/2014/main" id="{6F659A8B-9068-4F4D-81E6-599F0E610C82}"/>
                  </a:ext>
                </a:extLst>
              </p:cNvPr>
              <p:cNvSpPr txBox="1"/>
              <p:nvPr/>
            </p:nvSpPr>
            <p:spPr>
              <a:xfrm>
                <a:off x="4111665" y="2309826"/>
                <a:ext cx="900000" cy="523220"/>
              </a:xfrm>
              <a:prstGeom prst="rect">
                <a:avLst/>
              </a:prstGeom>
              <a:noFill/>
            </p:spPr>
            <p:txBody>
              <a:bodyPr wrap="square" rtlCol="0">
                <a:spAutoFit/>
              </a:bodyPr>
              <a:lstStyle/>
              <a:p>
                <a:pPr algn="ctr"/>
                <a:r>
                  <a:rPr lang="zh-CN" altLang="en-US" sz="1400" dirty="0"/>
                  <a:t>中国大陆公募基金</a:t>
                </a:r>
              </a:p>
            </p:txBody>
          </p:sp>
          <p:grpSp>
            <p:nvGrpSpPr>
              <p:cNvPr id="93" name="组合 92">
                <a:extLst>
                  <a:ext uri="{FF2B5EF4-FFF2-40B4-BE49-F238E27FC236}">
                    <a16:creationId xmlns:a16="http://schemas.microsoft.com/office/drawing/2014/main" id="{A2088EB5-754E-4145-9593-ED2193D3DFEC}"/>
                  </a:ext>
                </a:extLst>
              </p:cNvPr>
              <p:cNvGrpSpPr/>
              <p:nvPr/>
            </p:nvGrpSpPr>
            <p:grpSpPr>
              <a:xfrm>
                <a:off x="5150680" y="3085303"/>
                <a:ext cx="718584" cy="648000"/>
                <a:chOff x="5150680" y="2953905"/>
                <a:chExt cx="718584" cy="648000"/>
              </a:xfrm>
            </p:grpSpPr>
            <p:sp>
              <p:nvSpPr>
                <p:cNvPr id="42" name="椭圆 41">
                  <a:extLst>
                    <a:ext uri="{FF2B5EF4-FFF2-40B4-BE49-F238E27FC236}">
                      <a16:creationId xmlns:a16="http://schemas.microsoft.com/office/drawing/2014/main" id="{85195DA9-8A82-461A-AD17-36558E918780}"/>
                    </a:ext>
                  </a:extLst>
                </p:cNvPr>
                <p:cNvSpPr/>
                <p:nvPr/>
              </p:nvSpPr>
              <p:spPr>
                <a:xfrm>
                  <a:off x="5185972" y="2953905"/>
                  <a:ext cx="648000" cy="648000"/>
                </a:xfrm>
                <a:prstGeom prst="ellipse">
                  <a:avLst/>
                </a:prstGeom>
                <a:noFill/>
                <a:ln>
                  <a:solidFill>
                    <a:srgbClr val="991E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44" name="文本框 43">
                  <a:extLst>
                    <a:ext uri="{FF2B5EF4-FFF2-40B4-BE49-F238E27FC236}">
                      <a16:creationId xmlns:a16="http://schemas.microsoft.com/office/drawing/2014/main" id="{B7E9BCA0-0FEF-4724-A4DE-F6B6BE055F4A}"/>
                    </a:ext>
                  </a:extLst>
                </p:cNvPr>
                <p:cNvSpPr txBox="1"/>
                <p:nvPr/>
              </p:nvSpPr>
              <p:spPr>
                <a:xfrm>
                  <a:off x="5150680" y="3016295"/>
                  <a:ext cx="718584" cy="523220"/>
                </a:xfrm>
                <a:prstGeom prst="rect">
                  <a:avLst/>
                </a:prstGeom>
                <a:noFill/>
              </p:spPr>
              <p:txBody>
                <a:bodyPr wrap="square" rtlCol="0">
                  <a:spAutoFit/>
                </a:bodyPr>
                <a:lstStyle/>
                <a:p>
                  <a:pPr algn="ctr"/>
                  <a:r>
                    <a:rPr lang="en-US" altLang="zh-CN" sz="1400" dirty="0"/>
                    <a:t>21836</a:t>
                  </a:r>
                  <a:r>
                    <a:rPr lang="zh-CN" altLang="en-US" sz="1400" dirty="0"/>
                    <a:t>家</a:t>
                  </a:r>
                </a:p>
              </p:txBody>
            </p:sp>
          </p:grpSp>
          <p:sp>
            <p:nvSpPr>
              <p:cNvPr id="46" name="文本框 45">
                <a:extLst>
                  <a:ext uri="{FF2B5EF4-FFF2-40B4-BE49-F238E27FC236}">
                    <a16:creationId xmlns:a16="http://schemas.microsoft.com/office/drawing/2014/main" id="{0A692089-1101-40A6-AE45-EDF0436E3874}"/>
                  </a:ext>
                </a:extLst>
              </p:cNvPr>
              <p:cNvSpPr txBox="1"/>
              <p:nvPr/>
            </p:nvSpPr>
            <p:spPr>
              <a:xfrm>
                <a:off x="4129236" y="3147693"/>
                <a:ext cx="918252" cy="523220"/>
              </a:xfrm>
              <a:prstGeom prst="rect">
                <a:avLst/>
              </a:prstGeom>
              <a:noFill/>
            </p:spPr>
            <p:txBody>
              <a:bodyPr wrap="square" rtlCol="0">
                <a:spAutoFit/>
              </a:bodyPr>
              <a:lstStyle/>
              <a:p>
                <a:pPr algn="ctr"/>
                <a:r>
                  <a:rPr lang="zh-CN" altLang="en-US" sz="1400" dirty="0"/>
                  <a:t>中国大陆私募基金</a:t>
                </a:r>
              </a:p>
            </p:txBody>
          </p:sp>
          <p:sp>
            <p:nvSpPr>
              <p:cNvPr id="40" name="文本框 39">
                <a:extLst>
                  <a:ext uri="{FF2B5EF4-FFF2-40B4-BE49-F238E27FC236}">
                    <a16:creationId xmlns:a16="http://schemas.microsoft.com/office/drawing/2014/main" id="{83A4E80A-5013-4D16-82E9-DBE9125C41F3}"/>
                  </a:ext>
                </a:extLst>
              </p:cNvPr>
              <p:cNvSpPr txBox="1"/>
              <p:nvPr/>
            </p:nvSpPr>
            <p:spPr>
              <a:xfrm>
                <a:off x="5067973" y="1684256"/>
                <a:ext cx="890846" cy="307777"/>
              </a:xfrm>
              <a:prstGeom prst="rect">
                <a:avLst/>
              </a:prstGeom>
              <a:noFill/>
            </p:spPr>
            <p:txBody>
              <a:bodyPr wrap="square" rtlCol="0">
                <a:spAutoFit/>
              </a:bodyPr>
              <a:lstStyle/>
              <a:p>
                <a:pPr algn="ctr"/>
                <a:r>
                  <a:rPr lang="zh-CN" altLang="en-US" sz="1400" dirty="0"/>
                  <a:t>管理人</a:t>
                </a:r>
                <a:endParaRPr lang="en-US" altLang="zh-CN" sz="1400" dirty="0"/>
              </a:p>
            </p:txBody>
          </p:sp>
          <p:sp>
            <p:nvSpPr>
              <p:cNvPr id="41" name="文本框 40">
                <a:extLst>
                  <a:ext uri="{FF2B5EF4-FFF2-40B4-BE49-F238E27FC236}">
                    <a16:creationId xmlns:a16="http://schemas.microsoft.com/office/drawing/2014/main" id="{B6179C24-8863-4185-87B6-2E1226A2A6DC}"/>
                  </a:ext>
                </a:extLst>
              </p:cNvPr>
              <p:cNvSpPr txBox="1"/>
              <p:nvPr/>
            </p:nvSpPr>
            <p:spPr>
              <a:xfrm>
                <a:off x="6302581" y="1564435"/>
                <a:ext cx="572601" cy="523220"/>
              </a:xfrm>
              <a:prstGeom prst="rect">
                <a:avLst/>
              </a:prstGeom>
              <a:noFill/>
            </p:spPr>
            <p:txBody>
              <a:bodyPr wrap="square" rtlCol="0">
                <a:spAutoFit/>
              </a:bodyPr>
              <a:lstStyle/>
              <a:p>
                <a:r>
                  <a:rPr lang="zh-CN" altLang="en-US" sz="1400" dirty="0"/>
                  <a:t>基金</a:t>
                </a:r>
                <a:endParaRPr lang="en-US" altLang="zh-CN" sz="1400" dirty="0"/>
              </a:p>
              <a:p>
                <a:r>
                  <a:rPr lang="zh-CN" altLang="en-US" sz="1400" dirty="0"/>
                  <a:t>产品</a:t>
                </a:r>
              </a:p>
            </p:txBody>
          </p:sp>
          <p:grpSp>
            <p:nvGrpSpPr>
              <p:cNvPr id="86" name="组合 85">
                <a:extLst>
                  <a:ext uri="{FF2B5EF4-FFF2-40B4-BE49-F238E27FC236}">
                    <a16:creationId xmlns:a16="http://schemas.microsoft.com/office/drawing/2014/main" id="{335B4A46-4B85-4421-ADB9-37D45B70A5A2}"/>
                  </a:ext>
                </a:extLst>
              </p:cNvPr>
              <p:cNvGrpSpPr/>
              <p:nvPr/>
            </p:nvGrpSpPr>
            <p:grpSpPr>
              <a:xfrm>
                <a:off x="2871731" y="3923170"/>
                <a:ext cx="722265" cy="648000"/>
                <a:chOff x="6292742" y="2179114"/>
                <a:chExt cx="722265" cy="648000"/>
              </a:xfrm>
            </p:grpSpPr>
            <p:sp>
              <p:nvSpPr>
                <p:cNvPr id="64" name="椭圆 63">
                  <a:extLst>
                    <a:ext uri="{FF2B5EF4-FFF2-40B4-BE49-F238E27FC236}">
                      <a16:creationId xmlns:a16="http://schemas.microsoft.com/office/drawing/2014/main" id="{121F8A10-7175-4DEF-9AD9-5B7AFE59AFE7}"/>
                    </a:ext>
                  </a:extLst>
                </p:cNvPr>
                <p:cNvSpPr/>
                <p:nvPr/>
              </p:nvSpPr>
              <p:spPr>
                <a:xfrm>
                  <a:off x="6329874" y="2179114"/>
                  <a:ext cx="648000" cy="648000"/>
                </a:xfrm>
                <a:prstGeom prst="ellipse">
                  <a:avLst/>
                </a:prstGeom>
                <a:noFill/>
                <a:ln>
                  <a:solidFill>
                    <a:srgbClr val="D2A1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66" name="文本框 65">
                  <a:extLst>
                    <a:ext uri="{FF2B5EF4-FFF2-40B4-BE49-F238E27FC236}">
                      <a16:creationId xmlns:a16="http://schemas.microsoft.com/office/drawing/2014/main" id="{A22731FD-82EE-4B00-98BE-A7FA82CF1B6B}"/>
                    </a:ext>
                  </a:extLst>
                </p:cNvPr>
                <p:cNvSpPr txBox="1"/>
                <p:nvPr/>
              </p:nvSpPr>
              <p:spPr>
                <a:xfrm>
                  <a:off x="6292742" y="2241504"/>
                  <a:ext cx="722265" cy="523220"/>
                </a:xfrm>
                <a:prstGeom prst="rect">
                  <a:avLst/>
                </a:prstGeom>
                <a:noFill/>
              </p:spPr>
              <p:txBody>
                <a:bodyPr wrap="square" rtlCol="0">
                  <a:spAutoFit/>
                </a:bodyPr>
                <a:lstStyle/>
                <a:p>
                  <a:pPr algn="ctr"/>
                  <a:r>
                    <a:rPr lang="en-US" altLang="zh-CN" sz="1400" dirty="0"/>
                    <a:t>12803</a:t>
                  </a:r>
                </a:p>
                <a:p>
                  <a:pPr algn="ctr"/>
                  <a:r>
                    <a:rPr lang="zh-CN" altLang="en-US" sz="1400" dirty="0"/>
                    <a:t>只</a:t>
                  </a:r>
                </a:p>
              </p:txBody>
            </p:sp>
          </p:grpSp>
          <p:grpSp>
            <p:nvGrpSpPr>
              <p:cNvPr id="25" name="组合 24">
                <a:extLst>
                  <a:ext uri="{FF2B5EF4-FFF2-40B4-BE49-F238E27FC236}">
                    <a16:creationId xmlns:a16="http://schemas.microsoft.com/office/drawing/2014/main" id="{DA93E226-CEED-4777-8CA7-E3F91F8C7AC0}"/>
                  </a:ext>
                </a:extLst>
              </p:cNvPr>
              <p:cNvGrpSpPr/>
              <p:nvPr/>
            </p:nvGrpSpPr>
            <p:grpSpPr>
              <a:xfrm>
                <a:off x="1046419" y="3923170"/>
                <a:ext cx="1603547" cy="648000"/>
                <a:chOff x="1046419" y="3923170"/>
                <a:chExt cx="1603547" cy="648000"/>
              </a:xfrm>
            </p:grpSpPr>
            <p:grpSp>
              <p:nvGrpSpPr>
                <p:cNvPr id="12" name="组合 11">
                  <a:extLst>
                    <a:ext uri="{FF2B5EF4-FFF2-40B4-BE49-F238E27FC236}">
                      <a16:creationId xmlns:a16="http://schemas.microsoft.com/office/drawing/2014/main" id="{3421CBFE-2BDE-4D95-94F0-03A742595A59}"/>
                    </a:ext>
                  </a:extLst>
                </p:cNvPr>
                <p:cNvGrpSpPr/>
                <p:nvPr/>
              </p:nvGrpSpPr>
              <p:grpSpPr>
                <a:xfrm>
                  <a:off x="2001966" y="3923170"/>
                  <a:ext cx="648000" cy="648000"/>
                  <a:chOff x="2037657" y="3928258"/>
                  <a:chExt cx="648000" cy="648000"/>
                </a:xfrm>
              </p:grpSpPr>
              <p:sp>
                <p:nvSpPr>
                  <p:cNvPr id="63" name="椭圆 62">
                    <a:extLst>
                      <a:ext uri="{FF2B5EF4-FFF2-40B4-BE49-F238E27FC236}">
                        <a16:creationId xmlns:a16="http://schemas.microsoft.com/office/drawing/2014/main" id="{758DB070-1E07-42E4-8331-ECDFA896CE75}"/>
                      </a:ext>
                    </a:extLst>
                  </p:cNvPr>
                  <p:cNvSpPr/>
                  <p:nvPr/>
                </p:nvSpPr>
                <p:spPr>
                  <a:xfrm>
                    <a:off x="2037657" y="3928258"/>
                    <a:ext cx="648000" cy="648000"/>
                  </a:xfrm>
                  <a:prstGeom prst="ellipse">
                    <a:avLst/>
                  </a:prstGeom>
                  <a:noFill/>
                  <a:ln>
                    <a:solidFill>
                      <a:srgbClr val="991E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65" name="文本框 64">
                    <a:extLst>
                      <a:ext uri="{FF2B5EF4-FFF2-40B4-BE49-F238E27FC236}">
                        <a16:creationId xmlns:a16="http://schemas.microsoft.com/office/drawing/2014/main" id="{82E85694-E23B-4F6D-B78B-622A31028ECC}"/>
                      </a:ext>
                    </a:extLst>
                  </p:cNvPr>
                  <p:cNvSpPr txBox="1"/>
                  <p:nvPr/>
                </p:nvSpPr>
                <p:spPr>
                  <a:xfrm>
                    <a:off x="2076345" y="3990648"/>
                    <a:ext cx="570624" cy="523220"/>
                  </a:xfrm>
                  <a:prstGeom prst="rect">
                    <a:avLst/>
                  </a:prstGeom>
                  <a:noFill/>
                </p:spPr>
                <p:txBody>
                  <a:bodyPr wrap="square" rtlCol="0">
                    <a:spAutoFit/>
                  </a:bodyPr>
                  <a:lstStyle/>
                  <a:p>
                    <a:pPr algn="ctr"/>
                    <a:r>
                      <a:rPr lang="en-US" altLang="zh-CN" sz="1400" dirty="0"/>
                      <a:t>2118</a:t>
                    </a:r>
                    <a:r>
                      <a:rPr lang="zh-CN" altLang="en-US" sz="1400" dirty="0"/>
                      <a:t>家</a:t>
                    </a:r>
                  </a:p>
                </p:txBody>
              </p:sp>
            </p:grpSp>
            <p:sp>
              <p:nvSpPr>
                <p:cNvPr id="67" name="文本框 66">
                  <a:extLst>
                    <a:ext uri="{FF2B5EF4-FFF2-40B4-BE49-F238E27FC236}">
                      <a16:creationId xmlns:a16="http://schemas.microsoft.com/office/drawing/2014/main" id="{8750AAEF-6D6E-44F2-B12B-BDFD5C90C87A}"/>
                    </a:ext>
                  </a:extLst>
                </p:cNvPr>
                <p:cNvSpPr txBox="1"/>
                <p:nvPr/>
              </p:nvSpPr>
              <p:spPr>
                <a:xfrm>
                  <a:off x="1046419" y="4093282"/>
                  <a:ext cx="792000" cy="307777"/>
                </a:xfrm>
                <a:prstGeom prst="rect">
                  <a:avLst/>
                </a:prstGeom>
                <a:noFill/>
              </p:spPr>
              <p:txBody>
                <a:bodyPr wrap="square" rtlCol="0">
                  <a:spAutoFit/>
                </a:bodyPr>
                <a:lstStyle/>
                <a:p>
                  <a:pPr algn="ctr"/>
                  <a:r>
                    <a:rPr lang="zh-CN" altLang="en-US" sz="1400" dirty="0"/>
                    <a:t>港交所</a:t>
                  </a:r>
                </a:p>
              </p:txBody>
            </p:sp>
          </p:grpSp>
          <p:grpSp>
            <p:nvGrpSpPr>
              <p:cNvPr id="87" name="组合 86">
                <a:extLst>
                  <a:ext uri="{FF2B5EF4-FFF2-40B4-BE49-F238E27FC236}">
                    <a16:creationId xmlns:a16="http://schemas.microsoft.com/office/drawing/2014/main" id="{24C054A9-8CAB-4D1B-97EB-44779C34F12F}"/>
                  </a:ext>
                </a:extLst>
              </p:cNvPr>
              <p:cNvGrpSpPr/>
              <p:nvPr/>
            </p:nvGrpSpPr>
            <p:grpSpPr>
              <a:xfrm>
                <a:off x="5185972" y="3915085"/>
                <a:ext cx="648000" cy="648000"/>
                <a:chOff x="5236492" y="3913334"/>
                <a:chExt cx="648000" cy="648000"/>
              </a:xfrm>
            </p:grpSpPr>
            <p:sp>
              <p:nvSpPr>
                <p:cNvPr id="58" name="椭圆 57">
                  <a:extLst>
                    <a:ext uri="{FF2B5EF4-FFF2-40B4-BE49-F238E27FC236}">
                      <a16:creationId xmlns:a16="http://schemas.microsoft.com/office/drawing/2014/main" id="{72754A50-C9B8-4625-AEC9-6B2A29DCD332}"/>
                    </a:ext>
                  </a:extLst>
                </p:cNvPr>
                <p:cNvSpPr/>
                <p:nvPr/>
              </p:nvSpPr>
              <p:spPr>
                <a:xfrm>
                  <a:off x="5236492" y="3913334"/>
                  <a:ext cx="648000" cy="648000"/>
                </a:xfrm>
                <a:prstGeom prst="ellipse">
                  <a:avLst/>
                </a:prstGeom>
                <a:noFill/>
                <a:ln>
                  <a:solidFill>
                    <a:srgbClr val="991E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60" name="文本框 59">
                  <a:extLst>
                    <a:ext uri="{FF2B5EF4-FFF2-40B4-BE49-F238E27FC236}">
                      <a16:creationId xmlns:a16="http://schemas.microsoft.com/office/drawing/2014/main" id="{1644D956-833C-46E8-B9E8-3AF6744203A5}"/>
                    </a:ext>
                  </a:extLst>
                </p:cNvPr>
                <p:cNvSpPr txBox="1"/>
                <p:nvPr/>
              </p:nvSpPr>
              <p:spPr>
                <a:xfrm>
                  <a:off x="5275180" y="3995752"/>
                  <a:ext cx="570624" cy="406964"/>
                </a:xfrm>
                <a:prstGeom prst="rect">
                  <a:avLst/>
                </a:prstGeom>
                <a:noFill/>
              </p:spPr>
              <p:txBody>
                <a:bodyPr wrap="square" rtlCol="0">
                  <a:spAutoFit/>
                </a:bodyPr>
                <a:lstStyle/>
                <a:p>
                  <a:pPr algn="ctr"/>
                  <a:r>
                    <a:rPr lang="en-US" altLang="zh-CN" sz="1400" dirty="0"/>
                    <a:t>2091</a:t>
                  </a:r>
                </a:p>
                <a:p>
                  <a:pPr algn="ctr"/>
                  <a:r>
                    <a:rPr lang="zh-CN" altLang="en-US" sz="1400" dirty="0"/>
                    <a:t>家</a:t>
                  </a:r>
                </a:p>
              </p:txBody>
            </p:sp>
          </p:grpSp>
          <p:sp>
            <p:nvSpPr>
              <p:cNvPr id="62" name="文本框 61">
                <a:extLst>
                  <a:ext uri="{FF2B5EF4-FFF2-40B4-BE49-F238E27FC236}">
                    <a16:creationId xmlns:a16="http://schemas.microsoft.com/office/drawing/2014/main" id="{BACC982C-50C3-4FD1-A731-BC50163E4FF5}"/>
                  </a:ext>
                </a:extLst>
              </p:cNvPr>
              <p:cNvSpPr txBox="1"/>
              <p:nvPr/>
            </p:nvSpPr>
            <p:spPr>
              <a:xfrm>
                <a:off x="4109019" y="3985560"/>
                <a:ext cx="900000" cy="523220"/>
              </a:xfrm>
              <a:prstGeom prst="rect">
                <a:avLst/>
              </a:prstGeom>
              <a:noFill/>
            </p:spPr>
            <p:txBody>
              <a:bodyPr wrap="square" rtlCol="0">
                <a:spAutoFit/>
              </a:bodyPr>
              <a:lstStyle/>
              <a:p>
                <a:pPr algn="ctr"/>
                <a:r>
                  <a:rPr lang="zh-CN" altLang="en-US" sz="1400" dirty="0"/>
                  <a:t>香港</a:t>
                </a:r>
                <a:endParaRPr lang="en-US" altLang="zh-CN" sz="1400" dirty="0"/>
              </a:p>
              <a:p>
                <a:pPr algn="ctr"/>
                <a:r>
                  <a:rPr lang="zh-CN" altLang="en-US" sz="1400" dirty="0"/>
                  <a:t>零售基金</a:t>
                </a:r>
              </a:p>
            </p:txBody>
          </p:sp>
          <p:grpSp>
            <p:nvGrpSpPr>
              <p:cNvPr id="31" name="组合 30">
                <a:extLst>
                  <a:ext uri="{FF2B5EF4-FFF2-40B4-BE49-F238E27FC236}">
                    <a16:creationId xmlns:a16="http://schemas.microsoft.com/office/drawing/2014/main" id="{FDC05EEC-193B-4E97-9250-87359FC26DB9}"/>
                  </a:ext>
                </a:extLst>
              </p:cNvPr>
              <p:cNvGrpSpPr/>
              <p:nvPr/>
            </p:nvGrpSpPr>
            <p:grpSpPr>
              <a:xfrm>
                <a:off x="1046419" y="4761037"/>
                <a:ext cx="1603547" cy="648000"/>
                <a:chOff x="1046419" y="4761037"/>
                <a:chExt cx="1603547" cy="648000"/>
              </a:xfrm>
            </p:grpSpPr>
            <p:grpSp>
              <p:nvGrpSpPr>
                <p:cNvPr id="11" name="组合 10">
                  <a:extLst>
                    <a:ext uri="{FF2B5EF4-FFF2-40B4-BE49-F238E27FC236}">
                      <a16:creationId xmlns:a16="http://schemas.microsoft.com/office/drawing/2014/main" id="{D91F0A5F-1CB9-493D-BF87-0D5479E2BBFA}"/>
                    </a:ext>
                  </a:extLst>
                </p:cNvPr>
                <p:cNvGrpSpPr/>
                <p:nvPr/>
              </p:nvGrpSpPr>
              <p:grpSpPr>
                <a:xfrm>
                  <a:off x="2001966" y="4761037"/>
                  <a:ext cx="648000" cy="648000"/>
                  <a:chOff x="2001967" y="4775639"/>
                  <a:chExt cx="648000" cy="648000"/>
                </a:xfrm>
              </p:grpSpPr>
              <p:sp>
                <p:nvSpPr>
                  <p:cNvPr id="78" name="椭圆 77">
                    <a:extLst>
                      <a:ext uri="{FF2B5EF4-FFF2-40B4-BE49-F238E27FC236}">
                        <a16:creationId xmlns:a16="http://schemas.microsoft.com/office/drawing/2014/main" id="{C81327C7-6F90-4DDF-87EA-91651E42A8DF}"/>
                      </a:ext>
                    </a:extLst>
                  </p:cNvPr>
                  <p:cNvSpPr/>
                  <p:nvPr/>
                </p:nvSpPr>
                <p:spPr>
                  <a:xfrm>
                    <a:off x="2001967" y="4775639"/>
                    <a:ext cx="648000" cy="648000"/>
                  </a:xfrm>
                  <a:prstGeom prst="ellipse">
                    <a:avLst/>
                  </a:prstGeom>
                  <a:noFill/>
                  <a:ln>
                    <a:solidFill>
                      <a:srgbClr val="991E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80" name="文本框 79">
                    <a:extLst>
                      <a:ext uri="{FF2B5EF4-FFF2-40B4-BE49-F238E27FC236}">
                        <a16:creationId xmlns:a16="http://schemas.microsoft.com/office/drawing/2014/main" id="{1B03771D-82F0-4A06-857D-A546BA288D76}"/>
                      </a:ext>
                    </a:extLst>
                  </p:cNvPr>
                  <p:cNvSpPr txBox="1"/>
                  <p:nvPr/>
                </p:nvSpPr>
                <p:spPr>
                  <a:xfrm>
                    <a:off x="2026128" y="4838029"/>
                    <a:ext cx="599679" cy="523220"/>
                  </a:xfrm>
                  <a:prstGeom prst="rect">
                    <a:avLst/>
                  </a:prstGeom>
                  <a:noFill/>
                </p:spPr>
                <p:txBody>
                  <a:bodyPr wrap="square" rtlCol="0">
                    <a:spAutoFit/>
                  </a:bodyPr>
                  <a:lstStyle/>
                  <a:p>
                    <a:pPr algn="ctr"/>
                    <a:r>
                      <a:rPr lang="en-US" altLang="zh-CN" sz="1400" dirty="0"/>
                      <a:t>2417</a:t>
                    </a:r>
                    <a:r>
                      <a:rPr lang="zh-CN" altLang="en-US" sz="1400" dirty="0"/>
                      <a:t>家</a:t>
                    </a:r>
                  </a:p>
                </p:txBody>
              </p:sp>
            </p:grpSp>
            <p:sp>
              <p:nvSpPr>
                <p:cNvPr id="82" name="文本框 81">
                  <a:extLst>
                    <a:ext uri="{FF2B5EF4-FFF2-40B4-BE49-F238E27FC236}">
                      <a16:creationId xmlns:a16="http://schemas.microsoft.com/office/drawing/2014/main" id="{32CD8106-7839-4624-A2C8-44CF81EB23F9}"/>
                    </a:ext>
                  </a:extLst>
                </p:cNvPr>
                <p:cNvSpPr txBox="1"/>
                <p:nvPr/>
              </p:nvSpPr>
              <p:spPr>
                <a:xfrm>
                  <a:off x="1046419" y="4931149"/>
                  <a:ext cx="792000" cy="307777"/>
                </a:xfrm>
                <a:prstGeom prst="rect">
                  <a:avLst/>
                </a:prstGeom>
                <a:noFill/>
              </p:spPr>
              <p:txBody>
                <a:bodyPr wrap="square" rtlCol="0">
                  <a:spAutoFit/>
                </a:bodyPr>
                <a:lstStyle/>
                <a:p>
                  <a:pPr algn="ctr"/>
                  <a:r>
                    <a:rPr lang="zh-CN" altLang="en-US" sz="1400" dirty="0"/>
                    <a:t>纽交所</a:t>
                  </a:r>
                </a:p>
              </p:txBody>
            </p:sp>
          </p:grpSp>
          <p:grpSp>
            <p:nvGrpSpPr>
              <p:cNvPr id="83" name="组合 82">
                <a:extLst>
                  <a:ext uri="{FF2B5EF4-FFF2-40B4-BE49-F238E27FC236}">
                    <a16:creationId xmlns:a16="http://schemas.microsoft.com/office/drawing/2014/main" id="{84E84817-A5D9-4532-94DB-73DE11FE7D32}"/>
                  </a:ext>
                </a:extLst>
              </p:cNvPr>
              <p:cNvGrpSpPr/>
              <p:nvPr/>
            </p:nvGrpSpPr>
            <p:grpSpPr>
              <a:xfrm>
                <a:off x="1046419" y="5598904"/>
                <a:ext cx="1603547" cy="648000"/>
                <a:chOff x="1046419" y="5598904"/>
                <a:chExt cx="1603547" cy="648000"/>
              </a:xfrm>
            </p:grpSpPr>
            <p:grpSp>
              <p:nvGrpSpPr>
                <p:cNvPr id="10" name="组合 9">
                  <a:extLst>
                    <a:ext uri="{FF2B5EF4-FFF2-40B4-BE49-F238E27FC236}">
                      <a16:creationId xmlns:a16="http://schemas.microsoft.com/office/drawing/2014/main" id="{10495039-BC73-43C5-8A3C-5C38B71A9561}"/>
                    </a:ext>
                  </a:extLst>
                </p:cNvPr>
                <p:cNvGrpSpPr/>
                <p:nvPr/>
              </p:nvGrpSpPr>
              <p:grpSpPr>
                <a:xfrm>
                  <a:off x="2001966" y="5598904"/>
                  <a:ext cx="648000" cy="648000"/>
                  <a:chOff x="2001966" y="5598904"/>
                  <a:chExt cx="648000" cy="648000"/>
                </a:xfrm>
              </p:grpSpPr>
              <p:sp>
                <p:nvSpPr>
                  <p:cNvPr id="73" name="椭圆 72">
                    <a:extLst>
                      <a:ext uri="{FF2B5EF4-FFF2-40B4-BE49-F238E27FC236}">
                        <a16:creationId xmlns:a16="http://schemas.microsoft.com/office/drawing/2014/main" id="{A619ECE5-92AC-4258-BA62-CE54FA4A07CC}"/>
                      </a:ext>
                    </a:extLst>
                  </p:cNvPr>
                  <p:cNvSpPr/>
                  <p:nvPr/>
                </p:nvSpPr>
                <p:spPr>
                  <a:xfrm>
                    <a:off x="2001966" y="5598904"/>
                    <a:ext cx="648000" cy="648000"/>
                  </a:xfrm>
                  <a:prstGeom prst="ellipse">
                    <a:avLst/>
                  </a:prstGeom>
                  <a:noFill/>
                  <a:ln>
                    <a:solidFill>
                      <a:srgbClr val="991E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75" name="文本框 74">
                    <a:extLst>
                      <a:ext uri="{FF2B5EF4-FFF2-40B4-BE49-F238E27FC236}">
                        <a16:creationId xmlns:a16="http://schemas.microsoft.com/office/drawing/2014/main" id="{E9033085-EB90-41FC-B3DF-BE81A195A67F}"/>
                      </a:ext>
                    </a:extLst>
                  </p:cNvPr>
                  <p:cNvSpPr txBox="1"/>
                  <p:nvPr/>
                </p:nvSpPr>
                <p:spPr>
                  <a:xfrm>
                    <a:off x="2026126" y="5661294"/>
                    <a:ext cx="599680" cy="523220"/>
                  </a:xfrm>
                  <a:prstGeom prst="rect">
                    <a:avLst/>
                  </a:prstGeom>
                  <a:noFill/>
                </p:spPr>
                <p:txBody>
                  <a:bodyPr wrap="square" rtlCol="0">
                    <a:spAutoFit/>
                  </a:bodyPr>
                  <a:lstStyle/>
                  <a:p>
                    <a:pPr algn="ctr"/>
                    <a:r>
                      <a:rPr lang="en-US" altLang="zh-CN" sz="1400" dirty="0"/>
                      <a:t>3275</a:t>
                    </a:r>
                    <a:r>
                      <a:rPr lang="zh-CN" altLang="en-US" sz="1400" dirty="0"/>
                      <a:t>家</a:t>
                    </a:r>
                  </a:p>
                </p:txBody>
              </p:sp>
            </p:grpSp>
            <p:sp>
              <p:nvSpPr>
                <p:cNvPr id="77" name="文本框 76">
                  <a:extLst>
                    <a:ext uri="{FF2B5EF4-FFF2-40B4-BE49-F238E27FC236}">
                      <a16:creationId xmlns:a16="http://schemas.microsoft.com/office/drawing/2014/main" id="{B019A014-FCF8-4358-B458-BC646BB3F02A}"/>
                    </a:ext>
                  </a:extLst>
                </p:cNvPr>
                <p:cNvSpPr txBox="1"/>
                <p:nvPr/>
              </p:nvSpPr>
              <p:spPr>
                <a:xfrm>
                  <a:off x="1046419" y="5769016"/>
                  <a:ext cx="912968" cy="307777"/>
                </a:xfrm>
                <a:prstGeom prst="rect">
                  <a:avLst/>
                </a:prstGeom>
                <a:noFill/>
              </p:spPr>
              <p:txBody>
                <a:bodyPr wrap="square" rtlCol="0">
                  <a:spAutoFit/>
                </a:bodyPr>
                <a:lstStyle/>
                <a:p>
                  <a:pPr algn="ctr"/>
                  <a:r>
                    <a:rPr lang="en-US" altLang="zh-CN" sz="1400" dirty="0"/>
                    <a:t>NASDAQ</a:t>
                  </a:r>
                </a:p>
              </p:txBody>
            </p:sp>
          </p:grpSp>
          <p:grpSp>
            <p:nvGrpSpPr>
              <p:cNvPr id="96" name="组合 95">
                <a:extLst>
                  <a:ext uri="{FF2B5EF4-FFF2-40B4-BE49-F238E27FC236}">
                    <a16:creationId xmlns:a16="http://schemas.microsoft.com/office/drawing/2014/main" id="{464B81C3-E05D-4757-BAE8-2B71576ADDEF}"/>
                  </a:ext>
                </a:extLst>
              </p:cNvPr>
              <p:cNvGrpSpPr/>
              <p:nvPr/>
            </p:nvGrpSpPr>
            <p:grpSpPr>
              <a:xfrm>
                <a:off x="6224080" y="2247436"/>
                <a:ext cx="722370" cy="648000"/>
                <a:chOff x="3159229" y="2247436"/>
                <a:chExt cx="722370" cy="648000"/>
              </a:xfrm>
            </p:grpSpPr>
            <p:sp>
              <p:nvSpPr>
                <p:cNvPr id="97" name="椭圆 96">
                  <a:extLst>
                    <a:ext uri="{FF2B5EF4-FFF2-40B4-BE49-F238E27FC236}">
                      <a16:creationId xmlns:a16="http://schemas.microsoft.com/office/drawing/2014/main" id="{9932CCF0-A33A-4F57-BB07-6E499B914FBB}"/>
                    </a:ext>
                  </a:extLst>
                </p:cNvPr>
                <p:cNvSpPr/>
                <p:nvPr/>
              </p:nvSpPr>
              <p:spPr>
                <a:xfrm>
                  <a:off x="3196414" y="2247436"/>
                  <a:ext cx="648000" cy="648000"/>
                </a:xfrm>
                <a:prstGeom prst="ellipse">
                  <a:avLst/>
                </a:prstGeom>
                <a:noFill/>
                <a:ln>
                  <a:solidFill>
                    <a:srgbClr val="D2A1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98" name="文本框 97">
                  <a:extLst>
                    <a:ext uri="{FF2B5EF4-FFF2-40B4-BE49-F238E27FC236}">
                      <a16:creationId xmlns:a16="http://schemas.microsoft.com/office/drawing/2014/main" id="{A6B7597B-D38D-4D82-8841-18E8B2A98EEB}"/>
                    </a:ext>
                  </a:extLst>
                </p:cNvPr>
                <p:cNvSpPr txBox="1"/>
                <p:nvPr/>
              </p:nvSpPr>
              <p:spPr>
                <a:xfrm>
                  <a:off x="3159229" y="2309826"/>
                  <a:ext cx="722370" cy="523220"/>
                </a:xfrm>
                <a:prstGeom prst="rect">
                  <a:avLst/>
                </a:prstGeom>
                <a:noFill/>
              </p:spPr>
              <p:txBody>
                <a:bodyPr wrap="square" rtlCol="0">
                  <a:spAutoFit/>
                </a:bodyPr>
                <a:lstStyle/>
                <a:p>
                  <a:pPr algn="ctr"/>
                  <a:r>
                    <a:rPr lang="en-US" altLang="zh-CN" sz="1400" dirty="0"/>
                    <a:t>4742</a:t>
                  </a:r>
                </a:p>
                <a:p>
                  <a:pPr algn="ctr"/>
                  <a:r>
                    <a:rPr lang="zh-CN" altLang="en-US" sz="1400" dirty="0"/>
                    <a:t>只</a:t>
                  </a:r>
                </a:p>
              </p:txBody>
            </p:sp>
          </p:grpSp>
          <p:grpSp>
            <p:nvGrpSpPr>
              <p:cNvPr id="99" name="组合 98">
                <a:extLst>
                  <a:ext uri="{FF2B5EF4-FFF2-40B4-BE49-F238E27FC236}">
                    <a16:creationId xmlns:a16="http://schemas.microsoft.com/office/drawing/2014/main" id="{DA2A2BD8-3E9A-41FC-8845-0A0638E93628}"/>
                  </a:ext>
                </a:extLst>
              </p:cNvPr>
              <p:cNvGrpSpPr/>
              <p:nvPr/>
            </p:nvGrpSpPr>
            <p:grpSpPr>
              <a:xfrm>
                <a:off x="6191356" y="3085303"/>
                <a:ext cx="787818" cy="648000"/>
                <a:chOff x="3118174" y="3070471"/>
                <a:chExt cx="787818" cy="648000"/>
              </a:xfrm>
            </p:grpSpPr>
            <p:sp>
              <p:nvSpPr>
                <p:cNvPr id="100" name="椭圆 99">
                  <a:extLst>
                    <a:ext uri="{FF2B5EF4-FFF2-40B4-BE49-F238E27FC236}">
                      <a16:creationId xmlns:a16="http://schemas.microsoft.com/office/drawing/2014/main" id="{AB599066-4F2A-4B30-8E43-9FDAA9A6DC73}"/>
                    </a:ext>
                  </a:extLst>
                </p:cNvPr>
                <p:cNvSpPr/>
                <p:nvPr/>
              </p:nvSpPr>
              <p:spPr>
                <a:xfrm>
                  <a:off x="3192298" y="3070471"/>
                  <a:ext cx="648000" cy="648000"/>
                </a:xfrm>
                <a:prstGeom prst="ellipse">
                  <a:avLst/>
                </a:prstGeom>
                <a:noFill/>
                <a:ln>
                  <a:solidFill>
                    <a:srgbClr val="D2A1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01" name="文本框 100">
                  <a:extLst>
                    <a:ext uri="{FF2B5EF4-FFF2-40B4-BE49-F238E27FC236}">
                      <a16:creationId xmlns:a16="http://schemas.microsoft.com/office/drawing/2014/main" id="{765B1BD1-8096-40D7-BCAC-620A85A04E46}"/>
                    </a:ext>
                  </a:extLst>
                </p:cNvPr>
                <p:cNvSpPr txBox="1"/>
                <p:nvPr/>
              </p:nvSpPr>
              <p:spPr>
                <a:xfrm>
                  <a:off x="3118174" y="3133839"/>
                  <a:ext cx="787818" cy="523220"/>
                </a:xfrm>
                <a:prstGeom prst="rect">
                  <a:avLst/>
                </a:prstGeom>
                <a:noFill/>
              </p:spPr>
              <p:txBody>
                <a:bodyPr wrap="square" rtlCol="0">
                  <a:spAutoFit/>
                </a:bodyPr>
                <a:lstStyle/>
                <a:p>
                  <a:pPr algn="ctr"/>
                  <a:r>
                    <a:rPr lang="en-US" altLang="zh-CN" sz="1400" dirty="0"/>
                    <a:t>64633</a:t>
                  </a:r>
                </a:p>
                <a:p>
                  <a:pPr algn="ctr"/>
                  <a:r>
                    <a:rPr lang="zh-CN" altLang="en-US" sz="1400" dirty="0"/>
                    <a:t>只</a:t>
                  </a:r>
                </a:p>
              </p:txBody>
            </p:sp>
          </p:grpSp>
        </p:grpSp>
        <p:sp>
          <p:nvSpPr>
            <p:cNvPr id="105" name="文本框 104">
              <a:extLst>
                <a:ext uri="{FF2B5EF4-FFF2-40B4-BE49-F238E27FC236}">
                  <a16:creationId xmlns:a16="http://schemas.microsoft.com/office/drawing/2014/main" id="{61396FC8-C7C8-451E-B23D-A9698B58A516}"/>
                </a:ext>
              </a:extLst>
            </p:cNvPr>
            <p:cNvSpPr txBox="1"/>
            <p:nvPr/>
          </p:nvSpPr>
          <p:spPr>
            <a:xfrm>
              <a:off x="4318894" y="4263377"/>
              <a:ext cx="2954216" cy="1477328"/>
            </a:xfrm>
            <a:prstGeom prst="rect">
              <a:avLst/>
            </a:prstGeom>
            <a:noFill/>
          </p:spPr>
          <p:txBody>
            <a:bodyPr wrap="square" rtlCol="0">
              <a:spAutoFit/>
            </a:bodyPr>
            <a:lstStyle/>
            <a:p>
              <a:r>
                <a:rPr lang="zh-CN" altLang="en-US" sz="1000" dirty="0"/>
                <a:t>数据来源：</a:t>
              </a:r>
              <a:endParaRPr lang="en-US" altLang="zh-CN" sz="1000" dirty="0"/>
            </a:p>
            <a:p>
              <a:r>
                <a:rPr lang="en-US" altLang="zh-CN" sz="1000" dirty="0"/>
                <a:t>1.</a:t>
              </a:r>
              <a:r>
                <a:rPr lang="zh-CN" altLang="en-US" sz="1000" dirty="0"/>
                <a:t>上市公司与上市证券数据：沪市、深市、纽交所、纳斯达克分别来自各自交易所，统计时间</a:t>
              </a:r>
              <a:r>
                <a:rPr lang="en-US" altLang="zh-CN" sz="1000" dirty="0"/>
                <a:t>2018.01.08</a:t>
              </a:r>
              <a:r>
                <a:rPr lang="zh-CN" altLang="en-US" sz="1000" dirty="0"/>
                <a:t>；港交所来自港交所，统计时间</a:t>
              </a:r>
              <a:r>
                <a:rPr lang="en-US" altLang="zh-CN" sz="1000" dirty="0"/>
                <a:t>2017.12.31</a:t>
              </a:r>
              <a:r>
                <a:rPr lang="zh-CN" altLang="en-US" sz="1000" dirty="0"/>
                <a:t>；</a:t>
              </a:r>
              <a:r>
                <a:rPr lang="en-US" altLang="zh-CN" sz="1000" dirty="0"/>
                <a:t>FDT-AI</a:t>
              </a:r>
              <a:r>
                <a:rPr lang="zh-CN" altLang="en-US" sz="1000" dirty="0"/>
                <a:t>整理。</a:t>
              </a:r>
              <a:endParaRPr lang="en-US" altLang="zh-CN" sz="1000" dirty="0"/>
            </a:p>
            <a:p>
              <a:r>
                <a:rPr lang="en-US" altLang="zh-CN" sz="1000" dirty="0"/>
                <a:t>2.</a:t>
              </a:r>
              <a:r>
                <a:rPr lang="zh-CN" altLang="en-US" sz="1000" dirty="0"/>
                <a:t>基金管理人与基金产品数据：中国大陆公募基金与私募基金数据来自于中国证券基金业协会，统计时间</a:t>
              </a:r>
              <a:r>
                <a:rPr lang="en-US" altLang="zh-CN" sz="1000" dirty="0"/>
                <a:t>2017.11.30</a:t>
              </a:r>
              <a:r>
                <a:rPr lang="zh-CN" altLang="en-US" sz="1000" dirty="0"/>
                <a:t>；香港零售基金数据来自香港投资基金公会，统计时间</a:t>
              </a:r>
              <a:r>
                <a:rPr lang="en-US" altLang="zh-CN" sz="1000" dirty="0"/>
                <a:t>2017.03.31</a:t>
              </a:r>
              <a:r>
                <a:rPr lang="zh-CN" altLang="en-US" sz="1000" dirty="0"/>
                <a:t>；</a:t>
              </a:r>
              <a:r>
                <a:rPr lang="en-US" altLang="zh-CN" sz="1000" dirty="0"/>
                <a:t>FDT-AI</a:t>
              </a:r>
              <a:r>
                <a:rPr lang="zh-CN" altLang="en-US" sz="1000" dirty="0"/>
                <a:t>整理。</a:t>
              </a:r>
              <a:endParaRPr lang="en-US" altLang="zh-CN" sz="1000" dirty="0"/>
            </a:p>
          </p:txBody>
        </p:sp>
      </p:grpSp>
    </p:spTree>
    <p:extLst>
      <p:ext uri="{BB962C8B-B14F-4D97-AF65-F5344CB8AC3E}">
        <p14:creationId xmlns:p14="http://schemas.microsoft.com/office/powerpoint/2010/main" val="4232937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57"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8"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9" name="04"/>
          <p:cNvSpPr txBox="1"/>
          <p:nvPr/>
        </p:nvSpPr>
        <p:spPr>
          <a:xfrm>
            <a:off x="356995" y="6344413"/>
            <a:ext cx="218679" cy="231380"/>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lvl1pPr>
              <a:defRPr sz="1000">
                <a:solidFill>
                  <a:srgbClr val="CAA354"/>
                </a:solidFill>
                <a:latin typeface="PingFang SC Regular"/>
                <a:ea typeface="PingFang SC Regular"/>
                <a:cs typeface="PingFang SC Regular"/>
                <a:sym typeface="PingFang SC Regular"/>
              </a:defRPr>
            </a:lvl1pPr>
          </a:lstStyle>
          <a:p>
            <a:r>
              <a:rPr dirty="0"/>
              <a:t>04</a:t>
            </a:r>
          </a:p>
        </p:txBody>
      </p:sp>
      <p:pic>
        <p:nvPicPr>
          <p:cNvPr id="32" name="图像" descr="图像"/>
          <p:cNvPicPr>
            <a:picLocks noChangeAspect="1"/>
          </p:cNvPicPr>
          <p:nvPr/>
        </p:nvPicPr>
        <p:blipFill>
          <a:blip r:embed="rId3">
            <a:extLst/>
          </a:blip>
          <a:stretch>
            <a:fillRect/>
          </a:stretch>
        </p:blipFill>
        <p:spPr>
          <a:xfrm>
            <a:off x="10484724" y="427048"/>
            <a:ext cx="1253576" cy="332979"/>
          </a:xfrm>
          <a:prstGeom prst="rect">
            <a:avLst/>
          </a:prstGeom>
          <a:ln w="3175">
            <a:miter lim="400000"/>
          </a:ln>
        </p:spPr>
      </p:pic>
      <p:sp>
        <p:nvSpPr>
          <p:cNvPr id="29" name="文本框 28"/>
          <p:cNvSpPr txBox="1"/>
          <p:nvPr/>
        </p:nvSpPr>
        <p:spPr>
          <a:xfrm>
            <a:off x="1214667" y="274314"/>
            <a:ext cx="9453327" cy="584775"/>
          </a:xfrm>
          <a:prstGeom prst="rect">
            <a:avLst/>
          </a:prstGeom>
          <a:noFill/>
        </p:spPr>
        <p:txBody>
          <a:bodyPr wrap="square" rtlCol="0">
            <a:spAutoFit/>
          </a:bodyPr>
          <a:lstStyle/>
          <a:p>
            <a:r>
              <a:rPr kumimoji="1" lang="zh-CN" altLang="en-US" sz="3200" b="1" dirty="0"/>
              <a:t>基于经典金融工程理论的火眼金睛 </a:t>
            </a:r>
          </a:p>
        </p:txBody>
      </p:sp>
      <p:sp>
        <p:nvSpPr>
          <p:cNvPr id="33" name="矩形 32">
            <a:extLst>
              <a:ext uri="{FF2B5EF4-FFF2-40B4-BE49-F238E27FC236}">
                <a16:creationId xmlns:a16="http://schemas.microsoft.com/office/drawing/2014/main" id="{07CCDA19-C78F-4FEF-9A33-1AEE922E976D}"/>
              </a:ext>
            </a:extLst>
          </p:cNvPr>
          <p:cNvSpPr/>
          <p:nvPr/>
        </p:nvSpPr>
        <p:spPr>
          <a:xfrm>
            <a:off x="1313439"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FD35F411-A1E5-4031-B455-0E2C81A8D091}"/>
              </a:ext>
            </a:extLst>
          </p:cNvPr>
          <p:cNvSpPr/>
          <p:nvPr/>
        </p:nvSpPr>
        <p:spPr>
          <a:xfrm>
            <a:off x="5387036"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Shape 207">
            <a:extLst>
              <a:ext uri="{FF2B5EF4-FFF2-40B4-BE49-F238E27FC236}">
                <a16:creationId xmlns:a16="http://schemas.microsoft.com/office/drawing/2014/main" id="{88DCFFFE-92B4-4276-982E-0AADE738E7F7}"/>
              </a:ext>
            </a:extLst>
          </p:cNvPr>
          <p:cNvSpPr/>
          <p:nvPr/>
        </p:nvSpPr>
        <p:spPr>
          <a:xfrm>
            <a:off x="1371344" y="1091202"/>
            <a:ext cx="10280722" cy="1089529"/>
          </a:xfrm>
          <a:prstGeom prst="rect">
            <a:avLst/>
          </a:prstGeom>
          <a:ln w="12700">
            <a:miter lim="400000"/>
          </a:ln>
        </p:spPr>
        <p:txBody>
          <a:bodyPr wrap="square" lIns="45719" rIns="45719">
            <a:spAutoFit/>
          </a:bodyPr>
          <a:lstStyle/>
          <a:p>
            <a:pPr lvl="0" indent="457200">
              <a:lnSpc>
                <a:spcPct val="120000"/>
              </a:lnSpc>
              <a:defRPr>
                <a:solidFill>
                  <a:srgbClr val="000000"/>
                </a:solidFill>
              </a:defRPr>
            </a:pPr>
            <a:r>
              <a:rPr lang="zh-CN" altLang="en-US" dirty="0">
                <a:latin typeface="PingFang SC" charset="-122"/>
                <a:ea typeface="PingFang SC" charset="-122"/>
                <a:cs typeface="PingFang SC" charset="-122"/>
              </a:rPr>
              <a:t>智能金融产品画像基于经典金融工程理论，提供一套标准化的金融产品评价监控及预测方案，辅助金融机构和个人投资者评价、监控和预测金融产品的表现。目前涵盖股票和基金等品种，未来将进一步拓展到债券和衍生品领域。</a:t>
            </a:r>
            <a:endParaRPr lang="en-US" altLang="zh-CN" dirty="0">
              <a:latin typeface="PingFang SC" charset="-122"/>
              <a:ea typeface="PingFang SC" charset="-122"/>
              <a:cs typeface="PingFang SC" charset="-122"/>
            </a:endParaRPr>
          </a:p>
        </p:txBody>
      </p:sp>
      <p:grpSp>
        <p:nvGrpSpPr>
          <p:cNvPr id="7" name="组合 6">
            <a:extLst>
              <a:ext uri="{FF2B5EF4-FFF2-40B4-BE49-F238E27FC236}">
                <a16:creationId xmlns:a16="http://schemas.microsoft.com/office/drawing/2014/main" id="{299DA310-5B25-4412-8396-FC8DA38E5E73}"/>
              </a:ext>
            </a:extLst>
          </p:cNvPr>
          <p:cNvGrpSpPr/>
          <p:nvPr/>
        </p:nvGrpSpPr>
        <p:grpSpPr>
          <a:xfrm>
            <a:off x="2265008" y="2861031"/>
            <a:ext cx="3040982" cy="1618379"/>
            <a:chOff x="2255055" y="3939210"/>
            <a:chExt cx="3040982" cy="1618379"/>
          </a:xfrm>
        </p:grpSpPr>
        <p:grpSp>
          <p:nvGrpSpPr>
            <p:cNvPr id="4" name="组合 3">
              <a:extLst>
                <a:ext uri="{FF2B5EF4-FFF2-40B4-BE49-F238E27FC236}">
                  <a16:creationId xmlns:a16="http://schemas.microsoft.com/office/drawing/2014/main" id="{3A01E204-647A-4CA0-AC88-E0F9135260ED}"/>
                </a:ext>
              </a:extLst>
            </p:cNvPr>
            <p:cNvGrpSpPr/>
            <p:nvPr/>
          </p:nvGrpSpPr>
          <p:grpSpPr>
            <a:xfrm>
              <a:off x="2255055" y="3939210"/>
              <a:ext cx="2917830" cy="1618379"/>
              <a:chOff x="2255055" y="3939210"/>
              <a:chExt cx="2917830" cy="1618379"/>
            </a:xfrm>
          </p:grpSpPr>
          <p:grpSp>
            <p:nvGrpSpPr>
              <p:cNvPr id="3" name="组合 2">
                <a:extLst>
                  <a:ext uri="{FF2B5EF4-FFF2-40B4-BE49-F238E27FC236}">
                    <a16:creationId xmlns:a16="http://schemas.microsoft.com/office/drawing/2014/main" id="{287A8E2E-72C6-4521-90B7-FAE6ACCCC44A}"/>
                  </a:ext>
                </a:extLst>
              </p:cNvPr>
              <p:cNvGrpSpPr/>
              <p:nvPr/>
            </p:nvGrpSpPr>
            <p:grpSpPr>
              <a:xfrm>
                <a:off x="3210603" y="4395701"/>
                <a:ext cx="1008000" cy="1008000"/>
                <a:chOff x="3210603" y="4395701"/>
                <a:chExt cx="1008000" cy="1008000"/>
              </a:xfrm>
            </p:grpSpPr>
            <p:sp>
              <p:nvSpPr>
                <p:cNvPr id="2" name="椭圆 1">
                  <a:extLst>
                    <a:ext uri="{FF2B5EF4-FFF2-40B4-BE49-F238E27FC236}">
                      <a16:creationId xmlns:a16="http://schemas.microsoft.com/office/drawing/2014/main" id="{F609E4F8-3600-4DCE-8679-F4A1E52FAEDA}"/>
                    </a:ext>
                  </a:extLst>
                </p:cNvPr>
                <p:cNvSpPr/>
                <p:nvPr/>
              </p:nvSpPr>
              <p:spPr>
                <a:xfrm>
                  <a:off x="3210603" y="4395701"/>
                  <a:ext cx="1008000" cy="1008000"/>
                </a:xfrm>
                <a:prstGeom prst="ellipse">
                  <a:avLst/>
                </a:prstGeom>
                <a:noFill/>
                <a:ln>
                  <a:solidFill>
                    <a:srgbClr val="991E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5" name="文本框 4">
                  <a:extLst>
                    <a:ext uri="{FF2B5EF4-FFF2-40B4-BE49-F238E27FC236}">
                      <a16:creationId xmlns:a16="http://schemas.microsoft.com/office/drawing/2014/main" id="{2961835E-CDB1-4AA4-BE9E-21412329D68A}"/>
                    </a:ext>
                  </a:extLst>
                </p:cNvPr>
                <p:cNvSpPr txBox="1"/>
                <p:nvPr/>
              </p:nvSpPr>
              <p:spPr>
                <a:xfrm>
                  <a:off x="3429291" y="4745813"/>
                  <a:ext cx="570624" cy="307777"/>
                </a:xfrm>
                <a:prstGeom prst="rect">
                  <a:avLst/>
                </a:prstGeom>
                <a:noFill/>
              </p:spPr>
              <p:txBody>
                <a:bodyPr wrap="square" rtlCol="0">
                  <a:spAutoFit/>
                </a:bodyPr>
                <a:lstStyle/>
                <a:p>
                  <a:pPr algn="ctr"/>
                  <a:r>
                    <a:rPr lang="zh-CN" altLang="en-US" sz="1400" dirty="0"/>
                    <a:t>股票</a:t>
                  </a:r>
                </a:p>
              </p:txBody>
            </p:sp>
          </p:grpSp>
          <p:sp>
            <p:nvSpPr>
              <p:cNvPr id="6" name="文本框 5">
                <a:extLst>
                  <a:ext uri="{FF2B5EF4-FFF2-40B4-BE49-F238E27FC236}">
                    <a16:creationId xmlns:a16="http://schemas.microsoft.com/office/drawing/2014/main" id="{B20C1C9C-487B-47C9-AF1C-FE55AD0C4447}"/>
                  </a:ext>
                </a:extLst>
              </p:cNvPr>
              <p:cNvSpPr txBox="1"/>
              <p:nvPr/>
            </p:nvSpPr>
            <p:spPr>
              <a:xfrm>
                <a:off x="2255055" y="4565813"/>
                <a:ext cx="955547" cy="307777"/>
              </a:xfrm>
              <a:prstGeom prst="rect">
                <a:avLst/>
              </a:prstGeom>
              <a:noFill/>
            </p:spPr>
            <p:txBody>
              <a:bodyPr wrap="square" rtlCol="0">
                <a:spAutoFit/>
              </a:bodyPr>
              <a:lstStyle/>
              <a:p>
                <a:pPr algn="ctr"/>
                <a:r>
                  <a:rPr lang="zh-CN" altLang="en-US" sz="1400" dirty="0"/>
                  <a:t>价值表现</a:t>
                </a:r>
              </a:p>
            </p:txBody>
          </p:sp>
          <p:sp>
            <p:nvSpPr>
              <p:cNvPr id="28" name="文本框 27">
                <a:extLst>
                  <a:ext uri="{FF2B5EF4-FFF2-40B4-BE49-F238E27FC236}">
                    <a16:creationId xmlns:a16="http://schemas.microsoft.com/office/drawing/2014/main" id="{7C2E7A32-5BA6-43A4-9484-7748D69CDB83}"/>
                  </a:ext>
                </a:extLst>
              </p:cNvPr>
              <p:cNvSpPr txBox="1"/>
              <p:nvPr/>
            </p:nvSpPr>
            <p:spPr>
              <a:xfrm>
                <a:off x="2936062" y="3939210"/>
                <a:ext cx="939249" cy="307777"/>
              </a:xfrm>
              <a:prstGeom prst="rect">
                <a:avLst/>
              </a:prstGeom>
              <a:noFill/>
            </p:spPr>
            <p:txBody>
              <a:bodyPr wrap="square" rtlCol="0">
                <a:spAutoFit/>
              </a:bodyPr>
              <a:lstStyle/>
              <a:p>
                <a:r>
                  <a:rPr lang="zh-CN" altLang="en-US" sz="1400" dirty="0"/>
                  <a:t>周期表现</a:t>
                </a:r>
              </a:p>
            </p:txBody>
          </p:sp>
          <p:sp>
            <p:nvSpPr>
              <p:cNvPr id="79" name="文本框 78">
                <a:extLst>
                  <a:ext uri="{FF2B5EF4-FFF2-40B4-BE49-F238E27FC236}">
                    <a16:creationId xmlns:a16="http://schemas.microsoft.com/office/drawing/2014/main" id="{09EB4A0C-8F37-4C15-8595-F94AEB60CF15}"/>
                  </a:ext>
                </a:extLst>
              </p:cNvPr>
              <p:cNvSpPr txBox="1"/>
              <p:nvPr/>
            </p:nvSpPr>
            <p:spPr>
              <a:xfrm>
                <a:off x="4015990" y="4169014"/>
                <a:ext cx="1156895" cy="307777"/>
              </a:xfrm>
              <a:prstGeom prst="rect">
                <a:avLst/>
              </a:prstGeom>
              <a:noFill/>
            </p:spPr>
            <p:txBody>
              <a:bodyPr wrap="square" rtlCol="0">
                <a:spAutoFit/>
              </a:bodyPr>
              <a:lstStyle/>
              <a:p>
                <a:r>
                  <a:rPr lang="zh-CN" altLang="en-US" sz="1400" dirty="0"/>
                  <a:t>风险表现</a:t>
                </a:r>
              </a:p>
            </p:txBody>
          </p:sp>
          <p:sp>
            <p:nvSpPr>
              <p:cNvPr id="81" name="文本框 80">
                <a:extLst>
                  <a:ext uri="{FF2B5EF4-FFF2-40B4-BE49-F238E27FC236}">
                    <a16:creationId xmlns:a16="http://schemas.microsoft.com/office/drawing/2014/main" id="{436EAE03-AB72-4C00-90FE-BE696CD1ABD4}"/>
                  </a:ext>
                </a:extLst>
              </p:cNvPr>
              <p:cNvSpPr txBox="1"/>
              <p:nvPr/>
            </p:nvSpPr>
            <p:spPr>
              <a:xfrm>
                <a:off x="2521508" y="5249812"/>
                <a:ext cx="1156895" cy="307777"/>
              </a:xfrm>
              <a:prstGeom prst="rect">
                <a:avLst/>
              </a:prstGeom>
              <a:noFill/>
            </p:spPr>
            <p:txBody>
              <a:bodyPr wrap="square" rtlCol="0">
                <a:spAutoFit/>
              </a:bodyPr>
              <a:lstStyle/>
              <a:p>
                <a:r>
                  <a:rPr lang="zh-CN" altLang="en-US" sz="1400" dirty="0"/>
                  <a:t>盈利表现</a:t>
                </a:r>
              </a:p>
            </p:txBody>
          </p:sp>
        </p:grpSp>
        <p:sp>
          <p:nvSpPr>
            <p:cNvPr id="88" name="文本框 87">
              <a:extLst>
                <a:ext uri="{FF2B5EF4-FFF2-40B4-BE49-F238E27FC236}">
                  <a16:creationId xmlns:a16="http://schemas.microsoft.com/office/drawing/2014/main" id="{DBF4CDE5-89C5-42CB-B424-C7A162C703AE}"/>
                </a:ext>
              </a:extLst>
            </p:cNvPr>
            <p:cNvSpPr txBox="1"/>
            <p:nvPr/>
          </p:nvSpPr>
          <p:spPr>
            <a:xfrm>
              <a:off x="4139142" y="5095924"/>
              <a:ext cx="1156895" cy="307777"/>
            </a:xfrm>
            <a:prstGeom prst="rect">
              <a:avLst/>
            </a:prstGeom>
            <a:noFill/>
          </p:spPr>
          <p:txBody>
            <a:bodyPr wrap="square" rtlCol="0">
              <a:spAutoFit/>
            </a:bodyPr>
            <a:lstStyle/>
            <a:p>
              <a:r>
                <a:rPr lang="zh-CN" altLang="en-US" sz="1400" dirty="0"/>
                <a:t>活跃表现</a:t>
              </a:r>
            </a:p>
          </p:txBody>
        </p:sp>
      </p:grpSp>
      <p:grpSp>
        <p:nvGrpSpPr>
          <p:cNvPr id="8" name="组合 7">
            <a:extLst>
              <a:ext uri="{FF2B5EF4-FFF2-40B4-BE49-F238E27FC236}">
                <a16:creationId xmlns:a16="http://schemas.microsoft.com/office/drawing/2014/main" id="{BC63BF20-A9AE-4E5B-B628-11E28F6C987B}"/>
              </a:ext>
            </a:extLst>
          </p:cNvPr>
          <p:cNvGrpSpPr/>
          <p:nvPr/>
        </p:nvGrpSpPr>
        <p:grpSpPr>
          <a:xfrm>
            <a:off x="6452329" y="2832332"/>
            <a:ext cx="3022233" cy="1618379"/>
            <a:chOff x="5904472" y="3868080"/>
            <a:chExt cx="3022233" cy="1618379"/>
          </a:xfrm>
        </p:grpSpPr>
        <p:grpSp>
          <p:nvGrpSpPr>
            <p:cNvPr id="89" name="组合 88">
              <a:extLst>
                <a:ext uri="{FF2B5EF4-FFF2-40B4-BE49-F238E27FC236}">
                  <a16:creationId xmlns:a16="http://schemas.microsoft.com/office/drawing/2014/main" id="{C402754C-BC8C-4D56-B3C9-5EB7223E8506}"/>
                </a:ext>
              </a:extLst>
            </p:cNvPr>
            <p:cNvGrpSpPr/>
            <p:nvPr/>
          </p:nvGrpSpPr>
          <p:grpSpPr>
            <a:xfrm>
              <a:off x="5904472" y="3868080"/>
              <a:ext cx="2917830" cy="1618379"/>
              <a:chOff x="2255055" y="3939210"/>
              <a:chExt cx="2917830" cy="1618379"/>
            </a:xfrm>
          </p:grpSpPr>
          <p:grpSp>
            <p:nvGrpSpPr>
              <p:cNvPr id="90" name="组合 89">
                <a:extLst>
                  <a:ext uri="{FF2B5EF4-FFF2-40B4-BE49-F238E27FC236}">
                    <a16:creationId xmlns:a16="http://schemas.microsoft.com/office/drawing/2014/main" id="{F07D5ADE-7673-41D0-8BC7-A462578300C4}"/>
                  </a:ext>
                </a:extLst>
              </p:cNvPr>
              <p:cNvGrpSpPr/>
              <p:nvPr/>
            </p:nvGrpSpPr>
            <p:grpSpPr>
              <a:xfrm>
                <a:off x="3210603" y="4395701"/>
                <a:ext cx="1008000" cy="1008000"/>
                <a:chOff x="3210603" y="4395701"/>
                <a:chExt cx="1008000" cy="1008000"/>
              </a:xfrm>
            </p:grpSpPr>
            <p:sp>
              <p:nvSpPr>
                <p:cNvPr id="104" name="椭圆 103">
                  <a:extLst>
                    <a:ext uri="{FF2B5EF4-FFF2-40B4-BE49-F238E27FC236}">
                      <a16:creationId xmlns:a16="http://schemas.microsoft.com/office/drawing/2014/main" id="{99F22233-4EE4-440B-A094-DD98D53A7AEA}"/>
                    </a:ext>
                  </a:extLst>
                </p:cNvPr>
                <p:cNvSpPr/>
                <p:nvPr/>
              </p:nvSpPr>
              <p:spPr>
                <a:xfrm>
                  <a:off x="3210603" y="4395701"/>
                  <a:ext cx="1008000" cy="1008000"/>
                </a:xfrm>
                <a:prstGeom prst="ellipse">
                  <a:avLst/>
                </a:prstGeom>
                <a:noFill/>
                <a:ln>
                  <a:solidFill>
                    <a:srgbClr val="D2A1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07" name="文本框 106">
                  <a:extLst>
                    <a:ext uri="{FF2B5EF4-FFF2-40B4-BE49-F238E27FC236}">
                      <a16:creationId xmlns:a16="http://schemas.microsoft.com/office/drawing/2014/main" id="{A25949B5-4924-4B03-87AF-488E37932AF9}"/>
                    </a:ext>
                  </a:extLst>
                </p:cNvPr>
                <p:cNvSpPr txBox="1"/>
                <p:nvPr/>
              </p:nvSpPr>
              <p:spPr>
                <a:xfrm>
                  <a:off x="3429291" y="4745813"/>
                  <a:ext cx="570624" cy="307777"/>
                </a:xfrm>
                <a:prstGeom prst="rect">
                  <a:avLst/>
                </a:prstGeom>
                <a:noFill/>
              </p:spPr>
              <p:txBody>
                <a:bodyPr wrap="square" rtlCol="0">
                  <a:spAutoFit/>
                </a:bodyPr>
                <a:lstStyle/>
                <a:p>
                  <a:pPr algn="ctr"/>
                  <a:r>
                    <a:rPr lang="zh-CN" altLang="en-US" sz="1400" dirty="0"/>
                    <a:t>基金</a:t>
                  </a:r>
                </a:p>
              </p:txBody>
            </p:sp>
          </p:grpSp>
          <p:sp>
            <p:nvSpPr>
              <p:cNvPr id="91" name="文本框 90">
                <a:extLst>
                  <a:ext uri="{FF2B5EF4-FFF2-40B4-BE49-F238E27FC236}">
                    <a16:creationId xmlns:a16="http://schemas.microsoft.com/office/drawing/2014/main" id="{0A44655C-FD26-41A8-B9B0-3BCAA794B4DA}"/>
                  </a:ext>
                </a:extLst>
              </p:cNvPr>
              <p:cNvSpPr txBox="1"/>
              <p:nvPr/>
            </p:nvSpPr>
            <p:spPr>
              <a:xfrm>
                <a:off x="2255055" y="4565813"/>
                <a:ext cx="955547" cy="307777"/>
              </a:xfrm>
              <a:prstGeom prst="rect">
                <a:avLst/>
              </a:prstGeom>
              <a:noFill/>
            </p:spPr>
            <p:txBody>
              <a:bodyPr wrap="square" rtlCol="0">
                <a:spAutoFit/>
              </a:bodyPr>
              <a:lstStyle/>
              <a:p>
                <a:pPr algn="ctr"/>
                <a:r>
                  <a:rPr lang="zh-CN" altLang="en-US" sz="1400" dirty="0"/>
                  <a:t>价值表现</a:t>
                </a:r>
              </a:p>
            </p:txBody>
          </p:sp>
          <p:sp>
            <p:nvSpPr>
              <p:cNvPr id="92" name="文本框 91">
                <a:extLst>
                  <a:ext uri="{FF2B5EF4-FFF2-40B4-BE49-F238E27FC236}">
                    <a16:creationId xmlns:a16="http://schemas.microsoft.com/office/drawing/2014/main" id="{8CB14442-B014-4014-979D-0FD7CD683BDA}"/>
                  </a:ext>
                </a:extLst>
              </p:cNvPr>
              <p:cNvSpPr txBox="1"/>
              <p:nvPr/>
            </p:nvSpPr>
            <p:spPr>
              <a:xfrm>
                <a:off x="2936062" y="3939210"/>
                <a:ext cx="939249" cy="307777"/>
              </a:xfrm>
              <a:prstGeom prst="rect">
                <a:avLst/>
              </a:prstGeom>
              <a:noFill/>
            </p:spPr>
            <p:txBody>
              <a:bodyPr wrap="square" rtlCol="0">
                <a:spAutoFit/>
              </a:bodyPr>
              <a:lstStyle/>
              <a:p>
                <a:r>
                  <a:rPr lang="zh-CN" altLang="en-US" sz="1400" dirty="0"/>
                  <a:t>周期表现</a:t>
                </a:r>
              </a:p>
            </p:txBody>
          </p:sp>
          <p:sp>
            <p:nvSpPr>
              <p:cNvPr id="102" name="文本框 101">
                <a:extLst>
                  <a:ext uri="{FF2B5EF4-FFF2-40B4-BE49-F238E27FC236}">
                    <a16:creationId xmlns:a16="http://schemas.microsoft.com/office/drawing/2014/main" id="{87DAE81F-EF92-4C99-AF47-B4ADF8EBB4C6}"/>
                  </a:ext>
                </a:extLst>
              </p:cNvPr>
              <p:cNvSpPr txBox="1"/>
              <p:nvPr/>
            </p:nvSpPr>
            <p:spPr>
              <a:xfrm>
                <a:off x="4015990" y="4169014"/>
                <a:ext cx="1156895" cy="307777"/>
              </a:xfrm>
              <a:prstGeom prst="rect">
                <a:avLst/>
              </a:prstGeom>
              <a:noFill/>
            </p:spPr>
            <p:txBody>
              <a:bodyPr wrap="square" rtlCol="0">
                <a:spAutoFit/>
              </a:bodyPr>
              <a:lstStyle/>
              <a:p>
                <a:r>
                  <a:rPr lang="zh-CN" altLang="en-US" sz="1400" dirty="0"/>
                  <a:t>风险表现</a:t>
                </a:r>
              </a:p>
            </p:txBody>
          </p:sp>
          <p:sp>
            <p:nvSpPr>
              <p:cNvPr id="103" name="文本框 102">
                <a:extLst>
                  <a:ext uri="{FF2B5EF4-FFF2-40B4-BE49-F238E27FC236}">
                    <a16:creationId xmlns:a16="http://schemas.microsoft.com/office/drawing/2014/main" id="{7629C268-2F49-49F9-AE6E-86136933D0F0}"/>
                  </a:ext>
                </a:extLst>
              </p:cNvPr>
              <p:cNvSpPr txBox="1"/>
              <p:nvPr/>
            </p:nvSpPr>
            <p:spPr>
              <a:xfrm>
                <a:off x="2521508" y="5249812"/>
                <a:ext cx="1156895" cy="307777"/>
              </a:xfrm>
              <a:prstGeom prst="rect">
                <a:avLst/>
              </a:prstGeom>
              <a:noFill/>
            </p:spPr>
            <p:txBody>
              <a:bodyPr wrap="square" rtlCol="0">
                <a:spAutoFit/>
              </a:bodyPr>
              <a:lstStyle/>
              <a:p>
                <a:r>
                  <a:rPr lang="zh-CN" altLang="en-US" sz="1400" dirty="0"/>
                  <a:t>盈利表现</a:t>
                </a:r>
              </a:p>
            </p:txBody>
          </p:sp>
        </p:grpSp>
        <p:sp>
          <p:nvSpPr>
            <p:cNvPr id="108" name="文本框 107">
              <a:extLst>
                <a:ext uri="{FF2B5EF4-FFF2-40B4-BE49-F238E27FC236}">
                  <a16:creationId xmlns:a16="http://schemas.microsoft.com/office/drawing/2014/main" id="{0BC35857-5369-4FE6-9984-D5895F82980D}"/>
                </a:ext>
              </a:extLst>
            </p:cNvPr>
            <p:cNvSpPr txBox="1"/>
            <p:nvPr/>
          </p:nvSpPr>
          <p:spPr>
            <a:xfrm>
              <a:off x="7769810" y="5095924"/>
              <a:ext cx="1156895" cy="307777"/>
            </a:xfrm>
            <a:prstGeom prst="rect">
              <a:avLst/>
            </a:prstGeom>
            <a:noFill/>
          </p:spPr>
          <p:txBody>
            <a:bodyPr wrap="square" rtlCol="0">
              <a:spAutoFit/>
            </a:bodyPr>
            <a:lstStyle/>
            <a:p>
              <a:r>
                <a:rPr lang="zh-CN" altLang="en-US" sz="1400" dirty="0"/>
                <a:t>业绩归因</a:t>
              </a:r>
            </a:p>
          </p:txBody>
        </p:sp>
      </p:grpSp>
    </p:spTree>
    <p:extLst>
      <p:ext uri="{BB962C8B-B14F-4D97-AF65-F5344CB8AC3E}">
        <p14:creationId xmlns:p14="http://schemas.microsoft.com/office/powerpoint/2010/main" val="3565507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0" name="14441896787_163b98fa52_b.jpg" descr="14441896787_163b98fa52_b.jpg"/>
          <p:cNvPicPr>
            <a:picLocks noChangeAspect="1"/>
          </p:cNvPicPr>
          <p:nvPr/>
        </p:nvPicPr>
        <p:blipFill>
          <a:blip r:embed="rId2">
            <a:alphaModFix amt="23803"/>
            <a:extLst/>
          </a:blip>
          <a:stretch>
            <a:fillRect/>
          </a:stretch>
        </p:blipFill>
        <p:spPr>
          <a:xfrm>
            <a:off x="0" y="0"/>
            <a:ext cx="12192000" cy="6858000"/>
          </a:xfrm>
          <a:prstGeom prst="rect">
            <a:avLst/>
          </a:prstGeom>
          <a:ln w="3175">
            <a:miter lim="400000"/>
          </a:ln>
        </p:spPr>
      </p:pic>
      <p:pic>
        <p:nvPicPr>
          <p:cNvPr id="171" name="图像" descr="图像"/>
          <p:cNvPicPr>
            <a:picLocks noChangeAspect="1"/>
          </p:cNvPicPr>
          <p:nvPr/>
        </p:nvPicPr>
        <p:blipFill>
          <a:blip r:embed="rId3">
            <a:extLst/>
          </a:blip>
          <a:stretch>
            <a:fillRect/>
          </a:stretch>
        </p:blipFill>
        <p:spPr>
          <a:xfrm>
            <a:off x="10444834" y="466533"/>
            <a:ext cx="1253577" cy="332979"/>
          </a:xfrm>
          <a:prstGeom prst="rect">
            <a:avLst/>
          </a:prstGeom>
          <a:ln w="3175">
            <a:miter lim="400000"/>
          </a:ln>
        </p:spPr>
      </p:pic>
      <p:sp>
        <p:nvSpPr>
          <p:cNvPr id="172" name="矩形"/>
          <p:cNvSpPr/>
          <p:nvPr/>
        </p:nvSpPr>
        <p:spPr>
          <a:xfrm>
            <a:off x="-48235" y="1797772"/>
            <a:ext cx="7761787" cy="2983056"/>
          </a:xfrm>
          <a:prstGeom prst="rect">
            <a:avLst/>
          </a:prstGeom>
          <a:solidFill>
            <a:srgbClr val="CAA354"/>
          </a:solidFill>
          <a:ln w="3175">
            <a:miter lim="400000"/>
          </a:ln>
        </p:spPr>
        <p:txBody>
          <a:bodyPr lIns="26789" tIns="26789" rIns="26789" bIns="26789" anchor="ctr"/>
          <a:lstStyle/>
          <a:p>
            <a:pPr>
              <a:defRPr sz="1400">
                <a:latin typeface="+mn-lt"/>
                <a:ea typeface="+mn-ea"/>
                <a:cs typeface="+mn-cs"/>
                <a:sym typeface="Helvetica Neue Medium"/>
              </a:defRPr>
            </a:pPr>
            <a:endParaRPr/>
          </a:p>
        </p:txBody>
      </p:sp>
      <p:sp>
        <p:nvSpPr>
          <p:cNvPr id="173" name="大标题"/>
          <p:cNvSpPr txBox="1"/>
          <p:nvPr/>
        </p:nvSpPr>
        <p:spPr>
          <a:xfrm>
            <a:off x="237258" y="2262082"/>
            <a:ext cx="7935192" cy="1716095"/>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3800">
                <a:latin typeface="PingFang SC Semibold"/>
                <a:ea typeface="PingFang SC Semibold"/>
                <a:cs typeface="PingFang SC Semibold"/>
                <a:sym typeface="PingFang SC Semibold"/>
              </a:defRPr>
            </a:lvl1pPr>
          </a:lstStyle>
          <a:p>
            <a:pPr algn="l"/>
            <a:r>
              <a:rPr lang="zh-CN" altLang="en-US" sz="3600" dirty="0">
                <a:solidFill>
                  <a:schemeClr val="bg1"/>
                </a:solidFill>
              </a:rPr>
              <a:t>智能教育：</a:t>
            </a:r>
            <a:endParaRPr lang="en-US" altLang="zh-CN" sz="3600" dirty="0">
              <a:solidFill>
                <a:schemeClr val="bg1"/>
              </a:solidFill>
            </a:endParaRPr>
          </a:p>
          <a:p>
            <a:pPr algn="l"/>
            <a:r>
              <a:rPr lang="zh-CN" altLang="en-US" sz="3600" dirty="0">
                <a:solidFill>
                  <a:schemeClr val="bg1"/>
                </a:solidFill>
              </a:rPr>
              <a:t>千人千面的金融教学</a:t>
            </a:r>
            <a:endParaRPr lang="en-US" altLang="zh-CN" sz="3600" dirty="0">
              <a:solidFill>
                <a:schemeClr val="bg1"/>
              </a:solidFill>
            </a:endParaRPr>
          </a:p>
          <a:p>
            <a:pPr algn="l"/>
            <a:r>
              <a:rPr lang="zh-CN" altLang="en-US" sz="3600" dirty="0">
                <a:solidFill>
                  <a:schemeClr val="bg1"/>
                </a:solidFill>
              </a:rPr>
              <a:t>知你所需，因你而变</a:t>
            </a:r>
            <a:endParaRPr sz="3600" dirty="0">
              <a:solidFill>
                <a:schemeClr val="bg1"/>
              </a:solidFill>
            </a:endParaRPr>
          </a:p>
        </p:txBody>
      </p:sp>
      <p:sp>
        <p:nvSpPr>
          <p:cNvPr id="175" name="矩形"/>
          <p:cNvSpPr/>
          <p:nvPr/>
        </p:nvSpPr>
        <p:spPr>
          <a:xfrm>
            <a:off x="189304" y="219031"/>
            <a:ext cx="11813392" cy="6419938"/>
          </a:xfrm>
          <a:prstGeom prst="rect">
            <a:avLst/>
          </a:prstGeom>
          <a:ln>
            <a:solidFill>
              <a:srgbClr val="FFFFFF"/>
            </a:solidFill>
            <a:miter lim="400000"/>
          </a:ln>
        </p:spPr>
        <p:txBody>
          <a:bodyPr lIns="26789" tIns="26789" rIns="26789" bIns="26789" anchor="ctr"/>
          <a:lstStyle/>
          <a:p>
            <a:pPr>
              <a:defRPr sz="1400">
                <a:latin typeface="+mn-lt"/>
                <a:ea typeface="+mn-ea"/>
                <a:cs typeface="+mn-cs"/>
                <a:sym typeface="Helvetica Neue Medium"/>
              </a:defRPr>
            </a:pPr>
            <a:endParaRPr/>
          </a:p>
        </p:txBody>
      </p:sp>
    </p:spTree>
    <p:extLst>
      <p:ext uri="{BB962C8B-B14F-4D97-AF65-F5344CB8AC3E}">
        <p14:creationId xmlns:p14="http://schemas.microsoft.com/office/powerpoint/2010/main" val="25554718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图表 3"/>
          <p:cNvGraphicFramePr/>
          <p:nvPr>
            <p:extLst>
              <p:ext uri="{D42A27DB-BD31-4B8C-83A1-F6EECF244321}">
                <p14:modId xmlns:p14="http://schemas.microsoft.com/office/powerpoint/2010/main" val="1612038923"/>
              </p:ext>
            </p:extLst>
          </p:nvPr>
        </p:nvGraphicFramePr>
        <p:xfrm>
          <a:off x="1361676" y="4971258"/>
          <a:ext cx="10042601" cy="11231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70"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71"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latin typeface="SimSun" charset="-122"/>
              <a:ea typeface="SimSun" charset="-122"/>
              <a:cs typeface="SimSun" charset="-122"/>
            </a:endParaRPr>
          </a:p>
        </p:txBody>
      </p:sp>
      <p:sp>
        <p:nvSpPr>
          <p:cNvPr id="172"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latin typeface="SimSun" charset="-122"/>
              <a:ea typeface="SimSun" charset="-122"/>
              <a:cs typeface="SimSun" charset="-122"/>
            </a:endParaRPr>
          </a:p>
        </p:txBody>
      </p:sp>
      <p:sp>
        <p:nvSpPr>
          <p:cNvPr id="173" name="03"/>
          <p:cNvSpPr txBox="1"/>
          <p:nvPr/>
        </p:nvSpPr>
        <p:spPr>
          <a:xfrm>
            <a:off x="356995" y="6356108"/>
            <a:ext cx="182341" cy="207990"/>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lvl1pPr>
              <a:defRPr sz="1000">
                <a:solidFill>
                  <a:srgbClr val="CAA354"/>
                </a:solidFill>
                <a:latin typeface="PingFang SC Regular"/>
                <a:ea typeface="PingFang SC Regular"/>
                <a:cs typeface="PingFang SC Regular"/>
                <a:sym typeface="PingFang SC Regular"/>
              </a:defRPr>
            </a:lvl1pPr>
          </a:lstStyle>
          <a:p>
            <a:r>
              <a:rPr dirty="0">
                <a:latin typeface="SimSun" charset="-122"/>
                <a:ea typeface="SimSun" charset="-122"/>
                <a:cs typeface="SimSun" charset="-122"/>
              </a:rPr>
              <a:t>03</a:t>
            </a:r>
          </a:p>
        </p:txBody>
      </p:sp>
      <p:pic>
        <p:nvPicPr>
          <p:cNvPr id="175" name="图像" descr="图像"/>
          <p:cNvPicPr>
            <a:picLocks noChangeAspect="1"/>
          </p:cNvPicPr>
          <p:nvPr/>
        </p:nvPicPr>
        <p:blipFill>
          <a:blip r:embed="rId7">
            <a:extLst/>
          </a:blip>
          <a:stretch>
            <a:fillRect/>
          </a:stretch>
        </p:blipFill>
        <p:spPr>
          <a:xfrm>
            <a:off x="10484724" y="427048"/>
            <a:ext cx="1253576" cy="332979"/>
          </a:xfrm>
          <a:prstGeom prst="rect">
            <a:avLst/>
          </a:prstGeom>
          <a:ln w="3175">
            <a:miter lim="400000"/>
          </a:ln>
        </p:spPr>
      </p:pic>
      <p:sp>
        <p:nvSpPr>
          <p:cNvPr id="9" name="公司简介"/>
          <p:cNvSpPr txBox="1"/>
          <p:nvPr/>
        </p:nvSpPr>
        <p:spPr>
          <a:xfrm>
            <a:off x="1625108" y="2443178"/>
            <a:ext cx="8814828" cy="731210"/>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pPr defTabSz="410765" hangingPunct="0"/>
            <a:r>
              <a:rPr lang="zh-CN" altLang="en-US" sz="2400" dirty="0">
                <a:solidFill>
                  <a:srgbClr val="000000"/>
                </a:solidFill>
                <a:latin typeface="+mn-lt"/>
                <a:ea typeface="+mn-ea"/>
                <a:cs typeface="+mn-cs"/>
              </a:rPr>
              <a:t>      </a:t>
            </a:r>
            <a:r>
              <a:rPr lang="zh-CN" altLang="en-US" dirty="0">
                <a:solidFill>
                  <a:srgbClr val="000000"/>
                </a:solidFill>
                <a:latin typeface="+mn-lt"/>
                <a:ea typeface="+mn-ea"/>
                <a:cs typeface="+mn-cs"/>
              </a:rPr>
              <a:t>有别于传统千篇一律的教育模式，智能教育给到投资者的是千人千面</a:t>
            </a:r>
            <a:r>
              <a:rPr lang="zh-CN" altLang="zh-CN" dirty="0">
                <a:solidFill>
                  <a:srgbClr val="000000"/>
                </a:solidFill>
                <a:latin typeface="+mn-lt"/>
                <a:ea typeface="+mn-ea"/>
                <a:cs typeface="+mn-cs"/>
              </a:rPr>
              <a:t>的个性化</a:t>
            </a:r>
            <a:r>
              <a:rPr lang="zh-CN" altLang="en-US" dirty="0">
                <a:solidFill>
                  <a:srgbClr val="000000"/>
                </a:solidFill>
                <a:latin typeface="+mn-lt"/>
                <a:ea typeface="+mn-ea"/>
                <a:cs typeface="+mn-cs"/>
              </a:rPr>
              <a:t>金融投资教学。</a:t>
            </a:r>
            <a:endParaRPr lang="en-US" altLang="zh-CN" dirty="0">
              <a:solidFill>
                <a:srgbClr val="000000"/>
              </a:solidFill>
              <a:latin typeface="+mn-lt"/>
              <a:ea typeface="+mn-ea"/>
              <a:cs typeface="+mn-cs"/>
            </a:endParaRPr>
          </a:p>
        </p:txBody>
      </p:sp>
      <p:sp>
        <p:nvSpPr>
          <p:cNvPr id="14" name="公司简介"/>
          <p:cNvSpPr txBox="1"/>
          <p:nvPr/>
        </p:nvSpPr>
        <p:spPr>
          <a:xfrm>
            <a:off x="1625109" y="3273313"/>
            <a:ext cx="9271492" cy="669654"/>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pPr algn="l"/>
            <a:r>
              <a:rPr lang="zh-CN" altLang="en-US" dirty="0">
                <a:solidFill>
                  <a:srgbClr val="000000"/>
                </a:solidFill>
                <a:latin typeface="+mn-lt"/>
                <a:ea typeface="+mn-ea"/>
                <a:cs typeface="+mn-cs"/>
              </a:rPr>
              <a:t>        即：基于智能投资者画像，结合金融知识图谱与推荐技术，向</a:t>
            </a:r>
            <a:r>
              <a:rPr lang="zh-CN" altLang="zh-CN" dirty="0">
                <a:solidFill>
                  <a:srgbClr val="000000"/>
                </a:solidFill>
                <a:latin typeface="+mn-lt"/>
                <a:ea typeface="+mn-ea"/>
                <a:cs typeface="+mn-cs"/>
              </a:rPr>
              <a:t>不同</a:t>
            </a:r>
            <a:r>
              <a:rPr lang="zh-CN" altLang="en-US" dirty="0">
                <a:solidFill>
                  <a:srgbClr val="000000"/>
                </a:solidFill>
                <a:latin typeface="+mn-lt"/>
                <a:ea typeface="+mn-ea"/>
                <a:cs typeface="+mn-cs"/>
              </a:rPr>
              <a:t>投资者推荐个性化</a:t>
            </a:r>
            <a:r>
              <a:rPr lang="zh-CN" altLang="zh-CN" dirty="0">
                <a:solidFill>
                  <a:srgbClr val="000000"/>
                </a:solidFill>
                <a:latin typeface="+mn-lt"/>
                <a:ea typeface="+mn-ea"/>
                <a:cs typeface="+mn-cs"/>
              </a:rPr>
              <a:t>的</a:t>
            </a:r>
            <a:r>
              <a:rPr lang="zh-CN" altLang="en-US" dirty="0">
                <a:solidFill>
                  <a:srgbClr val="000000"/>
                </a:solidFill>
                <a:latin typeface="+mn-lt"/>
                <a:ea typeface="+mn-ea"/>
                <a:cs typeface="+mn-cs"/>
              </a:rPr>
              <a:t>金融</a:t>
            </a:r>
            <a:r>
              <a:rPr lang="zh-CN" altLang="zh-CN" dirty="0">
                <a:solidFill>
                  <a:srgbClr val="000000"/>
                </a:solidFill>
                <a:latin typeface="+mn-lt"/>
                <a:ea typeface="+mn-ea"/>
                <a:cs typeface="+mn-cs"/>
              </a:rPr>
              <a:t>投资</a:t>
            </a:r>
            <a:r>
              <a:rPr lang="zh-CN" altLang="en-US" dirty="0">
                <a:solidFill>
                  <a:srgbClr val="000000"/>
                </a:solidFill>
                <a:latin typeface="+mn-lt"/>
                <a:ea typeface="+mn-ea"/>
                <a:cs typeface="+mn-cs"/>
              </a:rPr>
              <a:t>教学内容。</a:t>
            </a:r>
            <a:endParaRPr lang="en-US" altLang="zh-CN" dirty="0">
              <a:solidFill>
                <a:srgbClr val="000000"/>
              </a:solidFill>
              <a:latin typeface="+mn-lt"/>
              <a:ea typeface="+mn-ea"/>
              <a:cs typeface="+mn-cs"/>
            </a:endParaRPr>
          </a:p>
        </p:txBody>
      </p:sp>
      <p:sp>
        <p:nvSpPr>
          <p:cNvPr id="5" name="剪去对角的矩形 4"/>
          <p:cNvSpPr/>
          <p:nvPr/>
        </p:nvSpPr>
        <p:spPr>
          <a:xfrm>
            <a:off x="1405168" y="2270917"/>
            <a:ext cx="9745432" cy="1907383"/>
          </a:xfrm>
          <a:prstGeom prst="snip2DiagRect">
            <a:avLst/>
          </a:prstGeom>
          <a:noFill/>
          <a:ln w="25400">
            <a:solidFill>
              <a:srgbClr val="991E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p:cNvSpPr txBox="1"/>
          <p:nvPr/>
        </p:nvSpPr>
        <p:spPr>
          <a:xfrm>
            <a:off x="1402338" y="466170"/>
            <a:ext cx="8782806" cy="584775"/>
          </a:xfrm>
          <a:prstGeom prst="rect">
            <a:avLst/>
          </a:prstGeom>
          <a:noFill/>
        </p:spPr>
        <p:txBody>
          <a:bodyPr wrap="square" rtlCol="0">
            <a:spAutoFit/>
          </a:bodyPr>
          <a:lstStyle/>
          <a:p>
            <a:r>
              <a:rPr kumimoji="1" lang="zh-CN" altLang="en-US" sz="3200" b="1" dirty="0"/>
              <a:t>给予投资者千人千面的金融投资教学</a:t>
            </a:r>
          </a:p>
        </p:txBody>
      </p:sp>
      <p:sp>
        <p:nvSpPr>
          <p:cNvPr id="15" name="矩形 14">
            <a:extLst>
              <a:ext uri="{FF2B5EF4-FFF2-40B4-BE49-F238E27FC236}">
                <a16:creationId xmlns:a16="http://schemas.microsoft.com/office/drawing/2014/main" id="{07CCDA19-C78F-4FEF-9A33-1AEE922E976D}"/>
              </a:ext>
            </a:extLst>
          </p:cNvPr>
          <p:cNvSpPr/>
          <p:nvPr/>
        </p:nvSpPr>
        <p:spPr>
          <a:xfrm>
            <a:off x="1478539" y="12285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FD35F411-A1E5-4031-B455-0E2C81A8D091}"/>
              </a:ext>
            </a:extLst>
          </p:cNvPr>
          <p:cNvSpPr/>
          <p:nvPr/>
        </p:nvSpPr>
        <p:spPr>
          <a:xfrm>
            <a:off x="5552136" y="12285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5426665" y="1759998"/>
            <a:ext cx="1668379" cy="423433"/>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2400" dirty="0">
                <a:solidFill>
                  <a:srgbClr val="000000"/>
                </a:solidFill>
              </a:rPr>
              <a:t>智能教育</a:t>
            </a:r>
          </a:p>
        </p:txBody>
      </p:sp>
    </p:spTree>
    <p:extLst>
      <p:ext uri="{BB962C8B-B14F-4D97-AF65-F5344CB8AC3E}">
        <p14:creationId xmlns:p14="http://schemas.microsoft.com/office/powerpoint/2010/main" val="12004183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71"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latin typeface="SimSun" charset="-122"/>
              <a:ea typeface="SimSun" charset="-122"/>
              <a:cs typeface="SimSun" charset="-122"/>
            </a:endParaRPr>
          </a:p>
        </p:txBody>
      </p:sp>
      <p:sp>
        <p:nvSpPr>
          <p:cNvPr id="172"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latin typeface="SimSun" charset="-122"/>
              <a:ea typeface="SimSun" charset="-122"/>
              <a:cs typeface="SimSun" charset="-122"/>
            </a:endParaRPr>
          </a:p>
        </p:txBody>
      </p:sp>
      <p:sp>
        <p:nvSpPr>
          <p:cNvPr id="173" name="03"/>
          <p:cNvSpPr txBox="1"/>
          <p:nvPr/>
        </p:nvSpPr>
        <p:spPr>
          <a:xfrm>
            <a:off x="356995" y="6356108"/>
            <a:ext cx="182341" cy="207990"/>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lvl1pPr>
              <a:defRPr sz="1000">
                <a:solidFill>
                  <a:srgbClr val="CAA354"/>
                </a:solidFill>
                <a:latin typeface="PingFang SC Regular"/>
                <a:ea typeface="PingFang SC Regular"/>
                <a:cs typeface="PingFang SC Regular"/>
                <a:sym typeface="PingFang SC Regular"/>
              </a:defRPr>
            </a:lvl1pPr>
          </a:lstStyle>
          <a:p>
            <a:r>
              <a:rPr dirty="0">
                <a:latin typeface="SimSun" charset="-122"/>
                <a:ea typeface="SimSun" charset="-122"/>
                <a:cs typeface="SimSun" charset="-122"/>
              </a:rPr>
              <a:t>03</a:t>
            </a:r>
          </a:p>
        </p:txBody>
      </p:sp>
      <p:pic>
        <p:nvPicPr>
          <p:cNvPr id="175" name="图像" descr="图像"/>
          <p:cNvPicPr>
            <a:picLocks noChangeAspect="1"/>
          </p:cNvPicPr>
          <p:nvPr/>
        </p:nvPicPr>
        <p:blipFill>
          <a:blip r:embed="rId3">
            <a:extLst/>
          </a:blip>
          <a:stretch>
            <a:fillRect/>
          </a:stretch>
        </p:blipFill>
        <p:spPr>
          <a:xfrm>
            <a:off x="10484724" y="427048"/>
            <a:ext cx="1253576" cy="332979"/>
          </a:xfrm>
          <a:prstGeom prst="rect">
            <a:avLst/>
          </a:prstGeom>
          <a:ln w="3175">
            <a:miter lim="400000"/>
          </a:ln>
        </p:spPr>
      </p:pic>
      <p:sp>
        <p:nvSpPr>
          <p:cNvPr id="18" name="文本框 17"/>
          <p:cNvSpPr txBox="1"/>
          <p:nvPr/>
        </p:nvSpPr>
        <p:spPr>
          <a:xfrm>
            <a:off x="1327561" y="473651"/>
            <a:ext cx="8700805" cy="584775"/>
          </a:xfrm>
          <a:prstGeom prst="rect">
            <a:avLst/>
          </a:prstGeom>
          <a:noFill/>
        </p:spPr>
        <p:txBody>
          <a:bodyPr wrap="square" rtlCol="0">
            <a:spAutoFit/>
          </a:bodyPr>
          <a:lstStyle/>
          <a:p>
            <a:r>
              <a:rPr kumimoji="1" lang="zh-CN" altLang="en-US" sz="3200" b="1" dirty="0"/>
              <a:t>我们知道这不是你想要的，这不是你期待的</a:t>
            </a:r>
          </a:p>
        </p:txBody>
      </p:sp>
      <p:sp>
        <p:nvSpPr>
          <p:cNvPr id="20" name="矩形 19">
            <a:extLst>
              <a:ext uri="{FF2B5EF4-FFF2-40B4-BE49-F238E27FC236}">
                <a16:creationId xmlns:a16="http://schemas.microsoft.com/office/drawing/2014/main" id="{07CCDA19-C78F-4FEF-9A33-1AEE922E976D}"/>
              </a:ext>
            </a:extLst>
          </p:cNvPr>
          <p:cNvSpPr/>
          <p:nvPr/>
        </p:nvSpPr>
        <p:spPr>
          <a:xfrm>
            <a:off x="1478539" y="12285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FD35F411-A1E5-4031-B455-0E2C81A8D091}"/>
              </a:ext>
            </a:extLst>
          </p:cNvPr>
          <p:cNvSpPr/>
          <p:nvPr/>
        </p:nvSpPr>
        <p:spPr>
          <a:xfrm>
            <a:off x="5552136" y="12285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a:extLst>
              <a:ext uri="{FF2B5EF4-FFF2-40B4-BE49-F238E27FC236}">
                <a16:creationId xmlns:a16="http://schemas.microsoft.com/office/drawing/2014/main" id="{F0B29DDE-DD78-4C65-975F-6A7945A84283}"/>
              </a:ext>
            </a:extLst>
          </p:cNvPr>
          <p:cNvGrpSpPr/>
          <p:nvPr/>
        </p:nvGrpSpPr>
        <p:grpSpPr>
          <a:xfrm>
            <a:off x="2221167" y="2458259"/>
            <a:ext cx="8157879" cy="3941967"/>
            <a:chOff x="2322606" y="1502537"/>
            <a:chExt cx="8157879" cy="3941967"/>
          </a:xfrm>
        </p:grpSpPr>
        <p:sp>
          <p:nvSpPr>
            <p:cNvPr id="3" name="矩形 2"/>
            <p:cNvSpPr/>
            <p:nvPr/>
          </p:nvSpPr>
          <p:spPr>
            <a:xfrm>
              <a:off x="2344765" y="4931543"/>
              <a:ext cx="3467211" cy="508000"/>
            </a:xfrm>
            <a:prstGeom prst="rect">
              <a:avLst/>
            </a:prstGeom>
            <a:solidFill>
              <a:srgbClr val="991E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小白用户学炒股烦恼</a:t>
              </a:r>
              <a:endParaRPr kumimoji="1" lang="en-US" altLang="zh-CN" dirty="0"/>
            </a:p>
          </p:txBody>
        </p:sp>
        <p:pic>
          <p:nvPicPr>
            <p:cNvPr id="6" name="图片 5"/>
            <p:cNvPicPr>
              <a:picLocks noChangeAspect="1"/>
            </p:cNvPicPr>
            <p:nvPr/>
          </p:nvPicPr>
          <p:blipFill>
            <a:blip r:embed="rId4"/>
            <a:stretch>
              <a:fillRect/>
            </a:stretch>
          </p:blipFill>
          <p:spPr>
            <a:xfrm>
              <a:off x="2322606" y="1736697"/>
              <a:ext cx="1216531" cy="1357170"/>
            </a:xfrm>
            <a:prstGeom prst="rect">
              <a:avLst/>
            </a:prstGeom>
          </p:spPr>
        </p:pic>
        <p:pic>
          <p:nvPicPr>
            <p:cNvPr id="4" name="图片 3"/>
            <p:cNvPicPr>
              <a:picLocks noChangeAspect="1"/>
            </p:cNvPicPr>
            <p:nvPr/>
          </p:nvPicPr>
          <p:blipFill>
            <a:blip r:embed="rId5"/>
            <a:stretch>
              <a:fillRect/>
            </a:stretch>
          </p:blipFill>
          <p:spPr>
            <a:xfrm>
              <a:off x="2928991" y="2892455"/>
              <a:ext cx="1691428" cy="2039088"/>
            </a:xfrm>
            <a:prstGeom prst="rect">
              <a:avLst/>
            </a:prstGeom>
          </p:spPr>
        </p:pic>
        <p:sp>
          <p:nvSpPr>
            <p:cNvPr id="7" name="圆角矩形标注 6"/>
            <p:cNvSpPr/>
            <p:nvPr/>
          </p:nvSpPr>
          <p:spPr>
            <a:xfrm>
              <a:off x="3960019" y="1736697"/>
              <a:ext cx="1971862" cy="1243709"/>
            </a:xfrm>
            <a:prstGeom prst="wedgeRoundRectCallout">
              <a:avLst/>
            </a:prstGeom>
            <a:ln>
              <a:solidFill>
                <a:srgbClr val="991E23"/>
              </a:solidFill>
            </a:ln>
          </p:spPr>
          <p:style>
            <a:lnRef idx="2">
              <a:schemeClr val="accent2"/>
            </a:lnRef>
            <a:fillRef idx="1">
              <a:schemeClr val="lt1"/>
            </a:fillRef>
            <a:effectRef idx="0">
              <a:schemeClr val="accent2"/>
            </a:effectRef>
            <a:fontRef idx="minor">
              <a:schemeClr val="dk1"/>
            </a:fontRef>
          </p:style>
          <p:txBody>
            <a:bodyPr rtlCol="0" anchor="ctr"/>
            <a:lstStyle/>
            <a:p>
              <a:r>
                <a:rPr kumimoji="1" lang="zh-CN" altLang="en-US" sz="1400" dirty="0"/>
                <a:t>我一个程序猿，炒个股理个财，非要学这么多么？</a:t>
              </a:r>
              <a:endParaRPr kumimoji="1" lang="en-US" altLang="zh-CN" sz="1400" dirty="0"/>
            </a:p>
            <a:p>
              <a:r>
                <a:rPr kumimoji="1" lang="zh-CN" altLang="en-US" sz="1400" dirty="0"/>
                <a:t>网上那么多论坛教炒股，到底真真假假？</a:t>
              </a:r>
            </a:p>
          </p:txBody>
        </p:sp>
        <p:sp>
          <p:nvSpPr>
            <p:cNvPr id="32" name="圆角矩形标注 31"/>
            <p:cNvSpPr/>
            <p:nvPr/>
          </p:nvSpPr>
          <p:spPr>
            <a:xfrm>
              <a:off x="7285535" y="1502537"/>
              <a:ext cx="2979050" cy="1148560"/>
            </a:xfrm>
            <a:prstGeom prst="wedgeRoundRectCallout">
              <a:avLst/>
            </a:prstGeom>
            <a:ln>
              <a:solidFill>
                <a:srgbClr val="991E23"/>
              </a:solidFill>
            </a:ln>
          </p:spPr>
          <p:style>
            <a:lnRef idx="2">
              <a:schemeClr val="accent2"/>
            </a:lnRef>
            <a:fillRef idx="1">
              <a:schemeClr val="lt1"/>
            </a:fillRef>
            <a:effectRef idx="0">
              <a:schemeClr val="accent2"/>
            </a:effectRef>
            <a:fontRef idx="minor">
              <a:schemeClr val="dk1"/>
            </a:fontRef>
          </p:style>
          <p:txBody>
            <a:bodyPr rtlCol="0" anchor="ctr"/>
            <a:lstStyle/>
            <a:p>
              <a:r>
                <a:rPr kumimoji="1" lang="zh-CN" altLang="en-US" sz="1400" dirty="0"/>
                <a:t>持仓股票最近配债（可转债），话说可转债是什么玩意？要怎么操作去认购？是不是像新股一样会一上市就会涨？</a:t>
              </a:r>
            </a:p>
          </p:txBody>
        </p:sp>
        <p:sp>
          <p:nvSpPr>
            <p:cNvPr id="33" name="矩形 32"/>
            <p:cNvSpPr/>
            <p:nvPr/>
          </p:nvSpPr>
          <p:spPr>
            <a:xfrm>
              <a:off x="7087232" y="4936504"/>
              <a:ext cx="3393253" cy="508000"/>
            </a:xfrm>
            <a:prstGeom prst="rect">
              <a:avLst/>
            </a:prstGeom>
            <a:solidFill>
              <a:srgbClr val="991E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又要去百度谷歌了，自己搜</a:t>
              </a:r>
              <a:endParaRPr kumimoji="1" lang="en-US" altLang="zh-CN" dirty="0"/>
            </a:p>
          </p:txBody>
        </p:sp>
        <p:pic>
          <p:nvPicPr>
            <p:cNvPr id="9" name="图片 8"/>
            <p:cNvPicPr>
              <a:picLocks noChangeAspect="1"/>
            </p:cNvPicPr>
            <p:nvPr/>
          </p:nvPicPr>
          <p:blipFill>
            <a:blip r:embed="rId6"/>
            <a:stretch>
              <a:fillRect/>
            </a:stretch>
          </p:blipFill>
          <p:spPr>
            <a:xfrm>
              <a:off x="7599134" y="2795522"/>
              <a:ext cx="1971863" cy="1996557"/>
            </a:xfrm>
            <a:prstGeom prst="rect">
              <a:avLst/>
            </a:prstGeom>
          </p:spPr>
        </p:pic>
      </p:grpSp>
      <p:sp>
        <p:nvSpPr>
          <p:cNvPr id="11" name="文本框 10"/>
          <p:cNvSpPr txBox="1"/>
          <p:nvPr/>
        </p:nvSpPr>
        <p:spPr>
          <a:xfrm>
            <a:off x="1327561" y="1482618"/>
            <a:ext cx="10113732" cy="1015663"/>
          </a:xfrm>
          <a:prstGeom prst="rect">
            <a:avLst/>
          </a:prstGeom>
          <a:noFill/>
        </p:spPr>
        <p:txBody>
          <a:bodyPr wrap="square" rtlCol="0">
            <a:spAutoFit/>
          </a:bodyPr>
          <a:lstStyle/>
          <a:p>
            <a:r>
              <a:rPr lang="zh-CN" altLang="en-US" sz="2000" dirty="0">
                <a:solidFill>
                  <a:srgbClr val="000000"/>
                </a:solidFill>
              </a:rPr>
              <a:t>       传统教育是从教的角度出发，给所有学习者都是千篇一律的教学内容和千人一面的学习路径，大而全的体系化教学，目标是培养专才或进行大而全的科普，</a:t>
            </a:r>
            <a:r>
              <a:rPr lang="zh-CN" altLang="en-US" sz="2000" b="1" dirty="0">
                <a:solidFill>
                  <a:srgbClr val="991E23"/>
                </a:solidFill>
              </a:rPr>
              <a:t>而不去考虑投资者需不需要，是否能用得上</a:t>
            </a:r>
            <a:r>
              <a:rPr lang="zh-CN" altLang="en-US" sz="2000" dirty="0">
                <a:solidFill>
                  <a:srgbClr val="000000"/>
                </a:solidFill>
              </a:rPr>
              <a:t>。</a:t>
            </a:r>
            <a:endParaRPr lang="en-US" altLang="zh-CN" sz="2000" dirty="0">
              <a:solidFill>
                <a:srgbClr val="000000"/>
              </a:solidFill>
            </a:endParaRPr>
          </a:p>
        </p:txBody>
      </p:sp>
    </p:spTree>
    <p:extLst>
      <p:ext uri="{BB962C8B-B14F-4D97-AF65-F5344CB8AC3E}">
        <p14:creationId xmlns:p14="http://schemas.microsoft.com/office/powerpoint/2010/main" val="18381195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71"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latin typeface="SimSun" charset="-122"/>
              <a:ea typeface="SimSun" charset="-122"/>
              <a:cs typeface="SimSun" charset="-122"/>
            </a:endParaRPr>
          </a:p>
        </p:txBody>
      </p:sp>
      <p:sp>
        <p:nvSpPr>
          <p:cNvPr id="172"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latin typeface="SimSun" charset="-122"/>
              <a:ea typeface="SimSun" charset="-122"/>
              <a:cs typeface="SimSun" charset="-122"/>
            </a:endParaRPr>
          </a:p>
        </p:txBody>
      </p:sp>
      <p:sp>
        <p:nvSpPr>
          <p:cNvPr id="173" name="03"/>
          <p:cNvSpPr txBox="1"/>
          <p:nvPr/>
        </p:nvSpPr>
        <p:spPr>
          <a:xfrm>
            <a:off x="356995" y="6356108"/>
            <a:ext cx="182341" cy="207990"/>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lvl1pPr>
              <a:defRPr sz="1000">
                <a:solidFill>
                  <a:srgbClr val="CAA354"/>
                </a:solidFill>
                <a:latin typeface="PingFang SC Regular"/>
                <a:ea typeface="PingFang SC Regular"/>
                <a:cs typeface="PingFang SC Regular"/>
                <a:sym typeface="PingFang SC Regular"/>
              </a:defRPr>
            </a:lvl1pPr>
          </a:lstStyle>
          <a:p>
            <a:r>
              <a:rPr dirty="0">
                <a:latin typeface="SimSun" charset="-122"/>
                <a:ea typeface="SimSun" charset="-122"/>
                <a:cs typeface="SimSun" charset="-122"/>
              </a:rPr>
              <a:t>03</a:t>
            </a:r>
          </a:p>
        </p:txBody>
      </p:sp>
      <p:pic>
        <p:nvPicPr>
          <p:cNvPr id="175" name="图像" descr="图像"/>
          <p:cNvPicPr>
            <a:picLocks noChangeAspect="1"/>
          </p:cNvPicPr>
          <p:nvPr/>
        </p:nvPicPr>
        <p:blipFill>
          <a:blip r:embed="rId3">
            <a:extLst/>
          </a:blip>
          <a:stretch>
            <a:fillRect/>
          </a:stretch>
        </p:blipFill>
        <p:spPr>
          <a:xfrm>
            <a:off x="10484724" y="427048"/>
            <a:ext cx="1253576" cy="332979"/>
          </a:xfrm>
          <a:prstGeom prst="rect">
            <a:avLst/>
          </a:prstGeom>
          <a:ln w="3175">
            <a:miter lim="400000"/>
          </a:ln>
        </p:spPr>
      </p:pic>
      <p:sp>
        <p:nvSpPr>
          <p:cNvPr id="22" name="矩形 21"/>
          <p:cNvSpPr/>
          <p:nvPr/>
        </p:nvSpPr>
        <p:spPr>
          <a:xfrm>
            <a:off x="6703235" y="2513155"/>
            <a:ext cx="4320637" cy="627068"/>
          </a:xfrm>
          <a:prstGeom prst="rect">
            <a:avLst/>
          </a:prstGeom>
          <a:solidFill>
            <a:srgbClr val="991E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a:p>
        </p:txBody>
      </p:sp>
      <p:sp>
        <p:nvSpPr>
          <p:cNvPr id="24" name="文本框 23"/>
          <p:cNvSpPr txBox="1"/>
          <p:nvPr/>
        </p:nvSpPr>
        <p:spPr>
          <a:xfrm>
            <a:off x="7948931" y="2645750"/>
            <a:ext cx="1675396" cy="361878"/>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2000" dirty="0">
                <a:solidFill>
                  <a:schemeClr val="bg1"/>
                </a:solidFill>
                <a:latin typeface="SimSun" charset="-122"/>
                <a:ea typeface="SimSun" charset="-122"/>
                <a:cs typeface="SimSun" charset="-122"/>
              </a:rPr>
              <a:t>因需施教</a:t>
            </a:r>
          </a:p>
        </p:txBody>
      </p:sp>
      <p:sp>
        <p:nvSpPr>
          <p:cNvPr id="25" name="矩形 24"/>
          <p:cNvSpPr/>
          <p:nvPr/>
        </p:nvSpPr>
        <p:spPr>
          <a:xfrm>
            <a:off x="1533275" y="3114544"/>
            <a:ext cx="4321425" cy="2473455"/>
          </a:xfrm>
          <a:prstGeom prst="rect">
            <a:avLst/>
          </a:prstGeom>
          <a:noFill/>
          <a:ln>
            <a:solidFill>
              <a:srgbClr val="991E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5">
                  <a:lumMod val="75000"/>
                </a:schemeClr>
              </a:solidFill>
            </a:endParaRPr>
          </a:p>
        </p:txBody>
      </p:sp>
      <p:sp>
        <p:nvSpPr>
          <p:cNvPr id="27" name="公司简介"/>
          <p:cNvSpPr txBox="1"/>
          <p:nvPr/>
        </p:nvSpPr>
        <p:spPr>
          <a:xfrm>
            <a:off x="1626166" y="3339335"/>
            <a:ext cx="4097540" cy="2023871"/>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pPr marL="285750" indent="-285750" algn="l">
              <a:buFont typeface="Arial" charset="0"/>
              <a:buChar char="•"/>
            </a:pPr>
            <a:r>
              <a:rPr lang="zh-CN" altLang="en-US" sz="1600" dirty="0">
                <a:solidFill>
                  <a:srgbClr val="000000"/>
                </a:solidFill>
                <a:latin typeface="+mn-lt"/>
                <a:ea typeface="+mn-ea"/>
                <a:cs typeface="+mn-cs"/>
              </a:rPr>
              <a:t>根据投资者偏好和水平，向投资者推荐他偏好且符合他水平的教学内容。</a:t>
            </a:r>
            <a:endParaRPr lang="en-US" altLang="zh-CN" sz="1600" dirty="0">
              <a:solidFill>
                <a:srgbClr val="000000"/>
              </a:solidFill>
              <a:latin typeface="+mn-lt"/>
              <a:ea typeface="+mn-ea"/>
              <a:cs typeface="+mn-cs"/>
            </a:endParaRPr>
          </a:p>
          <a:p>
            <a:pPr marL="285750" indent="-285750" algn="l">
              <a:buFont typeface="Arial" charset="0"/>
              <a:buChar char="•"/>
            </a:pPr>
            <a:endParaRPr lang="en-US" altLang="zh-CN" sz="1600" dirty="0">
              <a:solidFill>
                <a:srgbClr val="000000"/>
              </a:solidFill>
              <a:latin typeface="+mn-lt"/>
              <a:ea typeface="+mn-ea"/>
              <a:cs typeface="+mn-cs"/>
            </a:endParaRPr>
          </a:p>
          <a:p>
            <a:pPr marL="285750" indent="-285750" algn="l">
              <a:buFont typeface="Arial" charset="0"/>
              <a:buChar char="•"/>
            </a:pPr>
            <a:r>
              <a:rPr lang="zh-CN" altLang="en-US" sz="1600" dirty="0">
                <a:solidFill>
                  <a:srgbClr val="000000"/>
                </a:solidFill>
                <a:latin typeface="+mn-lt"/>
                <a:ea typeface="+mn-ea"/>
                <a:cs typeface="+mn-cs"/>
              </a:rPr>
              <a:t>例如，偏好银行股且长线的投资者和偏好短线交易的投资者，两者偏好不同，推荐学习文章，前者是银行股的估值相关信息，后者是</a:t>
            </a:r>
            <a:r>
              <a:rPr lang="en-US" altLang="zh-CN" sz="1600" dirty="0">
                <a:solidFill>
                  <a:srgbClr val="000000"/>
                </a:solidFill>
                <a:latin typeface="+mn-lt"/>
                <a:ea typeface="+mn-ea"/>
                <a:cs typeface="+mn-cs"/>
              </a:rPr>
              <a:t>KDJ</a:t>
            </a:r>
            <a:r>
              <a:rPr lang="zh-CN" altLang="en-US" sz="1600" dirty="0">
                <a:solidFill>
                  <a:srgbClr val="000000"/>
                </a:solidFill>
                <a:latin typeface="+mn-lt"/>
                <a:ea typeface="+mn-ea"/>
                <a:cs typeface="+mn-cs"/>
              </a:rPr>
              <a:t>指标在交易的应用。</a:t>
            </a:r>
            <a:endParaRPr lang="en-US" altLang="zh-CN" sz="1600" dirty="0">
              <a:solidFill>
                <a:srgbClr val="000000"/>
              </a:solidFill>
              <a:latin typeface="+mn-lt"/>
              <a:ea typeface="+mn-ea"/>
              <a:cs typeface="+mn-cs"/>
            </a:endParaRPr>
          </a:p>
          <a:p>
            <a:pPr algn="l"/>
            <a:endParaRPr lang="en-US" altLang="zh-CN" sz="1600" dirty="0">
              <a:solidFill>
                <a:schemeClr val="bg1"/>
              </a:solidFill>
              <a:latin typeface="SimSun" charset="-122"/>
              <a:ea typeface="SimSun" charset="-122"/>
              <a:cs typeface="SimSun" charset="-122"/>
            </a:endParaRPr>
          </a:p>
        </p:txBody>
      </p:sp>
      <p:sp>
        <p:nvSpPr>
          <p:cNvPr id="29" name="公司简介"/>
          <p:cNvSpPr txBox="1"/>
          <p:nvPr/>
        </p:nvSpPr>
        <p:spPr>
          <a:xfrm>
            <a:off x="1327562" y="1574814"/>
            <a:ext cx="9833344" cy="669654"/>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pPr algn="l"/>
            <a:r>
              <a:rPr lang="zh-CN" altLang="en-US" dirty="0">
                <a:solidFill>
                  <a:srgbClr val="000000"/>
                </a:solidFill>
                <a:latin typeface="+mn-lt"/>
                <a:ea typeface="+mn-ea"/>
                <a:cs typeface="+mn-cs"/>
              </a:rPr>
              <a:t>智能教育从学的角度出发，能够根据投资者的偏好及投资者在不同场景下有不同学习内容的需求，推荐不同的学习内容，达到因材施教和因需施教的目的。</a:t>
            </a:r>
            <a:endParaRPr lang="en-US" altLang="zh-CN" dirty="0">
              <a:solidFill>
                <a:srgbClr val="000000"/>
              </a:solidFill>
              <a:latin typeface="+mn-lt"/>
              <a:ea typeface="+mn-ea"/>
              <a:cs typeface="+mn-cs"/>
            </a:endParaRPr>
          </a:p>
        </p:txBody>
      </p:sp>
      <p:sp>
        <p:nvSpPr>
          <p:cNvPr id="34" name="矩形 33"/>
          <p:cNvSpPr/>
          <p:nvPr/>
        </p:nvSpPr>
        <p:spPr>
          <a:xfrm>
            <a:off x="1533275" y="2513155"/>
            <a:ext cx="4321425" cy="627068"/>
          </a:xfrm>
          <a:prstGeom prst="rect">
            <a:avLst/>
          </a:prstGeom>
          <a:solidFill>
            <a:srgbClr val="991E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a:p>
        </p:txBody>
      </p:sp>
      <p:sp>
        <p:nvSpPr>
          <p:cNvPr id="36" name="文本框 35"/>
          <p:cNvSpPr txBox="1"/>
          <p:nvPr/>
        </p:nvSpPr>
        <p:spPr>
          <a:xfrm>
            <a:off x="2087236" y="2675022"/>
            <a:ext cx="3023001" cy="361878"/>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2000" dirty="0">
                <a:solidFill>
                  <a:schemeClr val="bg1"/>
                </a:solidFill>
                <a:latin typeface="SimSun" charset="-122"/>
                <a:ea typeface="SimSun" charset="-122"/>
                <a:cs typeface="SimSun" charset="-122"/>
              </a:rPr>
              <a:t>因材施教</a:t>
            </a:r>
          </a:p>
        </p:txBody>
      </p:sp>
      <p:sp>
        <p:nvSpPr>
          <p:cNvPr id="37" name="矩形 36"/>
          <p:cNvSpPr/>
          <p:nvPr/>
        </p:nvSpPr>
        <p:spPr>
          <a:xfrm>
            <a:off x="6709399" y="3140223"/>
            <a:ext cx="4314201" cy="2447776"/>
          </a:xfrm>
          <a:prstGeom prst="rect">
            <a:avLst/>
          </a:prstGeom>
          <a:noFill/>
          <a:ln>
            <a:solidFill>
              <a:srgbClr val="991E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5">
                  <a:lumMod val="75000"/>
                </a:schemeClr>
              </a:solidFill>
            </a:endParaRPr>
          </a:p>
        </p:txBody>
      </p:sp>
      <p:sp>
        <p:nvSpPr>
          <p:cNvPr id="38" name="公司简介"/>
          <p:cNvSpPr txBox="1"/>
          <p:nvPr/>
        </p:nvSpPr>
        <p:spPr>
          <a:xfrm>
            <a:off x="6814783" y="3258804"/>
            <a:ext cx="4097540" cy="2270092"/>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pPr marL="285750" indent="-285750">
              <a:buFont typeface="Arial" charset="0"/>
              <a:buChar char="•"/>
            </a:pPr>
            <a:r>
              <a:rPr lang="zh-CN" altLang="en-US" sz="1600" dirty="0">
                <a:solidFill>
                  <a:srgbClr val="000000"/>
                </a:solidFill>
                <a:latin typeface="+mn-lt"/>
                <a:ea typeface="+mn-ea"/>
                <a:cs typeface="+mn-cs"/>
              </a:rPr>
              <a:t>根据投资者所处场景，评估投资者的潜在需求，推荐满足投资者需求的教学内容。</a:t>
            </a:r>
            <a:endParaRPr lang="en-US" altLang="zh-CN" sz="1600" dirty="0">
              <a:solidFill>
                <a:srgbClr val="000000"/>
              </a:solidFill>
              <a:latin typeface="+mn-lt"/>
              <a:ea typeface="+mn-ea"/>
              <a:cs typeface="+mn-cs"/>
            </a:endParaRPr>
          </a:p>
          <a:p>
            <a:pPr marL="285750" indent="-285750" algn="l">
              <a:buFont typeface="Arial" charset="0"/>
              <a:buChar char="•"/>
            </a:pPr>
            <a:endParaRPr lang="en-US" altLang="zh-CN" sz="1600" dirty="0">
              <a:solidFill>
                <a:srgbClr val="000000"/>
              </a:solidFill>
              <a:latin typeface="+mn-lt"/>
              <a:ea typeface="+mn-ea"/>
              <a:cs typeface="+mn-cs"/>
            </a:endParaRPr>
          </a:p>
          <a:p>
            <a:pPr marL="285750" indent="-285750">
              <a:buFont typeface="Arial" charset="0"/>
              <a:buChar char="•"/>
            </a:pPr>
            <a:r>
              <a:rPr lang="zh-CN" altLang="en-US" sz="1600" dirty="0">
                <a:solidFill>
                  <a:srgbClr val="000000"/>
                </a:solidFill>
                <a:latin typeface="+mn-lt"/>
                <a:ea typeface="+mn-ea"/>
                <a:cs typeface="+mn-cs"/>
              </a:rPr>
              <a:t>例如，持有即将配债（可转债）的股票的投资者</a:t>
            </a:r>
            <a:r>
              <a:rPr lang="en-US" altLang="zh-CN" sz="1600" dirty="0">
                <a:solidFill>
                  <a:srgbClr val="000000"/>
                </a:solidFill>
                <a:latin typeface="+mn-lt"/>
                <a:ea typeface="+mn-ea"/>
                <a:cs typeface="+mn-cs"/>
              </a:rPr>
              <a:t>A</a:t>
            </a:r>
            <a:r>
              <a:rPr lang="zh-CN" altLang="en-US" sz="1600" dirty="0">
                <a:solidFill>
                  <a:srgbClr val="000000"/>
                </a:solidFill>
                <a:latin typeface="+mn-lt"/>
                <a:ea typeface="+mn-ea"/>
                <a:cs typeface="+mn-cs"/>
              </a:rPr>
              <a:t>和持有即将</a:t>
            </a:r>
            <a:r>
              <a:rPr lang="en-US" altLang="zh-CN" sz="1600" dirty="0">
                <a:solidFill>
                  <a:srgbClr val="000000"/>
                </a:solidFill>
                <a:latin typeface="+mn-lt"/>
                <a:ea typeface="+mn-ea"/>
                <a:cs typeface="+mn-cs"/>
              </a:rPr>
              <a:t>ST</a:t>
            </a:r>
            <a:r>
              <a:rPr lang="zh-CN" altLang="en-US" sz="1600" dirty="0">
                <a:solidFill>
                  <a:srgbClr val="000000"/>
                </a:solidFill>
                <a:latin typeface="+mn-lt"/>
                <a:ea typeface="+mn-ea"/>
                <a:cs typeface="+mn-cs"/>
              </a:rPr>
              <a:t>的股票投资者</a:t>
            </a:r>
            <a:r>
              <a:rPr lang="en-US" altLang="zh-CN" sz="1600" dirty="0">
                <a:solidFill>
                  <a:srgbClr val="000000"/>
                </a:solidFill>
                <a:latin typeface="+mn-lt"/>
                <a:ea typeface="+mn-ea"/>
                <a:cs typeface="+mn-cs"/>
              </a:rPr>
              <a:t>B</a:t>
            </a:r>
            <a:r>
              <a:rPr lang="zh-CN" altLang="en-US" sz="1600" dirty="0">
                <a:solidFill>
                  <a:srgbClr val="000000"/>
                </a:solidFill>
                <a:latin typeface="+mn-lt"/>
                <a:ea typeface="+mn-ea"/>
                <a:cs typeface="+mn-cs"/>
              </a:rPr>
              <a:t>，两者潜在学习的需求不同，推荐学习内容，前者是配债操作流程及可转债交易规则，后者是风险警示板交易规则。</a:t>
            </a:r>
            <a:endParaRPr lang="en-US" altLang="zh-CN" sz="1600" dirty="0">
              <a:solidFill>
                <a:srgbClr val="000000"/>
              </a:solidFill>
              <a:latin typeface="+mn-lt"/>
              <a:ea typeface="+mn-ea"/>
              <a:cs typeface="+mn-cs"/>
            </a:endParaRPr>
          </a:p>
          <a:p>
            <a:pPr algn="l"/>
            <a:endParaRPr lang="en-US" altLang="zh-CN" sz="1600" dirty="0">
              <a:solidFill>
                <a:schemeClr val="bg1"/>
              </a:solidFill>
              <a:latin typeface="SimSun" charset="-122"/>
              <a:ea typeface="SimSun" charset="-122"/>
              <a:cs typeface="SimSun" charset="-122"/>
            </a:endParaRPr>
          </a:p>
        </p:txBody>
      </p:sp>
      <p:sp>
        <p:nvSpPr>
          <p:cNvPr id="19" name="文本框 18"/>
          <p:cNvSpPr txBox="1"/>
          <p:nvPr/>
        </p:nvSpPr>
        <p:spPr>
          <a:xfrm>
            <a:off x="1327561" y="473651"/>
            <a:ext cx="8296765" cy="584775"/>
          </a:xfrm>
          <a:prstGeom prst="rect">
            <a:avLst/>
          </a:prstGeom>
          <a:noFill/>
        </p:spPr>
        <p:txBody>
          <a:bodyPr wrap="square" rtlCol="0">
            <a:spAutoFit/>
          </a:bodyPr>
          <a:lstStyle/>
          <a:p>
            <a:r>
              <a:rPr kumimoji="1" lang="zh-CN" altLang="en-US" sz="3200" b="1" dirty="0"/>
              <a:t>我们知道你需要什么，什么时候需要</a:t>
            </a:r>
          </a:p>
        </p:txBody>
      </p:sp>
      <p:sp>
        <p:nvSpPr>
          <p:cNvPr id="20" name="矩形 19">
            <a:extLst>
              <a:ext uri="{FF2B5EF4-FFF2-40B4-BE49-F238E27FC236}">
                <a16:creationId xmlns:a16="http://schemas.microsoft.com/office/drawing/2014/main" id="{07CCDA19-C78F-4FEF-9A33-1AEE922E976D}"/>
              </a:ext>
            </a:extLst>
          </p:cNvPr>
          <p:cNvSpPr/>
          <p:nvPr/>
        </p:nvSpPr>
        <p:spPr>
          <a:xfrm>
            <a:off x="1478539" y="12285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FD35F411-A1E5-4031-B455-0E2C81A8D091}"/>
              </a:ext>
            </a:extLst>
          </p:cNvPr>
          <p:cNvSpPr/>
          <p:nvPr/>
        </p:nvSpPr>
        <p:spPr>
          <a:xfrm>
            <a:off x="5552136" y="12285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546933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3929" y="1373779"/>
            <a:ext cx="1404627" cy="2309085"/>
          </a:xfrm>
          <a:prstGeom prst="rect">
            <a:avLst/>
          </a:prstGeom>
          <a:ln>
            <a:solidFill>
              <a:schemeClr val="bg1">
                <a:lumMod val="85000"/>
              </a:schemeClr>
            </a:solidFill>
          </a:ln>
        </p:spPr>
      </p:pic>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58072" y="2007407"/>
            <a:ext cx="1404627" cy="2309085"/>
          </a:xfrm>
          <a:prstGeom prst="rect">
            <a:avLst/>
          </a:prstGeom>
          <a:ln>
            <a:solidFill>
              <a:schemeClr val="bg1">
                <a:lumMod val="85000"/>
              </a:schemeClr>
            </a:solidFill>
          </a:ln>
        </p:spPr>
      </p:pic>
      <p:pic>
        <p:nvPicPr>
          <p:cNvPr id="17" name="图片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68095" y="1378063"/>
            <a:ext cx="1406534" cy="2304802"/>
          </a:xfrm>
          <a:prstGeom prst="rect">
            <a:avLst/>
          </a:prstGeom>
          <a:ln>
            <a:solidFill>
              <a:schemeClr val="bg1">
                <a:lumMod val="85000"/>
              </a:schemeClr>
            </a:solidFill>
          </a:ln>
        </p:spPr>
      </p:pic>
      <p:pic>
        <p:nvPicPr>
          <p:cNvPr id="10" name="图片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60788" y="1378560"/>
            <a:ext cx="1406535" cy="2312222"/>
          </a:xfrm>
          <a:prstGeom prst="rect">
            <a:avLst/>
          </a:prstGeom>
          <a:ln>
            <a:solidFill>
              <a:schemeClr val="bg1">
                <a:lumMod val="85000"/>
              </a:schemeClr>
            </a:solidFill>
          </a:ln>
        </p:spPr>
      </p:pic>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57"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8"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9" name="04"/>
          <p:cNvSpPr txBox="1"/>
          <p:nvPr/>
        </p:nvSpPr>
        <p:spPr>
          <a:xfrm>
            <a:off x="356995" y="6344413"/>
            <a:ext cx="218679" cy="231380"/>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lvl1pPr>
              <a:defRPr sz="1000">
                <a:solidFill>
                  <a:srgbClr val="CAA354"/>
                </a:solidFill>
                <a:latin typeface="PingFang SC Regular"/>
                <a:ea typeface="PingFang SC Regular"/>
                <a:cs typeface="PingFang SC Regular"/>
                <a:sym typeface="PingFang SC Regular"/>
              </a:defRPr>
            </a:lvl1pPr>
          </a:lstStyle>
          <a:p>
            <a:r>
              <a:rPr dirty="0"/>
              <a:t>04</a:t>
            </a:r>
          </a:p>
        </p:txBody>
      </p:sp>
      <p:pic>
        <p:nvPicPr>
          <p:cNvPr id="4" name="图片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24033" y="2103335"/>
            <a:ext cx="1404627" cy="2309085"/>
          </a:xfrm>
          <a:prstGeom prst="rect">
            <a:avLst/>
          </a:prstGeom>
          <a:ln>
            <a:solidFill>
              <a:schemeClr val="bg1">
                <a:lumMod val="85000"/>
              </a:schemeClr>
            </a:solidFill>
          </a:ln>
        </p:spPr>
      </p:pic>
      <p:pic>
        <p:nvPicPr>
          <p:cNvPr id="5" name="图片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054414" y="2683602"/>
            <a:ext cx="1404627" cy="2309085"/>
          </a:xfrm>
          <a:prstGeom prst="rect">
            <a:avLst/>
          </a:prstGeom>
          <a:ln>
            <a:solidFill>
              <a:schemeClr val="bg1">
                <a:lumMod val="85000"/>
              </a:schemeClr>
            </a:solidFill>
          </a:ln>
        </p:spPr>
      </p:pic>
      <p:pic>
        <p:nvPicPr>
          <p:cNvPr id="9" name="图片 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526169" y="2683602"/>
            <a:ext cx="1404627" cy="2309085"/>
          </a:xfrm>
          <a:prstGeom prst="rect">
            <a:avLst/>
          </a:prstGeom>
          <a:ln>
            <a:solidFill>
              <a:schemeClr val="bg1">
                <a:lumMod val="85000"/>
              </a:schemeClr>
            </a:solidFill>
          </a:ln>
        </p:spPr>
      </p:pic>
      <p:pic>
        <p:nvPicPr>
          <p:cNvPr id="14" name="图片 13"/>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843479" y="1378063"/>
            <a:ext cx="1406534" cy="2304802"/>
          </a:xfrm>
          <a:prstGeom prst="rect">
            <a:avLst/>
          </a:prstGeom>
          <a:ln>
            <a:solidFill>
              <a:schemeClr val="bg1">
                <a:lumMod val="85000"/>
              </a:schemeClr>
            </a:solidFill>
          </a:ln>
        </p:spPr>
      </p:pic>
      <p:pic>
        <p:nvPicPr>
          <p:cNvPr id="15" name="图片 14"/>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673262" y="2683316"/>
            <a:ext cx="1406534" cy="2304802"/>
          </a:xfrm>
          <a:prstGeom prst="rect">
            <a:avLst/>
          </a:prstGeom>
          <a:ln>
            <a:solidFill>
              <a:schemeClr val="bg1">
                <a:lumMod val="85000"/>
              </a:schemeClr>
            </a:solidFill>
          </a:ln>
        </p:spPr>
      </p:pic>
      <p:sp>
        <p:nvSpPr>
          <p:cNvPr id="23" name="公司简介"/>
          <p:cNvSpPr txBox="1"/>
          <p:nvPr/>
        </p:nvSpPr>
        <p:spPr>
          <a:xfrm>
            <a:off x="4676998" y="5250386"/>
            <a:ext cx="3579284" cy="1038986"/>
          </a:xfrm>
          <a:prstGeom prst="rect">
            <a:avLst/>
          </a:prstGeom>
          <a:ln w="3175">
            <a:noFill/>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r>
              <a:rPr lang="zh-CN" altLang="en-US" sz="1600" dirty="0">
                <a:solidFill>
                  <a:schemeClr val="tx1"/>
                </a:solidFill>
                <a:latin typeface="SimSun" charset="-122"/>
                <a:ea typeface="SimSun" charset="-122"/>
                <a:cs typeface="SimSun" charset="-122"/>
              </a:rPr>
              <a:t>投资时光机</a:t>
            </a:r>
            <a:r>
              <a:rPr lang="zh-CN" altLang="en-US" sz="1600" dirty="0">
                <a:solidFill>
                  <a:schemeClr val="tx1"/>
                </a:solidFill>
                <a:latin typeface="SimSun" charset="-122"/>
                <a:ea typeface="SimSun" charset="-122"/>
                <a:cs typeface="SimSun" charset="-122"/>
                <a:sym typeface="Wingdings"/>
              </a:rPr>
              <a:t>：应用在某券商投教园地项目，</a:t>
            </a:r>
            <a:r>
              <a:rPr lang="zh-CN" altLang="en-US" sz="1600" dirty="0">
                <a:solidFill>
                  <a:schemeClr val="tx1"/>
                </a:solidFill>
                <a:latin typeface="SimSun" charset="-122"/>
                <a:ea typeface="SimSun" charset="-122"/>
                <a:cs typeface="SimSun" charset="-122"/>
              </a:rPr>
              <a:t>给小白投资者创造回到某只股票某段历史环境去交易，感受股市风险，了解投资与交易。</a:t>
            </a:r>
            <a:endParaRPr lang="en-US" altLang="zh-CN" sz="1600" dirty="0">
              <a:solidFill>
                <a:schemeClr val="tx1"/>
              </a:solidFill>
              <a:latin typeface="SimSun" charset="-122"/>
              <a:ea typeface="SimSun" charset="-122"/>
              <a:cs typeface="SimSun" charset="-122"/>
            </a:endParaRPr>
          </a:p>
        </p:txBody>
      </p:sp>
      <p:sp>
        <p:nvSpPr>
          <p:cNvPr id="24" name="公司简介"/>
          <p:cNvSpPr txBox="1"/>
          <p:nvPr/>
        </p:nvSpPr>
        <p:spPr>
          <a:xfrm>
            <a:off x="1179271" y="5214484"/>
            <a:ext cx="3244955" cy="1038986"/>
          </a:xfrm>
          <a:prstGeom prst="rect">
            <a:avLst/>
          </a:prstGeom>
          <a:ln w="3175">
            <a:noFill/>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r>
              <a:rPr lang="zh-CN" altLang="en-US" sz="1600" dirty="0">
                <a:solidFill>
                  <a:schemeClr val="tx1"/>
                </a:solidFill>
                <a:latin typeface="SimSun" charset="-122"/>
                <a:ea typeface="SimSun" charset="-122"/>
                <a:cs typeface="SimSun" charset="-122"/>
              </a:rPr>
              <a:t>日内交易训练：应用在某机构，提供给交易员及偏好做</a:t>
            </a:r>
            <a:r>
              <a:rPr lang="en-US" altLang="zh-CN" sz="1600" dirty="0">
                <a:solidFill>
                  <a:schemeClr val="tx1"/>
                </a:solidFill>
                <a:latin typeface="SimSun" charset="-122"/>
                <a:ea typeface="SimSun" charset="-122"/>
                <a:cs typeface="SimSun" charset="-122"/>
              </a:rPr>
              <a:t>T</a:t>
            </a:r>
            <a:r>
              <a:rPr lang="zh-CN" altLang="en-US" sz="1600" dirty="0">
                <a:solidFill>
                  <a:schemeClr val="tx1"/>
                </a:solidFill>
                <a:latin typeface="SimSun" charset="-122"/>
                <a:ea typeface="SimSun" charset="-122"/>
                <a:cs typeface="SimSun" charset="-122"/>
              </a:rPr>
              <a:t>的投资者的日内交易练习，提高做</a:t>
            </a:r>
            <a:r>
              <a:rPr lang="en-US" altLang="zh-CN" sz="1600" dirty="0">
                <a:solidFill>
                  <a:schemeClr val="tx1"/>
                </a:solidFill>
                <a:latin typeface="SimSun" charset="-122"/>
                <a:ea typeface="SimSun" charset="-122"/>
                <a:cs typeface="SimSun" charset="-122"/>
              </a:rPr>
              <a:t>T</a:t>
            </a:r>
            <a:r>
              <a:rPr lang="zh-CN" altLang="en-US" sz="1600" dirty="0">
                <a:solidFill>
                  <a:schemeClr val="tx1"/>
                </a:solidFill>
                <a:latin typeface="SimSun" charset="-122"/>
                <a:ea typeface="SimSun" charset="-122"/>
                <a:cs typeface="SimSun" charset="-122"/>
              </a:rPr>
              <a:t>的交易水平，可邀请好友同事，增加竞赛对抗性。</a:t>
            </a:r>
            <a:endParaRPr lang="en-US" altLang="zh-CN" sz="1600" dirty="0">
              <a:solidFill>
                <a:schemeClr val="tx1"/>
              </a:solidFill>
              <a:latin typeface="SimSun" charset="-122"/>
              <a:ea typeface="SimSun" charset="-122"/>
              <a:cs typeface="SimSun" charset="-122"/>
            </a:endParaRPr>
          </a:p>
        </p:txBody>
      </p:sp>
      <p:sp>
        <p:nvSpPr>
          <p:cNvPr id="25" name="公司简介"/>
          <p:cNvSpPr txBox="1"/>
          <p:nvPr/>
        </p:nvSpPr>
        <p:spPr>
          <a:xfrm>
            <a:off x="8458254" y="5239884"/>
            <a:ext cx="3553700" cy="1038986"/>
          </a:xfrm>
          <a:prstGeom prst="rect">
            <a:avLst/>
          </a:prstGeom>
          <a:ln w="3175">
            <a:noFill/>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r>
              <a:rPr lang="zh-CN" altLang="en-US" sz="1600" dirty="0">
                <a:solidFill>
                  <a:schemeClr val="tx1"/>
                </a:solidFill>
                <a:latin typeface="SimSun" charset="-122"/>
                <a:ea typeface="SimSun" charset="-122"/>
                <a:cs typeface="SimSun" charset="-122"/>
              </a:rPr>
              <a:t>策略教学：针对有一定交易经验但仍亏多赚少的老股民，提供趣味的基础交易策略教学，让该群体理解交易策略，提高投资水平。</a:t>
            </a:r>
            <a:endParaRPr lang="en-US" altLang="zh-CN" sz="1600" dirty="0">
              <a:solidFill>
                <a:schemeClr val="tx1"/>
              </a:solidFill>
              <a:latin typeface="SimSun" charset="-122"/>
              <a:ea typeface="SimSun" charset="-122"/>
              <a:cs typeface="SimSun" charset="-122"/>
            </a:endParaRPr>
          </a:p>
        </p:txBody>
      </p:sp>
      <p:cxnSp>
        <p:nvCxnSpPr>
          <p:cNvPr id="19" name="直线连接符 18"/>
          <p:cNvCxnSpPr/>
          <p:nvPr/>
        </p:nvCxnSpPr>
        <p:spPr>
          <a:xfrm>
            <a:off x="4544349" y="5250386"/>
            <a:ext cx="0" cy="1150414"/>
          </a:xfrm>
          <a:prstGeom prst="line">
            <a:avLst/>
          </a:prstGeom>
          <a:ln w="34925" cmpd="dbl">
            <a:solidFill>
              <a:srgbClr val="991E23"/>
            </a:solidFill>
          </a:ln>
        </p:spPr>
        <p:style>
          <a:lnRef idx="1">
            <a:schemeClr val="accent1"/>
          </a:lnRef>
          <a:fillRef idx="0">
            <a:schemeClr val="accent1"/>
          </a:fillRef>
          <a:effectRef idx="0">
            <a:schemeClr val="accent1"/>
          </a:effectRef>
          <a:fontRef idx="minor">
            <a:schemeClr val="tx1"/>
          </a:fontRef>
        </p:style>
      </p:cxnSp>
      <p:cxnSp>
        <p:nvCxnSpPr>
          <p:cNvPr id="31" name="直线连接符 30"/>
          <p:cNvCxnSpPr/>
          <p:nvPr/>
        </p:nvCxnSpPr>
        <p:spPr>
          <a:xfrm>
            <a:off x="8354349" y="5250386"/>
            <a:ext cx="0" cy="1150414"/>
          </a:xfrm>
          <a:prstGeom prst="line">
            <a:avLst/>
          </a:prstGeom>
          <a:ln w="34925" cmpd="dbl">
            <a:solidFill>
              <a:srgbClr val="991E23"/>
            </a:solidFill>
          </a:ln>
        </p:spPr>
        <p:style>
          <a:lnRef idx="1">
            <a:schemeClr val="accent1"/>
          </a:lnRef>
          <a:fillRef idx="0">
            <a:schemeClr val="accent1"/>
          </a:fillRef>
          <a:effectRef idx="0">
            <a:schemeClr val="accent1"/>
          </a:effectRef>
          <a:fontRef idx="minor">
            <a:schemeClr val="tx1"/>
          </a:fontRef>
        </p:style>
      </p:cxnSp>
      <p:pic>
        <p:nvPicPr>
          <p:cNvPr id="32" name="图像" descr="图像"/>
          <p:cNvPicPr>
            <a:picLocks noChangeAspect="1"/>
          </p:cNvPicPr>
          <p:nvPr/>
        </p:nvPicPr>
        <p:blipFill>
          <a:blip r:embed="rId12">
            <a:extLst/>
          </a:blip>
          <a:stretch>
            <a:fillRect/>
          </a:stretch>
        </p:blipFill>
        <p:spPr>
          <a:xfrm>
            <a:off x="10484724" y="427048"/>
            <a:ext cx="1253576" cy="332979"/>
          </a:xfrm>
          <a:prstGeom prst="rect">
            <a:avLst/>
          </a:prstGeom>
          <a:ln w="3175">
            <a:miter lim="400000"/>
          </a:ln>
        </p:spPr>
      </p:pic>
      <p:sp>
        <p:nvSpPr>
          <p:cNvPr id="29" name="文本框 28"/>
          <p:cNvSpPr txBox="1"/>
          <p:nvPr/>
        </p:nvSpPr>
        <p:spPr>
          <a:xfrm>
            <a:off x="1214668" y="274314"/>
            <a:ext cx="7010400" cy="584775"/>
          </a:xfrm>
          <a:prstGeom prst="rect">
            <a:avLst/>
          </a:prstGeom>
          <a:noFill/>
        </p:spPr>
        <p:txBody>
          <a:bodyPr wrap="square" rtlCol="0">
            <a:spAutoFit/>
          </a:bodyPr>
          <a:lstStyle/>
          <a:p>
            <a:r>
              <a:rPr kumimoji="1" lang="zh-CN" altLang="en-US" sz="3200" b="1" dirty="0"/>
              <a:t>因你而变的个性化金融投资教学内容</a:t>
            </a:r>
          </a:p>
        </p:txBody>
      </p:sp>
      <p:sp>
        <p:nvSpPr>
          <p:cNvPr id="30" name="剪去对角的矩形 29"/>
          <p:cNvSpPr/>
          <p:nvPr/>
        </p:nvSpPr>
        <p:spPr>
          <a:xfrm>
            <a:off x="1032030" y="5162098"/>
            <a:ext cx="11030724" cy="1376186"/>
          </a:xfrm>
          <a:prstGeom prst="snip2DiagRect">
            <a:avLst/>
          </a:prstGeom>
          <a:noFill/>
          <a:ln w="25400">
            <a:solidFill>
              <a:srgbClr val="991E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矩形 32">
            <a:extLst>
              <a:ext uri="{FF2B5EF4-FFF2-40B4-BE49-F238E27FC236}">
                <a16:creationId xmlns:a16="http://schemas.microsoft.com/office/drawing/2014/main" id="{07CCDA19-C78F-4FEF-9A33-1AEE922E976D}"/>
              </a:ext>
            </a:extLst>
          </p:cNvPr>
          <p:cNvSpPr/>
          <p:nvPr/>
        </p:nvSpPr>
        <p:spPr>
          <a:xfrm>
            <a:off x="1313439"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FD35F411-A1E5-4031-B455-0E2C81A8D091}"/>
              </a:ext>
            </a:extLst>
          </p:cNvPr>
          <p:cNvSpPr/>
          <p:nvPr/>
        </p:nvSpPr>
        <p:spPr>
          <a:xfrm>
            <a:off x="5387036"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318042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9912831" y="1352181"/>
            <a:ext cx="1036741" cy="1165487"/>
          </a:xfrm>
          <a:prstGeom prst="rect">
            <a:avLst/>
          </a:prstGeom>
        </p:spPr>
      </p:pic>
      <p:sp>
        <p:nvSpPr>
          <p:cNvPr id="170"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71"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latin typeface="SimSun" charset="-122"/>
              <a:ea typeface="SimSun" charset="-122"/>
              <a:cs typeface="SimSun" charset="-122"/>
            </a:endParaRPr>
          </a:p>
        </p:txBody>
      </p:sp>
      <p:sp>
        <p:nvSpPr>
          <p:cNvPr id="172"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latin typeface="SimSun" charset="-122"/>
              <a:ea typeface="SimSun" charset="-122"/>
              <a:cs typeface="SimSun" charset="-122"/>
            </a:endParaRPr>
          </a:p>
        </p:txBody>
      </p:sp>
      <p:sp>
        <p:nvSpPr>
          <p:cNvPr id="173" name="03"/>
          <p:cNvSpPr txBox="1"/>
          <p:nvPr/>
        </p:nvSpPr>
        <p:spPr>
          <a:xfrm>
            <a:off x="356995" y="6356108"/>
            <a:ext cx="182341" cy="207990"/>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lvl1pPr>
              <a:defRPr sz="1000">
                <a:solidFill>
                  <a:srgbClr val="CAA354"/>
                </a:solidFill>
                <a:latin typeface="PingFang SC Regular"/>
                <a:ea typeface="PingFang SC Regular"/>
                <a:cs typeface="PingFang SC Regular"/>
                <a:sym typeface="PingFang SC Regular"/>
              </a:defRPr>
            </a:lvl1pPr>
          </a:lstStyle>
          <a:p>
            <a:r>
              <a:rPr dirty="0">
                <a:latin typeface="SimSun" charset="-122"/>
                <a:ea typeface="SimSun" charset="-122"/>
                <a:cs typeface="SimSun" charset="-122"/>
              </a:rPr>
              <a:t>03</a:t>
            </a:r>
          </a:p>
        </p:txBody>
      </p:sp>
      <p:pic>
        <p:nvPicPr>
          <p:cNvPr id="175" name="图像" descr="图像"/>
          <p:cNvPicPr>
            <a:picLocks noChangeAspect="1"/>
          </p:cNvPicPr>
          <p:nvPr/>
        </p:nvPicPr>
        <p:blipFill>
          <a:blip r:embed="rId3">
            <a:extLst/>
          </a:blip>
          <a:stretch>
            <a:fillRect/>
          </a:stretch>
        </p:blipFill>
        <p:spPr>
          <a:xfrm>
            <a:off x="10484724" y="427048"/>
            <a:ext cx="1253576" cy="332979"/>
          </a:xfrm>
          <a:prstGeom prst="rect">
            <a:avLst/>
          </a:prstGeom>
          <a:ln w="3175">
            <a:miter lim="400000"/>
          </a:ln>
        </p:spPr>
      </p:pic>
      <p:sp>
        <p:nvSpPr>
          <p:cNvPr id="23" name="公司简介"/>
          <p:cNvSpPr txBox="1"/>
          <p:nvPr/>
        </p:nvSpPr>
        <p:spPr>
          <a:xfrm>
            <a:off x="1124828" y="4763753"/>
            <a:ext cx="1463925" cy="1654539"/>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pPr algn="l">
              <a:lnSpc>
                <a:spcPct val="130000"/>
              </a:lnSpc>
            </a:pPr>
            <a:r>
              <a:rPr lang="zh-CN" altLang="en-US" sz="1600" b="1" dirty="0">
                <a:solidFill>
                  <a:srgbClr val="991E23"/>
                </a:solidFill>
                <a:latin typeface="SimSun" charset="-122"/>
                <a:ea typeface="SimSun" charset="-122"/>
                <a:cs typeface="SimSun" charset="-122"/>
              </a:rPr>
              <a:t>投资者乙</a:t>
            </a:r>
            <a:endParaRPr lang="en-US" altLang="zh-CN" sz="1600" b="1" dirty="0">
              <a:solidFill>
                <a:srgbClr val="991E23"/>
              </a:solidFill>
              <a:latin typeface="SimSun" charset="-122"/>
              <a:ea typeface="SimSun" charset="-122"/>
              <a:cs typeface="SimSun" charset="-122"/>
            </a:endParaRPr>
          </a:p>
          <a:p>
            <a:pPr>
              <a:lnSpc>
                <a:spcPct val="130000"/>
              </a:lnSpc>
            </a:pPr>
            <a:r>
              <a:rPr lang="zh-CN" altLang="en-US" sz="1600" dirty="0">
                <a:latin typeface="SimSun" charset="-122"/>
                <a:ea typeface="SimSun" charset="-122"/>
                <a:cs typeface="SimSun" charset="-122"/>
              </a:rPr>
              <a:t>持仓</a:t>
            </a:r>
            <a:r>
              <a:rPr lang="en-US" altLang="zh-CN" sz="1600" dirty="0">
                <a:latin typeface="SimSun" charset="-122"/>
                <a:ea typeface="SimSun" charset="-122"/>
                <a:cs typeface="SimSun" charset="-122"/>
              </a:rPr>
              <a:t>:</a:t>
            </a:r>
            <a:r>
              <a:rPr lang="zh-CN" altLang="en-US" sz="1600" dirty="0">
                <a:latin typeface="SimSun" charset="-122"/>
                <a:ea typeface="SimSun" charset="-122"/>
                <a:cs typeface="SimSun" charset="-122"/>
              </a:rPr>
              <a:t>宁波银行</a:t>
            </a:r>
            <a:endParaRPr lang="en-US" altLang="zh-CN" sz="1600" dirty="0">
              <a:latin typeface="SimSun" charset="-122"/>
              <a:ea typeface="SimSun" charset="-122"/>
              <a:cs typeface="SimSun" charset="-122"/>
            </a:endParaRPr>
          </a:p>
          <a:p>
            <a:pPr>
              <a:lnSpc>
                <a:spcPct val="130000"/>
              </a:lnSpc>
            </a:pPr>
            <a:r>
              <a:rPr lang="zh-CN" altLang="en-US" sz="1600" dirty="0">
                <a:latin typeface="SimSun" charset="-122"/>
                <a:ea typeface="SimSun" charset="-122"/>
                <a:cs typeface="SimSun" charset="-122"/>
              </a:rPr>
              <a:t>持仓时间</a:t>
            </a:r>
            <a:r>
              <a:rPr lang="en-US" altLang="zh-CN" sz="1600" dirty="0">
                <a:latin typeface="SimSun" charset="-122"/>
                <a:ea typeface="SimSun" charset="-122"/>
                <a:cs typeface="SimSun" charset="-122"/>
              </a:rPr>
              <a:t>:1</a:t>
            </a:r>
            <a:r>
              <a:rPr lang="zh-CN" altLang="en-US" sz="1600" dirty="0">
                <a:latin typeface="SimSun" charset="-122"/>
                <a:ea typeface="SimSun" charset="-122"/>
                <a:cs typeface="SimSun" charset="-122"/>
              </a:rPr>
              <a:t>年</a:t>
            </a:r>
            <a:endParaRPr lang="en-US" altLang="zh-CN" sz="1600" dirty="0">
              <a:latin typeface="SimSun" charset="-122"/>
              <a:ea typeface="SimSun" charset="-122"/>
              <a:cs typeface="SimSun" charset="-122"/>
            </a:endParaRPr>
          </a:p>
          <a:p>
            <a:pPr>
              <a:lnSpc>
                <a:spcPct val="130000"/>
              </a:lnSpc>
            </a:pPr>
            <a:r>
              <a:rPr lang="zh-CN" altLang="en-US" sz="1600" dirty="0">
                <a:latin typeface="SimSun" charset="-122"/>
                <a:ea typeface="SimSun" charset="-122"/>
                <a:cs typeface="SimSun" charset="-122"/>
              </a:rPr>
              <a:t>仓位</a:t>
            </a:r>
            <a:r>
              <a:rPr lang="en-US" altLang="zh-CN" sz="1600" dirty="0">
                <a:latin typeface="SimSun" charset="-122"/>
                <a:ea typeface="SimSun" charset="-122"/>
                <a:cs typeface="SimSun" charset="-122"/>
              </a:rPr>
              <a:t>:35%</a:t>
            </a:r>
          </a:p>
          <a:p>
            <a:pPr>
              <a:lnSpc>
                <a:spcPct val="130000"/>
              </a:lnSpc>
            </a:pPr>
            <a:r>
              <a:rPr lang="zh-CN" altLang="en-US" sz="1600" dirty="0">
                <a:latin typeface="SimSun" charset="-122"/>
                <a:ea typeface="SimSun" charset="-122"/>
                <a:cs typeface="SimSun" charset="-122"/>
              </a:rPr>
              <a:t>交易记录</a:t>
            </a:r>
            <a:r>
              <a:rPr lang="mr-IN" altLang="zh-CN" sz="1600" dirty="0">
                <a:latin typeface="SimSun" charset="-122"/>
                <a:ea typeface="SimSun" charset="-122"/>
                <a:cs typeface="SimSun" charset="-122"/>
              </a:rPr>
              <a:t>……</a:t>
            </a:r>
            <a:endParaRPr lang="en-US" altLang="zh-CN" sz="1600" dirty="0">
              <a:latin typeface="SimSun" charset="-122"/>
              <a:ea typeface="SimSun" charset="-122"/>
              <a:cs typeface="SimSun" charset="-122"/>
            </a:endParaRPr>
          </a:p>
        </p:txBody>
      </p:sp>
      <p:cxnSp>
        <p:nvCxnSpPr>
          <p:cNvPr id="25" name="直线连接符 24"/>
          <p:cNvCxnSpPr/>
          <p:nvPr/>
        </p:nvCxnSpPr>
        <p:spPr>
          <a:xfrm flipH="1">
            <a:off x="5092702" y="4755178"/>
            <a:ext cx="12698" cy="1600930"/>
          </a:xfrm>
          <a:prstGeom prst="line">
            <a:avLst/>
          </a:prstGeom>
          <a:ln w="34925" cmpd="dbl">
            <a:solidFill>
              <a:srgbClr val="991E23"/>
            </a:solidFill>
          </a:ln>
        </p:spPr>
        <p:style>
          <a:lnRef idx="1">
            <a:schemeClr val="accent1"/>
          </a:lnRef>
          <a:fillRef idx="0">
            <a:schemeClr val="accent1"/>
          </a:fillRef>
          <a:effectRef idx="0">
            <a:schemeClr val="accent1"/>
          </a:effectRef>
          <a:fontRef idx="minor">
            <a:schemeClr val="tx1"/>
          </a:fontRef>
        </p:style>
      </p:cxnSp>
      <p:sp>
        <p:nvSpPr>
          <p:cNvPr id="26" name="公司简介"/>
          <p:cNvSpPr txBox="1"/>
          <p:nvPr/>
        </p:nvSpPr>
        <p:spPr>
          <a:xfrm>
            <a:off x="5174771" y="4768482"/>
            <a:ext cx="2147256" cy="300322"/>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pPr algn="l"/>
            <a:r>
              <a:rPr lang="zh-CN" altLang="en-US" sz="1600" dirty="0">
                <a:latin typeface="SimSun" charset="-122"/>
                <a:ea typeface="SimSun" charset="-122"/>
                <a:cs typeface="SimSun" charset="-122"/>
              </a:rPr>
              <a:t>知识图谱：可转债相关</a:t>
            </a:r>
            <a:endParaRPr lang="en-US" altLang="zh-CN" sz="1600" dirty="0">
              <a:latin typeface="SimSun" charset="-122"/>
              <a:ea typeface="SimSun" charset="-122"/>
              <a:cs typeface="SimSun" charset="-122"/>
            </a:endParaRPr>
          </a:p>
        </p:txBody>
      </p:sp>
      <p:sp>
        <p:nvSpPr>
          <p:cNvPr id="27" name="公司简介"/>
          <p:cNvSpPr txBox="1"/>
          <p:nvPr/>
        </p:nvSpPr>
        <p:spPr>
          <a:xfrm>
            <a:off x="1003302" y="4297201"/>
            <a:ext cx="4998996" cy="300322"/>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pPr algn="l"/>
            <a:r>
              <a:rPr lang="zh-CN" altLang="en-US" sz="1600" dirty="0">
                <a:latin typeface="SimSun" charset="-122"/>
                <a:ea typeface="SimSun" charset="-122"/>
                <a:cs typeface="SimSun" charset="-122"/>
              </a:rPr>
              <a:t>市场信息：宁波银行发行可转债，老股东可配债</a:t>
            </a:r>
            <a:endParaRPr lang="en-US" altLang="zh-CN" sz="1600" dirty="0">
              <a:latin typeface="SimSun" charset="-122"/>
              <a:ea typeface="SimSun" charset="-122"/>
              <a:cs typeface="SimSun" charset="-122"/>
            </a:endParaRPr>
          </a:p>
        </p:txBody>
      </p:sp>
      <p:cxnSp>
        <p:nvCxnSpPr>
          <p:cNvPr id="32" name="直线连接符 31"/>
          <p:cNvCxnSpPr/>
          <p:nvPr/>
        </p:nvCxnSpPr>
        <p:spPr>
          <a:xfrm flipH="1">
            <a:off x="7342349" y="4773231"/>
            <a:ext cx="12698" cy="1600930"/>
          </a:xfrm>
          <a:prstGeom prst="line">
            <a:avLst/>
          </a:prstGeom>
          <a:ln w="34925" cmpd="dbl">
            <a:solidFill>
              <a:srgbClr val="991E23"/>
            </a:solidFill>
          </a:ln>
        </p:spPr>
        <p:style>
          <a:lnRef idx="1">
            <a:schemeClr val="accent1"/>
          </a:lnRef>
          <a:fillRef idx="0">
            <a:schemeClr val="accent1"/>
          </a:fillRef>
          <a:effectRef idx="0">
            <a:schemeClr val="accent1"/>
          </a:effectRef>
          <a:fontRef idx="minor">
            <a:schemeClr val="tx1"/>
          </a:fontRef>
        </p:style>
      </p:cxnSp>
      <p:sp>
        <p:nvSpPr>
          <p:cNvPr id="33" name="公司简介"/>
          <p:cNvSpPr txBox="1"/>
          <p:nvPr/>
        </p:nvSpPr>
        <p:spPr>
          <a:xfrm>
            <a:off x="7527769" y="4733667"/>
            <a:ext cx="1975329" cy="546544"/>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pPr algn="l"/>
            <a:r>
              <a:rPr lang="zh-CN" altLang="en-US" sz="1600" dirty="0">
                <a:latin typeface="SimSun" charset="-122"/>
                <a:ea typeface="SimSun" charset="-122"/>
                <a:cs typeface="SimSun" charset="-122"/>
              </a:rPr>
              <a:t>评估你感兴趣和可能需要了解的内容</a:t>
            </a:r>
            <a:endParaRPr lang="en-US" altLang="zh-CN" sz="1600" dirty="0">
              <a:latin typeface="SimSun" charset="-122"/>
              <a:ea typeface="SimSun" charset="-122"/>
              <a:cs typeface="SimSun" charset="-122"/>
            </a:endParaRPr>
          </a:p>
        </p:txBody>
      </p:sp>
      <p:cxnSp>
        <p:nvCxnSpPr>
          <p:cNvPr id="34" name="直线连接符 33"/>
          <p:cNvCxnSpPr/>
          <p:nvPr/>
        </p:nvCxnSpPr>
        <p:spPr>
          <a:xfrm flipH="1">
            <a:off x="9708840" y="4759326"/>
            <a:ext cx="12698" cy="1600930"/>
          </a:xfrm>
          <a:prstGeom prst="line">
            <a:avLst/>
          </a:prstGeom>
          <a:ln w="34925" cmpd="dbl">
            <a:solidFill>
              <a:srgbClr val="991E23"/>
            </a:solidFill>
          </a:ln>
        </p:spPr>
        <p:style>
          <a:lnRef idx="1">
            <a:schemeClr val="accent1"/>
          </a:lnRef>
          <a:fillRef idx="0">
            <a:schemeClr val="accent1"/>
          </a:fillRef>
          <a:effectRef idx="0">
            <a:schemeClr val="accent1"/>
          </a:effectRef>
          <a:fontRef idx="minor">
            <a:schemeClr val="tx1"/>
          </a:fontRef>
        </p:style>
      </p:cxnSp>
      <p:sp>
        <p:nvSpPr>
          <p:cNvPr id="35" name="公司简介"/>
          <p:cNvSpPr txBox="1"/>
          <p:nvPr/>
        </p:nvSpPr>
        <p:spPr>
          <a:xfrm>
            <a:off x="9846002" y="4767878"/>
            <a:ext cx="1975329" cy="300322"/>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pPr algn="l"/>
            <a:r>
              <a:rPr lang="zh-CN" altLang="en-US" sz="1600" dirty="0">
                <a:latin typeface="SimSun" charset="-122"/>
                <a:ea typeface="SimSun" charset="-122"/>
                <a:cs typeface="SimSun" charset="-122"/>
              </a:rPr>
              <a:t>个性化的学习内容</a:t>
            </a:r>
            <a:endParaRPr lang="en-US" altLang="zh-CN" sz="1600" dirty="0">
              <a:latin typeface="SimSun" charset="-122"/>
              <a:ea typeface="SimSun" charset="-122"/>
              <a:cs typeface="SimSun" charset="-122"/>
            </a:endParaRPr>
          </a:p>
        </p:txBody>
      </p:sp>
      <p:sp>
        <p:nvSpPr>
          <p:cNvPr id="47" name="公司简介"/>
          <p:cNvSpPr txBox="1"/>
          <p:nvPr/>
        </p:nvSpPr>
        <p:spPr>
          <a:xfrm>
            <a:off x="1231804" y="992663"/>
            <a:ext cx="1731101" cy="1654539"/>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pPr algn="l">
              <a:lnSpc>
                <a:spcPct val="130000"/>
              </a:lnSpc>
            </a:pPr>
            <a:r>
              <a:rPr lang="zh-CN" altLang="en-US" sz="1600" b="1" dirty="0">
                <a:solidFill>
                  <a:schemeClr val="accent2"/>
                </a:solidFill>
                <a:latin typeface="SimSun" charset="-122"/>
                <a:ea typeface="SimSun" charset="-122"/>
                <a:cs typeface="SimSun" charset="-122"/>
              </a:rPr>
              <a:t>投资者甲</a:t>
            </a:r>
            <a:endParaRPr lang="en-US" altLang="zh-CN" sz="1600" b="1" dirty="0">
              <a:solidFill>
                <a:schemeClr val="accent2"/>
              </a:solidFill>
              <a:latin typeface="SimSun" charset="-122"/>
              <a:ea typeface="SimSun" charset="-122"/>
              <a:cs typeface="SimSun" charset="-122"/>
            </a:endParaRPr>
          </a:p>
          <a:p>
            <a:pPr algn="l">
              <a:lnSpc>
                <a:spcPct val="130000"/>
              </a:lnSpc>
            </a:pPr>
            <a:r>
              <a:rPr lang="zh-CN" altLang="en-US" sz="1600" dirty="0">
                <a:latin typeface="SimSun" charset="-122"/>
                <a:ea typeface="SimSun" charset="-122"/>
                <a:cs typeface="SimSun" charset="-122"/>
              </a:rPr>
              <a:t>持仓</a:t>
            </a:r>
            <a:r>
              <a:rPr lang="en-US" altLang="zh-CN" sz="1600" dirty="0">
                <a:latin typeface="SimSun" charset="-122"/>
                <a:ea typeface="SimSun" charset="-122"/>
                <a:cs typeface="SimSun" charset="-122"/>
              </a:rPr>
              <a:t>:</a:t>
            </a:r>
            <a:r>
              <a:rPr lang="zh-CN" altLang="en-US" sz="1600" dirty="0">
                <a:latin typeface="SimSun" charset="-122"/>
                <a:ea typeface="SimSun" charset="-122"/>
                <a:cs typeface="SimSun" charset="-122"/>
              </a:rPr>
              <a:t>乐视网</a:t>
            </a:r>
            <a:endParaRPr lang="en-US" altLang="zh-CN" sz="1600" dirty="0">
              <a:latin typeface="SimSun" charset="-122"/>
              <a:ea typeface="SimSun" charset="-122"/>
              <a:cs typeface="SimSun" charset="-122"/>
            </a:endParaRPr>
          </a:p>
          <a:p>
            <a:pPr algn="l">
              <a:lnSpc>
                <a:spcPct val="130000"/>
              </a:lnSpc>
            </a:pPr>
            <a:r>
              <a:rPr lang="zh-CN" altLang="en-US" sz="1600" dirty="0">
                <a:latin typeface="SimSun" charset="-122"/>
                <a:ea typeface="SimSun" charset="-122"/>
                <a:cs typeface="SimSun" charset="-122"/>
              </a:rPr>
              <a:t>持仓时间</a:t>
            </a:r>
            <a:r>
              <a:rPr lang="en-US" altLang="zh-CN" sz="1600" dirty="0">
                <a:latin typeface="SimSun" charset="-122"/>
                <a:ea typeface="SimSun" charset="-122"/>
                <a:cs typeface="SimSun" charset="-122"/>
              </a:rPr>
              <a:t>:2</a:t>
            </a:r>
            <a:r>
              <a:rPr lang="zh-CN" altLang="en-US" sz="1600" dirty="0">
                <a:latin typeface="SimSun" charset="-122"/>
                <a:ea typeface="SimSun" charset="-122"/>
                <a:cs typeface="SimSun" charset="-122"/>
              </a:rPr>
              <a:t>天</a:t>
            </a:r>
            <a:endParaRPr lang="en-US" altLang="zh-CN" sz="1600" dirty="0">
              <a:latin typeface="SimSun" charset="-122"/>
              <a:ea typeface="SimSun" charset="-122"/>
              <a:cs typeface="SimSun" charset="-122"/>
            </a:endParaRPr>
          </a:p>
          <a:p>
            <a:pPr>
              <a:lnSpc>
                <a:spcPct val="130000"/>
              </a:lnSpc>
            </a:pPr>
            <a:r>
              <a:rPr lang="zh-CN" altLang="en-US" sz="1600" dirty="0">
                <a:latin typeface="SimSun" charset="-122"/>
                <a:ea typeface="SimSun" charset="-122"/>
                <a:cs typeface="SimSun" charset="-122"/>
              </a:rPr>
              <a:t>仓位</a:t>
            </a:r>
            <a:r>
              <a:rPr lang="en-US" altLang="zh-CN" sz="1600" dirty="0">
                <a:latin typeface="SimSun" charset="-122"/>
                <a:ea typeface="SimSun" charset="-122"/>
                <a:cs typeface="SimSun" charset="-122"/>
              </a:rPr>
              <a:t>:97%</a:t>
            </a:r>
          </a:p>
          <a:p>
            <a:pPr>
              <a:lnSpc>
                <a:spcPct val="130000"/>
              </a:lnSpc>
            </a:pPr>
            <a:r>
              <a:rPr lang="zh-CN" altLang="en-US" sz="1600" dirty="0">
                <a:latin typeface="SimSun" charset="-122"/>
                <a:ea typeface="SimSun" charset="-122"/>
                <a:cs typeface="SimSun" charset="-122"/>
              </a:rPr>
              <a:t>交易记录</a:t>
            </a:r>
            <a:r>
              <a:rPr lang="mr-IN" altLang="zh-CN" sz="1600" dirty="0">
                <a:latin typeface="SimSun" charset="-122"/>
                <a:ea typeface="SimSun" charset="-122"/>
                <a:cs typeface="SimSun" charset="-122"/>
              </a:rPr>
              <a:t>……</a:t>
            </a:r>
            <a:endParaRPr lang="en-US" altLang="zh-CN" sz="1600" dirty="0">
              <a:latin typeface="SimSun" charset="-122"/>
              <a:ea typeface="SimSun" charset="-122"/>
              <a:cs typeface="SimSun" charset="-122"/>
            </a:endParaRPr>
          </a:p>
        </p:txBody>
      </p:sp>
      <p:cxnSp>
        <p:nvCxnSpPr>
          <p:cNvPr id="48" name="直线连接符 47"/>
          <p:cNvCxnSpPr/>
          <p:nvPr/>
        </p:nvCxnSpPr>
        <p:spPr>
          <a:xfrm flipH="1">
            <a:off x="5159531" y="1022069"/>
            <a:ext cx="12698" cy="1600930"/>
          </a:xfrm>
          <a:prstGeom prst="line">
            <a:avLst/>
          </a:prstGeom>
          <a:ln w="34925" cmpd="dbl">
            <a:solidFill>
              <a:srgbClr val="991E23"/>
            </a:solidFill>
          </a:ln>
        </p:spPr>
        <p:style>
          <a:lnRef idx="1">
            <a:schemeClr val="accent1"/>
          </a:lnRef>
          <a:fillRef idx="0">
            <a:schemeClr val="accent1"/>
          </a:fillRef>
          <a:effectRef idx="0">
            <a:schemeClr val="accent1"/>
          </a:effectRef>
          <a:fontRef idx="minor">
            <a:schemeClr val="tx1"/>
          </a:fontRef>
        </p:style>
      </p:cxnSp>
      <p:sp>
        <p:nvSpPr>
          <p:cNvPr id="49" name="公司简介"/>
          <p:cNvSpPr txBox="1"/>
          <p:nvPr/>
        </p:nvSpPr>
        <p:spPr>
          <a:xfrm>
            <a:off x="5224695" y="971244"/>
            <a:ext cx="2260681" cy="546544"/>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r>
              <a:rPr lang="zh-CN" altLang="en-US" sz="1600" dirty="0">
                <a:latin typeface="SimSun" charset="-122"/>
                <a:ea typeface="SimSun" charset="-122"/>
                <a:cs typeface="SimSun" charset="-122"/>
              </a:rPr>
              <a:t>知识图谱：交易策略，止损。</a:t>
            </a:r>
            <a:endParaRPr lang="en-US" altLang="zh-CN" sz="1600" dirty="0">
              <a:latin typeface="SimSun" charset="-122"/>
              <a:ea typeface="SimSun" charset="-122"/>
              <a:cs typeface="SimSun" charset="-122"/>
            </a:endParaRPr>
          </a:p>
        </p:txBody>
      </p:sp>
      <p:cxnSp>
        <p:nvCxnSpPr>
          <p:cNvPr id="51" name="直线连接符 50"/>
          <p:cNvCxnSpPr/>
          <p:nvPr/>
        </p:nvCxnSpPr>
        <p:spPr>
          <a:xfrm flipH="1">
            <a:off x="7409178" y="1040122"/>
            <a:ext cx="12698" cy="1600930"/>
          </a:xfrm>
          <a:prstGeom prst="line">
            <a:avLst/>
          </a:prstGeom>
          <a:ln w="34925" cmpd="dbl">
            <a:solidFill>
              <a:srgbClr val="991E23"/>
            </a:solidFill>
          </a:ln>
        </p:spPr>
        <p:style>
          <a:lnRef idx="1">
            <a:schemeClr val="accent1"/>
          </a:lnRef>
          <a:fillRef idx="0">
            <a:schemeClr val="accent1"/>
          </a:fillRef>
          <a:effectRef idx="0">
            <a:schemeClr val="accent1"/>
          </a:effectRef>
          <a:fontRef idx="minor">
            <a:schemeClr val="tx1"/>
          </a:fontRef>
        </p:style>
      </p:cxnSp>
      <p:sp>
        <p:nvSpPr>
          <p:cNvPr id="52" name="公司简介"/>
          <p:cNvSpPr txBox="1"/>
          <p:nvPr/>
        </p:nvSpPr>
        <p:spPr>
          <a:xfrm>
            <a:off x="7594598" y="937058"/>
            <a:ext cx="1975329" cy="546544"/>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pPr algn="l"/>
            <a:r>
              <a:rPr lang="zh-CN" altLang="en-US" sz="1600" dirty="0">
                <a:latin typeface="SimSun" charset="-122"/>
                <a:ea typeface="SimSun" charset="-122"/>
                <a:cs typeface="SimSun" charset="-122"/>
              </a:rPr>
              <a:t>评估有助于你提升或感兴趣的学习内容</a:t>
            </a:r>
            <a:endParaRPr lang="en-US" altLang="zh-CN" sz="1600" dirty="0">
              <a:latin typeface="SimSun" charset="-122"/>
              <a:ea typeface="SimSun" charset="-122"/>
              <a:cs typeface="SimSun" charset="-122"/>
            </a:endParaRPr>
          </a:p>
        </p:txBody>
      </p:sp>
      <p:cxnSp>
        <p:nvCxnSpPr>
          <p:cNvPr id="54" name="直线连接符 53"/>
          <p:cNvCxnSpPr/>
          <p:nvPr/>
        </p:nvCxnSpPr>
        <p:spPr>
          <a:xfrm flipH="1">
            <a:off x="9775669" y="1026217"/>
            <a:ext cx="12698" cy="1600930"/>
          </a:xfrm>
          <a:prstGeom prst="line">
            <a:avLst/>
          </a:prstGeom>
          <a:ln w="34925" cmpd="dbl">
            <a:solidFill>
              <a:srgbClr val="991E23"/>
            </a:solidFill>
          </a:ln>
        </p:spPr>
        <p:style>
          <a:lnRef idx="1">
            <a:schemeClr val="accent1"/>
          </a:lnRef>
          <a:fillRef idx="0">
            <a:schemeClr val="accent1"/>
          </a:fillRef>
          <a:effectRef idx="0">
            <a:schemeClr val="accent1"/>
          </a:effectRef>
          <a:fontRef idx="minor">
            <a:schemeClr val="tx1"/>
          </a:fontRef>
        </p:style>
      </p:cxnSp>
      <p:sp>
        <p:nvSpPr>
          <p:cNvPr id="55" name="公司简介"/>
          <p:cNvSpPr txBox="1"/>
          <p:nvPr/>
        </p:nvSpPr>
        <p:spPr>
          <a:xfrm>
            <a:off x="9912831" y="958569"/>
            <a:ext cx="1975329" cy="300322"/>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pPr algn="l"/>
            <a:r>
              <a:rPr lang="zh-CN" altLang="en-US" sz="1600" dirty="0">
                <a:latin typeface="SimSun" charset="-122"/>
                <a:ea typeface="SimSun" charset="-122"/>
                <a:cs typeface="SimSun" charset="-122"/>
              </a:rPr>
              <a:t>个性化的学习内容</a:t>
            </a:r>
            <a:endParaRPr lang="en-US" altLang="zh-CN" sz="1600" dirty="0">
              <a:latin typeface="SimSun" charset="-122"/>
              <a:ea typeface="SimSun" charset="-122"/>
              <a:cs typeface="SimSun" charset="-122"/>
            </a:endParaRPr>
          </a:p>
        </p:txBody>
      </p:sp>
      <p:cxnSp>
        <p:nvCxnSpPr>
          <p:cNvPr id="59" name="直线连接符 58"/>
          <p:cNvCxnSpPr/>
          <p:nvPr/>
        </p:nvCxnSpPr>
        <p:spPr>
          <a:xfrm flipH="1">
            <a:off x="3090305" y="1019788"/>
            <a:ext cx="12698" cy="1600930"/>
          </a:xfrm>
          <a:prstGeom prst="line">
            <a:avLst/>
          </a:prstGeom>
          <a:ln w="34925" cmpd="dbl">
            <a:solidFill>
              <a:srgbClr val="991E23"/>
            </a:solidFill>
          </a:ln>
        </p:spPr>
        <p:style>
          <a:lnRef idx="1">
            <a:schemeClr val="accent1"/>
          </a:lnRef>
          <a:fillRef idx="0">
            <a:schemeClr val="accent1"/>
          </a:fillRef>
          <a:effectRef idx="0">
            <a:schemeClr val="accent1"/>
          </a:effectRef>
          <a:fontRef idx="minor">
            <a:schemeClr val="tx1"/>
          </a:fontRef>
        </p:style>
      </p:cxnSp>
      <p:cxnSp>
        <p:nvCxnSpPr>
          <p:cNvPr id="61" name="直线连接符 60"/>
          <p:cNvCxnSpPr/>
          <p:nvPr/>
        </p:nvCxnSpPr>
        <p:spPr>
          <a:xfrm flipH="1">
            <a:off x="2975605" y="4796183"/>
            <a:ext cx="12698" cy="1600930"/>
          </a:xfrm>
          <a:prstGeom prst="line">
            <a:avLst/>
          </a:prstGeom>
          <a:ln w="34925" cmpd="dbl">
            <a:solidFill>
              <a:srgbClr val="991E23"/>
            </a:solidFill>
          </a:ln>
        </p:spPr>
        <p:style>
          <a:lnRef idx="1">
            <a:schemeClr val="accent1"/>
          </a:lnRef>
          <a:fillRef idx="0">
            <a:schemeClr val="accent1"/>
          </a:fillRef>
          <a:effectRef idx="0">
            <a:schemeClr val="accent1"/>
          </a:effectRef>
          <a:fontRef idx="minor">
            <a:schemeClr val="tx1"/>
          </a:fontRef>
        </p:style>
      </p:cxnSp>
      <p:sp>
        <p:nvSpPr>
          <p:cNvPr id="62" name="公司简介"/>
          <p:cNvSpPr txBox="1"/>
          <p:nvPr/>
        </p:nvSpPr>
        <p:spPr>
          <a:xfrm>
            <a:off x="3196116" y="1014096"/>
            <a:ext cx="1757674" cy="300322"/>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r>
              <a:rPr lang="zh-CN" altLang="en-US" sz="1600" dirty="0">
                <a:latin typeface="SimSun" charset="-122"/>
                <a:ea typeface="SimSun" charset="-122"/>
                <a:cs typeface="SimSun" charset="-122"/>
              </a:rPr>
              <a:t>投资者画像：</a:t>
            </a:r>
            <a:endParaRPr lang="en-US" altLang="zh-CN" sz="1600" dirty="0">
              <a:latin typeface="SimSun" charset="-122"/>
              <a:ea typeface="SimSun" charset="-122"/>
              <a:cs typeface="SimSun" charset="-122"/>
            </a:endParaRPr>
          </a:p>
        </p:txBody>
      </p:sp>
      <p:sp>
        <p:nvSpPr>
          <p:cNvPr id="65" name="公司简介"/>
          <p:cNvSpPr txBox="1"/>
          <p:nvPr/>
        </p:nvSpPr>
        <p:spPr>
          <a:xfrm>
            <a:off x="3103408" y="4750354"/>
            <a:ext cx="1757674" cy="300322"/>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r>
              <a:rPr lang="zh-CN" altLang="en-US" sz="1600" dirty="0">
                <a:latin typeface="SimSun" charset="-122"/>
                <a:ea typeface="SimSun" charset="-122"/>
                <a:cs typeface="SimSun" charset="-122"/>
              </a:rPr>
              <a:t>投资者画像：</a:t>
            </a:r>
            <a:endParaRPr lang="en-US" altLang="zh-CN" sz="1600" dirty="0">
              <a:latin typeface="SimSun" charset="-122"/>
              <a:ea typeface="SimSun" charset="-122"/>
              <a:cs typeface="SimSun" charset="-122"/>
            </a:endParaRPr>
          </a:p>
        </p:txBody>
      </p:sp>
      <p:pic>
        <p:nvPicPr>
          <p:cNvPr id="41" name="图片 40"/>
          <p:cNvPicPr>
            <a:picLocks noChangeAspect="1"/>
          </p:cNvPicPr>
          <p:nvPr/>
        </p:nvPicPr>
        <p:blipFill>
          <a:blip r:embed="rId4"/>
          <a:stretch>
            <a:fillRect/>
          </a:stretch>
        </p:blipFill>
        <p:spPr>
          <a:xfrm>
            <a:off x="10710094" y="1659948"/>
            <a:ext cx="1028206" cy="1143403"/>
          </a:xfrm>
          <a:prstGeom prst="rect">
            <a:avLst/>
          </a:prstGeom>
        </p:spPr>
      </p:pic>
      <p:pic>
        <p:nvPicPr>
          <p:cNvPr id="6" name="图片 5"/>
          <p:cNvPicPr>
            <a:picLocks noChangeAspect="1"/>
          </p:cNvPicPr>
          <p:nvPr/>
        </p:nvPicPr>
        <p:blipFill>
          <a:blip r:embed="rId5"/>
          <a:stretch>
            <a:fillRect/>
          </a:stretch>
        </p:blipFill>
        <p:spPr>
          <a:xfrm>
            <a:off x="3224840" y="1333418"/>
            <a:ext cx="1788166" cy="1510931"/>
          </a:xfrm>
          <a:prstGeom prst="rect">
            <a:avLst/>
          </a:prstGeom>
        </p:spPr>
      </p:pic>
      <p:pic>
        <p:nvPicPr>
          <p:cNvPr id="7" name="图片 6"/>
          <p:cNvPicPr>
            <a:picLocks noChangeAspect="1"/>
          </p:cNvPicPr>
          <p:nvPr/>
        </p:nvPicPr>
        <p:blipFill>
          <a:blip r:embed="rId6"/>
          <a:stretch>
            <a:fillRect/>
          </a:stretch>
        </p:blipFill>
        <p:spPr>
          <a:xfrm>
            <a:off x="3066011" y="5092001"/>
            <a:ext cx="1927627" cy="1602449"/>
          </a:xfrm>
          <a:prstGeom prst="rect">
            <a:avLst/>
          </a:prstGeom>
        </p:spPr>
      </p:pic>
      <p:pic>
        <p:nvPicPr>
          <p:cNvPr id="53" name="图片 52"/>
          <p:cNvPicPr>
            <a:picLocks noChangeAspect="1"/>
          </p:cNvPicPr>
          <p:nvPr/>
        </p:nvPicPr>
        <p:blipFill>
          <a:blip r:embed="rId7"/>
          <a:stretch>
            <a:fillRect/>
          </a:stretch>
        </p:blipFill>
        <p:spPr>
          <a:xfrm>
            <a:off x="9875056" y="5131903"/>
            <a:ext cx="1012739" cy="1155173"/>
          </a:xfrm>
          <a:prstGeom prst="rect">
            <a:avLst/>
          </a:prstGeom>
        </p:spPr>
      </p:pic>
      <p:pic>
        <p:nvPicPr>
          <p:cNvPr id="56" name="图片 55"/>
          <p:cNvPicPr>
            <a:picLocks noChangeAspect="1"/>
          </p:cNvPicPr>
          <p:nvPr/>
        </p:nvPicPr>
        <p:blipFill>
          <a:blip r:embed="rId8"/>
          <a:stretch>
            <a:fillRect/>
          </a:stretch>
        </p:blipFill>
        <p:spPr>
          <a:xfrm>
            <a:off x="10177746" y="5408925"/>
            <a:ext cx="1046451" cy="1155173"/>
          </a:xfrm>
          <a:prstGeom prst="rect">
            <a:avLst/>
          </a:prstGeom>
        </p:spPr>
      </p:pic>
      <p:pic>
        <p:nvPicPr>
          <p:cNvPr id="57" name="图片 56"/>
          <p:cNvPicPr>
            <a:picLocks noChangeAspect="1"/>
          </p:cNvPicPr>
          <p:nvPr/>
        </p:nvPicPr>
        <p:blipFill>
          <a:blip r:embed="rId9"/>
          <a:stretch>
            <a:fillRect/>
          </a:stretch>
        </p:blipFill>
        <p:spPr>
          <a:xfrm>
            <a:off x="10614173" y="5643473"/>
            <a:ext cx="1044007" cy="1184699"/>
          </a:xfrm>
          <a:prstGeom prst="rect">
            <a:avLst/>
          </a:prstGeom>
        </p:spPr>
      </p:pic>
      <p:pic>
        <p:nvPicPr>
          <p:cNvPr id="9" name="图片 8"/>
          <p:cNvPicPr>
            <a:picLocks noChangeAspect="1"/>
          </p:cNvPicPr>
          <p:nvPr/>
        </p:nvPicPr>
        <p:blipFill>
          <a:blip r:embed="rId10"/>
          <a:stretch>
            <a:fillRect/>
          </a:stretch>
        </p:blipFill>
        <p:spPr>
          <a:xfrm>
            <a:off x="2816660" y="3012146"/>
            <a:ext cx="9210431" cy="1100034"/>
          </a:xfrm>
          <a:prstGeom prst="rect">
            <a:avLst/>
          </a:prstGeom>
        </p:spPr>
      </p:pic>
      <p:pic>
        <p:nvPicPr>
          <p:cNvPr id="10" name="图片 9"/>
          <p:cNvPicPr>
            <a:picLocks noChangeAspect="1"/>
          </p:cNvPicPr>
          <p:nvPr/>
        </p:nvPicPr>
        <p:blipFill>
          <a:blip r:embed="rId11"/>
          <a:stretch>
            <a:fillRect/>
          </a:stretch>
        </p:blipFill>
        <p:spPr>
          <a:xfrm>
            <a:off x="1133140" y="2844349"/>
            <a:ext cx="1743517" cy="1452852"/>
          </a:xfrm>
          <a:prstGeom prst="rect">
            <a:avLst/>
          </a:prstGeom>
        </p:spPr>
      </p:pic>
      <p:pic>
        <p:nvPicPr>
          <p:cNvPr id="11" name="图片 10"/>
          <p:cNvPicPr>
            <a:picLocks noChangeAspect="1"/>
          </p:cNvPicPr>
          <p:nvPr/>
        </p:nvPicPr>
        <p:blipFill>
          <a:blip r:embed="rId12"/>
          <a:stretch>
            <a:fillRect/>
          </a:stretch>
        </p:blipFill>
        <p:spPr>
          <a:xfrm>
            <a:off x="5231889" y="5205114"/>
            <a:ext cx="1964010" cy="1476767"/>
          </a:xfrm>
          <a:prstGeom prst="rect">
            <a:avLst/>
          </a:prstGeom>
        </p:spPr>
      </p:pic>
      <p:pic>
        <p:nvPicPr>
          <p:cNvPr id="12" name="图片 11"/>
          <p:cNvPicPr>
            <a:picLocks noChangeAspect="1"/>
          </p:cNvPicPr>
          <p:nvPr/>
        </p:nvPicPr>
        <p:blipFill>
          <a:blip r:embed="rId13"/>
          <a:stretch>
            <a:fillRect/>
          </a:stretch>
        </p:blipFill>
        <p:spPr>
          <a:xfrm>
            <a:off x="5218747" y="1538649"/>
            <a:ext cx="2010010" cy="1419067"/>
          </a:xfrm>
          <a:prstGeom prst="rect">
            <a:avLst/>
          </a:prstGeom>
        </p:spPr>
      </p:pic>
      <p:pic>
        <p:nvPicPr>
          <p:cNvPr id="13" name="图片 12"/>
          <p:cNvPicPr>
            <a:picLocks noChangeAspect="1"/>
          </p:cNvPicPr>
          <p:nvPr/>
        </p:nvPicPr>
        <p:blipFill>
          <a:blip r:embed="rId14"/>
          <a:stretch>
            <a:fillRect/>
          </a:stretch>
        </p:blipFill>
        <p:spPr>
          <a:xfrm>
            <a:off x="7500051" y="5380213"/>
            <a:ext cx="2091946" cy="1038080"/>
          </a:xfrm>
          <a:prstGeom prst="rect">
            <a:avLst/>
          </a:prstGeom>
        </p:spPr>
      </p:pic>
      <p:pic>
        <p:nvPicPr>
          <p:cNvPr id="14" name="图片 13"/>
          <p:cNvPicPr>
            <a:picLocks noChangeAspect="1"/>
          </p:cNvPicPr>
          <p:nvPr/>
        </p:nvPicPr>
        <p:blipFill>
          <a:blip r:embed="rId15"/>
          <a:stretch>
            <a:fillRect/>
          </a:stretch>
        </p:blipFill>
        <p:spPr>
          <a:xfrm>
            <a:off x="7481260" y="1662984"/>
            <a:ext cx="2125099" cy="1041115"/>
          </a:xfrm>
          <a:prstGeom prst="rect">
            <a:avLst/>
          </a:prstGeom>
        </p:spPr>
      </p:pic>
    </p:spTree>
    <p:extLst>
      <p:ext uri="{BB962C8B-B14F-4D97-AF65-F5344CB8AC3E}">
        <p14:creationId xmlns:p14="http://schemas.microsoft.com/office/powerpoint/2010/main" val="16472096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0" name="14441896787_163b98fa52_b.jpg" descr="14441896787_163b98fa52_b.jpg"/>
          <p:cNvPicPr>
            <a:picLocks noChangeAspect="1"/>
          </p:cNvPicPr>
          <p:nvPr/>
        </p:nvPicPr>
        <p:blipFill>
          <a:blip r:embed="rId2">
            <a:alphaModFix amt="23803"/>
            <a:extLst/>
          </a:blip>
          <a:stretch>
            <a:fillRect/>
          </a:stretch>
        </p:blipFill>
        <p:spPr>
          <a:xfrm>
            <a:off x="0" y="0"/>
            <a:ext cx="12192000" cy="6858000"/>
          </a:xfrm>
          <a:prstGeom prst="rect">
            <a:avLst/>
          </a:prstGeom>
          <a:ln w="3175">
            <a:miter lim="400000"/>
          </a:ln>
        </p:spPr>
      </p:pic>
      <p:pic>
        <p:nvPicPr>
          <p:cNvPr id="171" name="图像" descr="图像"/>
          <p:cNvPicPr>
            <a:picLocks noChangeAspect="1"/>
          </p:cNvPicPr>
          <p:nvPr/>
        </p:nvPicPr>
        <p:blipFill>
          <a:blip r:embed="rId3">
            <a:extLst/>
          </a:blip>
          <a:stretch>
            <a:fillRect/>
          </a:stretch>
        </p:blipFill>
        <p:spPr>
          <a:xfrm>
            <a:off x="10444834" y="466533"/>
            <a:ext cx="1253577" cy="332979"/>
          </a:xfrm>
          <a:prstGeom prst="rect">
            <a:avLst/>
          </a:prstGeom>
          <a:ln w="3175">
            <a:miter lim="400000"/>
          </a:ln>
        </p:spPr>
      </p:pic>
      <p:sp>
        <p:nvSpPr>
          <p:cNvPr id="172" name="矩形"/>
          <p:cNvSpPr/>
          <p:nvPr/>
        </p:nvSpPr>
        <p:spPr>
          <a:xfrm>
            <a:off x="-48235" y="1797772"/>
            <a:ext cx="7761787" cy="2983056"/>
          </a:xfrm>
          <a:prstGeom prst="rect">
            <a:avLst/>
          </a:prstGeom>
          <a:solidFill>
            <a:srgbClr val="CAA354"/>
          </a:solidFill>
          <a:ln w="3175">
            <a:miter lim="400000"/>
          </a:ln>
        </p:spPr>
        <p:txBody>
          <a:bodyPr lIns="26789" tIns="26789" rIns="26789" bIns="26789" anchor="ctr"/>
          <a:lstStyle/>
          <a:p>
            <a:pPr>
              <a:defRPr sz="1400">
                <a:latin typeface="+mn-lt"/>
                <a:ea typeface="+mn-ea"/>
                <a:cs typeface="+mn-cs"/>
                <a:sym typeface="Helvetica Neue Medium"/>
              </a:defRPr>
            </a:pPr>
            <a:endParaRPr/>
          </a:p>
        </p:txBody>
      </p:sp>
      <p:sp>
        <p:nvSpPr>
          <p:cNvPr id="173" name="大标题"/>
          <p:cNvSpPr txBox="1"/>
          <p:nvPr/>
        </p:nvSpPr>
        <p:spPr>
          <a:xfrm>
            <a:off x="237258" y="1985084"/>
            <a:ext cx="7935192" cy="2270092"/>
          </a:xfrm>
          <a:prstGeom prst="rect">
            <a:avLst/>
          </a:prstGeom>
          <a:ln w="3175">
            <a:miter lim="400000"/>
          </a:ln>
          <a:extLst>
            <a:ext uri="{C572A759-6A51-4108-AA02-DFA0A04FC94B}">
              <ma14:wrappingTextBoxFlag xmlns="" xmlns:ma14="http://schemas.microsoft.com/office/mac/drawingml/2011/main" val="1"/>
            </a:ext>
          </a:extLst>
        </p:spPr>
        <p:txBody>
          <a:bodyPr wrap="square" lIns="26789" tIns="26789" rIns="26789" bIns="26789" anchor="ctr">
            <a:spAutoFit/>
          </a:bodyPr>
          <a:lstStyle>
            <a:lvl1pPr>
              <a:defRPr sz="3800">
                <a:latin typeface="PingFang SC Semibold"/>
                <a:ea typeface="PingFang SC Semibold"/>
                <a:cs typeface="PingFang SC Semibold"/>
                <a:sym typeface="PingFang SC Semibold"/>
              </a:defRPr>
            </a:lvl1pPr>
          </a:lstStyle>
          <a:p>
            <a:pPr algn="l"/>
            <a:r>
              <a:rPr lang="zh-CN" altLang="en-US" sz="3600" dirty="0">
                <a:solidFill>
                  <a:schemeClr val="bg1"/>
                </a:solidFill>
              </a:rPr>
              <a:t>智能交易：</a:t>
            </a:r>
            <a:endParaRPr lang="en-US" altLang="zh-CN" sz="3600" dirty="0">
              <a:solidFill>
                <a:schemeClr val="bg1"/>
              </a:solidFill>
            </a:endParaRPr>
          </a:p>
          <a:p>
            <a:r>
              <a:rPr lang="zh-CN" altLang="en-US" sz="3600" dirty="0">
                <a:solidFill>
                  <a:schemeClr val="bg1"/>
                </a:solidFill>
              </a:rPr>
              <a:t>降低投资交易的专业门槛</a:t>
            </a:r>
            <a:endParaRPr lang="en-US" altLang="zh-CN" sz="3600" dirty="0">
              <a:solidFill>
                <a:schemeClr val="bg1"/>
              </a:solidFill>
            </a:endParaRPr>
          </a:p>
          <a:p>
            <a:r>
              <a:rPr lang="zh-CN" altLang="en-US" sz="3600" dirty="0">
                <a:solidFill>
                  <a:schemeClr val="bg1"/>
                </a:solidFill>
              </a:rPr>
              <a:t>完整覆盖投资生命周期</a:t>
            </a:r>
            <a:endParaRPr lang="en-US" altLang="zh-CN" sz="3600" dirty="0">
              <a:solidFill>
                <a:schemeClr val="bg1"/>
              </a:solidFill>
            </a:endParaRPr>
          </a:p>
          <a:p>
            <a:endParaRPr sz="3600" dirty="0">
              <a:solidFill>
                <a:schemeClr val="bg1"/>
              </a:solidFill>
            </a:endParaRPr>
          </a:p>
        </p:txBody>
      </p:sp>
      <p:sp>
        <p:nvSpPr>
          <p:cNvPr id="175" name="矩形"/>
          <p:cNvSpPr/>
          <p:nvPr/>
        </p:nvSpPr>
        <p:spPr>
          <a:xfrm>
            <a:off x="189304" y="219031"/>
            <a:ext cx="11813392" cy="6419938"/>
          </a:xfrm>
          <a:prstGeom prst="rect">
            <a:avLst/>
          </a:prstGeom>
          <a:ln>
            <a:solidFill>
              <a:srgbClr val="FFFFFF"/>
            </a:solidFill>
            <a:miter lim="400000"/>
          </a:ln>
        </p:spPr>
        <p:txBody>
          <a:bodyPr lIns="26789" tIns="26789" rIns="26789" bIns="26789" anchor="ctr"/>
          <a:lstStyle/>
          <a:p>
            <a:pPr>
              <a:defRPr sz="1400">
                <a:latin typeface="+mn-lt"/>
                <a:ea typeface="+mn-ea"/>
                <a:cs typeface="+mn-cs"/>
                <a:sym typeface="Helvetica Neue Medium"/>
              </a:defRPr>
            </a:pPr>
            <a:endParaRPr/>
          </a:p>
        </p:txBody>
      </p:sp>
    </p:spTree>
    <p:extLst>
      <p:ext uri="{BB962C8B-B14F-4D97-AF65-F5344CB8AC3E}">
        <p14:creationId xmlns:p14="http://schemas.microsoft.com/office/powerpoint/2010/main" val="35309020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57"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8"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9" name="04"/>
          <p:cNvSpPr txBox="1"/>
          <p:nvPr/>
        </p:nvSpPr>
        <p:spPr>
          <a:xfrm>
            <a:off x="356995" y="6344413"/>
            <a:ext cx="218679" cy="231380"/>
          </a:xfrm>
          <a:prstGeom prst="rect">
            <a:avLst/>
          </a:prstGeom>
          <a:ln w="3175">
            <a:miter lim="400000"/>
          </a:ln>
          <a:extLst>
            <a:ext uri="{C572A759-6A51-4108-AA02-DFA0A04FC94B}">
              <ma14:wrappingTextBoxFlag xmlns="" xmlns:ma14="http://schemas.microsoft.com/office/mac/drawingml/2011/main" val="1"/>
            </a:ext>
          </a:extLst>
        </p:spPr>
        <p:txBody>
          <a:bodyPr wrap="none" lIns="26789" tIns="26789" rIns="26789" bIns="26789" anchor="ctr">
            <a:spAutoFit/>
          </a:bodyPr>
          <a:lstStyle>
            <a:lvl1pPr>
              <a:defRPr sz="1000">
                <a:solidFill>
                  <a:srgbClr val="CAA354"/>
                </a:solidFill>
                <a:latin typeface="PingFang SC Regular"/>
                <a:ea typeface="PingFang SC Regular"/>
                <a:cs typeface="PingFang SC Regular"/>
                <a:sym typeface="PingFang SC Regular"/>
              </a:defRPr>
            </a:lvl1pPr>
          </a:lstStyle>
          <a:p>
            <a:r>
              <a:rPr dirty="0"/>
              <a:t>04</a:t>
            </a:r>
          </a:p>
        </p:txBody>
      </p:sp>
      <p:pic>
        <p:nvPicPr>
          <p:cNvPr id="32" name="图像" descr="图像"/>
          <p:cNvPicPr>
            <a:picLocks noChangeAspect="1"/>
          </p:cNvPicPr>
          <p:nvPr/>
        </p:nvPicPr>
        <p:blipFill>
          <a:blip r:embed="rId3">
            <a:extLst/>
          </a:blip>
          <a:stretch>
            <a:fillRect/>
          </a:stretch>
        </p:blipFill>
        <p:spPr>
          <a:xfrm>
            <a:off x="10484724" y="427048"/>
            <a:ext cx="1253576" cy="332979"/>
          </a:xfrm>
          <a:prstGeom prst="rect">
            <a:avLst/>
          </a:prstGeom>
          <a:ln w="3175">
            <a:miter lim="400000"/>
          </a:ln>
        </p:spPr>
      </p:pic>
      <p:sp>
        <p:nvSpPr>
          <p:cNvPr id="29" name="文本框 28"/>
          <p:cNvSpPr txBox="1"/>
          <p:nvPr/>
        </p:nvSpPr>
        <p:spPr>
          <a:xfrm>
            <a:off x="1214668" y="274314"/>
            <a:ext cx="9270056" cy="584775"/>
          </a:xfrm>
          <a:prstGeom prst="rect">
            <a:avLst/>
          </a:prstGeom>
          <a:noFill/>
        </p:spPr>
        <p:txBody>
          <a:bodyPr wrap="square" rtlCol="0">
            <a:spAutoFit/>
          </a:bodyPr>
          <a:lstStyle/>
          <a:p>
            <a:r>
              <a:rPr kumimoji="1" lang="zh-CN" altLang="en-US" sz="3200" b="1" dirty="0"/>
              <a:t>为用户提供全方位多角度的投资决策信息</a:t>
            </a:r>
          </a:p>
        </p:txBody>
      </p:sp>
      <p:sp>
        <p:nvSpPr>
          <p:cNvPr id="33" name="矩形 32">
            <a:extLst>
              <a:ext uri="{FF2B5EF4-FFF2-40B4-BE49-F238E27FC236}">
                <a16:creationId xmlns:a16="http://schemas.microsoft.com/office/drawing/2014/main" id="{07CCDA19-C78F-4FEF-9A33-1AEE922E976D}"/>
              </a:ext>
            </a:extLst>
          </p:cNvPr>
          <p:cNvSpPr/>
          <p:nvPr/>
        </p:nvSpPr>
        <p:spPr>
          <a:xfrm>
            <a:off x="1313439"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FD35F411-A1E5-4031-B455-0E2C81A8D091}"/>
              </a:ext>
            </a:extLst>
          </p:cNvPr>
          <p:cNvSpPr/>
          <p:nvPr/>
        </p:nvSpPr>
        <p:spPr>
          <a:xfrm>
            <a:off x="5387036"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Group 206">
            <a:extLst>
              <a:ext uri="{FF2B5EF4-FFF2-40B4-BE49-F238E27FC236}">
                <a16:creationId xmlns:a16="http://schemas.microsoft.com/office/drawing/2014/main" id="{1676E70B-FB6E-4B51-871E-47086D88119D}"/>
              </a:ext>
            </a:extLst>
          </p:cNvPr>
          <p:cNvGrpSpPr/>
          <p:nvPr/>
        </p:nvGrpSpPr>
        <p:grpSpPr>
          <a:xfrm>
            <a:off x="1313439" y="1055831"/>
            <a:ext cx="4294940" cy="5306692"/>
            <a:chOff x="0" y="0"/>
            <a:chExt cx="5596845" cy="6858000"/>
          </a:xfrm>
          <a:solidFill>
            <a:srgbClr val="CAA354"/>
          </a:solidFill>
        </p:grpSpPr>
        <p:sp>
          <p:nvSpPr>
            <p:cNvPr id="15" name="Shape 204">
              <a:extLst>
                <a:ext uri="{FF2B5EF4-FFF2-40B4-BE49-F238E27FC236}">
                  <a16:creationId xmlns:a16="http://schemas.microsoft.com/office/drawing/2014/main" id="{34E41052-DBDD-49DB-B5A6-19670E8E6184}"/>
                </a:ext>
              </a:extLst>
            </p:cNvPr>
            <p:cNvSpPr/>
            <p:nvPr/>
          </p:nvSpPr>
          <p:spPr>
            <a:xfrm>
              <a:off x="0" y="0"/>
              <a:ext cx="5366659" cy="6858000"/>
            </a:xfrm>
            <a:prstGeom prst="rect">
              <a:avLst/>
            </a:prstGeom>
            <a:grpFill/>
            <a:ln w="12700" cap="flat">
              <a:noFill/>
              <a:miter lim="400000"/>
            </a:ln>
            <a:effectLst/>
          </p:spPr>
          <p:txBody>
            <a:bodyPr wrap="square" lIns="0" tIns="0" rIns="0" bIns="0" numCol="1" anchor="ctr">
              <a:noAutofit/>
            </a:bodyPr>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solidFill>
                  <a:srgbClr val="FFC000"/>
                </a:solidFill>
                <a:latin typeface="PingFang SC" charset="-122"/>
                <a:ea typeface="PingFang SC" charset="-122"/>
                <a:cs typeface="PingFang SC" charset="-122"/>
              </a:endParaRPr>
            </a:p>
          </p:txBody>
        </p:sp>
        <p:sp>
          <p:nvSpPr>
            <p:cNvPr id="16" name="Shape 205">
              <a:extLst>
                <a:ext uri="{FF2B5EF4-FFF2-40B4-BE49-F238E27FC236}">
                  <a16:creationId xmlns:a16="http://schemas.microsoft.com/office/drawing/2014/main" id="{3F266BB3-B9EE-4518-B946-A7103F9D155E}"/>
                </a:ext>
              </a:extLst>
            </p:cNvPr>
            <p:cNvSpPr/>
            <p:nvPr/>
          </p:nvSpPr>
          <p:spPr>
            <a:xfrm rot="5400000">
              <a:off x="5291251" y="3268166"/>
              <a:ext cx="381002" cy="230189"/>
            </a:xfrm>
            <a:prstGeom prst="triangle">
              <a:avLst/>
            </a:prstGeom>
            <a:grpFill/>
            <a:ln w="12700" cap="flat">
              <a:noFill/>
              <a:miter lim="400000"/>
            </a:ln>
            <a:effectLst/>
          </p:spPr>
          <p:txBody>
            <a:bodyPr wrap="square" lIns="0" tIns="0" rIns="0" bIns="0" numCol="1" anchor="ctr">
              <a:noAutofit/>
            </a:bodyPr>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PingFang SC" charset="-122"/>
                <a:ea typeface="PingFang SC" charset="-122"/>
                <a:cs typeface="PingFang SC" charset="-122"/>
              </a:endParaRPr>
            </a:p>
          </p:txBody>
        </p:sp>
      </p:grpSp>
      <p:sp>
        <p:nvSpPr>
          <p:cNvPr id="17" name="Shape 207">
            <a:extLst>
              <a:ext uri="{FF2B5EF4-FFF2-40B4-BE49-F238E27FC236}">
                <a16:creationId xmlns:a16="http://schemas.microsoft.com/office/drawing/2014/main" id="{43E6D0FF-15EB-48DD-85E5-2DDF316A74BE}"/>
              </a:ext>
            </a:extLst>
          </p:cNvPr>
          <p:cNvSpPr/>
          <p:nvPr/>
        </p:nvSpPr>
        <p:spPr>
          <a:xfrm>
            <a:off x="1532431" y="1981936"/>
            <a:ext cx="3847779" cy="830997"/>
          </a:xfrm>
          <a:prstGeom prst="rect">
            <a:avLst/>
          </a:prstGeom>
          <a:ln w="12700">
            <a:miter lim="400000"/>
          </a:ln>
        </p:spPr>
        <p:txBody>
          <a:bodyPr wrap="square" lIns="45719" rIns="45719">
            <a:spAutoFit/>
          </a:bodyPr>
          <a:lstStyle/>
          <a:p>
            <a:pPr lvl="0">
              <a:defRPr>
                <a:solidFill>
                  <a:srgbClr val="000000"/>
                </a:solidFill>
              </a:defRPr>
            </a:pPr>
            <a:r>
              <a:rPr lang="zh-CN" altLang="en-US" sz="1600" b="1" dirty="0">
                <a:latin typeface="PingFang SC" charset="-122"/>
                <a:ea typeface="PingFang SC" charset="-122"/>
                <a:cs typeface="PingFang SC" charset="-122"/>
              </a:rPr>
              <a:t>投资资讯过载：</a:t>
            </a:r>
            <a:endParaRPr lang="en-US" altLang="zh-CN" sz="1600" b="1" dirty="0">
              <a:latin typeface="PingFang SC" charset="-122"/>
              <a:ea typeface="PingFang SC" charset="-122"/>
              <a:cs typeface="PingFang SC" charset="-122"/>
            </a:endParaRPr>
          </a:p>
          <a:p>
            <a:pPr lvl="0">
              <a:defRPr>
                <a:solidFill>
                  <a:srgbClr val="000000"/>
                </a:solidFill>
              </a:defRPr>
            </a:pPr>
            <a:r>
              <a:rPr lang="zh-CN" altLang="en-US" sz="1600" dirty="0">
                <a:latin typeface="PingFang SC" charset="-122"/>
                <a:ea typeface="PingFang SC" charset="-122"/>
                <a:cs typeface="PingFang SC" charset="-122"/>
              </a:rPr>
              <a:t>互联网的普及导致信息大爆炸，如何从海量资讯中迅速找出有效信息</a:t>
            </a:r>
            <a:endParaRPr lang="en-US" altLang="zh-CN" sz="1600" dirty="0">
              <a:latin typeface="PingFang SC" charset="-122"/>
              <a:ea typeface="PingFang SC" charset="-122"/>
              <a:cs typeface="PingFang SC" charset="-122"/>
            </a:endParaRPr>
          </a:p>
        </p:txBody>
      </p:sp>
      <p:sp>
        <p:nvSpPr>
          <p:cNvPr id="19" name="Shape 208">
            <a:extLst>
              <a:ext uri="{FF2B5EF4-FFF2-40B4-BE49-F238E27FC236}">
                <a16:creationId xmlns:a16="http://schemas.microsoft.com/office/drawing/2014/main" id="{F896B70E-13A8-41A8-8B85-DCF5CD023BBA}"/>
              </a:ext>
            </a:extLst>
          </p:cNvPr>
          <p:cNvSpPr/>
          <p:nvPr/>
        </p:nvSpPr>
        <p:spPr>
          <a:xfrm>
            <a:off x="6092963" y="1657785"/>
            <a:ext cx="4800534" cy="1200329"/>
          </a:xfrm>
          <a:prstGeom prst="rect">
            <a:avLst/>
          </a:prstGeom>
          <a:ln w="12700">
            <a:miter lim="400000"/>
          </a:ln>
        </p:spPr>
        <p:txBody>
          <a:bodyPr lIns="45719" rIns="45719">
            <a:spAutoFit/>
          </a:bodyPr>
          <a:lstStyle/>
          <a:p>
            <a:pPr marL="285750" lvl="0" indent="-285750">
              <a:buFont typeface="Arial" charset="0"/>
              <a:buChar char="•"/>
              <a:defRPr>
                <a:solidFill>
                  <a:srgbClr val="000000"/>
                </a:solidFill>
              </a:defRPr>
            </a:pPr>
            <a:r>
              <a:rPr lang="zh-CN" altLang="en-US" b="1" dirty="0">
                <a:latin typeface="PingFang SC" charset="-122"/>
                <a:ea typeface="PingFang SC" charset="-122"/>
                <a:cs typeface="PingFang SC" charset="-122"/>
              </a:rPr>
              <a:t>智能资讯投研：</a:t>
            </a:r>
            <a:r>
              <a:rPr lang="zh-CN" altLang="en-US" dirty="0">
                <a:latin typeface="PingFang SC" charset="-122"/>
                <a:ea typeface="PingFang SC" charset="-122"/>
                <a:cs typeface="PingFang SC" charset="-122"/>
              </a:rPr>
              <a:t>对结构化信息和非结构化信息进行分析处理，提取出有价值的信息，并找到其中的相关性（知识图谱、自然语言处理等技术应用）</a:t>
            </a:r>
            <a:endParaRPr dirty="0">
              <a:latin typeface="PingFang SC" charset="-122"/>
              <a:ea typeface="PingFang SC" charset="-122"/>
              <a:cs typeface="PingFang SC" charset="-122"/>
            </a:endParaRPr>
          </a:p>
        </p:txBody>
      </p:sp>
      <p:sp>
        <p:nvSpPr>
          <p:cNvPr id="20" name="Shape 210">
            <a:extLst>
              <a:ext uri="{FF2B5EF4-FFF2-40B4-BE49-F238E27FC236}">
                <a16:creationId xmlns:a16="http://schemas.microsoft.com/office/drawing/2014/main" id="{9AF8E733-920F-480B-BA8E-2595231581DB}"/>
              </a:ext>
            </a:extLst>
          </p:cNvPr>
          <p:cNvSpPr/>
          <p:nvPr/>
        </p:nvSpPr>
        <p:spPr>
          <a:xfrm>
            <a:off x="2805099" y="3932313"/>
            <a:ext cx="1017094" cy="2412099"/>
          </a:xfrm>
          <a:custGeom>
            <a:avLst/>
            <a:gdLst/>
            <a:ahLst/>
            <a:cxnLst>
              <a:cxn ang="0">
                <a:pos x="wd2" y="hd2"/>
              </a:cxn>
              <a:cxn ang="5400000">
                <a:pos x="wd2" y="hd2"/>
              </a:cxn>
              <a:cxn ang="10800000">
                <a:pos x="wd2" y="hd2"/>
              </a:cxn>
              <a:cxn ang="16200000">
                <a:pos x="wd2" y="hd2"/>
              </a:cxn>
            </a:cxnLst>
            <a:rect l="0" t="0" r="r" b="b"/>
            <a:pathLst>
              <a:path w="21600" h="21579" extrusionOk="0">
                <a:moveTo>
                  <a:pt x="9888" y="4905"/>
                </a:moveTo>
                <a:cubicBezTo>
                  <a:pt x="11767" y="4905"/>
                  <a:pt x="11767" y="4905"/>
                  <a:pt x="11767" y="4905"/>
                </a:cubicBezTo>
                <a:cubicBezTo>
                  <a:pt x="11767" y="5460"/>
                  <a:pt x="11767" y="5460"/>
                  <a:pt x="11767" y="5460"/>
                </a:cubicBezTo>
                <a:cubicBezTo>
                  <a:pt x="11435" y="5460"/>
                  <a:pt x="11435" y="5460"/>
                  <a:pt x="11435" y="5460"/>
                </a:cubicBezTo>
                <a:cubicBezTo>
                  <a:pt x="12540" y="7307"/>
                  <a:pt x="12540" y="7307"/>
                  <a:pt x="12540" y="7307"/>
                </a:cubicBezTo>
                <a:cubicBezTo>
                  <a:pt x="15192" y="5229"/>
                  <a:pt x="15192" y="5229"/>
                  <a:pt x="15192" y="5229"/>
                </a:cubicBezTo>
                <a:cubicBezTo>
                  <a:pt x="16131" y="5229"/>
                  <a:pt x="17015" y="5229"/>
                  <a:pt x="17954" y="5229"/>
                </a:cubicBezTo>
                <a:cubicBezTo>
                  <a:pt x="19943" y="7053"/>
                  <a:pt x="21103" y="8947"/>
                  <a:pt x="21600" y="10887"/>
                </a:cubicBezTo>
                <a:cubicBezTo>
                  <a:pt x="20329" y="11464"/>
                  <a:pt x="19114" y="12064"/>
                  <a:pt x="17843" y="12642"/>
                </a:cubicBezTo>
                <a:cubicBezTo>
                  <a:pt x="18120" y="15621"/>
                  <a:pt x="17402" y="18600"/>
                  <a:pt x="17678" y="21579"/>
                </a:cubicBezTo>
                <a:cubicBezTo>
                  <a:pt x="15855" y="21579"/>
                  <a:pt x="15026" y="21579"/>
                  <a:pt x="13203" y="21579"/>
                </a:cubicBezTo>
                <a:cubicBezTo>
                  <a:pt x="12816" y="19062"/>
                  <a:pt x="12043" y="16545"/>
                  <a:pt x="11656" y="14027"/>
                </a:cubicBezTo>
                <a:cubicBezTo>
                  <a:pt x="10828" y="14027"/>
                  <a:pt x="11270" y="14027"/>
                  <a:pt x="10441" y="14027"/>
                </a:cubicBezTo>
                <a:cubicBezTo>
                  <a:pt x="10109" y="16545"/>
                  <a:pt x="8894" y="19062"/>
                  <a:pt x="8563" y="21579"/>
                </a:cubicBezTo>
                <a:cubicBezTo>
                  <a:pt x="6629" y="21579"/>
                  <a:pt x="5856" y="21579"/>
                  <a:pt x="3922" y="21579"/>
                </a:cubicBezTo>
                <a:cubicBezTo>
                  <a:pt x="4364" y="18600"/>
                  <a:pt x="3591" y="15621"/>
                  <a:pt x="4033" y="12642"/>
                </a:cubicBezTo>
                <a:cubicBezTo>
                  <a:pt x="2707" y="12226"/>
                  <a:pt x="1381" y="11810"/>
                  <a:pt x="0" y="11372"/>
                </a:cubicBezTo>
                <a:cubicBezTo>
                  <a:pt x="608" y="9270"/>
                  <a:pt x="1436" y="7192"/>
                  <a:pt x="3094" y="5229"/>
                </a:cubicBezTo>
                <a:cubicBezTo>
                  <a:pt x="4198" y="5229"/>
                  <a:pt x="5303" y="5229"/>
                  <a:pt x="6353" y="5229"/>
                </a:cubicBezTo>
                <a:cubicBezTo>
                  <a:pt x="9447" y="7330"/>
                  <a:pt x="9447" y="7330"/>
                  <a:pt x="9447" y="7330"/>
                </a:cubicBezTo>
                <a:cubicBezTo>
                  <a:pt x="10165" y="5460"/>
                  <a:pt x="10165" y="5460"/>
                  <a:pt x="10165" y="5460"/>
                </a:cubicBezTo>
                <a:cubicBezTo>
                  <a:pt x="9888" y="5460"/>
                  <a:pt x="9888" y="5460"/>
                  <a:pt x="9888" y="5460"/>
                </a:cubicBezTo>
                <a:cubicBezTo>
                  <a:pt x="9888" y="4905"/>
                  <a:pt x="9888" y="4905"/>
                  <a:pt x="9888" y="4905"/>
                </a:cubicBezTo>
                <a:close/>
                <a:moveTo>
                  <a:pt x="10835" y="2"/>
                </a:moveTo>
                <a:cubicBezTo>
                  <a:pt x="12454" y="25"/>
                  <a:pt x="14058" y="245"/>
                  <a:pt x="14749" y="660"/>
                </a:cubicBezTo>
                <a:cubicBezTo>
                  <a:pt x="15579" y="1168"/>
                  <a:pt x="15579" y="2600"/>
                  <a:pt x="14086" y="3132"/>
                </a:cubicBezTo>
                <a:cubicBezTo>
                  <a:pt x="14196" y="2416"/>
                  <a:pt x="14086" y="2000"/>
                  <a:pt x="13864" y="1492"/>
                </a:cubicBezTo>
                <a:cubicBezTo>
                  <a:pt x="11873" y="1746"/>
                  <a:pt x="9328" y="2416"/>
                  <a:pt x="7613" y="1469"/>
                </a:cubicBezTo>
                <a:cubicBezTo>
                  <a:pt x="7170" y="2069"/>
                  <a:pt x="7170" y="2508"/>
                  <a:pt x="7336" y="3108"/>
                </a:cubicBezTo>
                <a:cubicBezTo>
                  <a:pt x="5511" y="2716"/>
                  <a:pt x="6285" y="799"/>
                  <a:pt x="6838" y="522"/>
                </a:cubicBezTo>
                <a:cubicBezTo>
                  <a:pt x="7585" y="152"/>
                  <a:pt x="9217" y="-21"/>
                  <a:pt x="10835" y="2"/>
                </a:cubicBezTo>
                <a:close/>
              </a:path>
            </a:pathLst>
          </a:custGeom>
          <a:solidFill>
            <a:srgbClr val="445469"/>
          </a:solidFill>
          <a:ln w="12700">
            <a:miter lim="400000"/>
          </a:ln>
        </p:spPr>
        <p:txBody>
          <a:bodyPr lIns="45719" rIns="45719"/>
          <a:lstStyle/>
          <a:p>
            <a:pPr lvl="0" algn="ctr" defTabSz="912495">
              <a:lnSpc>
                <a:spcPct val="100000"/>
              </a:lnSpc>
              <a:spcBef>
                <a:spcPts val="0"/>
              </a:spcBef>
              <a:defRPr sz="2300">
                <a:solidFill>
                  <a:srgbClr val="E5E3EB"/>
                </a:solidFill>
                <a:latin typeface="Arial" panose="020B0604020202020204"/>
                <a:ea typeface="Arial" panose="020B0604020202020204"/>
                <a:cs typeface="Arial" panose="020B0604020202020204"/>
                <a:sym typeface="Arial" panose="020B0604020202020204"/>
              </a:defRPr>
            </a:pPr>
            <a:endParaRPr>
              <a:latin typeface="PingFang SC" charset="-122"/>
              <a:ea typeface="PingFang SC" charset="-122"/>
              <a:cs typeface="PingFang SC" charset="-122"/>
            </a:endParaRPr>
          </a:p>
        </p:txBody>
      </p:sp>
      <p:sp>
        <p:nvSpPr>
          <p:cNvPr id="22" name="Shape 209">
            <a:extLst>
              <a:ext uri="{FF2B5EF4-FFF2-40B4-BE49-F238E27FC236}">
                <a16:creationId xmlns:a16="http://schemas.microsoft.com/office/drawing/2014/main" id="{326B0532-B4EA-4D97-BAF7-928DAA2E3B17}"/>
              </a:ext>
            </a:extLst>
          </p:cNvPr>
          <p:cNvSpPr/>
          <p:nvPr/>
        </p:nvSpPr>
        <p:spPr>
          <a:xfrm>
            <a:off x="6092963" y="3562951"/>
            <a:ext cx="4800534" cy="1200329"/>
          </a:xfrm>
          <a:prstGeom prst="rect">
            <a:avLst/>
          </a:prstGeom>
          <a:ln w="12700">
            <a:miter lim="400000"/>
          </a:ln>
        </p:spPr>
        <p:txBody>
          <a:bodyPr lIns="45719" rIns="45719">
            <a:spAutoFit/>
          </a:bodyPr>
          <a:lstStyle/>
          <a:p>
            <a:pPr marL="285750" indent="-285750">
              <a:buFont typeface="Arial" charset="0"/>
              <a:buChar char="•"/>
              <a:defRPr>
                <a:solidFill>
                  <a:srgbClr val="000000"/>
                </a:solidFill>
              </a:defRPr>
            </a:pPr>
            <a:r>
              <a:rPr lang="zh-CN" altLang="en-US" b="1" dirty="0">
                <a:latin typeface="PingFang SC" charset="-122"/>
                <a:ea typeface="PingFang SC" charset="-122"/>
                <a:cs typeface="PingFang SC" charset="-122"/>
              </a:rPr>
              <a:t>智能形态分析：</a:t>
            </a:r>
            <a:r>
              <a:rPr lang="zh-CN" altLang="en-US" dirty="0">
                <a:latin typeface="PingFang SC" charset="-122"/>
                <a:ea typeface="PingFang SC" charset="-122"/>
                <a:cs typeface="PingFang SC" charset="-122"/>
              </a:rPr>
              <a:t>针对不同的量价形态基于深度学习技术提供历史、实时形态分析识别，并对未来进行预判（大数据、深度学习等技术应用）</a:t>
            </a:r>
          </a:p>
        </p:txBody>
      </p:sp>
      <p:sp>
        <p:nvSpPr>
          <p:cNvPr id="18" name="文本框 17">
            <a:extLst>
              <a:ext uri="{FF2B5EF4-FFF2-40B4-BE49-F238E27FC236}">
                <a16:creationId xmlns:a16="http://schemas.microsoft.com/office/drawing/2014/main" id="{48A1371A-26E3-4E55-9659-8683C3D37D49}"/>
              </a:ext>
            </a:extLst>
          </p:cNvPr>
          <p:cNvSpPr txBox="1"/>
          <p:nvPr/>
        </p:nvSpPr>
        <p:spPr>
          <a:xfrm>
            <a:off x="1327562" y="1321992"/>
            <a:ext cx="3177134" cy="46320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20000"/>
              </a:lnSpc>
              <a:spcBef>
                <a:spcPts val="300"/>
              </a:spcBef>
              <a:spcAft>
                <a:spcPts val="0"/>
              </a:spcAft>
              <a:buClrTx/>
              <a:buSzTx/>
              <a:buFontTx/>
              <a:buNone/>
            </a:pPr>
            <a:r>
              <a:rPr lang="zh-CN" altLang="en-US" b="1" dirty="0">
                <a:latin typeface="PingFang SC" charset="-122"/>
                <a:ea typeface="PingFang SC" charset="-122"/>
                <a:cs typeface="PingFang SC" charset="-122"/>
                <a:sym typeface="微软雅黑" panose="020B0503020204020204" charset="-122"/>
              </a:rPr>
              <a:t>投资者痛点</a:t>
            </a:r>
            <a:endParaRPr kumimoji="0" lang="zh-CN" altLang="en-US" b="1" i="0" u="none" strike="noStrike" cap="none" spc="0" normalizeH="0" baseline="0" dirty="0">
              <a:ln>
                <a:noFill/>
              </a:ln>
              <a:effectLst/>
              <a:uFillTx/>
              <a:latin typeface="PingFang SC" charset="-122"/>
              <a:ea typeface="PingFang SC" charset="-122"/>
              <a:cs typeface="PingFang SC" charset="-122"/>
              <a:sym typeface="微软雅黑" panose="020B0503020204020204" charset="-122"/>
            </a:endParaRPr>
          </a:p>
        </p:txBody>
      </p:sp>
      <p:sp>
        <p:nvSpPr>
          <p:cNvPr id="23" name="Shape 207">
            <a:extLst>
              <a:ext uri="{FF2B5EF4-FFF2-40B4-BE49-F238E27FC236}">
                <a16:creationId xmlns:a16="http://schemas.microsoft.com/office/drawing/2014/main" id="{43E6D0FF-15EB-48DD-85E5-2DDF316A74BE}"/>
              </a:ext>
            </a:extLst>
          </p:cNvPr>
          <p:cNvSpPr/>
          <p:nvPr/>
        </p:nvSpPr>
        <p:spPr>
          <a:xfrm>
            <a:off x="1537021" y="2957050"/>
            <a:ext cx="3847779" cy="1077218"/>
          </a:xfrm>
          <a:prstGeom prst="rect">
            <a:avLst/>
          </a:prstGeom>
          <a:ln w="12700">
            <a:miter lim="400000"/>
          </a:ln>
        </p:spPr>
        <p:txBody>
          <a:bodyPr wrap="square" lIns="45719" rIns="45719">
            <a:spAutoFit/>
          </a:bodyPr>
          <a:lstStyle/>
          <a:p>
            <a:pPr lvl="0">
              <a:defRPr>
                <a:solidFill>
                  <a:srgbClr val="000000"/>
                </a:solidFill>
              </a:defRPr>
            </a:pPr>
            <a:r>
              <a:rPr lang="zh-CN" altLang="en-US" sz="1600" b="1" dirty="0">
                <a:latin typeface="PingFang SC" charset="-122"/>
                <a:ea typeface="PingFang SC" charset="-122"/>
                <a:cs typeface="PingFang SC" charset="-122"/>
              </a:rPr>
              <a:t>技术指标繁杂，无法全面理解应用：</a:t>
            </a:r>
            <a:endParaRPr lang="en-US" altLang="zh-CN" sz="1600" b="1" dirty="0">
              <a:latin typeface="PingFang SC" charset="-122"/>
              <a:ea typeface="PingFang SC" charset="-122"/>
              <a:cs typeface="PingFang SC" charset="-122"/>
            </a:endParaRPr>
          </a:p>
          <a:p>
            <a:pPr lvl="0">
              <a:defRPr>
                <a:solidFill>
                  <a:srgbClr val="000000"/>
                </a:solidFill>
              </a:defRPr>
            </a:pPr>
            <a:r>
              <a:rPr lang="zh-CN" altLang="en-US" sz="1600" dirty="0">
                <a:latin typeface="PingFang SC" charset="-122"/>
                <a:ea typeface="PingFang SC" charset="-122"/>
                <a:cs typeface="PingFang SC" charset="-122"/>
              </a:rPr>
              <a:t>非专业交易员基本没有条件和精力去理解应用技术指标信号，更不可能关注到大量技术指标的即时变动</a:t>
            </a:r>
            <a:endParaRPr lang="en-US" altLang="zh-CN" sz="1600" dirty="0">
              <a:latin typeface="PingFang SC" charset="-122"/>
              <a:ea typeface="PingFang SC" charset="-122"/>
              <a:cs typeface="PingFang SC" charset="-122"/>
            </a:endParaRPr>
          </a:p>
        </p:txBody>
      </p:sp>
    </p:spTree>
    <p:extLst>
      <p:ext uri="{BB962C8B-B14F-4D97-AF65-F5344CB8AC3E}">
        <p14:creationId xmlns:p14="http://schemas.microsoft.com/office/powerpoint/2010/main" val="23860504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57"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8"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9" name="04"/>
          <p:cNvSpPr txBox="1"/>
          <p:nvPr/>
        </p:nvSpPr>
        <p:spPr>
          <a:xfrm>
            <a:off x="356995" y="6344413"/>
            <a:ext cx="218679" cy="231380"/>
          </a:xfrm>
          <a:prstGeom prst="rect">
            <a:avLst/>
          </a:prstGeom>
          <a:ln w="3175">
            <a:miter lim="400000"/>
          </a:ln>
          <a:extLst>
            <a:ext uri="{C572A759-6A51-4108-AA02-DFA0A04FC94B}">
              <ma14:wrappingTextBoxFlag xmlns="" xmlns:ma14="http://schemas.microsoft.com/office/mac/drawingml/2011/main" val="1"/>
            </a:ext>
          </a:extLst>
        </p:spPr>
        <p:txBody>
          <a:bodyPr wrap="none" lIns="26789" tIns="26789" rIns="26789" bIns="26789" anchor="ctr">
            <a:spAutoFit/>
          </a:bodyPr>
          <a:lstStyle>
            <a:lvl1pPr>
              <a:defRPr sz="1000">
                <a:solidFill>
                  <a:srgbClr val="CAA354"/>
                </a:solidFill>
                <a:latin typeface="PingFang SC Regular"/>
                <a:ea typeface="PingFang SC Regular"/>
                <a:cs typeface="PingFang SC Regular"/>
                <a:sym typeface="PingFang SC Regular"/>
              </a:defRPr>
            </a:lvl1pPr>
          </a:lstStyle>
          <a:p>
            <a:r>
              <a:rPr dirty="0"/>
              <a:t>04</a:t>
            </a:r>
          </a:p>
        </p:txBody>
      </p:sp>
      <p:pic>
        <p:nvPicPr>
          <p:cNvPr id="32" name="图像" descr="图像"/>
          <p:cNvPicPr>
            <a:picLocks noChangeAspect="1"/>
          </p:cNvPicPr>
          <p:nvPr/>
        </p:nvPicPr>
        <p:blipFill>
          <a:blip r:embed="rId3">
            <a:extLst/>
          </a:blip>
          <a:stretch>
            <a:fillRect/>
          </a:stretch>
        </p:blipFill>
        <p:spPr>
          <a:xfrm>
            <a:off x="10484724" y="427048"/>
            <a:ext cx="1253576" cy="332979"/>
          </a:xfrm>
          <a:prstGeom prst="rect">
            <a:avLst/>
          </a:prstGeom>
          <a:ln w="3175">
            <a:miter lim="400000"/>
          </a:ln>
        </p:spPr>
      </p:pic>
      <p:sp>
        <p:nvSpPr>
          <p:cNvPr id="29" name="文本框 28"/>
          <p:cNvSpPr txBox="1"/>
          <p:nvPr/>
        </p:nvSpPr>
        <p:spPr>
          <a:xfrm>
            <a:off x="1214668" y="274314"/>
            <a:ext cx="8295092" cy="584775"/>
          </a:xfrm>
          <a:prstGeom prst="rect">
            <a:avLst/>
          </a:prstGeom>
          <a:noFill/>
        </p:spPr>
        <p:txBody>
          <a:bodyPr wrap="square" rtlCol="0">
            <a:spAutoFit/>
          </a:bodyPr>
          <a:lstStyle/>
          <a:p>
            <a:pPr lvl="0"/>
            <a:r>
              <a:rPr lang="zh-CN" altLang="en-US" sz="3200" b="1" dirty="0">
                <a:solidFill>
                  <a:schemeClr val="tx2">
                    <a:lumMod val="10000"/>
                  </a:schemeClr>
                </a:solidFill>
                <a:latin typeface="PingFang SC" charset="-122"/>
                <a:ea typeface="PingFang SC" charset="-122"/>
                <a:cs typeface="PingFang SC" charset="-122"/>
              </a:rPr>
              <a:t>智能资讯投研</a:t>
            </a:r>
            <a:r>
              <a:rPr lang="en-US" altLang="zh-CN" sz="3200" b="1" dirty="0">
                <a:solidFill>
                  <a:schemeClr val="tx2">
                    <a:lumMod val="10000"/>
                  </a:schemeClr>
                </a:solidFill>
                <a:latin typeface="PingFang SC" charset="-122"/>
                <a:ea typeface="PingFang SC" charset="-122"/>
                <a:cs typeface="PingFang SC" charset="-122"/>
              </a:rPr>
              <a:t>---</a:t>
            </a:r>
            <a:r>
              <a:rPr lang="zh-CN" altLang="en-US" sz="3200" b="1" dirty="0">
                <a:solidFill>
                  <a:schemeClr val="tx2">
                    <a:lumMod val="10000"/>
                  </a:schemeClr>
                </a:solidFill>
                <a:latin typeface="PingFang SC" charset="-122"/>
                <a:ea typeface="PingFang SC" charset="-122"/>
                <a:cs typeface="PingFang SC" charset="-122"/>
              </a:rPr>
              <a:t>让</a:t>
            </a:r>
            <a:r>
              <a:rPr lang="en-US" altLang="zh-CN" sz="3200" b="1" dirty="0">
                <a:solidFill>
                  <a:schemeClr val="tx2">
                    <a:lumMod val="10000"/>
                  </a:schemeClr>
                </a:solidFill>
                <a:latin typeface="PingFang SC" charset="-122"/>
                <a:ea typeface="PingFang SC" charset="-122"/>
                <a:cs typeface="PingFang SC" charset="-122"/>
              </a:rPr>
              <a:t>AI</a:t>
            </a:r>
            <a:r>
              <a:rPr lang="zh-CN" altLang="en-US" sz="3200" b="1" dirty="0">
                <a:solidFill>
                  <a:schemeClr val="tx2">
                    <a:lumMod val="10000"/>
                  </a:schemeClr>
                </a:solidFill>
                <a:latin typeface="PingFang SC" charset="-122"/>
                <a:ea typeface="PingFang SC" charset="-122"/>
                <a:cs typeface="PingFang SC" charset="-122"/>
              </a:rPr>
              <a:t>成为你的投资</a:t>
            </a:r>
            <a:r>
              <a:rPr kumimoji="1" lang="zh-CN" altLang="en-US" sz="3200" b="1" dirty="0">
                <a:latin typeface="PingFang SC" charset="-122"/>
                <a:ea typeface="PingFang SC" charset="-122"/>
                <a:cs typeface="PingFang SC" charset="-122"/>
              </a:rPr>
              <a:t>资讯管家</a:t>
            </a:r>
          </a:p>
        </p:txBody>
      </p:sp>
      <p:sp>
        <p:nvSpPr>
          <p:cNvPr id="33" name="矩形 32">
            <a:extLst>
              <a:ext uri="{FF2B5EF4-FFF2-40B4-BE49-F238E27FC236}">
                <a16:creationId xmlns:a16="http://schemas.microsoft.com/office/drawing/2014/main" id="{07CCDA19-C78F-4FEF-9A33-1AEE922E976D}"/>
              </a:ext>
            </a:extLst>
          </p:cNvPr>
          <p:cNvSpPr/>
          <p:nvPr/>
        </p:nvSpPr>
        <p:spPr>
          <a:xfrm>
            <a:off x="1313439"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FD35F411-A1E5-4031-B455-0E2C81A8D091}"/>
              </a:ext>
            </a:extLst>
          </p:cNvPr>
          <p:cNvSpPr/>
          <p:nvPr/>
        </p:nvSpPr>
        <p:spPr>
          <a:xfrm>
            <a:off x="5387036"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Shape 277">
            <a:extLst>
              <a:ext uri="{FF2B5EF4-FFF2-40B4-BE49-F238E27FC236}">
                <a16:creationId xmlns:a16="http://schemas.microsoft.com/office/drawing/2014/main" id="{8C40FB2A-02DE-4C79-8B95-AD26D3B609DA}"/>
              </a:ext>
            </a:extLst>
          </p:cNvPr>
          <p:cNvSpPr/>
          <p:nvPr/>
        </p:nvSpPr>
        <p:spPr>
          <a:xfrm>
            <a:off x="4367212" y="3945822"/>
            <a:ext cx="523876" cy="481210"/>
          </a:xfrm>
          <a:custGeom>
            <a:avLst/>
            <a:gdLst/>
            <a:ahLst/>
            <a:cxnLst>
              <a:cxn ang="0">
                <a:pos x="wd2" y="hd2"/>
              </a:cxn>
              <a:cxn ang="5400000">
                <a:pos x="wd2" y="hd2"/>
              </a:cxn>
              <a:cxn ang="10800000">
                <a:pos x="wd2" y="hd2"/>
              </a:cxn>
              <a:cxn ang="16200000">
                <a:pos x="wd2" y="hd2"/>
              </a:cxn>
            </a:cxnLst>
            <a:rect l="0" t="0" r="r" b="b"/>
            <a:pathLst>
              <a:path w="21600" h="17140" extrusionOk="0">
                <a:moveTo>
                  <a:pt x="0" y="7883"/>
                </a:moveTo>
                <a:cubicBezTo>
                  <a:pt x="0" y="7883"/>
                  <a:pt x="525" y="13170"/>
                  <a:pt x="2449" y="16719"/>
                </a:cubicBezTo>
                <a:cubicBezTo>
                  <a:pt x="4372" y="20269"/>
                  <a:pt x="21600" y="179"/>
                  <a:pt x="21600" y="179"/>
                </a:cubicBezTo>
                <a:cubicBezTo>
                  <a:pt x="21600" y="179"/>
                  <a:pt x="3236" y="-1331"/>
                  <a:pt x="525" y="4409"/>
                </a:cubicBezTo>
                <a:cubicBezTo>
                  <a:pt x="0" y="7883"/>
                  <a:pt x="0" y="7883"/>
                  <a:pt x="0" y="7883"/>
                </a:cubicBezTo>
              </a:path>
            </a:pathLst>
          </a:custGeom>
          <a:solidFill>
            <a:srgbClr val="3786DD"/>
          </a:solidFill>
          <a:ln w="12700">
            <a:miter lim="400000"/>
          </a:ln>
        </p:spPr>
        <p:txBody>
          <a:bodyPr lIns="0" tIns="0" rIns="0" bIns="0"/>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PingFang SC" charset="-122"/>
              <a:ea typeface="PingFang SC" charset="-122"/>
              <a:cs typeface="PingFang SC" charset="-122"/>
            </a:endParaRPr>
          </a:p>
        </p:txBody>
      </p:sp>
      <p:sp>
        <p:nvSpPr>
          <p:cNvPr id="23" name="Shape 278">
            <a:extLst>
              <a:ext uri="{FF2B5EF4-FFF2-40B4-BE49-F238E27FC236}">
                <a16:creationId xmlns:a16="http://schemas.microsoft.com/office/drawing/2014/main" id="{5E9E64F7-AF85-44BC-842F-FA649B82C0F4}"/>
              </a:ext>
            </a:extLst>
          </p:cNvPr>
          <p:cNvSpPr/>
          <p:nvPr/>
        </p:nvSpPr>
        <p:spPr>
          <a:xfrm>
            <a:off x="5082439" y="5813457"/>
            <a:ext cx="481210" cy="527051"/>
          </a:xfrm>
          <a:custGeom>
            <a:avLst/>
            <a:gdLst/>
            <a:ahLst/>
            <a:cxnLst>
              <a:cxn ang="0">
                <a:pos x="wd2" y="hd2"/>
              </a:cxn>
              <a:cxn ang="5400000">
                <a:pos x="wd2" y="hd2"/>
              </a:cxn>
              <a:cxn ang="10800000">
                <a:pos x="wd2" y="hd2"/>
              </a:cxn>
              <a:cxn ang="16200000">
                <a:pos x="wd2" y="hd2"/>
              </a:cxn>
            </a:cxnLst>
            <a:rect l="0" t="0" r="r" b="b"/>
            <a:pathLst>
              <a:path w="17140" h="21600" extrusionOk="0">
                <a:moveTo>
                  <a:pt x="7883" y="21600"/>
                </a:moveTo>
                <a:cubicBezTo>
                  <a:pt x="7883" y="21600"/>
                  <a:pt x="13170" y="20990"/>
                  <a:pt x="16719" y="19074"/>
                </a:cubicBezTo>
                <a:cubicBezTo>
                  <a:pt x="20269" y="17158"/>
                  <a:pt x="179" y="0"/>
                  <a:pt x="179" y="0"/>
                </a:cubicBezTo>
                <a:cubicBezTo>
                  <a:pt x="179" y="0"/>
                  <a:pt x="-1331" y="18290"/>
                  <a:pt x="4409" y="20990"/>
                </a:cubicBezTo>
                <a:cubicBezTo>
                  <a:pt x="7883" y="21600"/>
                  <a:pt x="7883" y="21600"/>
                  <a:pt x="7883" y="21600"/>
                </a:cubicBezTo>
              </a:path>
            </a:pathLst>
          </a:custGeom>
          <a:solidFill>
            <a:srgbClr val="013041"/>
          </a:solidFill>
          <a:ln w="12700">
            <a:miter lim="400000"/>
          </a:ln>
        </p:spPr>
        <p:txBody>
          <a:bodyPr lIns="0" tIns="0" rIns="0" bIns="0"/>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PingFang SC" charset="-122"/>
              <a:ea typeface="PingFang SC" charset="-122"/>
              <a:cs typeface="PingFang SC" charset="-122"/>
            </a:endParaRPr>
          </a:p>
        </p:txBody>
      </p:sp>
      <p:sp>
        <p:nvSpPr>
          <p:cNvPr id="24" name="Shape 279">
            <a:extLst>
              <a:ext uri="{FF2B5EF4-FFF2-40B4-BE49-F238E27FC236}">
                <a16:creationId xmlns:a16="http://schemas.microsoft.com/office/drawing/2014/main" id="{0C873AA2-0E34-4738-9F92-8C30375A870F}"/>
              </a:ext>
            </a:extLst>
          </p:cNvPr>
          <p:cNvSpPr/>
          <p:nvPr/>
        </p:nvSpPr>
        <p:spPr>
          <a:xfrm>
            <a:off x="6951662" y="5142458"/>
            <a:ext cx="523876" cy="479653"/>
          </a:xfrm>
          <a:custGeom>
            <a:avLst/>
            <a:gdLst/>
            <a:ahLst/>
            <a:cxnLst>
              <a:cxn ang="0">
                <a:pos x="wd2" y="hd2"/>
              </a:cxn>
              <a:cxn ang="5400000">
                <a:pos x="wd2" y="hd2"/>
              </a:cxn>
              <a:cxn ang="10800000">
                <a:pos x="wd2" y="hd2"/>
              </a:cxn>
              <a:cxn ang="16200000">
                <a:pos x="wd2" y="hd2"/>
              </a:cxn>
            </a:cxnLst>
            <a:rect l="0" t="0" r="r" b="b"/>
            <a:pathLst>
              <a:path w="21600" h="17040" extrusionOk="0">
                <a:moveTo>
                  <a:pt x="21600" y="9167"/>
                </a:moveTo>
                <a:cubicBezTo>
                  <a:pt x="21600" y="9167"/>
                  <a:pt x="20990" y="3974"/>
                  <a:pt x="19074" y="437"/>
                </a:cubicBezTo>
                <a:cubicBezTo>
                  <a:pt x="17158" y="-3176"/>
                  <a:pt x="0" y="16844"/>
                  <a:pt x="0" y="16844"/>
                </a:cubicBezTo>
                <a:cubicBezTo>
                  <a:pt x="0" y="16844"/>
                  <a:pt x="18290" y="18424"/>
                  <a:pt x="20990" y="12629"/>
                </a:cubicBezTo>
                <a:cubicBezTo>
                  <a:pt x="21600" y="9167"/>
                  <a:pt x="21600" y="9167"/>
                  <a:pt x="21600" y="9167"/>
                </a:cubicBezTo>
              </a:path>
            </a:pathLst>
          </a:custGeom>
          <a:solidFill>
            <a:srgbClr val="C89D00"/>
          </a:solidFill>
          <a:ln w="12700">
            <a:miter lim="400000"/>
          </a:ln>
        </p:spPr>
        <p:txBody>
          <a:bodyPr lIns="0" tIns="0" rIns="0" bIns="0"/>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PingFang SC" charset="-122"/>
              <a:ea typeface="PingFang SC" charset="-122"/>
              <a:cs typeface="PingFang SC" charset="-122"/>
            </a:endParaRPr>
          </a:p>
        </p:txBody>
      </p:sp>
      <p:sp>
        <p:nvSpPr>
          <p:cNvPr id="25" name="Shape 280">
            <a:extLst>
              <a:ext uri="{FF2B5EF4-FFF2-40B4-BE49-F238E27FC236}">
                <a16:creationId xmlns:a16="http://schemas.microsoft.com/office/drawing/2014/main" id="{5246CC60-1998-4759-B645-ED1BC694BDEC}"/>
              </a:ext>
            </a:extLst>
          </p:cNvPr>
          <p:cNvSpPr/>
          <p:nvPr/>
        </p:nvSpPr>
        <p:spPr>
          <a:xfrm>
            <a:off x="6280458" y="3230595"/>
            <a:ext cx="479865" cy="523875"/>
          </a:xfrm>
          <a:custGeom>
            <a:avLst/>
            <a:gdLst/>
            <a:ahLst/>
            <a:cxnLst>
              <a:cxn ang="0">
                <a:pos x="wd2" y="hd2"/>
              </a:cxn>
              <a:cxn ang="5400000">
                <a:pos x="wd2" y="hd2"/>
              </a:cxn>
              <a:cxn ang="10800000">
                <a:pos x="wd2" y="hd2"/>
              </a:cxn>
              <a:cxn ang="16200000">
                <a:pos x="wd2" y="hd2"/>
              </a:cxn>
            </a:cxnLst>
            <a:rect l="0" t="0" r="r" b="b"/>
            <a:pathLst>
              <a:path w="17137" h="21600" extrusionOk="0">
                <a:moveTo>
                  <a:pt x="9181" y="0"/>
                </a:moveTo>
                <a:cubicBezTo>
                  <a:pt x="9181" y="0"/>
                  <a:pt x="3970" y="525"/>
                  <a:pt x="421" y="2449"/>
                </a:cubicBezTo>
                <a:cubicBezTo>
                  <a:pt x="-3129" y="4372"/>
                  <a:pt x="16961" y="21600"/>
                  <a:pt x="16961" y="21600"/>
                </a:cubicBezTo>
                <a:cubicBezTo>
                  <a:pt x="16961" y="21600"/>
                  <a:pt x="18471" y="3236"/>
                  <a:pt x="12656" y="525"/>
                </a:cubicBezTo>
                <a:cubicBezTo>
                  <a:pt x="9181" y="0"/>
                  <a:pt x="9181" y="0"/>
                  <a:pt x="9181" y="0"/>
                </a:cubicBezTo>
              </a:path>
            </a:pathLst>
          </a:custGeom>
          <a:solidFill>
            <a:srgbClr val="3FC8FF"/>
          </a:solidFill>
          <a:ln w="12700">
            <a:miter lim="400000"/>
          </a:ln>
        </p:spPr>
        <p:txBody>
          <a:bodyPr lIns="0" tIns="0" rIns="0" bIns="0"/>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PingFang SC" charset="-122"/>
              <a:ea typeface="PingFang SC" charset="-122"/>
              <a:cs typeface="PingFang SC" charset="-122"/>
            </a:endParaRPr>
          </a:p>
        </p:txBody>
      </p:sp>
      <p:sp>
        <p:nvSpPr>
          <p:cNvPr id="26" name="Shape 281">
            <a:extLst>
              <a:ext uri="{FF2B5EF4-FFF2-40B4-BE49-F238E27FC236}">
                <a16:creationId xmlns:a16="http://schemas.microsoft.com/office/drawing/2014/main" id="{CFEBA1CA-571B-4421-B9AE-4BD667AFA3C5}"/>
              </a:ext>
            </a:extLst>
          </p:cNvPr>
          <p:cNvSpPr/>
          <p:nvPr/>
        </p:nvSpPr>
        <p:spPr>
          <a:xfrm rot="2694932">
            <a:off x="4551362" y="3422682"/>
            <a:ext cx="2741613" cy="2741613"/>
          </a:xfrm>
          <a:prstGeom prst="roundRect">
            <a:avLst>
              <a:gd name="adj" fmla="val 1870"/>
            </a:avLst>
          </a:prstGeom>
          <a:solidFill>
            <a:srgbClr val="445469"/>
          </a:solidFill>
          <a:ln w="12700">
            <a:miter lim="400000"/>
          </a:ln>
        </p:spPr>
        <p:txBody>
          <a:bodyPr lIns="0" tIns="0" rIns="0" bIns="0"/>
          <a:lstStyle/>
          <a:p>
            <a:pPr lvl="0" algn="ctr" defTabSz="912495">
              <a:lnSpc>
                <a:spcPct val="100000"/>
              </a:lnSpc>
              <a:spcBef>
                <a:spcPts val="0"/>
              </a:spcBef>
              <a:defRPr sz="2300">
                <a:solidFill>
                  <a:srgbClr val="E5E3EB"/>
                </a:solidFill>
                <a:latin typeface="Arial" panose="020B0604020202020204"/>
                <a:ea typeface="Arial" panose="020B0604020202020204"/>
                <a:cs typeface="Arial" panose="020B0604020202020204"/>
                <a:sym typeface="Arial" panose="020B0604020202020204"/>
              </a:defRPr>
            </a:pPr>
            <a:endParaRPr>
              <a:latin typeface="PingFang SC" charset="-122"/>
              <a:ea typeface="PingFang SC" charset="-122"/>
              <a:cs typeface="PingFang SC" charset="-122"/>
            </a:endParaRPr>
          </a:p>
        </p:txBody>
      </p:sp>
      <p:sp>
        <p:nvSpPr>
          <p:cNvPr id="27" name="Shape 282">
            <a:extLst>
              <a:ext uri="{FF2B5EF4-FFF2-40B4-BE49-F238E27FC236}">
                <a16:creationId xmlns:a16="http://schemas.microsoft.com/office/drawing/2014/main" id="{74536190-F973-479A-AE06-D3DB9EA071DA}"/>
              </a:ext>
            </a:extLst>
          </p:cNvPr>
          <p:cNvSpPr/>
          <p:nvPr/>
        </p:nvSpPr>
        <p:spPr>
          <a:xfrm>
            <a:off x="5487987" y="4359307"/>
            <a:ext cx="868363" cy="868363"/>
          </a:xfrm>
          <a:custGeom>
            <a:avLst/>
            <a:gdLst/>
            <a:ahLst/>
            <a:cxnLst>
              <a:cxn ang="0">
                <a:pos x="wd2" y="hd2"/>
              </a:cxn>
              <a:cxn ang="5400000">
                <a:pos x="wd2" y="hd2"/>
              </a:cxn>
              <a:cxn ang="10800000">
                <a:pos x="wd2" y="hd2"/>
              </a:cxn>
              <a:cxn ang="16200000">
                <a:pos x="wd2" y="hd2"/>
              </a:cxn>
            </a:cxnLst>
            <a:rect l="0" t="0" r="r" b="b"/>
            <a:pathLst>
              <a:path w="21600" h="21600" extrusionOk="0">
                <a:moveTo>
                  <a:pt x="10604" y="21600"/>
                </a:moveTo>
                <a:cubicBezTo>
                  <a:pt x="4713" y="21600"/>
                  <a:pt x="0" y="16495"/>
                  <a:pt x="0" y="10604"/>
                </a:cubicBezTo>
                <a:cubicBezTo>
                  <a:pt x="0" y="4713"/>
                  <a:pt x="4713" y="0"/>
                  <a:pt x="10604" y="0"/>
                </a:cubicBezTo>
                <a:cubicBezTo>
                  <a:pt x="16495" y="0"/>
                  <a:pt x="21600" y="4713"/>
                  <a:pt x="21600" y="10604"/>
                </a:cubicBezTo>
                <a:cubicBezTo>
                  <a:pt x="21600" y="16495"/>
                  <a:pt x="16495" y="21600"/>
                  <a:pt x="10604" y="21600"/>
                </a:cubicBezTo>
                <a:close/>
                <a:moveTo>
                  <a:pt x="10604" y="3142"/>
                </a:moveTo>
                <a:cubicBezTo>
                  <a:pt x="6284" y="3142"/>
                  <a:pt x="3142" y="6676"/>
                  <a:pt x="3142" y="10604"/>
                </a:cubicBezTo>
                <a:cubicBezTo>
                  <a:pt x="3142" y="14924"/>
                  <a:pt x="6284" y="18458"/>
                  <a:pt x="10604" y="18458"/>
                </a:cubicBezTo>
                <a:cubicBezTo>
                  <a:pt x="14924" y="18458"/>
                  <a:pt x="18458" y="14924"/>
                  <a:pt x="18458" y="10604"/>
                </a:cubicBezTo>
                <a:cubicBezTo>
                  <a:pt x="18458" y="6676"/>
                  <a:pt x="14924" y="3142"/>
                  <a:pt x="10604" y="3142"/>
                </a:cubicBezTo>
                <a:close/>
                <a:moveTo>
                  <a:pt x="12567" y="12175"/>
                </a:moveTo>
                <a:cubicBezTo>
                  <a:pt x="12567" y="12175"/>
                  <a:pt x="12175" y="12567"/>
                  <a:pt x="12175" y="12567"/>
                </a:cubicBezTo>
                <a:cubicBezTo>
                  <a:pt x="7462" y="12567"/>
                  <a:pt x="7462" y="12567"/>
                  <a:pt x="7462" y="12567"/>
                </a:cubicBezTo>
                <a:cubicBezTo>
                  <a:pt x="7462" y="12567"/>
                  <a:pt x="7069" y="12175"/>
                  <a:pt x="7069" y="12175"/>
                </a:cubicBezTo>
                <a:cubicBezTo>
                  <a:pt x="7069" y="10996"/>
                  <a:pt x="7069" y="10996"/>
                  <a:pt x="7069" y="10996"/>
                </a:cubicBezTo>
                <a:cubicBezTo>
                  <a:pt x="7069" y="10996"/>
                  <a:pt x="7462" y="10604"/>
                  <a:pt x="7462" y="10604"/>
                </a:cubicBezTo>
                <a:cubicBezTo>
                  <a:pt x="10604" y="10604"/>
                  <a:pt x="10604" y="10604"/>
                  <a:pt x="10604" y="10604"/>
                </a:cubicBezTo>
                <a:cubicBezTo>
                  <a:pt x="10604" y="5891"/>
                  <a:pt x="10604" y="5891"/>
                  <a:pt x="10604" y="5891"/>
                </a:cubicBezTo>
                <a:cubicBezTo>
                  <a:pt x="10604" y="5498"/>
                  <a:pt x="10996" y="5498"/>
                  <a:pt x="10996" y="5498"/>
                </a:cubicBezTo>
                <a:cubicBezTo>
                  <a:pt x="12175" y="5498"/>
                  <a:pt x="12175" y="5498"/>
                  <a:pt x="12175" y="5498"/>
                </a:cubicBezTo>
                <a:cubicBezTo>
                  <a:pt x="12175" y="5498"/>
                  <a:pt x="12567" y="5498"/>
                  <a:pt x="12567" y="5891"/>
                </a:cubicBezTo>
                <a:lnTo>
                  <a:pt x="12567" y="12175"/>
                </a:lnTo>
                <a:close/>
              </a:path>
            </a:pathLst>
          </a:custGeom>
          <a:solidFill>
            <a:srgbClr val="FFFFFF"/>
          </a:solidFill>
          <a:ln w="12700">
            <a:miter lim="400000"/>
          </a:ln>
        </p:spPr>
        <p:txBody>
          <a:bodyPr lIns="0" tIns="0" rIns="0" bIns="0"/>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PingFang SC" charset="-122"/>
              <a:ea typeface="PingFang SC" charset="-122"/>
              <a:cs typeface="PingFang SC" charset="-122"/>
            </a:endParaRPr>
          </a:p>
        </p:txBody>
      </p:sp>
      <p:sp>
        <p:nvSpPr>
          <p:cNvPr id="28" name="Shape 283">
            <a:extLst>
              <a:ext uri="{FF2B5EF4-FFF2-40B4-BE49-F238E27FC236}">
                <a16:creationId xmlns:a16="http://schemas.microsoft.com/office/drawing/2014/main" id="{351DD392-9C63-48FC-8610-6F254B88A748}"/>
              </a:ext>
            </a:extLst>
          </p:cNvPr>
          <p:cNvSpPr/>
          <p:nvPr/>
        </p:nvSpPr>
        <p:spPr>
          <a:xfrm>
            <a:off x="4359887" y="3000407"/>
            <a:ext cx="2021863" cy="1189038"/>
          </a:xfrm>
          <a:custGeom>
            <a:avLst/>
            <a:gdLst/>
            <a:ahLst/>
            <a:cxnLst>
              <a:cxn ang="0">
                <a:pos x="wd2" y="hd2"/>
              </a:cxn>
              <a:cxn ang="5400000">
                <a:pos x="wd2" y="hd2"/>
              </a:cxn>
              <a:cxn ang="10800000">
                <a:pos x="wd2" y="hd2"/>
              </a:cxn>
              <a:cxn ang="16200000">
                <a:pos x="wd2" y="hd2"/>
              </a:cxn>
            </a:cxnLst>
            <a:rect l="0" t="0" r="r" b="b"/>
            <a:pathLst>
              <a:path w="21409" h="21600" extrusionOk="0">
                <a:moveTo>
                  <a:pt x="78" y="21177"/>
                </a:moveTo>
                <a:cubicBezTo>
                  <a:pt x="78" y="21177"/>
                  <a:pt x="-12" y="19986"/>
                  <a:pt x="437" y="19179"/>
                </a:cubicBezTo>
                <a:cubicBezTo>
                  <a:pt x="908" y="18410"/>
                  <a:pt x="1626" y="17910"/>
                  <a:pt x="2344" y="17872"/>
                </a:cubicBezTo>
                <a:cubicBezTo>
                  <a:pt x="3084" y="17872"/>
                  <a:pt x="14927" y="17872"/>
                  <a:pt x="14927" y="17872"/>
                </a:cubicBezTo>
                <a:cubicBezTo>
                  <a:pt x="14927" y="21600"/>
                  <a:pt x="14927" y="21600"/>
                  <a:pt x="14927" y="21600"/>
                </a:cubicBezTo>
                <a:cubicBezTo>
                  <a:pt x="21409" y="10493"/>
                  <a:pt x="21409" y="10493"/>
                  <a:pt x="21409" y="10493"/>
                </a:cubicBezTo>
                <a:cubicBezTo>
                  <a:pt x="15308" y="0"/>
                  <a:pt x="15308" y="0"/>
                  <a:pt x="15308" y="0"/>
                </a:cubicBezTo>
                <a:cubicBezTo>
                  <a:pt x="15308" y="3651"/>
                  <a:pt x="15308" y="3651"/>
                  <a:pt x="15308" y="3651"/>
                </a:cubicBezTo>
                <a:cubicBezTo>
                  <a:pt x="9544" y="3651"/>
                  <a:pt x="9544" y="3651"/>
                  <a:pt x="9544" y="3651"/>
                </a:cubicBezTo>
                <a:cubicBezTo>
                  <a:pt x="9544" y="3651"/>
                  <a:pt x="9050" y="3574"/>
                  <a:pt x="8557" y="4458"/>
                </a:cubicBezTo>
                <a:cubicBezTo>
                  <a:pt x="8063" y="5304"/>
                  <a:pt x="325" y="18525"/>
                  <a:pt x="325" y="18525"/>
                </a:cubicBezTo>
                <a:cubicBezTo>
                  <a:pt x="325" y="18525"/>
                  <a:pt x="-191" y="19371"/>
                  <a:pt x="78" y="21177"/>
                </a:cubicBezTo>
                <a:close/>
              </a:path>
            </a:pathLst>
          </a:custGeom>
          <a:solidFill>
            <a:srgbClr val="5D9CE3"/>
          </a:solidFill>
          <a:ln w="12700">
            <a:miter lim="400000"/>
          </a:ln>
        </p:spPr>
        <p:txBody>
          <a:bodyPr lIns="45719" rIns="45719"/>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PingFang SC" charset="-122"/>
              <a:ea typeface="PingFang SC" charset="-122"/>
              <a:cs typeface="PingFang SC" charset="-122"/>
            </a:endParaRPr>
          </a:p>
        </p:txBody>
      </p:sp>
      <p:sp>
        <p:nvSpPr>
          <p:cNvPr id="30" name="Shape 284">
            <a:extLst>
              <a:ext uri="{FF2B5EF4-FFF2-40B4-BE49-F238E27FC236}">
                <a16:creationId xmlns:a16="http://schemas.microsoft.com/office/drawing/2014/main" id="{FE82061F-16B6-49AF-9B6A-B98E5559D530}"/>
              </a:ext>
            </a:extLst>
          </p:cNvPr>
          <p:cNvSpPr/>
          <p:nvPr/>
        </p:nvSpPr>
        <p:spPr>
          <a:xfrm>
            <a:off x="4137025" y="4325970"/>
            <a:ext cx="1189038" cy="2021636"/>
          </a:xfrm>
          <a:custGeom>
            <a:avLst/>
            <a:gdLst/>
            <a:ahLst/>
            <a:cxnLst>
              <a:cxn ang="0">
                <a:pos x="wd2" y="hd2"/>
              </a:cxn>
              <a:cxn ang="5400000">
                <a:pos x="wd2" y="hd2"/>
              </a:cxn>
              <a:cxn ang="10800000">
                <a:pos x="wd2" y="hd2"/>
              </a:cxn>
              <a:cxn ang="16200000">
                <a:pos x="wd2" y="hd2"/>
              </a:cxn>
            </a:cxnLst>
            <a:rect l="0" t="0" r="r" b="b"/>
            <a:pathLst>
              <a:path w="21600" h="21406" extrusionOk="0">
                <a:moveTo>
                  <a:pt x="21177" y="21331"/>
                </a:moveTo>
                <a:cubicBezTo>
                  <a:pt x="21177" y="21331"/>
                  <a:pt x="19986" y="21421"/>
                  <a:pt x="19217" y="20950"/>
                </a:cubicBezTo>
                <a:cubicBezTo>
                  <a:pt x="18410" y="20501"/>
                  <a:pt x="17910" y="19761"/>
                  <a:pt x="17910" y="19043"/>
                </a:cubicBezTo>
                <a:cubicBezTo>
                  <a:pt x="17872" y="18325"/>
                  <a:pt x="17910" y="6482"/>
                  <a:pt x="17910" y="6482"/>
                </a:cubicBezTo>
                <a:cubicBezTo>
                  <a:pt x="21600" y="6482"/>
                  <a:pt x="21600" y="6482"/>
                  <a:pt x="21600" y="6482"/>
                </a:cubicBezTo>
                <a:cubicBezTo>
                  <a:pt x="10493" y="0"/>
                  <a:pt x="10493" y="0"/>
                  <a:pt x="10493" y="0"/>
                </a:cubicBezTo>
                <a:cubicBezTo>
                  <a:pt x="0" y="6101"/>
                  <a:pt x="0" y="6101"/>
                  <a:pt x="0" y="6101"/>
                </a:cubicBezTo>
                <a:cubicBezTo>
                  <a:pt x="3651" y="6101"/>
                  <a:pt x="3651" y="6101"/>
                  <a:pt x="3651" y="6101"/>
                </a:cubicBezTo>
                <a:cubicBezTo>
                  <a:pt x="3651" y="11843"/>
                  <a:pt x="3651" y="11843"/>
                  <a:pt x="3651" y="11843"/>
                </a:cubicBezTo>
                <a:cubicBezTo>
                  <a:pt x="3651" y="11843"/>
                  <a:pt x="3574" y="12359"/>
                  <a:pt x="4458" y="12852"/>
                </a:cubicBezTo>
                <a:cubicBezTo>
                  <a:pt x="5304" y="13346"/>
                  <a:pt x="18525" y="21062"/>
                  <a:pt x="18525" y="21062"/>
                </a:cubicBezTo>
                <a:cubicBezTo>
                  <a:pt x="18525" y="21062"/>
                  <a:pt x="19371" y="21600"/>
                  <a:pt x="21177" y="21331"/>
                </a:cubicBezTo>
                <a:close/>
              </a:path>
            </a:pathLst>
          </a:custGeom>
          <a:solidFill>
            <a:srgbClr val="01455C"/>
          </a:solidFill>
          <a:ln w="12700">
            <a:miter lim="400000"/>
          </a:ln>
        </p:spPr>
        <p:txBody>
          <a:bodyPr lIns="45719" rIns="45719"/>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PingFang SC" charset="-122"/>
              <a:ea typeface="PingFang SC" charset="-122"/>
              <a:cs typeface="PingFang SC" charset="-122"/>
            </a:endParaRPr>
          </a:p>
        </p:txBody>
      </p:sp>
      <p:sp>
        <p:nvSpPr>
          <p:cNvPr id="31" name="Shape 285">
            <a:extLst>
              <a:ext uri="{FF2B5EF4-FFF2-40B4-BE49-F238E27FC236}">
                <a16:creationId xmlns:a16="http://schemas.microsoft.com/office/drawing/2014/main" id="{5943005E-E05B-4599-BF91-5094375ED103}"/>
              </a:ext>
            </a:extLst>
          </p:cNvPr>
          <p:cNvSpPr/>
          <p:nvPr/>
        </p:nvSpPr>
        <p:spPr>
          <a:xfrm>
            <a:off x="5462587" y="5380070"/>
            <a:ext cx="2020063" cy="1187450"/>
          </a:xfrm>
          <a:custGeom>
            <a:avLst/>
            <a:gdLst/>
            <a:ahLst/>
            <a:cxnLst>
              <a:cxn ang="0">
                <a:pos x="wd2" y="hd2"/>
              </a:cxn>
              <a:cxn ang="5400000">
                <a:pos x="wd2" y="hd2"/>
              </a:cxn>
              <a:cxn ang="10800000">
                <a:pos x="wd2" y="hd2"/>
              </a:cxn>
              <a:cxn ang="16200000">
                <a:pos x="wd2" y="hd2"/>
              </a:cxn>
            </a:cxnLst>
            <a:rect l="0" t="0" r="r" b="b"/>
            <a:pathLst>
              <a:path w="21406" h="21600" extrusionOk="0">
                <a:moveTo>
                  <a:pt x="21331" y="385"/>
                </a:moveTo>
                <a:cubicBezTo>
                  <a:pt x="21331" y="385"/>
                  <a:pt x="21421" y="1617"/>
                  <a:pt x="20950" y="2387"/>
                </a:cubicBezTo>
                <a:cubicBezTo>
                  <a:pt x="20501" y="3157"/>
                  <a:pt x="19783" y="3658"/>
                  <a:pt x="19043" y="3696"/>
                </a:cubicBezTo>
                <a:cubicBezTo>
                  <a:pt x="18325" y="3735"/>
                  <a:pt x="6482" y="3696"/>
                  <a:pt x="6482" y="3696"/>
                </a:cubicBezTo>
                <a:cubicBezTo>
                  <a:pt x="6482" y="0"/>
                  <a:pt x="6482" y="0"/>
                  <a:pt x="6482" y="0"/>
                </a:cubicBezTo>
                <a:cubicBezTo>
                  <a:pt x="0" y="11127"/>
                  <a:pt x="0" y="11127"/>
                  <a:pt x="0" y="11127"/>
                </a:cubicBezTo>
                <a:cubicBezTo>
                  <a:pt x="6101" y="21600"/>
                  <a:pt x="6101" y="21600"/>
                  <a:pt x="6101" y="21600"/>
                </a:cubicBezTo>
                <a:cubicBezTo>
                  <a:pt x="6101" y="17942"/>
                  <a:pt x="6101" y="17942"/>
                  <a:pt x="6101" y="17942"/>
                </a:cubicBezTo>
                <a:cubicBezTo>
                  <a:pt x="11843" y="17942"/>
                  <a:pt x="11843" y="17942"/>
                  <a:pt x="11843" y="17942"/>
                </a:cubicBezTo>
                <a:cubicBezTo>
                  <a:pt x="11843" y="17942"/>
                  <a:pt x="12359" y="18019"/>
                  <a:pt x="12852" y="17172"/>
                </a:cubicBezTo>
                <a:cubicBezTo>
                  <a:pt x="13346" y="16325"/>
                  <a:pt x="21062" y="3080"/>
                  <a:pt x="21062" y="3080"/>
                </a:cubicBezTo>
                <a:cubicBezTo>
                  <a:pt x="21062" y="3080"/>
                  <a:pt x="21600" y="2195"/>
                  <a:pt x="21331" y="385"/>
                </a:cubicBezTo>
                <a:close/>
              </a:path>
            </a:pathLst>
          </a:custGeom>
          <a:solidFill>
            <a:srgbClr val="F5C300"/>
          </a:solidFill>
          <a:ln w="12700">
            <a:miter lim="400000"/>
          </a:ln>
        </p:spPr>
        <p:txBody>
          <a:bodyPr lIns="45719" rIns="45719"/>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PingFang SC" charset="-122"/>
              <a:ea typeface="PingFang SC" charset="-122"/>
              <a:cs typeface="PingFang SC" charset="-122"/>
            </a:endParaRPr>
          </a:p>
        </p:txBody>
      </p:sp>
      <p:sp>
        <p:nvSpPr>
          <p:cNvPr id="35" name="Shape 286">
            <a:extLst>
              <a:ext uri="{FF2B5EF4-FFF2-40B4-BE49-F238E27FC236}">
                <a16:creationId xmlns:a16="http://schemas.microsoft.com/office/drawing/2014/main" id="{90833B3A-A0EB-4878-A8FE-392A2AFD53AB}"/>
              </a:ext>
            </a:extLst>
          </p:cNvPr>
          <p:cNvSpPr/>
          <p:nvPr/>
        </p:nvSpPr>
        <p:spPr>
          <a:xfrm>
            <a:off x="6518275" y="3223269"/>
            <a:ext cx="1185863" cy="2021864"/>
          </a:xfrm>
          <a:custGeom>
            <a:avLst/>
            <a:gdLst/>
            <a:ahLst/>
            <a:cxnLst>
              <a:cxn ang="0">
                <a:pos x="wd2" y="hd2"/>
              </a:cxn>
              <a:cxn ang="5400000">
                <a:pos x="wd2" y="hd2"/>
              </a:cxn>
              <a:cxn ang="10800000">
                <a:pos x="wd2" y="hd2"/>
              </a:cxn>
              <a:cxn ang="16200000">
                <a:pos x="wd2" y="hd2"/>
              </a:cxn>
            </a:cxnLst>
            <a:rect l="0" t="0" r="r" b="b"/>
            <a:pathLst>
              <a:path w="21600" h="21409" extrusionOk="0">
                <a:moveTo>
                  <a:pt x="385" y="78"/>
                </a:moveTo>
                <a:cubicBezTo>
                  <a:pt x="385" y="78"/>
                  <a:pt x="1617" y="-12"/>
                  <a:pt x="2387" y="437"/>
                </a:cubicBezTo>
                <a:cubicBezTo>
                  <a:pt x="3157" y="908"/>
                  <a:pt x="3696" y="1626"/>
                  <a:pt x="3696" y="2344"/>
                </a:cubicBezTo>
                <a:cubicBezTo>
                  <a:pt x="3735" y="3084"/>
                  <a:pt x="3696" y="14927"/>
                  <a:pt x="3696" y="14927"/>
                </a:cubicBezTo>
                <a:cubicBezTo>
                  <a:pt x="0" y="14927"/>
                  <a:pt x="0" y="14927"/>
                  <a:pt x="0" y="14927"/>
                </a:cubicBezTo>
                <a:cubicBezTo>
                  <a:pt x="11127" y="21409"/>
                  <a:pt x="11127" y="21409"/>
                  <a:pt x="11127" y="21409"/>
                </a:cubicBezTo>
                <a:cubicBezTo>
                  <a:pt x="21600" y="15308"/>
                  <a:pt x="21600" y="15308"/>
                  <a:pt x="21600" y="15308"/>
                </a:cubicBezTo>
                <a:cubicBezTo>
                  <a:pt x="17942" y="15308"/>
                  <a:pt x="17942" y="15308"/>
                  <a:pt x="17942" y="15308"/>
                </a:cubicBezTo>
                <a:cubicBezTo>
                  <a:pt x="17942" y="9544"/>
                  <a:pt x="17942" y="9544"/>
                  <a:pt x="17942" y="9544"/>
                </a:cubicBezTo>
                <a:cubicBezTo>
                  <a:pt x="17942" y="9544"/>
                  <a:pt x="18019" y="9050"/>
                  <a:pt x="17172" y="8557"/>
                </a:cubicBezTo>
                <a:cubicBezTo>
                  <a:pt x="16325" y="8041"/>
                  <a:pt x="3080" y="325"/>
                  <a:pt x="3080" y="325"/>
                </a:cubicBezTo>
                <a:cubicBezTo>
                  <a:pt x="3080" y="325"/>
                  <a:pt x="2233" y="-191"/>
                  <a:pt x="385" y="78"/>
                </a:cubicBezTo>
                <a:close/>
              </a:path>
            </a:pathLst>
          </a:custGeom>
          <a:solidFill>
            <a:srgbClr val="95E0FF"/>
          </a:solidFill>
          <a:ln w="12700">
            <a:miter lim="400000"/>
          </a:ln>
        </p:spPr>
        <p:txBody>
          <a:bodyPr lIns="45719" rIns="45719"/>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PingFang SC" charset="-122"/>
              <a:ea typeface="PingFang SC" charset="-122"/>
              <a:cs typeface="PingFang SC" charset="-122"/>
            </a:endParaRPr>
          </a:p>
        </p:txBody>
      </p:sp>
      <p:sp>
        <p:nvSpPr>
          <p:cNvPr id="36" name="Shape 287">
            <a:extLst>
              <a:ext uri="{FF2B5EF4-FFF2-40B4-BE49-F238E27FC236}">
                <a16:creationId xmlns:a16="http://schemas.microsoft.com/office/drawing/2014/main" id="{8E5B7980-AC8E-48FC-98D6-DC05988D3A5C}"/>
              </a:ext>
            </a:extLst>
          </p:cNvPr>
          <p:cNvSpPr/>
          <p:nvPr/>
        </p:nvSpPr>
        <p:spPr>
          <a:xfrm>
            <a:off x="7705724" y="2951195"/>
            <a:ext cx="1" cy="1165225"/>
          </a:xfrm>
          <a:prstGeom prst="line">
            <a:avLst/>
          </a:prstGeom>
          <a:ln w="19050">
            <a:solidFill>
              <a:srgbClr val="ADBACA"/>
            </a:solidFill>
            <a:round/>
          </a:ln>
        </p:spPr>
        <p:txBody>
          <a:bodyPr lIns="0" tIns="0" rIns="0" bIns="0"/>
          <a:lstStyle/>
          <a:p>
            <a:pPr lvl="0" defTabSz="457200">
              <a:lnSpc>
                <a:spcPct val="100000"/>
              </a:lnSpc>
              <a:spcBef>
                <a:spcPts val="0"/>
              </a:spcBef>
              <a:defRPr sz="1200">
                <a:solidFill>
                  <a:srgbClr val="000000"/>
                </a:solidFill>
                <a:latin typeface="+mn-lt"/>
                <a:ea typeface="+mn-ea"/>
                <a:cs typeface="+mn-cs"/>
                <a:sym typeface="Helvetica"/>
              </a:defRPr>
            </a:pPr>
            <a:endParaRPr>
              <a:latin typeface="PingFang SC" charset="-122"/>
              <a:ea typeface="PingFang SC" charset="-122"/>
              <a:cs typeface="PingFang SC" charset="-122"/>
            </a:endParaRPr>
          </a:p>
        </p:txBody>
      </p:sp>
      <p:sp>
        <p:nvSpPr>
          <p:cNvPr id="37" name="Shape 288">
            <a:extLst>
              <a:ext uri="{FF2B5EF4-FFF2-40B4-BE49-F238E27FC236}">
                <a16:creationId xmlns:a16="http://schemas.microsoft.com/office/drawing/2014/main" id="{D8CD4B07-7326-4A10-8B95-19B937868F68}"/>
              </a:ext>
            </a:extLst>
          </p:cNvPr>
          <p:cNvSpPr/>
          <p:nvPr/>
        </p:nvSpPr>
        <p:spPr>
          <a:xfrm flipH="1">
            <a:off x="7706359" y="3239484"/>
            <a:ext cx="546101" cy="1"/>
          </a:xfrm>
          <a:prstGeom prst="line">
            <a:avLst/>
          </a:prstGeom>
          <a:ln w="19050">
            <a:solidFill>
              <a:srgbClr val="ADBACA"/>
            </a:solidFill>
            <a:round/>
          </a:ln>
        </p:spPr>
        <p:txBody>
          <a:bodyPr lIns="0" tIns="0" rIns="0" bIns="0"/>
          <a:lstStyle/>
          <a:p>
            <a:pPr lvl="0" defTabSz="457200">
              <a:lnSpc>
                <a:spcPct val="100000"/>
              </a:lnSpc>
              <a:spcBef>
                <a:spcPts val="0"/>
              </a:spcBef>
              <a:defRPr sz="1200">
                <a:solidFill>
                  <a:srgbClr val="000000"/>
                </a:solidFill>
                <a:latin typeface="+mn-lt"/>
                <a:ea typeface="+mn-ea"/>
                <a:cs typeface="+mn-cs"/>
                <a:sym typeface="Helvetica"/>
              </a:defRPr>
            </a:pPr>
            <a:endParaRPr>
              <a:latin typeface="PingFang SC" charset="-122"/>
              <a:ea typeface="PingFang SC" charset="-122"/>
              <a:cs typeface="PingFang SC" charset="-122"/>
            </a:endParaRPr>
          </a:p>
        </p:txBody>
      </p:sp>
      <p:sp>
        <p:nvSpPr>
          <p:cNvPr id="38" name="Shape 289">
            <a:extLst>
              <a:ext uri="{FF2B5EF4-FFF2-40B4-BE49-F238E27FC236}">
                <a16:creationId xmlns:a16="http://schemas.microsoft.com/office/drawing/2014/main" id="{0D957625-ACE6-4FB0-B5E3-A7DD33115740}"/>
              </a:ext>
            </a:extLst>
          </p:cNvPr>
          <p:cNvSpPr/>
          <p:nvPr/>
        </p:nvSpPr>
        <p:spPr>
          <a:xfrm>
            <a:off x="7756525" y="2879757"/>
            <a:ext cx="291747" cy="292388"/>
          </a:xfrm>
          <a:prstGeom prst="rect">
            <a:avLst/>
          </a:prstGeom>
          <a:ln w="12700">
            <a:miter lim="400000"/>
          </a:ln>
        </p:spPr>
        <p:txBody>
          <a:bodyPr wrap="none" lIns="0" tIns="0" rIns="0" bIns="0">
            <a:spAutoFit/>
          </a:bodyPr>
          <a:lstStyle>
            <a:lvl1pPr defTabSz="912495">
              <a:defRPr sz="1900" b="1">
                <a:solidFill>
                  <a:srgbClr val="222A35"/>
                </a:solidFill>
                <a:latin typeface="Arial" panose="020B0604020202020204"/>
                <a:ea typeface="Arial" panose="020B0604020202020204"/>
                <a:cs typeface="Arial" panose="020B0604020202020204"/>
                <a:sym typeface="Arial" panose="020B0604020202020204"/>
              </a:defRPr>
            </a:lvl1pPr>
          </a:lstStyle>
          <a:p>
            <a:pPr lvl="0">
              <a:defRPr sz="1800" b="0">
                <a:solidFill>
                  <a:srgbClr val="000000"/>
                </a:solidFill>
              </a:defRPr>
            </a:pPr>
            <a:r>
              <a:rPr sz="1900" b="1" dirty="0">
                <a:solidFill>
                  <a:schemeClr val="tx1"/>
                </a:solidFill>
                <a:latin typeface="PingFang SC" charset="-122"/>
                <a:ea typeface="PingFang SC" charset="-122"/>
                <a:cs typeface="PingFang SC" charset="-122"/>
              </a:rPr>
              <a:t>02</a:t>
            </a:r>
          </a:p>
        </p:txBody>
      </p:sp>
      <p:sp>
        <p:nvSpPr>
          <p:cNvPr id="39" name="Shape 290">
            <a:extLst>
              <a:ext uri="{FF2B5EF4-FFF2-40B4-BE49-F238E27FC236}">
                <a16:creationId xmlns:a16="http://schemas.microsoft.com/office/drawing/2014/main" id="{ACF9A651-B25F-41EC-8A0C-EDC144811FF6}"/>
              </a:ext>
            </a:extLst>
          </p:cNvPr>
          <p:cNvSpPr/>
          <p:nvPr/>
        </p:nvSpPr>
        <p:spPr>
          <a:xfrm>
            <a:off x="4138295" y="2951195"/>
            <a:ext cx="1" cy="1165225"/>
          </a:xfrm>
          <a:prstGeom prst="line">
            <a:avLst/>
          </a:prstGeom>
          <a:ln w="19050">
            <a:solidFill>
              <a:srgbClr val="ADBACA"/>
            </a:solidFill>
            <a:round/>
          </a:ln>
        </p:spPr>
        <p:txBody>
          <a:bodyPr lIns="0" tIns="0" rIns="0" bIns="0"/>
          <a:lstStyle/>
          <a:p>
            <a:pPr lvl="0" defTabSz="457200">
              <a:lnSpc>
                <a:spcPct val="100000"/>
              </a:lnSpc>
              <a:spcBef>
                <a:spcPts val="0"/>
              </a:spcBef>
              <a:defRPr sz="1200">
                <a:solidFill>
                  <a:srgbClr val="000000"/>
                </a:solidFill>
                <a:latin typeface="+mn-lt"/>
                <a:ea typeface="+mn-ea"/>
                <a:cs typeface="+mn-cs"/>
                <a:sym typeface="Helvetica"/>
              </a:defRPr>
            </a:pPr>
            <a:endParaRPr>
              <a:latin typeface="PingFang SC" charset="-122"/>
              <a:ea typeface="PingFang SC" charset="-122"/>
              <a:cs typeface="PingFang SC" charset="-122"/>
            </a:endParaRPr>
          </a:p>
        </p:txBody>
      </p:sp>
      <p:sp>
        <p:nvSpPr>
          <p:cNvPr id="40" name="Shape 291">
            <a:extLst>
              <a:ext uri="{FF2B5EF4-FFF2-40B4-BE49-F238E27FC236}">
                <a16:creationId xmlns:a16="http://schemas.microsoft.com/office/drawing/2014/main" id="{670A91CD-9C2C-4EBB-AAFB-6139486E7D26}"/>
              </a:ext>
            </a:extLst>
          </p:cNvPr>
          <p:cNvSpPr/>
          <p:nvPr/>
        </p:nvSpPr>
        <p:spPr>
          <a:xfrm>
            <a:off x="3589972" y="3239484"/>
            <a:ext cx="547689" cy="1"/>
          </a:xfrm>
          <a:prstGeom prst="line">
            <a:avLst/>
          </a:prstGeom>
          <a:ln w="19050">
            <a:solidFill>
              <a:srgbClr val="ADBACA"/>
            </a:solidFill>
            <a:round/>
          </a:ln>
        </p:spPr>
        <p:txBody>
          <a:bodyPr lIns="0" tIns="0" rIns="0" bIns="0"/>
          <a:lstStyle/>
          <a:p>
            <a:pPr lvl="0" defTabSz="457200">
              <a:lnSpc>
                <a:spcPct val="100000"/>
              </a:lnSpc>
              <a:spcBef>
                <a:spcPts val="0"/>
              </a:spcBef>
              <a:defRPr sz="1200">
                <a:solidFill>
                  <a:srgbClr val="000000"/>
                </a:solidFill>
                <a:latin typeface="+mn-lt"/>
                <a:ea typeface="+mn-ea"/>
                <a:cs typeface="+mn-cs"/>
                <a:sym typeface="Helvetica"/>
              </a:defRPr>
            </a:pPr>
            <a:endParaRPr>
              <a:latin typeface="PingFang SC" charset="-122"/>
              <a:ea typeface="PingFang SC" charset="-122"/>
              <a:cs typeface="PingFang SC" charset="-122"/>
            </a:endParaRPr>
          </a:p>
        </p:txBody>
      </p:sp>
      <p:sp>
        <p:nvSpPr>
          <p:cNvPr id="41" name="Shape 292">
            <a:extLst>
              <a:ext uri="{FF2B5EF4-FFF2-40B4-BE49-F238E27FC236}">
                <a16:creationId xmlns:a16="http://schemas.microsoft.com/office/drawing/2014/main" id="{D48FCA83-5E4C-42AC-9CEA-26EE79705A19}"/>
              </a:ext>
            </a:extLst>
          </p:cNvPr>
          <p:cNvSpPr/>
          <p:nvPr/>
        </p:nvSpPr>
        <p:spPr>
          <a:xfrm>
            <a:off x="3641725" y="2879757"/>
            <a:ext cx="245260" cy="292388"/>
          </a:xfrm>
          <a:prstGeom prst="rect">
            <a:avLst/>
          </a:prstGeom>
          <a:ln w="12700">
            <a:miter lim="400000"/>
          </a:ln>
        </p:spPr>
        <p:txBody>
          <a:bodyPr wrap="none" lIns="0" tIns="0" rIns="0" bIns="0">
            <a:spAutoFit/>
          </a:bodyPr>
          <a:lstStyle>
            <a:lvl1pPr defTabSz="912495">
              <a:defRPr sz="1900" b="1">
                <a:solidFill>
                  <a:srgbClr val="222A35"/>
                </a:solidFill>
                <a:latin typeface="Arial" panose="020B0604020202020204"/>
                <a:ea typeface="Arial" panose="020B0604020202020204"/>
                <a:cs typeface="Arial" panose="020B0604020202020204"/>
                <a:sym typeface="Arial" panose="020B0604020202020204"/>
              </a:defRPr>
            </a:lvl1pPr>
          </a:lstStyle>
          <a:p>
            <a:pPr lvl="0">
              <a:defRPr sz="1800" b="0">
                <a:solidFill>
                  <a:srgbClr val="000000"/>
                </a:solidFill>
              </a:defRPr>
            </a:pPr>
            <a:r>
              <a:rPr sz="1900" b="1" dirty="0">
                <a:solidFill>
                  <a:schemeClr val="tx1"/>
                </a:solidFill>
                <a:latin typeface="PingFang SC" charset="-122"/>
                <a:ea typeface="PingFang SC" charset="-122"/>
                <a:cs typeface="PingFang SC" charset="-122"/>
              </a:rPr>
              <a:t>01</a:t>
            </a:r>
          </a:p>
        </p:txBody>
      </p:sp>
      <p:sp>
        <p:nvSpPr>
          <p:cNvPr id="42" name="Shape 293">
            <a:extLst>
              <a:ext uri="{FF2B5EF4-FFF2-40B4-BE49-F238E27FC236}">
                <a16:creationId xmlns:a16="http://schemas.microsoft.com/office/drawing/2014/main" id="{2D7A9DFD-B1FB-424B-9C4E-AA5E257ECA64}"/>
              </a:ext>
            </a:extLst>
          </p:cNvPr>
          <p:cNvSpPr/>
          <p:nvPr/>
        </p:nvSpPr>
        <p:spPr>
          <a:xfrm>
            <a:off x="7705725" y="5345145"/>
            <a:ext cx="0" cy="1163638"/>
          </a:xfrm>
          <a:prstGeom prst="line">
            <a:avLst/>
          </a:prstGeom>
          <a:ln w="19050">
            <a:solidFill>
              <a:srgbClr val="ADBACA"/>
            </a:solidFill>
            <a:round/>
          </a:ln>
        </p:spPr>
        <p:txBody>
          <a:bodyPr lIns="0" tIns="0" rIns="0" bIns="0"/>
          <a:lstStyle/>
          <a:p>
            <a:pPr lvl="0" defTabSz="457200">
              <a:lnSpc>
                <a:spcPct val="100000"/>
              </a:lnSpc>
              <a:spcBef>
                <a:spcPts val="0"/>
              </a:spcBef>
              <a:defRPr sz="1200">
                <a:solidFill>
                  <a:srgbClr val="000000"/>
                </a:solidFill>
                <a:latin typeface="+mn-lt"/>
                <a:ea typeface="+mn-ea"/>
                <a:cs typeface="+mn-cs"/>
                <a:sym typeface="Helvetica"/>
              </a:defRPr>
            </a:pPr>
            <a:endParaRPr>
              <a:latin typeface="PingFang SC" charset="-122"/>
              <a:ea typeface="PingFang SC" charset="-122"/>
              <a:cs typeface="PingFang SC" charset="-122"/>
            </a:endParaRPr>
          </a:p>
        </p:txBody>
      </p:sp>
      <p:sp>
        <p:nvSpPr>
          <p:cNvPr id="43" name="Shape 294">
            <a:extLst>
              <a:ext uri="{FF2B5EF4-FFF2-40B4-BE49-F238E27FC236}">
                <a16:creationId xmlns:a16="http://schemas.microsoft.com/office/drawing/2014/main" id="{E7885C80-3891-44D8-8FD0-D26A0B8B7414}"/>
              </a:ext>
            </a:extLst>
          </p:cNvPr>
          <p:cNvSpPr/>
          <p:nvPr/>
        </p:nvSpPr>
        <p:spPr>
          <a:xfrm flipH="1">
            <a:off x="7706359" y="5633435"/>
            <a:ext cx="546101" cy="1"/>
          </a:xfrm>
          <a:prstGeom prst="line">
            <a:avLst/>
          </a:prstGeom>
          <a:ln w="19050">
            <a:solidFill>
              <a:srgbClr val="ADBACA"/>
            </a:solidFill>
            <a:round/>
          </a:ln>
        </p:spPr>
        <p:txBody>
          <a:bodyPr lIns="0" tIns="0" rIns="0" bIns="0"/>
          <a:lstStyle/>
          <a:p>
            <a:pPr lvl="0" defTabSz="457200">
              <a:lnSpc>
                <a:spcPct val="100000"/>
              </a:lnSpc>
              <a:spcBef>
                <a:spcPts val="0"/>
              </a:spcBef>
              <a:defRPr sz="1200">
                <a:solidFill>
                  <a:srgbClr val="000000"/>
                </a:solidFill>
                <a:latin typeface="+mn-lt"/>
                <a:ea typeface="+mn-ea"/>
                <a:cs typeface="+mn-cs"/>
                <a:sym typeface="Helvetica"/>
              </a:defRPr>
            </a:pPr>
            <a:endParaRPr>
              <a:latin typeface="PingFang SC" charset="-122"/>
              <a:ea typeface="PingFang SC" charset="-122"/>
              <a:cs typeface="PingFang SC" charset="-122"/>
            </a:endParaRPr>
          </a:p>
        </p:txBody>
      </p:sp>
      <p:sp>
        <p:nvSpPr>
          <p:cNvPr id="44" name="Shape 295">
            <a:extLst>
              <a:ext uri="{FF2B5EF4-FFF2-40B4-BE49-F238E27FC236}">
                <a16:creationId xmlns:a16="http://schemas.microsoft.com/office/drawing/2014/main" id="{927E3F54-2FAF-429F-A832-4C231BB12062}"/>
              </a:ext>
            </a:extLst>
          </p:cNvPr>
          <p:cNvSpPr/>
          <p:nvPr/>
        </p:nvSpPr>
        <p:spPr>
          <a:xfrm>
            <a:off x="7756525" y="5272120"/>
            <a:ext cx="291747" cy="292388"/>
          </a:xfrm>
          <a:prstGeom prst="rect">
            <a:avLst/>
          </a:prstGeom>
          <a:ln w="12700">
            <a:miter lim="400000"/>
          </a:ln>
        </p:spPr>
        <p:txBody>
          <a:bodyPr wrap="none" lIns="0" tIns="0" rIns="0" bIns="0">
            <a:spAutoFit/>
          </a:bodyPr>
          <a:lstStyle>
            <a:lvl1pPr defTabSz="912495">
              <a:defRPr sz="1900" b="1">
                <a:solidFill>
                  <a:srgbClr val="222A35"/>
                </a:solidFill>
                <a:latin typeface="Arial" panose="020B0604020202020204"/>
                <a:ea typeface="Arial" panose="020B0604020202020204"/>
                <a:cs typeface="Arial" panose="020B0604020202020204"/>
                <a:sym typeface="Arial" panose="020B0604020202020204"/>
              </a:defRPr>
            </a:lvl1pPr>
          </a:lstStyle>
          <a:p>
            <a:pPr lvl="0">
              <a:defRPr sz="1800" b="0">
                <a:solidFill>
                  <a:srgbClr val="000000"/>
                </a:solidFill>
              </a:defRPr>
            </a:pPr>
            <a:r>
              <a:rPr sz="1900" b="1" dirty="0">
                <a:solidFill>
                  <a:schemeClr val="tx1"/>
                </a:solidFill>
                <a:latin typeface="PingFang SC" charset="-122"/>
                <a:ea typeface="PingFang SC" charset="-122"/>
                <a:cs typeface="PingFang SC" charset="-122"/>
              </a:rPr>
              <a:t>03</a:t>
            </a:r>
          </a:p>
        </p:txBody>
      </p:sp>
      <p:sp>
        <p:nvSpPr>
          <p:cNvPr id="45" name="Shape 296">
            <a:extLst>
              <a:ext uri="{FF2B5EF4-FFF2-40B4-BE49-F238E27FC236}">
                <a16:creationId xmlns:a16="http://schemas.microsoft.com/office/drawing/2014/main" id="{25FD03A2-FD5F-4CDD-92E9-7A5D4AEE0865}"/>
              </a:ext>
            </a:extLst>
          </p:cNvPr>
          <p:cNvSpPr/>
          <p:nvPr/>
        </p:nvSpPr>
        <p:spPr>
          <a:xfrm>
            <a:off x="4138295" y="5345145"/>
            <a:ext cx="1" cy="1163638"/>
          </a:xfrm>
          <a:prstGeom prst="line">
            <a:avLst/>
          </a:prstGeom>
          <a:ln w="19050">
            <a:solidFill>
              <a:srgbClr val="ADBACA"/>
            </a:solidFill>
            <a:round/>
          </a:ln>
        </p:spPr>
        <p:txBody>
          <a:bodyPr lIns="0" tIns="0" rIns="0" bIns="0"/>
          <a:lstStyle/>
          <a:p>
            <a:pPr lvl="0" defTabSz="457200">
              <a:lnSpc>
                <a:spcPct val="100000"/>
              </a:lnSpc>
              <a:spcBef>
                <a:spcPts val="0"/>
              </a:spcBef>
              <a:defRPr sz="1200">
                <a:solidFill>
                  <a:srgbClr val="000000"/>
                </a:solidFill>
                <a:latin typeface="+mn-lt"/>
                <a:ea typeface="+mn-ea"/>
                <a:cs typeface="+mn-cs"/>
                <a:sym typeface="Helvetica"/>
              </a:defRPr>
            </a:pPr>
            <a:endParaRPr>
              <a:latin typeface="PingFang SC" charset="-122"/>
              <a:ea typeface="PingFang SC" charset="-122"/>
              <a:cs typeface="PingFang SC" charset="-122"/>
            </a:endParaRPr>
          </a:p>
        </p:txBody>
      </p:sp>
      <p:sp>
        <p:nvSpPr>
          <p:cNvPr id="46" name="Shape 297">
            <a:extLst>
              <a:ext uri="{FF2B5EF4-FFF2-40B4-BE49-F238E27FC236}">
                <a16:creationId xmlns:a16="http://schemas.microsoft.com/office/drawing/2014/main" id="{91F77E3A-C064-460F-A0B9-F8D8BCDA36E4}"/>
              </a:ext>
            </a:extLst>
          </p:cNvPr>
          <p:cNvSpPr/>
          <p:nvPr/>
        </p:nvSpPr>
        <p:spPr>
          <a:xfrm>
            <a:off x="3589972" y="5633435"/>
            <a:ext cx="547689" cy="1"/>
          </a:xfrm>
          <a:prstGeom prst="line">
            <a:avLst/>
          </a:prstGeom>
          <a:ln w="19050">
            <a:solidFill>
              <a:srgbClr val="ADBACA"/>
            </a:solidFill>
            <a:round/>
          </a:ln>
        </p:spPr>
        <p:txBody>
          <a:bodyPr lIns="0" tIns="0" rIns="0" bIns="0"/>
          <a:lstStyle/>
          <a:p>
            <a:pPr lvl="0" defTabSz="457200">
              <a:lnSpc>
                <a:spcPct val="100000"/>
              </a:lnSpc>
              <a:spcBef>
                <a:spcPts val="0"/>
              </a:spcBef>
              <a:defRPr sz="1200">
                <a:solidFill>
                  <a:srgbClr val="000000"/>
                </a:solidFill>
                <a:latin typeface="+mn-lt"/>
                <a:ea typeface="+mn-ea"/>
                <a:cs typeface="+mn-cs"/>
                <a:sym typeface="Helvetica"/>
              </a:defRPr>
            </a:pPr>
            <a:endParaRPr>
              <a:latin typeface="PingFang SC" charset="-122"/>
              <a:ea typeface="PingFang SC" charset="-122"/>
              <a:cs typeface="PingFang SC" charset="-122"/>
            </a:endParaRPr>
          </a:p>
        </p:txBody>
      </p:sp>
      <p:sp>
        <p:nvSpPr>
          <p:cNvPr id="47" name="Shape 298">
            <a:extLst>
              <a:ext uri="{FF2B5EF4-FFF2-40B4-BE49-F238E27FC236}">
                <a16:creationId xmlns:a16="http://schemas.microsoft.com/office/drawing/2014/main" id="{AC120513-F11F-45B1-9DDF-3F46CA4CAE15}"/>
              </a:ext>
            </a:extLst>
          </p:cNvPr>
          <p:cNvSpPr/>
          <p:nvPr/>
        </p:nvSpPr>
        <p:spPr>
          <a:xfrm>
            <a:off x="3641725" y="5272120"/>
            <a:ext cx="291747" cy="292388"/>
          </a:xfrm>
          <a:prstGeom prst="rect">
            <a:avLst/>
          </a:prstGeom>
          <a:ln w="12700">
            <a:miter lim="400000"/>
          </a:ln>
        </p:spPr>
        <p:txBody>
          <a:bodyPr wrap="none" lIns="0" tIns="0" rIns="0" bIns="0">
            <a:spAutoFit/>
          </a:bodyPr>
          <a:lstStyle>
            <a:lvl1pPr defTabSz="912495">
              <a:defRPr sz="1900" b="1">
                <a:solidFill>
                  <a:srgbClr val="222A35"/>
                </a:solidFill>
                <a:latin typeface="Arial" panose="020B0604020202020204"/>
                <a:ea typeface="Arial" panose="020B0604020202020204"/>
                <a:cs typeface="Arial" panose="020B0604020202020204"/>
                <a:sym typeface="Arial" panose="020B0604020202020204"/>
              </a:defRPr>
            </a:lvl1pPr>
          </a:lstStyle>
          <a:p>
            <a:pPr lvl="0">
              <a:defRPr sz="1800" b="0">
                <a:solidFill>
                  <a:srgbClr val="000000"/>
                </a:solidFill>
              </a:defRPr>
            </a:pPr>
            <a:r>
              <a:rPr sz="1900" b="1" dirty="0">
                <a:solidFill>
                  <a:schemeClr val="tx1"/>
                </a:solidFill>
                <a:latin typeface="PingFang SC" charset="-122"/>
                <a:ea typeface="PingFang SC" charset="-122"/>
                <a:cs typeface="PingFang SC" charset="-122"/>
              </a:rPr>
              <a:t>04</a:t>
            </a:r>
          </a:p>
        </p:txBody>
      </p:sp>
      <p:sp>
        <p:nvSpPr>
          <p:cNvPr id="48" name="Shape 299">
            <a:extLst>
              <a:ext uri="{FF2B5EF4-FFF2-40B4-BE49-F238E27FC236}">
                <a16:creationId xmlns:a16="http://schemas.microsoft.com/office/drawing/2014/main" id="{144D5803-B613-4186-BF2C-0399B3390F9A}"/>
              </a:ext>
            </a:extLst>
          </p:cNvPr>
          <p:cNvSpPr/>
          <p:nvPr/>
        </p:nvSpPr>
        <p:spPr>
          <a:xfrm>
            <a:off x="5592762" y="3733832"/>
            <a:ext cx="53976" cy="14288"/>
          </a:xfrm>
          <a:custGeom>
            <a:avLst/>
            <a:gdLst/>
            <a:ahLst/>
            <a:cxnLst>
              <a:cxn ang="0">
                <a:pos x="wd2" y="hd2"/>
              </a:cxn>
              <a:cxn ang="5400000">
                <a:pos x="wd2" y="hd2"/>
              </a:cxn>
              <a:cxn ang="10800000">
                <a:pos x="wd2" y="hd2"/>
              </a:cxn>
              <a:cxn ang="16200000">
                <a:pos x="wd2" y="hd2"/>
              </a:cxn>
            </a:cxnLst>
            <a:rect l="0" t="0" r="r" b="b"/>
            <a:pathLst>
              <a:path w="21600" h="21600" extrusionOk="0">
                <a:moveTo>
                  <a:pt x="20914" y="12150"/>
                </a:moveTo>
                <a:cubicBezTo>
                  <a:pt x="20914" y="12150"/>
                  <a:pt x="6514" y="5400"/>
                  <a:pt x="686" y="0"/>
                </a:cubicBezTo>
                <a:cubicBezTo>
                  <a:pt x="0" y="6750"/>
                  <a:pt x="0" y="6750"/>
                  <a:pt x="0" y="6750"/>
                </a:cubicBezTo>
                <a:cubicBezTo>
                  <a:pt x="21600" y="21600"/>
                  <a:pt x="21600" y="21600"/>
                  <a:pt x="21600" y="21600"/>
                </a:cubicBezTo>
                <a:cubicBezTo>
                  <a:pt x="21600" y="21600"/>
                  <a:pt x="20229" y="12150"/>
                  <a:pt x="20914" y="12150"/>
                </a:cubicBezTo>
                <a:close/>
              </a:path>
            </a:pathLst>
          </a:custGeom>
          <a:solidFill>
            <a:srgbClr val="FFFFFF"/>
          </a:solidFill>
          <a:ln w="12700">
            <a:miter lim="400000"/>
          </a:ln>
        </p:spPr>
        <p:txBody>
          <a:bodyPr lIns="0" tIns="0" rIns="0" bIns="0"/>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PingFang SC" charset="-122"/>
              <a:ea typeface="PingFang SC" charset="-122"/>
              <a:cs typeface="PingFang SC" charset="-122"/>
            </a:endParaRPr>
          </a:p>
        </p:txBody>
      </p:sp>
      <p:pic>
        <p:nvPicPr>
          <p:cNvPr id="49" name="image.png">
            <a:extLst>
              <a:ext uri="{FF2B5EF4-FFF2-40B4-BE49-F238E27FC236}">
                <a16:creationId xmlns:a16="http://schemas.microsoft.com/office/drawing/2014/main" id="{7966C5DD-DD70-4F8F-83AA-00FEF89E7D79}"/>
              </a:ext>
            </a:extLst>
          </p:cNvPr>
          <p:cNvPicPr/>
          <p:nvPr/>
        </p:nvPicPr>
        <p:blipFill>
          <a:blip r:embed="rId4" cstate="print"/>
          <a:stretch>
            <a:fillRect/>
          </a:stretch>
        </p:blipFill>
        <p:spPr>
          <a:xfrm>
            <a:off x="5364162" y="3338545"/>
            <a:ext cx="384176" cy="504825"/>
          </a:xfrm>
          <a:prstGeom prst="rect">
            <a:avLst/>
          </a:prstGeom>
          <a:ln w="12700">
            <a:miter lim="400000"/>
            <a:headEnd/>
            <a:tailEnd/>
          </a:ln>
        </p:spPr>
      </p:pic>
      <p:sp>
        <p:nvSpPr>
          <p:cNvPr id="50" name="Shape 301">
            <a:extLst>
              <a:ext uri="{FF2B5EF4-FFF2-40B4-BE49-F238E27FC236}">
                <a16:creationId xmlns:a16="http://schemas.microsoft.com/office/drawing/2014/main" id="{DA213F75-2B04-4121-A7C9-D5DBD1C5A3C4}"/>
              </a:ext>
            </a:extLst>
          </p:cNvPr>
          <p:cNvSpPr/>
          <p:nvPr/>
        </p:nvSpPr>
        <p:spPr>
          <a:xfrm>
            <a:off x="5451475" y="3760610"/>
            <a:ext cx="214349" cy="67605"/>
          </a:xfrm>
          <a:custGeom>
            <a:avLst/>
            <a:gdLst/>
            <a:ahLst/>
            <a:cxnLst>
              <a:cxn ang="0">
                <a:pos x="wd2" y="hd2"/>
              </a:cxn>
              <a:cxn ang="5400000">
                <a:pos x="wd2" y="hd2"/>
              </a:cxn>
              <a:cxn ang="10800000">
                <a:pos x="wd2" y="hd2"/>
              </a:cxn>
              <a:cxn ang="16200000">
                <a:pos x="wd2" y="hd2"/>
              </a:cxn>
            </a:cxnLst>
            <a:rect l="0" t="0" r="r" b="b"/>
            <a:pathLst>
              <a:path w="19976" h="19571" extrusionOk="0">
                <a:moveTo>
                  <a:pt x="18677" y="18296"/>
                </a:moveTo>
                <a:cubicBezTo>
                  <a:pt x="18677" y="18296"/>
                  <a:pt x="14779" y="14820"/>
                  <a:pt x="12262" y="10848"/>
                </a:cubicBezTo>
                <a:cubicBezTo>
                  <a:pt x="9744" y="6875"/>
                  <a:pt x="7065" y="2903"/>
                  <a:pt x="6659" y="2903"/>
                </a:cubicBezTo>
                <a:cubicBezTo>
                  <a:pt x="6253" y="2903"/>
                  <a:pt x="2030" y="-1318"/>
                  <a:pt x="81" y="420"/>
                </a:cubicBezTo>
                <a:cubicBezTo>
                  <a:pt x="0" y="1165"/>
                  <a:pt x="0" y="1165"/>
                  <a:pt x="0" y="1165"/>
                </a:cubicBezTo>
                <a:cubicBezTo>
                  <a:pt x="0" y="1165"/>
                  <a:pt x="3411" y="-77"/>
                  <a:pt x="6577" y="4144"/>
                </a:cubicBezTo>
                <a:cubicBezTo>
                  <a:pt x="9826" y="8613"/>
                  <a:pt x="15835" y="20282"/>
                  <a:pt x="18677" y="19537"/>
                </a:cubicBezTo>
                <a:cubicBezTo>
                  <a:pt x="21600" y="18792"/>
                  <a:pt x="18677" y="18296"/>
                  <a:pt x="18677" y="18296"/>
                </a:cubicBezTo>
                <a:close/>
              </a:path>
            </a:pathLst>
          </a:custGeom>
          <a:solidFill>
            <a:srgbClr val="FFFFFF"/>
          </a:solidFill>
          <a:ln w="12700">
            <a:miter lim="400000"/>
          </a:ln>
        </p:spPr>
        <p:txBody>
          <a:bodyPr lIns="0" tIns="0" rIns="0" bIns="0"/>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PingFang SC" charset="-122"/>
              <a:ea typeface="PingFang SC" charset="-122"/>
              <a:cs typeface="PingFang SC" charset="-122"/>
            </a:endParaRPr>
          </a:p>
        </p:txBody>
      </p:sp>
      <p:sp>
        <p:nvSpPr>
          <p:cNvPr id="51" name="Shape 302">
            <a:extLst>
              <a:ext uri="{FF2B5EF4-FFF2-40B4-BE49-F238E27FC236}">
                <a16:creationId xmlns:a16="http://schemas.microsoft.com/office/drawing/2014/main" id="{090E7FEB-77BD-4873-B325-16F274959C8D}"/>
              </a:ext>
            </a:extLst>
          </p:cNvPr>
          <p:cNvSpPr/>
          <p:nvPr/>
        </p:nvSpPr>
        <p:spPr>
          <a:xfrm>
            <a:off x="5441950" y="3806857"/>
            <a:ext cx="153988" cy="34926"/>
          </a:xfrm>
          <a:custGeom>
            <a:avLst/>
            <a:gdLst/>
            <a:ahLst/>
            <a:cxnLst>
              <a:cxn ang="0">
                <a:pos x="wd2" y="hd2"/>
              </a:cxn>
              <a:cxn ang="5400000">
                <a:pos x="wd2" y="hd2"/>
              </a:cxn>
              <a:cxn ang="10800000">
                <a:pos x="wd2" y="hd2"/>
              </a:cxn>
              <a:cxn ang="16200000">
                <a:pos x="wd2" y="hd2"/>
              </a:cxn>
            </a:cxnLst>
            <a:rect l="0" t="0" r="r" b="b"/>
            <a:pathLst>
              <a:path w="21600" h="21600" extrusionOk="0">
                <a:moveTo>
                  <a:pt x="610" y="17280"/>
                </a:moveTo>
                <a:cubicBezTo>
                  <a:pt x="610" y="17280"/>
                  <a:pt x="7444" y="17820"/>
                  <a:pt x="13058" y="11880"/>
                </a:cubicBezTo>
                <a:cubicBezTo>
                  <a:pt x="18793" y="5400"/>
                  <a:pt x="20624" y="0"/>
                  <a:pt x="20624" y="0"/>
                </a:cubicBezTo>
                <a:cubicBezTo>
                  <a:pt x="21600" y="1620"/>
                  <a:pt x="21600" y="1620"/>
                  <a:pt x="21600" y="1620"/>
                </a:cubicBezTo>
                <a:cubicBezTo>
                  <a:pt x="21600" y="1620"/>
                  <a:pt x="17329" y="11880"/>
                  <a:pt x="12569" y="15660"/>
                </a:cubicBezTo>
                <a:cubicBezTo>
                  <a:pt x="7810" y="19440"/>
                  <a:pt x="0" y="21600"/>
                  <a:pt x="0" y="21600"/>
                </a:cubicBezTo>
                <a:lnTo>
                  <a:pt x="610" y="17280"/>
                </a:lnTo>
                <a:close/>
              </a:path>
            </a:pathLst>
          </a:custGeom>
          <a:solidFill>
            <a:srgbClr val="FFFFFF"/>
          </a:solidFill>
          <a:ln w="12700">
            <a:miter lim="400000"/>
          </a:ln>
        </p:spPr>
        <p:txBody>
          <a:bodyPr lIns="0" tIns="0" rIns="0" bIns="0"/>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PingFang SC" charset="-122"/>
              <a:ea typeface="PingFang SC" charset="-122"/>
              <a:cs typeface="PingFang SC" charset="-122"/>
            </a:endParaRPr>
          </a:p>
        </p:txBody>
      </p:sp>
      <p:sp>
        <p:nvSpPr>
          <p:cNvPr id="52" name="Shape 303">
            <a:extLst>
              <a:ext uri="{FF2B5EF4-FFF2-40B4-BE49-F238E27FC236}">
                <a16:creationId xmlns:a16="http://schemas.microsoft.com/office/drawing/2014/main" id="{72F50360-CEBF-4FEB-801C-315B1AD18CE2}"/>
              </a:ext>
            </a:extLst>
          </p:cNvPr>
          <p:cNvSpPr/>
          <p:nvPr/>
        </p:nvSpPr>
        <p:spPr>
          <a:xfrm>
            <a:off x="6964362" y="4191032"/>
            <a:ext cx="330201" cy="485776"/>
          </a:xfrm>
          <a:custGeom>
            <a:avLst/>
            <a:gdLst/>
            <a:ahLst/>
            <a:cxnLst>
              <a:cxn ang="0">
                <a:pos x="wd2" y="hd2"/>
              </a:cxn>
              <a:cxn ang="5400000">
                <a:pos x="wd2" y="hd2"/>
              </a:cxn>
              <a:cxn ang="10800000">
                <a:pos x="wd2" y="hd2"/>
              </a:cxn>
              <a:cxn ang="16200000">
                <a:pos x="wd2" y="hd2"/>
              </a:cxn>
            </a:cxnLst>
            <a:rect l="0" t="0" r="r" b="b"/>
            <a:pathLst>
              <a:path w="21600" h="21600" extrusionOk="0">
                <a:moveTo>
                  <a:pt x="19029" y="10103"/>
                </a:moveTo>
                <a:cubicBezTo>
                  <a:pt x="18000" y="11148"/>
                  <a:pt x="15943" y="12890"/>
                  <a:pt x="15943" y="14284"/>
                </a:cubicBezTo>
                <a:cubicBezTo>
                  <a:pt x="16457" y="14632"/>
                  <a:pt x="16971" y="14981"/>
                  <a:pt x="16971" y="15329"/>
                </a:cubicBezTo>
                <a:cubicBezTo>
                  <a:pt x="16971" y="15677"/>
                  <a:pt x="16457" y="16026"/>
                  <a:pt x="16457" y="16374"/>
                </a:cubicBezTo>
                <a:cubicBezTo>
                  <a:pt x="16457" y="16374"/>
                  <a:pt x="16971" y="16723"/>
                  <a:pt x="16971" y="17071"/>
                </a:cubicBezTo>
                <a:cubicBezTo>
                  <a:pt x="16971" y="17768"/>
                  <a:pt x="16457" y="18116"/>
                  <a:pt x="15943" y="18465"/>
                </a:cubicBezTo>
                <a:cubicBezTo>
                  <a:pt x="15943" y="18465"/>
                  <a:pt x="15943" y="18813"/>
                  <a:pt x="15943" y="18813"/>
                </a:cubicBezTo>
                <a:cubicBezTo>
                  <a:pt x="15943" y="19858"/>
                  <a:pt x="14914" y="20206"/>
                  <a:pt x="13886" y="20206"/>
                </a:cubicBezTo>
                <a:cubicBezTo>
                  <a:pt x="13371" y="21252"/>
                  <a:pt x="12343" y="21600"/>
                  <a:pt x="10800" y="21600"/>
                </a:cubicBezTo>
                <a:cubicBezTo>
                  <a:pt x="9771" y="21600"/>
                  <a:pt x="8229" y="21252"/>
                  <a:pt x="7714" y="20206"/>
                </a:cubicBezTo>
                <a:cubicBezTo>
                  <a:pt x="6686" y="20206"/>
                  <a:pt x="5657" y="19858"/>
                  <a:pt x="5657" y="18813"/>
                </a:cubicBezTo>
                <a:cubicBezTo>
                  <a:pt x="5657" y="18813"/>
                  <a:pt x="5657" y="18465"/>
                  <a:pt x="5657" y="18465"/>
                </a:cubicBezTo>
                <a:cubicBezTo>
                  <a:pt x="5143" y="18116"/>
                  <a:pt x="4629" y="17768"/>
                  <a:pt x="4629" y="17071"/>
                </a:cubicBezTo>
                <a:cubicBezTo>
                  <a:pt x="4629" y="16723"/>
                  <a:pt x="5143" y="16374"/>
                  <a:pt x="5143" y="16374"/>
                </a:cubicBezTo>
                <a:cubicBezTo>
                  <a:pt x="5143" y="16026"/>
                  <a:pt x="4629" y="15677"/>
                  <a:pt x="4629" y="15329"/>
                </a:cubicBezTo>
                <a:cubicBezTo>
                  <a:pt x="4629" y="14981"/>
                  <a:pt x="5143" y="14632"/>
                  <a:pt x="5657" y="14284"/>
                </a:cubicBezTo>
                <a:cubicBezTo>
                  <a:pt x="5657" y="12890"/>
                  <a:pt x="3600" y="11148"/>
                  <a:pt x="2571" y="10103"/>
                </a:cubicBezTo>
                <a:cubicBezTo>
                  <a:pt x="1029" y="9058"/>
                  <a:pt x="0" y="8013"/>
                  <a:pt x="0" y="6271"/>
                </a:cubicBezTo>
                <a:cubicBezTo>
                  <a:pt x="0" y="2787"/>
                  <a:pt x="5657" y="0"/>
                  <a:pt x="10800" y="0"/>
                </a:cubicBezTo>
                <a:cubicBezTo>
                  <a:pt x="15943" y="0"/>
                  <a:pt x="21600" y="2787"/>
                  <a:pt x="21600" y="6271"/>
                </a:cubicBezTo>
                <a:cubicBezTo>
                  <a:pt x="21600" y="8013"/>
                  <a:pt x="20571" y="9058"/>
                  <a:pt x="19029" y="10103"/>
                </a:cubicBezTo>
                <a:close/>
                <a:moveTo>
                  <a:pt x="10800" y="2090"/>
                </a:moveTo>
                <a:cubicBezTo>
                  <a:pt x="7200" y="2090"/>
                  <a:pt x="3086" y="3484"/>
                  <a:pt x="3086" y="6271"/>
                </a:cubicBezTo>
                <a:cubicBezTo>
                  <a:pt x="3086" y="7316"/>
                  <a:pt x="3600" y="8361"/>
                  <a:pt x="4114" y="9058"/>
                </a:cubicBezTo>
                <a:cubicBezTo>
                  <a:pt x="4629" y="9406"/>
                  <a:pt x="5143" y="9406"/>
                  <a:pt x="5657" y="9755"/>
                </a:cubicBezTo>
                <a:cubicBezTo>
                  <a:pt x="7200" y="11148"/>
                  <a:pt x="8229" y="12542"/>
                  <a:pt x="8229" y="13935"/>
                </a:cubicBezTo>
                <a:cubicBezTo>
                  <a:pt x="13371" y="13935"/>
                  <a:pt x="13371" y="13935"/>
                  <a:pt x="13371" y="13935"/>
                </a:cubicBezTo>
                <a:cubicBezTo>
                  <a:pt x="13371" y="12542"/>
                  <a:pt x="14400" y="11148"/>
                  <a:pt x="15943" y="9755"/>
                </a:cubicBezTo>
                <a:cubicBezTo>
                  <a:pt x="16457" y="9406"/>
                  <a:pt x="16971" y="9406"/>
                  <a:pt x="17486" y="9058"/>
                </a:cubicBezTo>
                <a:cubicBezTo>
                  <a:pt x="18000" y="8361"/>
                  <a:pt x="18514" y="7316"/>
                  <a:pt x="18514" y="6271"/>
                </a:cubicBezTo>
                <a:cubicBezTo>
                  <a:pt x="18514" y="3484"/>
                  <a:pt x="14400" y="2090"/>
                  <a:pt x="10800" y="2090"/>
                </a:cubicBezTo>
                <a:close/>
                <a:moveTo>
                  <a:pt x="14914" y="6968"/>
                </a:moveTo>
                <a:cubicBezTo>
                  <a:pt x="14400" y="6968"/>
                  <a:pt x="13886" y="6619"/>
                  <a:pt x="13886" y="6271"/>
                </a:cubicBezTo>
                <a:cubicBezTo>
                  <a:pt x="13886" y="5574"/>
                  <a:pt x="11829" y="5226"/>
                  <a:pt x="10800" y="5226"/>
                </a:cubicBezTo>
                <a:cubicBezTo>
                  <a:pt x="10286" y="5226"/>
                  <a:pt x="10286" y="4877"/>
                  <a:pt x="10286" y="4529"/>
                </a:cubicBezTo>
                <a:cubicBezTo>
                  <a:pt x="10286" y="4529"/>
                  <a:pt x="10286" y="4181"/>
                  <a:pt x="10800" y="4181"/>
                </a:cubicBezTo>
                <a:cubicBezTo>
                  <a:pt x="12857" y="4181"/>
                  <a:pt x="15429" y="4877"/>
                  <a:pt x="15429" y="6271"/>
                </a:cubicBezTo>
                <a:cubicBezTo>
                  <a:pt x="15429" y="6619"/>
                  <a:pt x="14914" y="6968"/>
                  <a:pt x="14914" y="6968"/>
                </a:cubicBezTo>
                <a:close/>
              </a:path>
            </a:pathLst>
          </a:custGeom>
          <a:solidFill>
            <a:srgbClr val="FFFFFF"/>
          </a:solidFill>
          <a:ln w="12700">
            <a:miter lim="400000"/>
          </a:ln>
        </p:spPr>
        <p:txBody>
          <a:bodyPr lIns="0" tIns="0" rIns="0" bIns="0"/>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PingFang SC" charset="-122"/>
              <a:ea typeface="PingFang SC" charset="-122"/>
              <a:cs typeface="PingFang SC" charset="-122"/>
            </a:endParaRPr>
          </a:p>
        </p:txBody>
      </p:sp>
      <p:sp>
        <p:nvSpPr>
          <p:cNvPr id="53" name="Shape 304">
            <a:extLst>
              <a:ext uri="{FF2B5EF4-FFF2-40B4-BE49-F238E27FC236}">
                <a16:creationId xmlns:a16="http://schemas.microsoft.com/office/drawing/2014/main" id="{78A90BB2-AD56-40E0-9B82-62A5133DFFF6}"/>
              </a:ext>
            </a:extLst>
          </p:cNvPr>
          <p:cNvSpPr/>
          <p:nvPr/>
        </p:nvSpPr>
        <p:spPr>
          <a:xfrm>
            <a:off x="6070600" y="5754720"/>
            <a:ext cx="450850" cy="336550"/>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21600"/>
                </a:lnTo>
                <a:lnTo>
                  <a:pt x="0" y="0"/>
                </a:lnTo>
                <a:lnTo>
                  <a:pt x="1286" y="0"/>
                </a:lnTo>
                <a:lnTo>
                  <a:pt x="1286" y="19714"/>
                </a:lnTo>
                <a:lnTo>
                  <a:pt x="21600" y="19714"/>
                </a:lnTo>
                <a:lnTo>
                  <a:pt x="21600" y="21600"/>
                </a:lnTo>
                <a:close/>
                <a:moveTo>
                  <a:pt x="6943" y="17829"/>
                </a:moveTo>
                <a:lnTo>
                  <a:pt x="4114" y="17829"/>
                </a:lnTo>
                <a:lnTo>
                  <a:pt x="4114" y="10800"/>
                </a:lnTo>
                <a:lnTo>
                  <a:pt x="6943" y="10800"/>
                </a:lnTo>
                <a:lnTo>
                  <a:pt x="6943" y="17829"/>
                </a:lnTo>
                <a:close/>
                <a:moveTo>
                  <a:pt x="10800" y="17829"/>
                </a:moveTo>
                <a:lnTo>
                  <a:pt x="8229" y="17829"/>
                </a:lnTo>
                <a:lnTo>
                  <a:pt x="8229" y="3257"/>
                </a:lnTo>
                <a:lnTo>
                  <a:pt x="10800" y="3257"/>
                </a:lnTo>
                <a:lnTo>
                  <a:pt x="10800" y="17829"/>
                </a:lnTo>
                <a:close/>
                <a:moveTo>
                  <a:pt x="14914" y="17829"/>
                </a:moveTo>
                <a:lnTo>
                  <a:pt x="12214" y="17829"/>
                </a:lnTo>
                <a:lnTo>
                  <a:pt x="12214" y="7029"/>
                </a:lnTo>
                <a:lnTo>
                  <a:pt x="14914" y="7029"/>
                </a:lnTo>
                <a:lnTo>
                  <a:pt x="14914" y="17829"/>
                </a:lnTo>
                <a:close/>
                <a:moveTo>
                  <a:pt x="18900" y="17829"/>
                </a:moveTo>
                <a:lnTo>
                  <a:pt x="16329" y="17829"/>
                </a:lnTo>
                <a:lnTo>
                  <a:pt x="16329" y="1543"/>
                </a:lnTo>
                <a:lnTo>
                  <a:pt x="18900" y="1543"/>
                </a:lnTo>
                <a:lnTo>
                  <a:pt x="18900" y="17829"/>
                </a:lnTo>
                <a:close/>
              </a:path>
            </a:pathLst>
          </a:custGeom>
          <a:solidFill>
            <a:srgbClr val="FFFFFF"/>
          </a:solidFill>
          <a:ln w="12700">
            <a:miter lim="400000"/>
          </a:ln>
        </p:spPr>
        <p:txBody>
          <a:bodyPr lIns="0" tIns="0" rIns="0" bIns="0"/>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PingFang SC" charset="-122"/>
              <a:ea typeface="PingFang SC" charset="-122"/>
              <a:cs typeface="PingFang SC" charset="-122"/>
            </a:endParaRPr>
          </a:p>
        </p:txBody>
      </p:sp>
      <p:sp>
        <p:nvSpPr>
          <p:cNvPr id="54" name="Shape 305">
            <a:extLst>
              <a:ext uri="{FF2B5EF4-FFF2-40B4-BE49-F238E27FC236}">
                <a16:creationId xmlns:a16="http://schemas.microsoft.com/office/drawing/2014/main" id="{DF718FDA-5C68-4D38-A94F-DA3212190CD0}"/>
              </a:ext>
            </a:extLst>
          </p:cNvPr>
          <p:cNvSpPr/>
          <p:nvPr/>
        </p:nvSpPr>
        <p:spPr>
          <a:xfrm>
            <a:off x="4516437" y="4876832"/>
            <a:ext cx="404813" cy="368301"/>
          </a:xfrm>
          <a:custGeom>
            <a:avLst/>
            <a:gdLst/>
            <a:ahLst/>
            <a:cxnLst>
              <a:cxn ang="0">
                <a:pos x="wd2" y="hd2"/>
              </a:cxn>
              <a:cxn ang="5400000">
                <a:pos x="wd2" y="hd2"/>
              </a:cxn>
              <a:cxn ang="10800000">
                <a:pos x="wd2" y="hd2"/>
              </a:cxn>
              <a:cxn ang="16200000">
                <a:pos x="wd2" y="hd2"/>
              </a:cxn>
            </a:cxnLst>
            <a:rect l="0" t="0" r="r" b="b"/>
            <a:pathLst>
              <a:path w="21600" h="21600" extrusionOk="0">
                <a:moveTo>
                  <a:pt x="14400" y="11865"/>
                </a:moveTo>
                <a:cubicBezTo>
                  <a:pt x="14400" y="12169"/>
                  <a:pt x="14123" y="12169"/>
                  <a:pt x="14123" y="12169"/>
                </a:cubicBezTo>
                <a:cubicBezTo>
                  <a:pt x="12462" y="12473"/>
                  <a:pt x="12462" y="12473"/>
                  <a:pt x="12462" y="12473"/>
                </a:cubicBezTo>
                <a:cubicBezTo>
                  <a:pt x="12185" y="12777"/>
                  <a:pt x="12185" y="13082"/>
                  <a:pt x="11908" y="13386"/>
                </a:cubicBezTo>
                <a:cubicBezTo>
                  <a:pt x="12462" y="13994"/>
                  <a:pt x="12738" y="14299"/>
                  <a:pt x="13015" y="14907"/>
                </a:cubicBezTo>
                <a:cubicBezTo>
                  <a:pt x="13015" y="14907"/>
                  <a:pt x="13015" y="14907"/>
                  <a:pt x="13015" y="15211"/>
                </a:cubicBezTo>
                <a:cubicBezTo>
                  <a:pt x="13015" y="15211"/>
                  <a:pt x="13015" y="15211"/>
                  <a:pt x="13015" y="15211"/>
                </a:cubicBezTo>
                <a:cubicBezTo>
                  <a:pt x="12738" y="15820"/>
                  <a:pt x="11631" y="17037"/>
                  <a:pt x="11354" y="17037"/>
                </a:cubicBezTo>
                <a:cubicBezTo>
                  <a:pt x="11077" y="17037"/>
                  <a:pt x="11077" y="17037"/>
                  <a:pt x="11077" y="17037"/>
                </a:cubicBezTo>
                <a:cubicBezTo>
                  <a:pt x="9692" y="16124"/>
                  <a:pt x="9692" y="16124"/>
                  <a:pt x="9692" y="16124"/>
                </a:cubicBezTo>
                <a:cubicBezTo>
                  <a:pt x="9415" y="16124"/>
                  <a:pt x="9138" y="16124"/>
                  <a:pt x="8862" y="16428"/>
                </a:cubicBezTo>
                <a:cubicBezTo>
                  <a:pt x="8862" y="17037"/>
                  <a:pt x="8862" y="17645"/>
                  <a:pt x="8585" y="18254"/>
                </a:cubicBezTo>
                <a:cubicBezTo>
                  <a:pt x="8585" y="18558"/>
                  <a:pt x="8308" y="18558"/>
                  <a:pt x="8308" y="18558"/>
                </a:cubicBezTo>
                <a:cubicBezTo>
                  <a:pt x="6092" y="18558"/>
                  <a:pt x="6092" y="18558"/>
                  <a:pt x="6092" y="18558"/>
                </a:cubicBezTo>
                <a:cubicBezTo>
                  <a:pt x="6092" y="18558"/>
                  <a:pt x="5815" y="18558"/>
                  <a:pt x="5815" y="18254"/>
                </a:cubicBezTo>
                <a:cubicBezTo>
                  <a:pt x="5538" y="16428"/>
                  <a:pt x="5538" y="16428"/>
                  <a:pt x="5538" y="16428"/>
                </a:cubicBezTo>
                <a:cubicBezTo>
                  <a:pt x="5262" y="16428"/>
                  <a:pt x="4985" y="16124"/>
                  <a:pt x="4708" y="16124"/>
                </a:cubicBezTo>
                <a:cubicBezTo>
                  <a:pt x="3600" y="17037"/>
                  <a:pt x="3600" y="17037"/>
                  <a:pt x="3600" y="17037"/>
                </a:cubicBezTo>
                <a:cubicBezTo>
                  <a:pt x="3323" y="17037"/>
                  <a:pt x="3323" y="17037"/>
                  <a:pt x="3323" y="17037"/>
                </a:cubicBezTo>
                <a:cubicBezTo>
                  <a:pt x="3046" y="17037"/>
                  <a:pt x="3046" y="17037"/>
                  <a:pt x="3046" y="17037"/>
                </a:cubicBezTo>
                <a:cubicBezTo>
                  <a:pt x="2769" y="16732"/>
                  <a:pt x="1385" y="15515"/>
                  <a:pt x="1385" y="15211"/>
                </a:cubicBezTo>
                <a:cubicBezTo>
                  <a:pt x="1385" y="14907"/>
                  <a:pt x="1385" y="14907"/>
                  <a:pt x="1385" y="14907"/>
                </a:cubicBezTo>
                <a:cubicBezTo>
                  <a:pt x="1938" y="14299"/>
                  <a:pt x="2215" y="13994"/>
                  <a:pt x="2492" y="13386"/>
                </a:cubicBezTo>
                <a:cubicBezTo>
                  <a:pt x="2215" y="13082"/>
                  <a:pt x="2215" y="12777"/>
                  <a:pt x="2215" y="12473"/>
                </a:cubicBezTo>
                <a:cubicBezTo>
                  <a:pt x="277" y="12169"/>
                  <a:pt x="277" y="12169"/>
                  <a:pt x="277" y="12169"/>
                </a:cubicBezTo>
                <a:cubicBezTo>
                  <a:pt x="277" y="12169"/>
                  <a:pt x="0" y="12169"/>
                  <a:pt x="0" y="11865"/>
                </a:cubicBezTo>
                <a:cubicBezTo>
                  <a:pt x="0" y="9735"/>
                  <a:pt x="0" y="9735"/>
                  <a:pt x="0" y="9735"/>
                </a:cubicBezTo>
                <a:cubicBezTo>
                  <a:pt x="0" y="9431"/>
                  <a:pt x="277" y="9127"/>
                  <a:pt x="277" y="9127"/>
                </a:cubicBezTo>
                <a:cubicBezTo>
                  <a:pt x="2215" y="8823"/>
                  <a:pt x="2215" y="8823"/>
                  <a:pt x="2215" y="8823"/>
                </a:cubicBezTo>
                <a:cubicBezTo>
                  <a:pt x="2215" y="8518"/>
                  <a:pt x="2215" y="8214"/>
                  <a:pt x="2492" y="7910"/>
                </a:cubicBezTo>
                <a:cubicBezTo>
                  <a:pt x="2215" y="7606"/>
                  <a:pt x="1938" y="6997"/>
                  <a:pt x="1385" y="6693"/>
                </a:cubicBezTo>
                <a:cubicBezTo>
                  <a:pt x="1385" y="6389"/>
                  <a:pt x="1385" y="6389"/>
                  <a:pt x="1385" y="6389"/>
                </a:cubicBezTo>
                <a:cubicBezTo>
                  <a:pt x="1385" y="6389"/>
                  <a:pt x="1385" y="6085"/>
                  <a:pt x="1385" y="6085"/>
                </a:cubicBezTo>
                <a:cubicBezTo>
                  <a:pt x="1662" y="5780"/>
                  <a:pt x="3046" y="4259"/>
                  <a:pt x="3323" y="4259"/>
                </a:cubicBezTo>
                <a:cubicBezTo>
                  <a:pt x="3323" y="4259"/>
                  <a:pt x="3323" y="4259"/>
                  <a:pt x="3600" y="4259"/>
                </a:cubicBezTo>
                <a:cubicBezTo>
                  <a:pt x="4708" y="5476"/>
                  <a:pt x="4708" y="5476"/>
                  <a:pt x="4708" y="5476"/>
                </a:cubicBezTo>
                <a:cubicBezTo>
                  <a:pt x="4985" y="5476"/>
                  <a:pt x="5262" y="5172"/>
                  <a:pt x="5538" y="5172"/>
                </a:cubicBezTo>
                <a:cubicBezTo>
                  <a:pt x="5815" y="4563"/>
                  <a:pt x="5815" y="3955"/>
                  <a:pt x="5815" y="3346"/>
                </a:cubicBezTo>
                <a:cubicBezTo>
                  <a:pt x="5815" y="3042"/>
                  <a:pt x="6092" y="3042"/>
                  <a:pt x="6092" y="3042"/>
                </a:cubicBezTo>
                <a:cubicBezTo>
                  <a:pt x="8308" y="3042"/>
                  <a:pt x="8308" y="3042"/>
                  <a:pt x="8308" y="3042"/>
                </a:cubicBezTo>
                <a:cubicBezTo>
                  <a:pt x="8308" y="3042"/>
                  <a:pt x="8585" y="3042"/>
                  <a:pt x="8585" y="3346"/>
                </a:cubicBezTo>
                <a:cubicBezTo>
                  <a:pt x="8862" y="5172"/>
                  <a:pt x="8862" y="5172"/>
                  <a:pt x="8862" y="5172"/>
                </a:cubicBezTo>
                <a:cubicBezTo>
                  <a:pt x="9138" y="5172"/>
                  <a:pt x="9415" y="5476"/>
                  <a:pt x="9692" y="5476"/>
                </a:cubicBezTo>
                <a:cubicBezTo>
                  <a:pt x="11077" y="4259"/>
                  <a:pt x="11077" y="4259"/>
                  <a:pt x="11077" y="4259"/>
                </a:cubicBezTo>
                <a:cubicBezTo>
                  <a:pt x="11077" y="4259"/>
                  <a:pt x="11077" y="4259"/>
                  <a:pt x="11354" y="4259"/>
                </a:cubicBezTo>
                <a:cubicBezTo>
                  <a:pt x="11354" y="4259"/>
                  <a:pt x="11354" y="4259"/>
                  <a:pt x="11354" y="4259"/>
                </a:cubicBezTo>
                <a:cubicBezTo>
                  <a:pt x="11631" y="4563"/>
                  <a:pt x="13015" y="6085"/>
                  <a:pt x="13015" y="6389"/>
                </a:cubicBezTo>
                <a:cubicBezTo>
                  <a:pt x="13015" y="6389"/>
                  <a:pt x="13015" y="6389"/>
                  <a:pt x="13015" y="6693"/>
                </a:cubicBezTo>
                <a:cubicBezTo>
                  <a:pt x="12738" y="6997"/>
                  <a:pt x="12462" y="7606"/>
                  <a:pt x="11908" y="7910"/>
                </a:cubicBezTo>
                <a:cubicBezTo>
                  <a:pt x="12185" y="8214"/>
                  <a:pt x="12185" y="8518"/>
                  <a:pt x="12462" y="9127"/>
                </a:cubicBezTo>
                <a:cubicBezTo>
                  <a:pt x="14123" y="9127"/>
                  <a:pt x="14123" y="9127"/>
                  <a:pt x="14123" y="9127"/>
                </a:cubicBezTo>
                <a:cubicBezTo>
                  <a:pt x="14123" y="9431"/>
                  <a:pt x="14400" y="9431"/>
                  <a:pt x="14400" y="9735"/>
                </a:cubicBezTo>
                <a:lnTo>
                  <a:pt x="14400" y="11865"/>
                </a:lnTo>
                <a:close/>
                <a:moveTo>
                  <a:pt x="7200" y="7606"/>
                </a:moveTo>
                <a:cubicBezTo>
                  <a:pt x="5815" y="7606"/>
                  <a:pt x="4431" y="9127"/>
                  <a:pt x="4431" y="10648"/>
                </a:cubicBezTo>
                <a:cubicBezTo>
                  <a:pt x="4431" y="12473"/>
                  <a:pt x="5815" y="13994"/>
                  <a:pt x="7200" y="13994"/>
                </a:cubicBezTo>
                <a:cubicBezTo>
                  <a:pt x="8862" y="13994"/>
                  <a:pt x="9969" y="12473"/>
                  <a:pt x="9969" y="10648"/>
                </a:cubicBezTo>
                <a:cubicBezTo>
                  <a:pt x="9969" y="9127"/>
                  <a:pt x="8862" y="7606"/>
                  <a:pt x="7200" y="7606"/>
                </a:cubicBezTo>
                <a:close/>
                <a:moveTo>
                  <a:pt x="21600" y="5476"/>
                </a:moveTo>
                <a:cubicBezTo>
                  <a:pt x="21600" y="5476"/>
                  <a:pt x="19938" y="5780"/>
                  <a:pt x="19938" y="5780"/>
                </a:cubicBezTo>
                <a:cubicBezTo>
                  <a:pt x="19662" y="6085"/>
                  <a:pt x="19662" y="6085"/>
                  <a:pt x="19385" y="6389"/>
                </a:cubicBezTo>
                <a:cubicBezTo>
                  <a:pt x="19662" y="6693"/>
                  <a:pt x="19938" y="7910"/>
                  <a:pt x="19938" y="7910"/>
                </a:cubicBezTo>
                <a:cubicBezTo>
                  <a:pt x="19938" y="8214"/>
                  <a:pt x="19938" y="8214"/>
                  <a:pt x="19938" y="8214"/>
                </a:cubicBezTo>
                <a:cubicBezTo>
                  <a:pt x="19938" y="8214"/>
                  <a:pt x="18831" y="9127"/>
                  <a:pt x="18554" y="9127"/>
                </a:cubicBezTo>
                <a:cubicBezTo>
                  <a:pt x="18554" y="9127"/>
                  <a:pt x="17723" y="7910"/>
                  <a:pt x="17446" y="7606"/>
                </a:cubicBezTo>
                <a:cubicBezTo>
                  <a:pt x="17446" y="7606"/>
                  <a:pt x="17446" y="7606"/>
                  <a:pt x="17169" y="7606"/>
                </a:cubicBezTo>
                <a:cubicBezTo>
                  <a:pt x="17169" y="7606"/>
                  <a:pt x="16892" y="7606"/>
                  <a:pt x="16892" y="7606"/>
                </a:cubicBezTo>
                <a:cubicBezTo>
                  <a:pt x="16892" y="7910"/>
                  <a:pt x="16062" y="9127"/>
                  <a:pt x="15785" y="9127"/>
                </a:cubicBezTo>
                <a:cubicBezTo>
                  <a:pt x="15785" y="9127"/>
                  <a:pt x="14677" y="8214"/>
                  <a:pt x="14400" y="8214"/>
                </a:cubicBezTo>
                <a:cubicBezTo>
                  <a:pt x="14400" y="8214"/>
                  <a:pt x="14400" y="8214"/>
                  <a:pt x="14400" y="7910"/>
                </a:cubicBezTo>
                <a:cubicBezTo>
                  <a:pt x="14400" y="7910"/>
                  <a:pt x="14954" y="6693"/>
                  <a:pt x="14954" y="6389"/>
                </a:cubicBezTo>
                <a:cubicBezTo>
                  <a:pt x="14677" y="6085"/>
                  <a:pt x="14677" y="6085"/>
                  <a:pt x="14677" y="5780"/>
                </a:cubicBezTo>
                <a:cubicBezTo>
                  <a:pt x="14400" y="5780"/>
                  <a:pt x="13015" y="5476"/>
                  <a:pt x="13015" y="5476"/>
                </a:cubicBezTo>
                <a:cubicBezTo>
                  <a:pt x="13015" y="3651"/>
                  <a:pt x="13015" y="3651"/>
                  <a:pt x="13015" y="3651"/>
                </a:cubicBezTo>
                <a:cubicBezTo>
                  <a:pt x="13015" y="3346"/>
                  <a:pt x="14400" y="3346"/>
                  <a:pt x="14677" y="3346"/>
                </a:cubicBezTo>
                <a:cubicBezTo>
                  <a:pt x="14677" y="3042"/>
                  <a:pt x="14677" y="2738"/>
                  <a:pt x="14954" y="2738"/>
                </a:cubicBezTo>
                <a:cubicBezTo>
                  <a:pt x="14954" y="2434"/>
                  <a:pt x="14400" y="1217"/>
                  <a:pt x="14400" y="913"/>
                </a:cubicBezTo>
                <a:cubicBezTo>
                  <a:pt x="14400" y="913"/>
                  <a:pt x="14400" y="913"/>
                  <a:pt x="14400" y="913"/>
                </a:cubicBezTo>
                <a:cubicBezTo>
                  <a:pt x="14677" y="913"/>
                  <a:pt x="15785" y="0"/>
                  <a:pt x="15785" y="0"/>
                </a:cubicBezTo>
                <a:cubicBezTo>
                  <a:pt x="16062" y="0"/>
                  <a:pt x="16892" y="1217"/>
                  <a:pt x="16892" y="1521"/>
                </a:cubicBezTo>
                <a:cubicBezTo>
                  <a:pt x="16892" y="1217"/>
                  <a:pt x="17169" y="1217"/>
                  <a:pt x="17169" y="1217"/>
                </a:cubicBezTo>
                <a:cubicBezTo>
                  <a:pt x="17446" y="1217"/>
                  <a:pt x="17446" y="1217"/>
                  <a:pt x="17446" y="1521"/>
                </a:cubicBezTo>
                <a:cubicBezTo>
                  <a:pt x="17723" y="913"/>
                  <a:pt x="18277" y="304"/>
                  <a:pt x="18554" y="0"/>
                </a:cubicBezTo>
                <a:cubicBezTo>
                  <a:pt x="18554" y="0"/>
                  <a:pt x="18554" y="0"/>
                  <a:pt x="18554" y="0"/>
                </a:cubicBezTo>
                <a:cubicBezTo>
                  <a:pt x="18831" y="0"/>
                  <a:pt x="19938" y="608"/>
                  <a:pt x="19938" y="913"/>
                </a:cubicBezTo>
                <a:cubicBezTo>
                  <a:pt x="19938" y="913"/>
                  <a:pt x="19938" y="913"/>
                  <a:pt x="19938" y="913"/>
                </a:cubicBezTo>
                <a:cubicBezTo>
                  <a:pt x="19938" y="1217"/>
                  <a:pt x="19662" y="2434"/>
                  <a:pt x="19385" y="2738"/>
                </a:cubicBezTo>
                <a:cubicBezTo>
                  <a:pt x="19662" y="2738"/>
                  <a:pt x="19662" y="3042"/>
                  <a:pt x="19938" y="3346"/>
                </a:cubicBezTo>
                <a:cubicBezTo>
                  <a:pt x="19938" y="3346"/>
                  <a:pt x="21600" y="3346"/>
                  <a:pt x="21600" y="3651"/>
                </a:cubicBezTo>
                <a:lnTo>
                  <a:pt x="21600" y="5476"/>
                </a:lnTo>
                <a:close/>
                <a:moveTo>
                  <a:pt x="21600" y="17949"/>
                </a:moveTo>
                <a:cubicBezTo>
                  <a:pt x="21600" y="17949"/>
                  <a:pt x="19938" y="18254"/>
                  <a:pt x="19938" y="18254"/>
                </a:cubicBezTo>
                <a:cubicBezTo>
                  <a:pt x="19662" y="18558"/>
                  <a:pt x="19662" y="18558"/>
                  <a:pt x="19385" y="18862"/>
                </a:cubicBezTo>
                <a:cubicBezTo>
                  <a:pt x="19662" y="19166"/>
                  <a:pt x="19938" y="20383"/>
                  <a:pt x="19938" y="20687"/>
                </a:cubicBezTo>
                <a:cubicBezTo>
                  <a:pt x="19938" y="20687"/>
                  <a:pt x="19938" y="20687"/>
                  <a:pt x="19938" y="20687"/>
                </a:cubicBezTo>
                <a:cubicBezTo>
                  <a:pt x="19938" y="20687"/>
                  <a:pt x="18831" y="21600"/>
                  <a:pt x="18554" y="21600"/>
                </a:cubicBezTo>
                <a:cubicBezTo>
                  <a:pt x="18554" y="21600"/>
                  <a:pt x="17723" y="20383"/>
                  <a:pt x="17446" y="20079"/>
                </a:cubicBezTo>
                <a:cubicBezTo>
                  <a:pt x="17446" y="20079"/>
                  <a:pt x="17446" y="20079"/>
                  <a:pt x="17169" y="20079"/>
                </a:cubicBezTo>
                <a:cubicBezTo>
                  <a:pt x="17169" y="20079"/>
                  <a:pt x="16892" y="20079"/>
                  <a:pt x="16892" y="20079"/>
                </a:cubicBezTo>
                <a:cubicBezTo>
                  <a:pt x="16892" y="20383"/>
                  <a:pt x="16062" y="21600"/>
                  <a:pt x="15785" y="21600"/>
                </a:cubicBezTo>
                <a:cubicBezTo>
                  <a:pt x="15785" y="21600"/>
                  <a:pt x="14677" y="20687"/>
                  <a:pt x="14400" y="20687"/>
                </a:cubicBezTo>
                <a:cubicBezTo>
                  <a:pt x="14400" y="20687"/>
                  <a:pt x="14400" y="20687"/>
                  <a:pt x="14400" y="20687"/>
                </a:cubicBezTo>
                <a:cubicBezTo>
                  <a:pt x="14400" y="20383"/>
                  <a:pt x="14954" y="19166"/>
                  <a:pt x="14954" y="18862"/>
                </a:cubicBezTo>
                <a:cubicBezTo>
                  <a:pt x="14677" y="18558"/>
                  <a:pt x="14677" y="18558"/>
                  <a:pt x="14677" y="18254"/>
                </a:cubicBezTo>
                <a:cubicBezTo>
                  <a:pt x="14400" y="18254"/>
                  <a:pt x="13015" y="17949"/>
                  <a:pt x="13015" y="17949"/>
                </a:cubicBezTo>
                <a:cubicBezTo>
                  <a:pt x="13015" y="16124"/>
                  <a:pt x="13015" y="16124"/>
                  <a:pt x="13015" y="16124"/>
                </a:cubicBezTo>
                <a:cubicBezTo>
                  <a:pt x="13015" y="15820"/>
                  <a:pt x="14400" y="15820"/>
                  <a:pt x="14677" y="15820"/>
                </a:cubicBezTo>
                <a:cubicBezTo>
                  <a:pt x="14677" y="15515"/>
                  <a:pt x="14677" y="15211"/>
                  <a:pt x="14954" y="15211"/>
                </a:cubicBezTo>
                <a:cubicBezTo>
                  <a:pt x="14954" y="14907"/>
                  <a:pt x="14400" y="13690"/>
                  <a:pt x="14400" y="13386"/>
                </a:cubicBezTo>
                <a:cubicBezTo>
                  <a:pt x="14400" y="13386"/>
                  <a:pt x="14400" y="13386"/>
                  <a:pt x="14400" y="13386"/>
                </a:cubicBezTo>
                <a:cubicBezTo>
                  <a:pt x="14677" y="13386"/>
                  <a:pt x="15785" y="12473"/>
                  <a:pt x="15785" y="12473"/>
                </a:cubicBezTo>
                <a:cubicBezTo>
                  <a:pt x="16062" y="12473"/>
                  <a:pt x="16892" y="13690"/>
                  <a:pt x="16892" y="13994"/>
                </a:cubicBezTo>
                <a:cubicBezTo>
                  <a:pt x="16892" y="13994"/>
                  <a:pt x="17169" y="13994"/>
                  <a:pt x="17169" y="13994"/>
                </a:cubicBezTo>
                <a:cubicBezTo>
                  <a:pt x="17446" y="13994"/>
                  <a:pt x="17446" y="13994"/>
                  <a:pt x="17446" y="13994"/>
                </a:cubicBezTo>
                <a:cubicBezTo>
                  <a:pt x="17723" y="13386"/>
                  <a:pt x="18277" y="13082"/>
                  <a:pt x="18554" y="12473"/>
                </a:cubicBezTo>
                <a:cubicBezTo>
                  <a:pt x="18554" y="12473"/>
                  <a:pt x="18554" y="12473"/>
                  <a:pt x="18554" y="12473"/>
                </a:cubicBezTo>
                <a:cubicBezTo>
                  <a:pt x="18831" y="12473"/>
                  <a:pt x="19938" y="13386"/>
                  <a:pt x="19938" y="13386"/>
                </a:cubicBezTo>
                <a:cubicBezTo>
                  <a:pt x="19938" y="13386"/>
                  <a:pt x="19938" y="13386"/>
                  <a:pt x="19938" y="13386"/>
                </a:cubicBezTo>
                <a:cubicBezTo>
                  <a:pt x="19938" y="13690"/>
                  <a:pt x="19662" y="14907"/>
                  <a:pt x="19385" y="15211"/>
                </a:cubicBezTo>
                <a:cubicBezTo>
                  <a:pt x="19662" y="15211"/>
                  <a:pt x="19662" y="15515"/>
                  <a:pt x="19938" y="15820"/>
                </a:cubicBezTo>
                <a:cubicBezTo>
                  <a:pt x="19938" y="15820"/>
                  <a:pt x="21600" y="15820"/>
                  <a:pt x="21600" y="16124"/>
                </a:cubicBezTo>
                <a:lnTo>
                  <a:pt x="21600" y="17949"/>
                </a:lnTo>
                <a:close/>
                <a:moveTo>
                  <a:pt x="17169" y="3042"/>
                </a:moveTo>
                <a:cubicBezTo>
                  <a:pt x="16338" y="3042"/>
                  <a:pt x="15785" y="3651"/>
                  <a:pt x="15785" y="4563"/>
                </a:cubicBezTo>
                <a:cubicBezTo>
                  <a:pt x="15785" y="5476"/>
                  <a:pt x="16338" y="6085"/>
                  <a:pt x="17169" y="6085"/>
                </a:cubicBezTo>
                <a:cubicBezTo>
                  <a:pt x="18000" y="6085"/>
                  <a:pt x="18554" y="5476"/>
                  <a:pt x="18554" y="4563"/>
                </a:cubicBezTo>
                <a:cubicBezTo>
                  <a:pt x="18554" y="3651"/>
                  <a:pt x="18000" y="3042"/>
                  <a:pt x="17169" y="3042"/>
                </a:cubicBezTo>
                <a:close/>
                <a:moveTo>
                  <a:pt x="17169" y="15515"/>
                </a:moveTo>
                <a:cubicBezTo>
                  <a:pt x="16338" y="15515"/>
                  <a:pt x="15785" y="16124"/>
                  <a:pt x="15785" y="17037"/>
                </a:cubicBezTo>
                <a:cubicBezTo>
                  <a:pt x="15785" y="17949"/>
                  <a:pt x="16338" y="18558"/>
                  <a:pt x="17169" y="18558"/>
                </a:cubicBezTo>
                <a:cubicBezTo>
                  <a:pt x="18000" y="18558"/>
                  <a:pt x="18554" y="17949"/>
                  <a:pt x="18554" y="17037"/>
                </a:cubicBezTo>
                <a:cubicBezTo>
                  <a:pt x="18554" y="16124"/>
                  <a:pt x="18000" y="15515"/>
                  <a:pt x="17169" y="15515"/>
                </a:cubicBezTo>
                <a:close/>
              </a:path>
            </a:pathLst>
          </a:custGeom>
          <a:solidFill>
            <a:srgbClr val="FFFFFF"/>
          </a:solidFill>
          <a:ln w="12700">
            <a:miter lim="400000"/>
          </a:ln>
        </p:spPr>
        <p:txBody>
          <a:bodyPr lIns="0" tIns="0" rIns="0" bIns="0"/>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latin typeface="PingFang SC" charset="-122"/>
              <a:ea typeface="PingFang SC" charset="-122"/>
              <a:cs typeface="PingFang SC" charset="-122"/>
            </a:endParaRPr>
          </a:p>
        </p:txBody>
      </p:sp>
      <p:sp>
        <p:nvSpPr>
          <p:cNvPr id="55" name="Shape 306">
            <a:extLst>
              <a:ext uri="{FF2B5EF4-FFF2-40B4-BE49-F238E27FC236}">
                <a16:creationId xmlns:a16="http://schemas.microsoft.com/office/drawing/2014/main" id="{87E5CB31-FE49-4C13-B593-BD97B187DD43}"/>
              </a:ext>
            </a:extLst>
          </p:cNvPr>
          <p:cNvSpPr/>
          <p:nvPr/>
        </p:nvSpPr>
        <p:spPr>
          <a:xfrm>
            <a:off x="7696200" y="3336957"/>
            <a:ext cx="1635125" cy="276999"/>
          </a:xfrm>
          <a:prstGeom prst="rect">
            <a:avLst/>
          </a:prstGeom>
          <a:ln w="12700">
            <a:miter lim="400000"/>
          </a:ln>
        </p:spPr>
        <p:txBody>
          <a:bodyPr wrap="square" lIns="0" tIns="0" rIns="0" bIns="0">
            <a:spAutoFit/>
          </a:bodyPr>
          <a:lstStyle>
            <a:lvl1pPr algn="ctr" defTabSz="911225">
              <a:spcBef>
                <a:spcPts val="200"/>
              </a:spcBef>
              <a:defRPr>
                <a:solidFill>
                  <a:srgbClr val="535353"/>
                </a:solidFill>
              </a:defRPr>
            </a:lvl1pPr>
          </a:lstStyle>
          <a:p>
            <a:pPr lvl="0">
              <a:defRPr>
                <a:solidFill>
                  <a:srgbClr val="000000"/>
                </a:solidFill>
              </a:defRPr>
            </a:pPr>
            <a:r>
              <a:rPr lang="zh-CN" altLang="en-US" dirty="0">
                <a:solidFill>
                  <a:schemeClr val="tx1"/>
                </a:solidFill>
                <a:latin typeface="PingFang SC" charset="-122"/>
                <a:ea typeface="PingFang SC" charset="-122"/>
                <a:cs typeface="PingFang SC" charset="-122"/>
              </a:rPr>
              <a:t>变量信息处理</a:t>
            </a:r>
            <a:endParaRPr dirty="0">
              <a:solidFill>
                <a:schemeClr val="tx1"/>
              </a:solidFill>
              <a:latin typeface="PingFang SC" charset="-122"/>
              <a:ea typeface="PingFang SC" charset="-122"/>
              <a:cs typeface="PingFang SC" charset="-122"/>
            </a:endParaRPr>
          </a:p>
        </p:txBody>
      </p:sp>
      <p:sp>
        <p:nvSpPr>
          <p:cNvPr id="56" name="Shape 307">
            <a:extLst>
              <a:ext uri="{FF2B5EF4-FFF2-40B4-BE49-F238E27FC236}">
                <a16:creationId xmlns:a16="http://schemas.microsoft.com/office/drawing/2014/main" id="{6367B7E9-B670-4815-AA17-4A049F38B545}"/>
              </a:ext>
            </a:extLst>
          </p:cNvPr>
          <p:cNvSpPr/>
          <p:nvPr/>
        </p:nvSpPr>
        <p:spPr>
          <a:xfrm>
            <a:off x="2870993" y="3330607"/>
            <a:ext cx="1279368" cy="358776"/>
          </a:xfrm>
          <a:prstGeom prst="rect">
            <a:avLst/>
          </a:prstGeom>
          <a:ln w="12700">
            <a:miter lim="400000"/>
          </a:ln>
        </p:spPr>
        <p:txBody>
          <a:bodyPr lIns="0" tIns="0" rIns="0" bIns="0"/>
          <a:lstStyle>
            <a:lvl1pPr algn="ctr" defTabSz="911225">
              <a:spcBef>
                <a:spcPts val="200"/>
              </a:spcBef>
              <a:defRPr>
                <a:solidFill>
                  <a:srgbClr val="535353"/>
                </a:solidFill>
              </a:defRPr>
            </a:lvl1pPr>
          </a:lstStyle>
          <a:p>
            <a:pPr lvl="0">
              <a:defRPr>
                <a:solidFill>
                  <a:srgbClr val="000000"/>
                </a:solidFill>
              </a:defRPr>
            </a:pPr>
            <a:r>
              <a:rPr lang="zh-CN" altLang="en-US" dirty="0">
                <a:solidFill>
                  <a:schemeClr val="tx1"/>
                </a:solidFill>
                <a:latin typeface="PingFang SC" charset="-122"/>
                <a:ea typeface="PingFang SC" charset="-122"/>
                <a:cs typeface="PingFang SC" charset="-122"/>
              </a:rPr>
              <a:t>用户画像</a:t>
            </a:r>
            <a:endParaRPr dirty="0">
              <a:solidFill>
                <a:schemeClr val="tx1"/>
              </a:solidFill>
              <a:latin typeface="PingFang SC" charset="-122"/>
              <a:ea typeface="PingFang SC" charset="-122"/>
              <a:cs typeface="PingFang SC" charset="-122"/>
            </a:endParaRPr>
          </a:p>
        </p:txBody>
      </p:sp>
      <p:sp>
        <p:nvSpPr>
          <p:cNvPr id="57" name="Shape 308">
            <a:extLst>
              <a:ext uri="{FF2B5EF4-FFF2-40B4-BE49-F238E27FC236}">
                <a16:creationId xmlns:a16="http://schemas.microsoft.com/office/drawing/2014/main" id="{853CE443-4999-4358-A0D1-CA43D7F2F5FA}"/>
              </a:ext>
            </a:extLst>
          </p:cNvPr>
          <p:cNvSpPr/>
          <p:nvPr/>
        </p:nvSpPr>
        <p:spPr>
          <a:xfrm>
            <a:off x="7679530" y="5774563"/>
            <a:ext cx="1660279" cy="276999"/>
          </a:xfrm>
          <a:prstGeom prst="rect">
            <a:avLst/>
          </a:prstGeom>
          <a:ln w="12700">
            <a:miter lim="400000"/>
          </a:ln>
        </p:spPr>
        <p:txBody>
          <a:bodyPr wrap="square" lIns="0" tIns="0" rIns="0" bIns="0">
            <a:spAutoFit/>
          </a:bodyPr>
          <a:lstStyle>
            <a:lvl1pPr algn="ctr" defTabSz="911225">
              <a:spcBef>
                <a:spcPts val="200"/>
              </a:spcBef>
              <a:defRPr>
                <a:solidFill>
                  <a:srgbClr val="535353"/>
                </a:solidFill>
              </a:defRPr>
            </a:lvl1pPr>
          </a:lstStyle>
          <a:p>
            <a:pPr lvl="0">
              <a:defRPr>
                <a:solidFill>
                  <a:srgbClr val="000000"/>
                </a:solidFill>
              </a:defRPr>
            </a:pPr>
            <a:r>
              <a:rPr lang="zh-CN" altLang="en-US" dirty="0">
                <a:solidFill>
                  <a:schemeClr val="tx1"/>
                </a:solidFill>
                <a:latin typeface="PingFang SC" charset="-122"/>
                <a:ea typeface="PingFang SC" charset="-122"/>
                <a:cs typeface="PingFang SC" charset="-122"/>
              </a:rPr>
              <a:t>模型预测</a:t>
            </a:r>
            <a:endParaRPr dirty="0">
              <a:solidFill>
                <a:schemeClr val="tx1"/>
              </a:solidFill>
              <a:latin typeface="PingFang SC" charset="-122"/>
              <a:ea typeface="PingFang SC" charset="-122"/>
              <a:cs typeface="PingFang SC" charset="-122"/>
            </a:endParaRPr>
          </a:p>
        </p:txBody>
      </p:sp>
      <p:sp>
        <p:nvSpPr>
          <p:cNvPr id="58" name="Shape 309">
            <a:extLst>
              <a:ext uri="{FF2B5EF4-FFF2-40B4-BE49-F238E27FC236}">
                <a16:creationId xmlns:a16="http://schemas.microsoft.com/office/drawing/2014/main" id="{60B760F8-0B04-4393-B379-992B512822A1}"/>
              </a:ext>
            </a:extLst>
          </p:cNvPr>
          <p:cNvSpPr/>
          <p:nvPr/>
        </p:nvSpPr>
        <p:spPr>
          <a:xfrm>
            <a:off x="2917745" y="5821395"/>
            <a:ext cx="1185864" cy="276999"/>
          </a:xfrm>
          <a:prstGeom prst="rect">
            <a:avLst/>
          </a:prstGeom>
          <a:ln w="12700">
            <a:miter lim="400000"/>
          </a:ln>
        </p:spPr>
        <p:txBody>
          <a:bodyPr lIns="0" tIns="0" rIns="0" bIns="0">
            <a:spAutoFit/>
          </a:bodyPr>
          <a:lstStyle>
            <a:lvl1pPr algn="ctr" defTabSz="911225">
              <a:spcBef>
                <a:spcPts val="200"/>
              </a:spcBef>
              <a:defRPr>
                <a:solidFill>
                  <a:srgbClr val="535353"/>
                </a:solidFill>
              </a:defRPr>
            </a:lvl1pPr>
          </a:lstStyle>
          <a:p>
            <a:pPr lvl="0">
              <a:defRPr>
                <a:solidFill>
                  <a:srgbClr val="000000"/>
                </a:solidFill>
              </a:defRPr>
            </a:pPr>
            <a:r>
              <a:rPr lang="zh-CN" altLang="en-US" dirty="0">
                <a:solidFill>
                  <a:schemeClr val="tx1"/>
                </a:solidFill>
                <a:latin typeface="PingFang SC" charset="-122"/>
                <a:ea typeface="PingFang SC" charset="-122"/>
                <a:cs typeface="PingFang SC" charset="-122"/>
              </a:rPr>
              <a:t>智能匹配</a:t>
            </a:r>
            <a:endParaRPr dirty="0">
              <a:solidFill>
                <a:schemeClr val="tx1"/>
              </a:solidFill>
              <a:latin typeface="PingFang SC" charset="-122"/>
              <a:ea typeface="PingFang SC" charset="-122"/>
              <a:cs typeface="PingFang SC" charset="-122"/>
            </a:endParaRPr>
          </a:p>
        </p:txBody>
      </p:sp>
      <p:sp>
        <p:nvSpPr>
          <p:cNvPr id="59" name="Shape 310">
            <a:extLst>
              <a:ext uri="{FF2B5EF4-FFF2-40B4-BE49-F238E27FC236}">
                <a16:creationId xmlns:a16="http://schemas.microsoft.com/office/drawing/2014/main" id="{65366A04-2FAF-4FC5-B16F-621E9B0C7835}"/>
              </a:ext>
            </a:extLst>
          </p:cNvPr>
          <p:cNvSpPr/>
          <p:nvPr/>
        </p:nvSpPr>
        <p:spPr>
          <a:xfrm>
            <a:off x="1327562" y="1094457"/>
            <a:ext cx="9772829" cy="1384995"/>
          </a:xfrm>
          <a:prstGeom prst="rect">
            <a:avLst/>
          </a:prstGeom>
          <a:ln w="12700">
            <a:miter lim="400000"/>
          </a:ln>
        </p:spPr>
        <p:txBody>
          <a:bodyPr wrap="square" lIns="0" tIns="0" rIns="0" bIns="0">
            <a:spAutoFit/>
          </a:bodyPr>
          <a:lstStyle/>
          <a:p>
            <a:pPr lvl="0">
              <a:defRPr>
                <a:solidFill>
                  <a:srgbClr val="000000"/>
                </a:solidFill>
              </a:defRPr>
            </a:pPr>
            <a:r>
              <a:rPr lang="zh-CN" altLang="en-US" dirty="0">
                <a:latin typeface="PingFang SC" charset="-122"/>
                <a:ea typeface="PingFang SC" charset="-122"/>
                <a:cs typeface="PingFang SC" charset="-122"/>
              </a:rPr>
              <a:t>     利用机器学习和自然语言处理等技术对海量资讯信息进行分析，在收到新闻资讯的瞬间将关键词找出，为交易赢得宝贵时间，保证消息的时效性；</a:t>
            </a:r>
            <a:endParaRPr lang="en-US" altLang="zh-CN" dirty="0">
              <a:latin typeface="PingFang SC" charset="-122"/>
              <a:ea typeface="PingFang SC" charset="-122"/>
              <a:cs typeface="PingFang SC" charset="-122"/>
            </a:endParaRPr>
          </a:p>
          <a:p>
            <a:pPr lvl="0">
              <a:defRPr>
                <a:solidFill>
                  <a:srgbClr val="000000"/>
                </a:solidFill>
              </a:defRPr>
            </a:pPr>
            <a:r>
              <a:rPr lang="zh-CN" altLang="en-US" dirty="0">
                <a:latin typeface="PingFang SC" charset="-122"/>
                <a:ea typeface="PingFang SC" charset="-122"/>
                <a:cs typeface="PingFang SC" charset="-122"/>
              </a:rPr>
              <a:t>     同时对上千个相关变量（基本面、宏观面、市场舆情等信息）通过降维算法选出具有决定性的少数变量，并选取更加稳固的模型，通过一定时间的模型训练甄选出不同信息展示的多空倾向，再根据用户画像和需求迅速做出判断，进行个性化智能匹配</a:t>
            </a:r>
            <a:endParaRPr dirty="0">
              <a:latin typeface="PingFang SC" charset="-122"/>
              <a:ea typeface="PingFang SC" charset="-122"/>
              <a:cs typeface="PingFang SC" charset="-122"/>
            </a:endParaRPr>
          </a:p>
        </p:txBody>
      </p:sp>
    </p:spTree>
    <p:extLst>
      <p:ext uri="{BB962C8B-B14F-4D97-AF65-F5344CB8AC3E}">
        <p14:creationId xmlns:p14="http://schemas.microsoft.com/office/powerpoint/2010/main" val="18128364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57"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8"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9" name="04"/>
          <p:cNvSpPr txBox="1"/>
          <p:nvPr/>
        </p:nvSpPr>
        <p:spPr>
          <a:xfrm>
            <a:off x="356995" y="6344413"/>
            <a:ext cx="218679" cy="231380"/>
          </a:xfrm>
          <a:prstGeom prst="rect">
            <a:avLst/>
          </a:prstGeom>
          <a:ln w="3175">
            <a:miter lim="400000"/>
          </a:ln>
          <a:extLst>
            <a:ext uri="{C572A759-6A51-4108-AA02-DFA0A04FC94B}">
              <ma14:wrappingTextBoxFlag xmlns="" xmlns:ma14="http://schemas.microsoft.com/office/mac/drawingml/2011/main" val="1"/>
            </a:ext>
          </a:extLst>
        </p:spPr>
        <p:txBody>
          <a:bodyPr wrap="none" lIns="26789" tIns="26789" rIns="26789" bIns="26789" anchor="ctr">
            <a:spAutoFit/>
          </a:bodyPr>
          <a:lstStyle>
            <a:lvl1pPr>
              <a:defRPr sz="1000">
                <a:solidFill>
                  <a:srgbClr val="CAA354"/>
                </a:solidFill>
                <a:latin typeface="PingFang SC Regular"/>
                <a:ea typeface="PingFang SC Regular"/>
                <a:cs typeface="PingFang SC Regular"/>
                <a:sym typeface="PingFang SC Regular"/>
              </a:defRPr>
            </a:lvl1pPr>
          </a:lstStyle>
          <a:p>
            <a:r>
              <a:rPr dirty="0"/>
              <a:t>04</a:t>
            </a:r>
          </a:p>
        </p:txBody>
      </p:sp>
      <p:pic>
        <p:nvPicPr>
          <p:cNvPr id="32" name="图像" descr="图像"/>
          <p:cNvPicPr>
            <a:picLocks noChangeAspect="1"/>
          </p:cNvPicPr>
          <p:nvPr/>
        </p:nvPicPr>
        <p:blipFill>
          <a:blip r:embed="rId3">
            <a:extLst/>
          </a:blip>
          <a:stretch>
            <a:fillRect/>
          </a:stretch>
        </p:blipFill>
        <p:spPr>
          <a:xfrm>
            <a:off x="10484724" y="427048"/>
            <a:ext cx="1253576" cy="332979"/>
          </a:xfrm>
          <a:prstGeom prst="rect">
            <a:avLst/>
          </a:prstGeom>
          <a:ln w="3175">
            <a:miter lim="400000"/>
          </a:ln>
        </p:spPr>
      </p:pic>
      <p:sp>
        <p:nvSpPr>
          <p:cNvPr id="29" name="文本框 28"/>
          <p:cNvSpPr txBox="1"/>
          <p:nvPr/>
        </p:nvSpPr>
        <p:spPr>
          <a:xfrm>
            <a:off x="1214668" y="274314"/>
            <a:ext cx="8057348" cy="584775"/>
          </a:xfrm>
          <a:prstGeom prst="rect">
            <a:avLst/>
          </a:prstGeom>
          <a:noFill/>
        </p:spPr>
        <p:txBody>
          <a:bodyPr wrap="square" rtlCol="0">
            <a:spAutoFit/>
          </a:bodyPr>
          <a:lstStyle/>
          <a:p>
            <a:pPr lvl="0">
              <a:defRPr sz="1800">
                <a:solidFill>
                  <a:srgbClr val="000000"/>
                </a:solidFill>
              </a:defRPr>
            </a:pPr>
            <a:r>
              <a:rPr lang="zh-CN" altLang="en-US" sz="3200" b="1" dirty="0">
                <a:solidFill>
                  <a:schemeClr val="tx2">
                    <a:lumMod val="10000"/>
                  </a:schemeClr>
                </a:solidFill>
                <a:latin typeface="PingFang SC" charset="-122"/>
                <a:ea typeface="PingFang SC" charset="-122"/>
                <a:cs typeface="PingFang SC" charset="-122"/>
              </a:rPr>
              <a:t>智能形态分析</a:t>
            </a:r>
            <a:r>
              <a:rPr lang="en-US" altLang="zh-CN" sz="3200" b="1" dirty="0">
                <a:solidFill>
                  <a:schemeClr val="tx2">
                    <a:lumMod val="10000"/>
                  </a:schemeClr>
                </a:solidFill>
                <a:latin typeface="PingFang SC" charset="-122"/>
                <a:ea typeface="PingFang SC" charset="-122"/>
                <a:cs typeface="PingFang SC" charset="-122"/>
              </a:rPr>
              <a:t>---</a:t>
            </a:r>
            <a:r>
              <a:rPr lang="zh-CN" altLang="en-US" sz="3200" b="1" dirty="0">
                <a:solidFill>
                  <a:schemeClr val="tx2">
                    <a:lumMod val="10000"/>
                  </a:schemeClr>
                </a:solidFill>
                <a:latin typeface="PingFang SC" charset="-122"/>
                <a:ea typeface="PingFang SC" charset="-122"/>
                <a:cs typeface="PingFang SC" charset="-122"/>
              </a:rPr>
              <a:t>走向技术分析达人之路</a:t>
            </a:r>
          </a:p>
        </p:txBody>
      </p:sp>
      <p:sp>
        <p:nvSpPr>
          <p:cNvPr id="33" name="矩形 32">
            <a:extLst>
              <a:ext uri="{FF2B5EF4-FFF2-40B4-BE49-F238E27FC236}">
                <a16:creationId xmlns:a16="http://schemas.microsoft.com/office/drawing/2014/main" id="{07CCDA19-C78F-4FEF-9A33-1AEE922E976D}"/>
              </a:ext>
            </a:extLst>
          </p:cNvPr>
          <p:cNvSpPr/>
          <p:nvPr/>
        </p:nvSpPr>
        <p:spPr>
          <a:xfrm>
            <a:off x="1313439"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FD35F411-A1E5-4031-B455-0E2C81A8D091}"/>
              </a:ext>
            </a:extLst>
          </p:cNvPr>
          <p:cNvSpPr/>
          <p:nvPr/>
        </p:nvSpPr>
        <p:spPr>
          <a:xfrm>
            <a:off x="5387036"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Shape 323">
            <a:extLst>
              <a:ext uri="{FF2B5EF4-FFF2-40B4-BE49-F238E27FC236}">
                <a16:creationId xmlns:a16="http://schemas.microsoft.com/office/drawing/2014/main" id="{AA254311-B20B-420E-BEF7-507392106781}"/>
              </a:ext>
            </a:extLst>
          </p:cNvPr>
          <p:cNvSpPr/>
          <p:nvPr/>
        </p:nvSpPr>
        <p:spPr>
          <a:xfrm>
            <a:off x="1604855" y="2439394"/>
            <a:ext cx="1603066" cy="1849108"/>
          </a:xfrm>
          <a:custGeom>
            <a:avLst/>
            <a:gdLst/>
            <a:ahLst/>
            <a:cxnLst>
              <a:cxn ang="0">
                <a:pos x="wd2" y="hd2"/>
              </a:cxn>
              <a:cxn ang="5400000">
                <a:pos x="wd2" y="hd2"/>
              </a:cxn>
              <a:cxn ang="10800000">
                <a:pos x="wd2" y="hd2"/>
              </a:cxn>
              <a:cxn ang="16200000">
                <a:pos x="wd2" y="hd2"/>
              </a:cxn>
            </a:cxnLst>
            <a:rect l="0" t="0" r="r" b="b"/>
            <a:pathLst>
              <a:path w="21600" h="21600" extrusionOk="0">
                <a:moveTo>
                  <a:pt x="0" y="5343"/>
                </a:moveTo>
                <a:lnTo>
                  <a:pt x="10800" y="0"/>
                </a:lnTo>
                <a:lnTo>
                  <a:pt x="21600" y="5343"/>
                </a:lnTo>
                <a:lnTo>
                  <a:pt x="21600" y="16166"/>
                </a:lnTo>
                <a:lnTo>
                  <a:pt x="10800" y="21600"/>
                </a:lnTo>
                <a:lnTo>
                  <a:pt x="0" y="16166"/>
                </a:lnTo>
                <a:lnTo>
                  <a:pt x="0" y="5343"/>
                </a:lnTo>
                <a:close/>
              </a:path>
            </a:pathLst>
          </a:custGeom>
          <a:ln>
            <a:solidFill>
              <a:srgbClr val="FFFFFF"/>
            </a:solidFill>
            <a:round/>
          </a:ln>
        </p:spPr>
        <p:txBody>
          <a:bodyPr lIns="0" tIns="0" rIns="0" bIns="0"/>
          <a:lstStyle/>
          <a:p>
            <a:pPr lvl="0" defTabSz="1176655">
              <a:lnSpc>
                <a:spcPct val="100000"/>
              </a:lnSpc>
              <a:spcBef>
                <a:spcPts val="0"/>
              </a:spcBef>
              <a:defRPr sz="4000">
                <a:solidFill>
                  <a:srgbClr val="FFFFFF"/>
                </a:solidFill>
                <a:latin typeface="Calibri" panose="020F0502020204030204"/>
                <a:ea typeface="Calibri" panose="020F0502020204030204"/>
                <a:cs typeface="Calibri" panose="020F0502020204030204"/>
                <a:sym typeface="Calibri" panose="020F0502020204030204"/>
              </a:defRPr>
            </a:pPr>
            <a:endParaRPr>
              <a:solidFill>
                <a:schemeClr val="tx2">
                  <a:lumMod val="10000"/>
                </a:schemeClr>
              </a:solidFill>
              <a:latin typeface="PingFang SC" charset="-122"/>
              <a:ea typeface="PingFang SC" charset="-122"/>
              <a:cs typeface="PingFang SC" charset="-122"/>
            </a:endParaRPr>
          </a:p>
        </p:txBody>
      </p:sp>
      <p:sp>
        <p:nvSpPr>
          <p:cNvPr id="61" name="Shape 324">
            <a:extLst>
              <a:ext uri="{FF2B5EF4-FFF2-40B4-BE49-F238E27FC236}">
                <a16:creationId xmlns:a16="http://schemas.microsoft.com/office/drawing/2014/main" id="{03B701C2-465A-4274-8929-FEABD186AF0E}"/>
              </a:ext>
            </a:extLst>
          </p:cNvPr>
          <p:cNvSpPr/>
          <p:nvPr/>
        </p:nvSpPr>
        <p:spPr>
          <a:xfrm>
            <a:off x="1604855" y="2439394"/>
            <a:ext cx="1603066" cy="1849108"/>
          </a:xfrm>
          <a:custGeom>
            <a:avLst/>
            <a:gdLst/>
            <a:ahLst/>
            <a:cxnLst>
              <a:cxn ang="0">
                <a:pos x="wd2" y="hd2"/>
              </a:cxn>
              <a:cxn ang="5400000">
                <a:pos x="wd2" y="hd2"/>
              </a:cxn>
              <a:cxn ang="10800000">
                <a:pos x="wd2" y="hd2"/>
              </a:cxn>
              <a:cxn ang="16200000">
                <a:pos x="wd2" y="hd2"/>
              </a:cxn>
            </a:cxnLst>
            <a:rect l="0" t="0" r="r" b="b"/>
            <a:pathLst>
              <a:path w="21600" h="21600" extrusionOk="0">
                <a:moveTo>
                  <a:pt x="0" y="5343"/>
                </a:moveTo>
                <a:lnTo>
                  <a:pt x="10800" y="0"/>
                </a:lnTo>
                <a:lnTo>
                  <a:pt x="21600" y="5343"/>
                </a:lnTo>
                <a:lnTo>
                  <a:pt x="21600" y="16166"/>
                </a:lnTo>
                <a:lnTo>
                  <a:pt x="10800" y="21600"/>
                </a:lnTo>
                <a:lnTo>
                  <a:pt x="0" y="16166"/>
                </a:lnTo>
                <a:lnTo>
                  <a:pt x="0" y="5343"/>
                </a:lnTo>
              </a:path>
            </a:pathLst>
          </a:custGeom>
          <a:solidFill>
            <a:srgbClr val="5D9CE3"/>
          </a:solidFill>
          <a:ln w="12700">
            <a:miter lim="400000"/>
          </a:ln>
        </p:spPr>
        <p:txBody>
          <a:bodyPr lIns="45719" rIns="45719"/>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solidFill>
                <a:schemeClr val="tx2">
                  <a:lumMod val="10000"/>
                </a:schemeClr>
              </a:solidFill>
              <a:latin typeface="PingFang SC" charset="-122"/>
              <a:ea typeface="PingFang SC" charset="-122"/>
              <a:cs typeface="PingFang SC" charset="-122"/>
            </a:endParaRPr>
          </a:p>
        </p:txBody>
      </p:sp>
      <p:sp>
        <p:nvSpPr>
          <p:cNvPr id="62" name="Shape 325">
            <a:extLst>
              <a:ext uri="{FF2B5EF4-FFF2-40B4-BE49-F238E27FC236}">
                <a16:creationId xmlns:a16="http://schemas.microsoft.com/office/drawing/2014/main" id="{E4E3B286-BB7F-4FA3-94EE-027822807B59}"/>
              </a:ext>
            </a:extLst>
          </p:cNvPr>
          <p:cNvSpPr/>
          <p:nvPr/>
        </p:nvSpPr>
        <p:spPr>
          <a:xfrm>
            <a:off x="3772685" y="2439394"/>
            <a:ext cx="1603067" cy="1849108"/>
          </a:xfrm>
          <a:custGeom>
            <a:avLst/>
            <a:gdLst/>
            <a:ahLst/>
            <a:cxnLst>
              <a:cxn ang="0">
                <a:pos x="wd2" y="hd2"/>
              </a:cxn>
              <a:cxn ang="5400000">
                <a:pos x="wd2" y="hd2"/>
              </a:cxn>
              <a:cxn ang="10800000">
                <a:pos x="wd2" y="hd2"/>
              </a:cxn>
              <a:cxn ang="16200000">
                <a:pos x="wd2" y="hd2"/>
              </a:cxn>
            </a:cxnLst>
            <a:rect l="0" t="0" r="r" b="b"/>
            <a:pathLst>
              <a:path w="21600" h="21600" extrusionOk="0">
                <a:moveTo>
                  <a:pt x="0" y="5343"/>
                </a:moveTo>
                <a:lnTo>
                  <a:pt x="10800" y="0"/>
                </a:lnTo>
                <a:lnTo>
                  <a:pt x="21600" y="5343"/>
                </a:lnTo>
                <a:lnTo>
                  <a:pt x="21600" y="16166"/>
                </a:lnTo>
                <a:lnTo>
                  <a:pt x="10800" y="21600"/>
                </a:lnTo>
                <a:lnTo>
                  <a:pt x="0" y="16166"/>
                </a:lnTo>
                <a:lnTo>
                  <a:pt x="0" y="5343"/>
                </a:lnTo>
                <a:close/>
              </a:path>
            </a:pathLst>
          </a:custGeom>
          <a:ln>
            <a:solidFill>
              <a:srgbClr val="FFFFFF"/>
            </a:solidFill>
            <a:round/>
          </a:ln>
        </p:spPr>
        <p:txBody>
          <a:bodyPr lIns="0" tIns="0" rIns="0" bIns="0"/>
          <a:lstStyle/>
          <a:p>
            <a:pPr lvl="0" defTabSz="1176655">
              <a:lnSpc>
                <a:spcPct val="100000"/>
              </a:lnSpc>
              <a:spcBef>
                <a:spcPts val="0"/>
              </a:spcBef>
              <a:defRPr sz="4000">
                <a:solidFill>
                  <a:srgbClr val="FFFFFF"/>
                </a:solidFill>
                <a:latin typeface="Calibri" panose="020F0502020204030204"/>
                <a:ea typeface="Calibri" panose="020F0502020204030204"/>
                <a:cs typeface="Calibri" panose="020F0502020204030204"/>
                <a:sym typeface="Calibri" panose="020F0502020204030204"/>
              </a:defRPr>
            </a:pPr>
            <a:endParaRPr>
              <a:solidFill>
                <a:schemeClr val="tx2">
                  <a:lumMod val="10000"/>
                </a:schemeClr>
              </a:solidFill>
              <a:latin typeface="PingFang SC" charset="-122"/>
              <a:ea typeface="PingFang SC" charset="-122"/>
              <a:cs typeface="PingFang SC" charset="-122"/>
            </a:endParaRPr>
          </a:p>
        </p:txBody>
      </p:sp>
      <p:sp>
        <p:nvSpPr>
          <p:cNvPr id="63" name="Shape 326">
            <a:extLst>
              <a:ext uri="{FF2B5EF4-FFF2-40B4-BE49-F238E27FC236}">
                <a16:creationId xmlns:a16="http://schemas.microsoft.com/office/drawing/2014/main" id="{013822AE-603F-453D-8147-D1575E33D763}"/>
              </a:ext>
            </a:extLst>
          </p:cNvPr>
          <p:cNvSpPr/>
          <p:nvPr/>
        </p:nvSpPr>
        <p:spPr>
          <a:xfrm>
            <a:off x="3772685" y="2439394"/>
            <a:ext cx="1603067" cy="1849108"/>
          </a:xfrm>
          <a:custGeom>
            <a:avLst/>
            <a:gdLst/>
            <a:ahLst/>
            <a:cxnLst>
              <a:cxn ang="0">
                <a:pos x="wd2" y="hd2"/>
              </a:cxn>
              <a:cxn ang="5400000">
                <a:pos x="wd2" y="hd2"/>
              </a:cxn>
              <a:cxn ang="10800000">
                <a:pos x="wd2" y="hd2"/>
              </a:cxn>
              <a:cxn ang="16200000">
                <a:pos x="wd2" y="hd2"/>
              </a:cxn>
            </a:cxnLst>
            <a:rect l="0" t="0" r="r" b="b"/>
            <a:pathLst>
              <a:path w="21600" h="21600" extrusionOk="0">
                <a:moveTo>
                  <a:pt x="0" y="5343"/>
                </a:moveTo>
                <a:lnTo>
                  <a:pt x="10800" y="0"/>
                </a:lnTo>
                <a:lnTo>
                  <a:pt x="21600" y="5343"/>
                </a:lnTo>
                <a:lnTo>
                  <a:pt x="21600" y="16166"/>
                </a:lnTo>
                <a:lnTo>
                  <a:pt x="10800" y="21600"/>
                </a:lnTo>
                <a:lnTo>
                  <a:pt x="0" y="16166"/>
                </a:lnTo>
                <a:lnTo>
                  <a:pt x="0" y="5343"/>
                </a:lnTo>
              </a:path>
            </a:pathLst>
          </a:custGeom>
          <a:solidFill>
            <a:srgbClr val="01455C"/>
          </a:solidFill>
          <a:ln w="12700">
            <a:miter lim="400000"/>
          </a:ln>
        </p:spPr>
        <p:txBody>
          <a:bodyPr lIns="45719" rIns="45719"/>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solidFill>
                <a:schemeClr val="tx2">
                  <a:lumMod val="10000"/>
                </a:schemeClr>
              </a:solidFill>
              <a:latin typeface="PingFang SC" charset="-122"/>
              <a:ea typeface="PingFang SC" charset="-122"/>
              <a:cs typeface="PingFang SC" charset="-122"/>
            </a:endParaRPr>
          </a:p>
        </p:txBody>
      </p:sp>
      <p:sp>
        <p:nvSpPr>
          <p:cNvPr id="64" name="Shape 327">
            <a:extLst>
              <a:ext uri="{FF2B5EF4-FFF2-40B4-BE49-F238E27FC236}">
                <a16:creationId xmlns:a16="http://schemas.microsoft.com/office/drawing/2014/main" id="{60856553-C284-469D-9963-C0751FBE1D87}"/>
              </a:ext>
            </a:extLst>
          </p:cNvPr>
          <p:cNvSpPr/>
          <p:nvPr/>
        </p:nvSpPr>
        <p:spPr>
          <a:xfrm>
            <a:off x="5940517" y="2439394"/>
            <a:ext cx="1599158" cy="1849108"/>
          </a:xfrm>
          <a:custGeom>
            <a:avLst/>
            <a:gdLst/>
            <a:ahLst/>
            <a:cxnLst>
              <a:cxn ang="0">
                <a:pos x="wd2" y="hd2"/>
              </a:cxn>
              <a:cxn ang="5400000">
                <a:pos x="wd2" y="hd2"/>
              </a:cxn>
              <a:cxn ang="10800000">
                <a:pos x="wd2" y="hd2"/>
              </a:cxn>
              <a:cxn ang="16200000">
                <a:pos x="wd2" y="hd2"/>
              </a:cxn>
            </a:cxnLst>
            <a:rect l="0" t="0" r="r" b="b"/>
            <a:pathLst>
              <a:path w="21600" h="21600" extrusionOk="0">
                <a:moveTo>
                  <a:pt x="0" y="5343"/>
                </a:moveTo>
                <a:lnTo>
                  <a:pt x="10826" y="0"/>
                </a:lnTo>
                <a:lnTo>
                  <a:pt x="21600" y="5343"/>
                </a:lnTo>
                <a:lnTo>
                  <a:pt x="21600" y="16166"/>
                </a:lnTo>
                <a:lnTo>
                  <a:pt x="10826" y="21600"/>
                </a:lnTo>
                <a:lnTo>
                  <a:pt x="0" y="16166"/>
                </a:lnTo>
                <a:lnTo>
                  <a:pt x="0" y="5343"/>
                </a:lnTo>
                <a:close/>
              </a:path>
            </a:pathLst>
          </a:custGeom>
          <a:ln>
            <a:solidFill>
              <a:srgbClr val="FFFFFF"/>
            </a:solidFill>
            <a:round/>
          </a:ln>
        </p:spPr>
        <p:txBody>
          <a:bodyPr lIns="0" tIns="0" rIns="0" bIns="0"/>
          <a:lstStyle/>
          <a:p>
            <a:pPr lvl="0" defTabSz="1176655">
              <a:lnSpc>
                <a:spcPct val="100000"/>
              </a:lnSpc>
              <a:spcBef>
                <a:spcPts val="0"/>
              </a:spcBef>
              <a:defRPr sz="4000">
                <a:solidFill>
                  <a:srgbClr val="FFFFFF"/>
                </a:solidFill>
                <a:latin typeface="Calibri" panose="020F0502020204030204"/>
                <a:ea typeface="Calibri" panose="020F0502020204030204"/>
                <a:cs typeface="Calibri" panose="020F0502020204030204"/>
                <a:sym typeface="Calibri" panose="020F0502020204030204"/>
              </a:defRPr>
            </a:pPr>
            <a:endParaRPr>
              <a:solidFill>
                <a:schemeClr val="tx2">
                  <a:lumMod val="10000"/>
                </a:schemeClr>
              </a:solidFill>
              <a:latin typeface="PingFang SC" charset="-122"/>
              <a:ea typeface="PingFang SC" charset="-122"/>
              <a:cs typeface="PingFang SC" charset="-122"/>
            </a:endParaRPr>
          </a:p>
        </p:txBody>
      </p:sp>
      <p:sp>
        <p:nvSpPr>
          <p:cNvPr id="65" name="Shape 328">
            <a:extLst>
              <a:ext uri="{FF2B5EF4-FFF2-40B4-BE49-F238E27FC236}">
                <a16:creationId xmlns:a16="http://schemas.microsoft.com/office/drawing/2014/main" id="{87C92509-5C99-4C07-A861-A53D1A74D267}"/>
              </a:ext>
            </a:extLst>
          </p:cNvPr>
          <p:cNvSpPr/>
          <p:nvPr/>
        </p:nvSpPr>
        <p:spPr>
          <a:xfrm>
            <a:off x="5940517" y="2439394"/>
            <a:ext cx="1599158" cy="1849108"/>
          </a:xfrm>
          <a:custGeom>
            <a:avLst/>
            <a:gdLst/>
            <a:ahLst/>
            <a:cxnLst>
              <a:cxn ang="0">
                <a:pos x="wd2" y="hd2"/>
              </a:cxn>
              <a:cxn ang="5400000">
                <a:pos x="wd2" y="hd2"/>
              </a:cxn>
              <a:cxn ang="10800000">
                <a:pos x="wd2" y="hd2"/>
              </a:cxn>
              <a:cxn ang="16200000">
                <a:pos x="wd2" y="hd2"/>
              </a:cxn>
            </a:cxnLst>
            <a:rect l="0" t="0" r="r" b="b"/>
            <a:pathLst>
              <a:path w="21600" h="21600" extrusionOk="0">
                <a:moveTo>
                  <a:pt x="0" y="5343"/>
                </a:moveTo>
                <a:lnTo>
                  <a:pt x="10826" y="0"/>
                </a:lnTo>
                <a:lnTo>
                  <a:pt x="21600" y="5343"/>
                </a:lnTo>
                <a:lnTo>
                  <a:pt x="21600" y="16166"/>
                </a:lnTo>
                <a:lnTo>
                  <a:pt x="10826" y="21600"/>
                </a:lnTo>
                <a:lnTo>
                  <a:pt x="0" y="16166"/>
                </a:lnTo>
                <a:lnTo>
                  <a:pt x="0" y="5343"/>
                </a:lnTo>
              </a:path>
            </a:pathLst>
          </a:custGeom>
          <a:solidFill>
            <a:srgbClr val="445469"/>
          </a:solidFill>
          <a:ln w="12700">
            <a:miter lim="400000"/>
          </a:ln>
        </p:spPr>
        <p:txBody>
          <a:bodyPr lIns="45719" rIns="45719"/>
          <a:lstStyle/>
          <a:p>
            <a:pPr lvl="0" algn="ctr" defTabSz="912495">
              <a:lnSpc>
                <a:spcPct val="100000"/>
              </a:lnSpc>
              <a:spcBef>
                <a:spcPts val="0"/>
              </a:spcBef>
              <a:defRPr sz="2300">
                <a:solidFill>
                  <a:srgbClr val="E5E3EB"/>
                </a:solidFill>
                <a:latin typeface="Arial" panose="020B0604020202020204"/>
                <a:ea typeface="Arial" panose="020B0604020202020204"/>
                <a:cs typeface="Arial" panose="020B0604020202020204"/>
                <a:sym typeface="Arial" panose="020B0604020202020204"/>
              </a:defRPr>
            </a:pPr>
            <a:endParaRPr>
              <a:solidFill>
                <a:schemeClr val="tx2">
                  <a:lumMod val="10000"/>
                </a:schemeClr>
              </a:solidFill>
              <a:latin typeface="PingFang SC" charset="-122"/>
              <a:ea typeface="PingFang SC" charset="-122"/>
              <a:cs typeface="PingFang SC" charset="-122"/>
            </a:endParaRPr>
          </a:p>
        </p:txBody>
      </p:sp>
      <p:sp>
        <p:nvSpPr>
          <p:cNvPr id="66" name="Shape 329">
            <a:extLst>
              <a:ext uri="{FF2B5EF4-FFF2-40B4-BE49-F238E27FC236}">
                <a16:creationId xmlns:a16="http://schemas.microsoft.com/office/drawing/2014/main" id="{4ED038C6-88CB-413D-A9ED-AF985A8068FC}"/>
              </a:ext>
            </a:extLst>
          </p:cNvPr>
          <p:cNvSpPr/>
          <p:nvPr/>
        </p:nvSpPr>
        <p:spPr>
          <a:xfrm>
            <a:off x="8108348" y="2439394"/>
            <a:ext cx="1603066" cy="1849108"/>
          </a:xfrm>
          <a:custGeom>
            <a:avLst/>
            <a:gdLst/>
            <a:ahLst/>
            <a:cxnLst>
              <a:cxn ang="0">
                <a:pos x="wd2" y="hd2"/>
              </a:cxn>
              <a:cxn ang="5400000">
                <a:pos x="wd2" y="hd2"/>
              </a:cxn>
              <a:cxn ang="10800000">
                <a:pos x="wd2" y="hd2"/>
              </a:cxn>
              <a:cxn ang="16200000">
                <a:pos x="wd2" y="hd2"/>
              </a:cxn>
            </a:cxnLst>
            <a:rect l="0" t="0" r="r" b="b"/>
            <a:pathLst>
              <a:path w="21600" h="21600" extrusionOk="0">
                <a:moveTo>
                  <a:pt x="0" y="5343"/>
                </a:moveTo>
                <a:lnTo>
                  <a:pt x="10800" y="0"/>
                </a:lnTo>
                <a:lnTo>
                  <a:pt x="21600" y="5343"/>
                </a:lnTo>
                <a:lnTo>
                  <a:pt x="21600" y="16166"/>
                </a:lnTo>
                <a:lnTo>
                  <a:pt x="10800" y="21600"/>
                </a:lnTo>
                <a:lnTo>
                  <a:pt x="0" y="16166"/>
                </a:lnTo>
                <a:lnTo>
                  <a:pt x="0" y="5343"/>
                </a:lnTo>
                <a:close/>
              </a:path>
            </a:pathLst>
          </a:custGeom>
          <a:ln>
            <a:solidFill>
              <a:srgbClr val="FFFFFF"/>
            </a:solidFill>
            <a:round/>
          </a:ln>
        </p:spPr>
        <p:txBody>
          <a:bodyPr lIns="0" tIns="0" rIns="0" bIns="0"/>
          <a:lstStyle/>
          <a:p>
            <a:pPr lvl="0" defTabSz="1176655">
              <a:lnSpc>
                <a:spcPct val="100000"/>
              </a:lnSpc>
              <a:spcBef>
                <a:spcPts val="0"/>
              </a:spcBef>
              <a:defRPr sz="4000">
                <a:solidFill>
                  <a:srgbClr val="FFFFFF"/>
                </a:solidFill>
                <a:latin typeface="Calibri" panose="020F0502020204030204"/>
                <a:ea typeface="Calibri" panose="020F0502020204030204"/>
                <a:cs typeface="Calibri" panose="020F0502020204030204"/>
                <a:sym typeface="Calibri" panose="020F0502020204030204"/>
              </a:defRPr>
            </a:pPr>
            <a:endParaRPr>
              <a:solidFill>
                <a:schemeClr val="tx2">
                  <a:lumMod val="10000"/>
                </a:schemeClr>
              </a:solidFill>
              <a:latin typeface="PingFang SC" charset="-122"/>
              <a:ea typeface="PingFang SC" charset="-122"/>
              <a:cs typeface="PingFang SC" charset="-122"/>
            </a:endParaRPr>
          </a:p>
        </p:txBody>
      </p:sp>
      <p:sp>
        <p:nvSpPr>
          <p:cNvPr id="67" name="Shape 330">
            <a:extLst>
              <a:ext uri="{FF2B5EF4-FFF2-40B4-BE49-F238E27FC236}">
                <a16:creationId xmlns:a16="http://schemas.microsoft.com/office/drawing/2014/main" id="{5C04A502-9494-4137-B4B5-DB6F86D576E3}"/>
              </a:ext>
            </a:extLst>
          </p:cNvPr>
          <p:cNvSpPr/>
          <p:nvPr/>
        </p:nvSpPr>
        <p:spPr>
          <a:xfrm>
            <a:off x="8108348" y="2439394"/>
            <a:ext cx="1603066" cy="1849108"/>
          </a:xfrm>
          <a:custGeom>
            <a:avLst/>
            <a:gdLst/>
            <a:ahLst/>
            <a:cxnLst>
              <a:cxn ang="0">
                <a:pos x="wd2" y="hd2"/>
              </a:cxn>
              <a:cxn ang="5400000">
                <a:pos x="wd2" y="hd2"/>
              </a:cxn>
              <a:cxn ang="10800000">
                <a:pos x="wd2" y="hd2"/>
              </a:cxn>
              <a:cxn ang="16200000">
                <a:pos x="wd2" y="hd2"/>
              </a:cxn>
            </a:cxnLst>
            <a:rect l="0" t="0" r="r" b="b"/>
            <a:pathLst>
              <a:path w="21600" h="21600" extrusionOk="0">
                <a:moveTo>
                  <a:pt x="0" y="5343"/>
                </a:moveTo>
                <a:lnTo>
                  <a:pt x="10800" y="0"/>
                </a:lnTo>
                <a:lnTo>
                  <a:pt x="21600" y="5343"/>
                </a:lnTo>
                <a:lnTo>
                  <a:pt x="21600" y="16166"/>
                </a:lnTo>
                <a:lnTo>
                  <a:pt x="10800" y="21600"/>
                </a:lnTo>
                <a:lnTo>
                  <a:pt x="0" y="16166"/>
                </a:lnTo>
                <a:lnTo>
                  <a:pt x="0" y="5343"/>
                </a:lnTo>
              </a:path>
            </a:pathLst>
          </a:custGeom>
          <a:solidFill>
            <a:srgbClr val="F6C400"/>
          </a:solidFill>
          <a:ln w="12700">
            <a:miter lim="400000"/>
          </a:ln>
        </p:spPr>
        <p:txBody>
          <a:bodyPr lIns="45719" rIns="45719"/>
          <a:lstStyle/>
          <a:p>
            <a:pPr lvl="0">
              <a:lnSpc>
                <a:spcPct val="100000"/>
              </a:lnSpc>
              <a:spcBef>
                <a:spcPts val="0"/>
              </a:spcBef>
              <a:defRPr>
                <a:solidFill>
                  <a:srgbClr val="000000"/>
                </a:solidFill>
                <a:latin typeface="Calibri" panose="020F0502020204030204"/>
                <a:ea typeface="Calibri" panose="020F0502020204030204"/>
                <a:cs typeface="Calibri" panose="020F0502020204030204"/>
                <a:sym typeface="Calibri" panose="020F0502020204030204"/>
              </a:defRPr>
            </a:pPr>
            <a:endParaRPr>
              <a:solidFill>
                <a:schemeClr val="tx2">
                  <a:lumMod val="10000"/>
                </a:schemeClr>
              </a:solidFill>
              <a:latin typeface="PingFang SC" charset="-122"/>
              <a:ea typeface="PingFang SC" charset="-122"/>
              <a:cs typeface="PingFang SC" charset="-122"/>
            </a:endParaRPr>
          </a:p>
        </p:txBody>
      </p:sp>
      <p:sp>
        <p:nvSpPr>
          <p:cNvPr id="68" name="Shape 331">
            <a:extLst>
              <a:ext uri="{FF2B5EF4-FFF2-40B4-BE49-F238E27FC236}">
                <a16:creationId xmlns:a16="http://schemas.microsoft.com/office/drawing/2014/main" id="{3E762073-0352-4A53-A04B-31BA63E01338}"/>
              </a:ext>
            </a:extLst>
          </p:cNvPr>
          <p:cNvSpPr/>
          <p:nvPr/>
        </p:nvSpPr>
        <p:spPr>
          <a:xfrm>
            <a:off x="1675283" y="2947387"/>
            <a:ext cx="1462208" cy="745845"/>
          </a:xfrm>
          <a:prstGeom prst="rect">
            <a:avLst/>
          </a:prstGeom>
          <a:ln w="12700">
            <a:miter lim="400000"/>
          </a:ln>
        </p:spPr>
        <p:txBody>
          <a:bodyPr lIns="0" tIns="0" rIns="0" bIns="0">
            <a:spAutoFit/>
          </a:bodyPr>
          <a:lstStyle>
            <a:lvl1pPr algn="ctr">
              <a:lnSpc>
                <a:spcPct val="120000"/>
              </a:lnSpc>
              <a:defRPr sz="2000">
                <a:solidFill>
                  <a:srgbClr val="FFFFFF"/>
                </a:solidFill>
              </a:defRPr>
            </a:lvl1pPr>
          </a:lstStyle>
          <a:p>
            <a:pPr lvl="0">
              <a:defRPr sz="1800">
                <a:solidFill>
                  <a:srgbClr val="000000"/>
                </a:solidFill>
              </a:defRPr>
            </a:pPr>
            <a:r>
              <a:rPr lang="zh-CN" altLang="en-US" sz="2000" dirty="0">
                <a:solidFill>
                  <a:schemeClr val="bg1"/>
                </a:solidFill>
                <a:latin typeface="PingFang SC" charset="-122"/>
                <a:ea typeface="PingFang SC" charset="-122"/>
                <a:cs typeface="PingFang SC" charset="-122"/>
              </a:rPr>
              <a:t>历史形态</a:t>
            </a:r>
            <a:endParaRPr lang="en-US" altLang="zh-CN" sz="2000" dirty="0">
              <a:solidFill>
                <a:schemeClr val="bg1"/>
              </a:solidFill>
              <a:latin typeface="PingFang SC" charset="-122"/>
              <a:ea typeface="PingFang SC" charset="-122"/>
              <a:cs typeface="PingFang SC" charset="-122"/>
            </a:endParaRPr>
          </a:p>
          <a:p>
            <a:pPr lvl="0">
              <a:defRPr sz="1800">
                <a:solidFill>
                  <a:srgbClr val="000000"/>
                </a:solidFill>
              </a:defRPr>
            </a:pPr>
            <a:r>
              <a:rPr lang="zh-CN" altLang="en-US" sz="2000" dirty="0">
                <a:solidFill>
                  <a:schemeClr val="bg1"/>
                </a:solidFill>
                <a:latin typeface="PingFang SC" charset="-122"/>
                <a:ea typeface="PingFang SC" charset="-122"/>
                <a:cs typeface="PingFang SC" charset="-122"/>
              </a:rPr>
              <a:t>分析</a:t>
            </a:r>
            <a:endParaRPr dirty="0">
              <a:solidFill>
                <a:schemeClr val="bg1"/>
              </a:solidFill>
              <a:latin typeface="PingFang SC" charset="-122"/>
              <a:ea typeface="PingFang SC" charset="-122"/>
              <a:cs typeface="PingFang SC" charset="-122"/>
            </a:endParaRPr>
          </a:p>
        </p:txBody>
      </p:sp>
      <p:sp>
        <p:nvSpPr>
          <p:cNvPr id="69" name="Shape 332">
            <a:extLst>
              <a:ext uri="{FF2B5EF4-FFF2-40B4-BE49-F238E27FC236}">
                <a16:creationId xmlns:a16="http://schemas.microsoft.com/office/drawing/2014/main" id="{5781928A-AE77-49A5-B068-80533F63DADF}"/>
              </a:ext>
            </a:extLst>
          </p:cNvPr>
          <p:cNvSpPr/>
          <p:nvPr/>
        </p:nvSpPr>
        <p:spPr>
          <a:xfrm>
            <a:off x="1780929" y="4062198"/>
            <a:ext cx="1462207" cy="2363724"/>
          </a:xfrm>
          <a:prstGeom prst="rect">
            <a:avLst/>
          </a:prstGeom>
          <a:ln w="12700">
            <a:miter lim="400000"/>
          </a:ln>
        </p:spPr>
        <p:txBody>
          <a:bodyPr wrap="square" lIns="0" tIns="0" rIns="0" bIns="0">
            <a:spAutoFit/>
          </a:bodyPr>
          <a:lstStyle/>
          <a:p>
            <a:pPr lvl="0">
              <a:lnSpc>
                <a:spcPct val="120000"/>
              </a:lnSpc>
              <a:defRPr>
                <a:solidFill>
                  <a:srgbClr val="000000"/>
                </a:solidFill>
              </a:defRPr>
            </a:pPr>
            <a:endParaRPr sz="2000" dirty="0">
              <a:solidFill>
                <a:schemeClr val="tx2">
                  <a:lumMod val="10000"/>
                </a:schemeClr>
              </a:solidFill>
              <a:latin typeface="PingFang SC" charset="-122"/>
              <a:ea typeface="PingFang SC" charset="-122"/>
              <a:cs typeface="PingFang SC" charset="-122"/>
            </a:endParaRPr>
          </a:p>
          <a:p>
            <a:pPr lvl="0">
              <a:lnSpc>
                <a:spcPct val="120000"/>
              </a:lnSpc>
              <a:defRPr>
                <a:solidFill>
                  <a:srgbClr val="000000"/>
                </a:solidFill>
              </a:defRPr>
            </a:pPr>
            <a:r>
              <a:rPr lang="zh-CN" altLang="en-US" dirty="0">
                <a:solidFill>
                  <a:schemeClr val="tx2">
                    <a:lumMod val="10000"/>
                  </a:schemeClr>
                </a:solidFill>
                <a:latin typeface="PingFang SC" charset="-122"/>
                <a:ea typeface="PingFang SC" charset="-122"/>
                <a:cs typeface="PingFang SC" charset="-122"/>
              </a:rPr>
              <a:t>历史行情数据中的形态分类汇总，</a:t>
            </a:r>
            <a:endParaRPr lang="en-US" altLang="zh-CN" dirty="0">
              <a:solidFill>
                <a:schemeClr val="tx2">
                  <a:lumMod val="10000"/>
                </a:schemeClr>
              </a:solidFill>
              <a:latin typeface="PingFang SC" charset="-122"/>
              <a:ea typeface="PingFang SC" charset="-122"/>
              <a:cs typeface="PingFang SC" charset="-122"/>
            </a:endParaRPr>
          </a:p>
          <a:p>
            <a:pPr lvl="0">
              <a:lnSpc>
                <a:spcPct val="120000"/>
              </a:lnSpc>
              <a:defRPr>
                <a:solidFill>
                  <a:srgbClr val="000000"/>
                </a:solidFill>
              </a:defRPr>
            </a:pPr>
            <a:r>
              <a:rPr lang="zh-CN" altLang="en-US" dirty="0">
                <a:solidFill>
                  <a:schemeClr val="tx2">
                    <a:lumMod val="10000"/>
                  </a:schemeClr>
                </a:solidFill>
                <a:latin typeface="PingFang SC" charset="-122"/>
                <a:ea typeface="PingFang SC" charset="-122"/>
                <a:cs typeface="PingFang SC" charset="-122"/>
              </a:rPr>
              <a:t>形态胜率统计，形态平均收益率统计</a:t>
            </a:r>
            <a:endParaRPr lang="en-US" altLang="zh-CN" dirty="0">
              <a:solidFill>
                <a:schemeClr val="tx2">
                  <a:lumMod val="10000"/>
                </a:schemeClr>
              </a:solidFill>
              <a:latin typeface="PingFang SC" charset="-122"/>
              <a:ea typeface="PingFang SC" charset="-122"/>
              <a:cs typeface="PingFang SC" charset="-122"/>
            </a:endParaRPr>
          </a:p>
          <a:p>
            <a:pPr lvl="0">
              <a:lnSpc>
                <a:spcPct val="120000"/>
              </a:lnSpc>
              <a:defRPr>
                <a:solidFill>
                  <a:srgbClr val="000000"/>
                </a:solidFill>
              </a:defRPr>
            </a:pPr>
            <a:endParaRPr dirty="0">
              <a:solidFill>
                <a:schemeClr val="tx2">
                  <a:lumMod val="10000"/>
                </a:schemeClr>
              </a:solidFill>
              <a:latin typeface="PingFang SC" charset="-122"/>
              <a:ea typeface="PingFang SC" charset="-122"/>
              <a:cs typeface="PingFang SC" charset="-122"/>
            </a:endParaRPr>
          </a:p>
        </p:txBody>
      </p:sp>
      <p:sp>
        <p:nvSpPr>
          <p:cNvPr id="70" name="Shape 333">
            <a:extLst>
              <a:ext uri="{FF2B5EF4-FFF2-40B4-BE49-F238E27FC236}">
                <a16:creationId xmlns:a16="http://schemas.microsoft.com/office/drawing/2014/main" id="{1C5D66AB-2154-4CF6-AFBF-1CED1C1D9F31}"/>
              </a:ext>
            </a:extLst>
          </p:cNvPr>
          <p:cNvSpPr/>
          <p:nvPr/>
        </p:nvSpPr>
        <p:spPr>
          <a:xfrm>
            <a:off x="3767924" y="4460223"/>
            <a:ext cx="1612591" cy="1007520"/>
          </a:xfrm>
          <a:prstGeom prst="rect">
            <a:avLst/>
          </a:prstGeom>
          <a:ln w="12700">
            <a:miter lim="400000"/>
          </a:ln>
        </p:spPr>
        <p:txBody>
          <a:bodyPr lIns="0" tIns="0" rIns="0" bIns="0">
            <a:spAutoFit/>
          </a:bodyPr>
          <a:lstStyle/>
          <a:p>
            <a:pPr lvl="0">
              <a:lnSpc>
                <a:spcPct val="120000"/>
              </a:lnSpc>
              <a:defRPr>
                <a:solidFill>
                  <a:srgbClr val="000000"/>
                </a:solidFill>
              </a:defRPr>
            </a:pPr>
            <a:r>
              <a:rPr lang="zh-CN" altLang="en-US" dirty="0">
                <a:solidFill>
                  <a:schemeClr val="tx2">
                    <a:lumMod val="10000"/>
                  </a:schemeClr>
                </a:solidFill>
                <a:latin typeface="PingFang SC" charset="-122"/>
                <a:ea typeface="PingFang SC" charset="-122"/>
                <a:cs typeface="PingFang SC" charset="-122"/>
              </a:rPr>
              <a:t>相似</a:t>
            </a:r>
            <a:r>
              <a:rPr lang="en-US" altLang="zh-CN" dirty="0">
                <a:solidFill>
                  <a:schemeClr val="tx2">
                    <a:lumMod val="10000"/>
                  </a:schemeClr>
                </a:solidFill>
                <a:latin typeface="PingFang SC" charset="-122"/>
                <a:ea typeface="PingFang SC" charset="-122"/>
                <a:cs typeface="PingFang SC" charset="-122"/>
              </a:rPr>
              <a:t>K</a:t>
            </a:r>
            <a:r>
              <a:rPr lang="zh-CN" altLang="en-US" dirty="0">
                <a:solidFill>
                  <a:schemeClr val="tx2">
                    <a:lumMod val="10000"/>
                  </a:schemeClr>
                </a:solidFill>
                <a:latin typeface="PingFang SC" charset="-122"/>
                <a:ea typeface="PingFang SC" charset="-122"/>
                <a:cs typeface="PingFang SC" charset="-122"/>
              </a:rPr>
              <a:t>线识别</a:t>
            </a:r>
            <a:r>
              <a:rPr dirty="0">
                <a:solidFill>
                  <a:schemeClr val="tx2">
                    <a:lumMod val="10000"/>
                  </a:schemeClr>
                </a:solidFill>
                <a:latin typeface="PingFang SC" charset="-122"/>
                <a:ea typeface="PingFang SC" charset="-122"/>
                <a:cs typeface="PingFang SC" charset="-122"/>
              </a:rPr>
              <a:t>，</a:t>
            </a:r>
            <a:r>
              <a:rPr lang="zh-CN" altLang="en-US" dirty="0">
                <a:solidFill>
                  <a:schemeClr val="tx2">
                    <a:lumMod val="10000"/>
                  </a:schemeClr>
                </a:solidFill>
                <a:latin typeface="PingFang SC" charset="-122"/>
                <a:ea typeface="PingFang SC" charset="-122"/>
                <a:cs typeface="PingFang SC" charset="-122"/>
              </a:rPr>
              <a:t>形态识别，</a:t>
            </a:r>
            <a:endParaRPr lang="en-US" altLang="zh-CN" dirty="0">
              <a:solidFill>
                <a:schemeClr val="tx2">
                  <a:lumMod val="10000"/>
                </a:schemeClr>
              </a:solidFill>
              <a:latin typeface="PingFang SC" charset="-122"/>
              <a:ea typeface="PingFang SC" charset="-122"/>
              <a:cs typeface="PingFang SC" charset="-122"/>
            </a:endParaRPr>
          </a:p>
          <a:p>
            <a:pPr lvl="0">
              <a:lnSpc>
                <a:spcPct val="120000"/>
              </a:lnSpc>
              <a:defRPr>
                <a:solidFill>
                  <a:srgbClr val="000000"/>
                </a:solidFill>
              </a:defRPr>
            </a:pPr>
            <a:r>
              <a:rPr lang="zh-CN" altLang="en-US" dirty="0">
                <a:solidFill>
                  <a:schemeClr val="tx2">
                    <a:lumMod val="10000"/>
                  </a:schemeClr>
                </a:solidFill>
                <a:latin typeface="PingFang SC" charset="-122"/>
                <a:ea typeface="PingFang SC" charset="-122"/>
                <a:cs typeface="PingFang SC" charset="-122"/>
              </a:rPr>
              <a:t>实时形态提醒</a:t>
            </a:r>
            <a:endParaRPr dirty="0">
              <a:solidFill>
                <a:schemeClr val="tx2">
                  <a:lumMod val="10000"/>
                </a:schemeClr>
              </a:solidFill>
              <a:latin typeface="PingFang SC" charset="-122"/>
              <a:ea typeface="PingFang SC" charset="-122"/>
              <a:cs typeface="PingFang SC" charset="-122"/>
            </a:endParaRPr>
          </a:p>
        </p:txBody>
      </p:sp>
      <p:sp>
        <p:nvSpPr>
          <p:cNvPr id="71" name="Shape 334">
            <a:extLst>
              <a:ext uri="{FF2B5EF4-FFF2-40B4-BE49-F238E27FC236}">
                <a16:creationId xmlns:a16="http://schemas.microsoft.com/office/drawing/2014/main" id="{3259B1EE-255D-429B-977E-C97B536DF922}"/>
              </a:ext>
            </a:extLst>
          </p:cNvPr>
          <p:cNvSpPr/>
          <p:nvPr/>
        </p:nvSpPr>
        <p:spPr>
          <a:xfrm>
            <a:off x="3561095" y="2932147"/>
            <a:ext cx="1951055" cy="745845"/>
          </a:xfrm>
          <a:prstGeom prst="rect">
            <a:avLst/>
          </a:prstGeom>
          <a:ln w="12700">
            <a:miter lim="400000"/>
          </a:ln>
        </p:spPr>
        <p:txBody>
          <a:bodyPr lIns="0" tIns="0" rIns="0" bIns="0">
            <a:spAutoFit/>
          </a:bodyPr>
          <a:lstStyle/>
          <a:p>
            <a:pPr lvl="0" algn="ctr">
              <a:lnSpc>
                <a:spcPct val="120000"/>
              </a:lnSpc>
              <a:defRPr>
                <a:solidFill>
                  <a:srgbClr val="000000"/>
                </a:solidFill>
              </a:defRPr>
            </a:pPr>
            <a:r>
              <a:rPr lang="zh-CN" altLang="en-US" sz="2000" dirty="0">
                <a:solidFill>
                  <a:schemeClr val="bg1"/>
                </a:solidFill>
                <a:latin typeface="PingFang SC" charset="-122"/>
                <a:ea typeface="PingFang SC" charset="-122"/>
                <a:cs typeface="PingFang SC" charset="-122"/>
              </a:rPr>
              <a:t>实时形态</a:t>
            </a:r>
            <a:endParaRPr lang="en-US" altLang="zh-CN" sz="2000" dirty="0">
              <a:solidFill>
                <a:schemeClr val="bg1"/>
              </a:solidFill>
              <a:latin typeface="PingFang SC" charset="-122"/>
              <a:ea typeface="PingFang SC" charset="-122"/>
              <a:cs typeface="PingFang SC" charset="-122"/>
            </a:endParaRPr>
          </a:p>
          <a:p>
            <a:pPr lvl="0" algn="ctr">
              <a:lnSpc>
                <a:spcPct val="120000"/>
              </a:lnSpc>
              <a:defRPr>
                <a:solidFill>
                  <a:srgbClr val="000000"/>
                </a:solidFill>
              </a:defRPr>
            </a:pPr>
            <a:r>
              <a:rPr lang="zh-CN" altLang="en-US" sz="2000" dirty="0">
                <a:solidFill>
                  <a:schemeClr val="bg1"/>
                </a:solidFill>
                <a:latin typeface="PingFang SC" charset="-122"/>
                <a:ea typeface="PingFang SC" charset="-122"/>
                <a:cs typeface="PingFang SC" charset="-122"/>
              </a:rPr>
              <a:t>识别</a:t>
            </a:r>
            <a:endParaRPr sz="2000" dirty="0">
              <a:solidFill>
                <a:schemeClr val="bg1"/>
              </a:solidFill>
              <a:latin typeface="PingFang SC" charset="-122"/>
              <a:ea typeface="PingFang SC" charset="-122"/>
              <a:cs typeface="PingFang SC" charset="-122"/>
            </a:endParaRPr>
          </a:p>
        </p:txBody>
      </p:sp>
      <p:sp>
        <p:nvSpPr>
          <p:cNvPr id="72" name="Shape 335">
            <a:extLst>
              <a:ext uri="{FF2B5EF4-FFF2-40B4-BE49-F238E27FC236}">
                <a16:creationId xmlns:a16="http://schemas.microsoft.com/office/drawing/2014/main" id="{8FD65266-5DF5-458E-9C76-3EAF546188A5}"/>
              </a:ext>
            </a:extLst>
          </p:cNvPr>
          <p:cNvSpPr/>
          <p:nvPr/>
        </p:nvSpPr>
        <p:spPr>
          <a:xfrm>
            <a:off x="5940517" y="4471783"/>
            <a:ext cx="1780739" cy="1329595"/>
          </a:xfrm>
          <a:prstGeom prst="rect">
            <a:avLst/>
          </a:prstGeom>
          <a:ln w="12700">
            <a:miter lim="400000"/>
          </a:ln>
        </p:spPr>
        <p:txBody>
          <a:bodyPr wrap="square" lIns="0" tIns="0" rIns="0" bIns="0">
            <a:spAutoFit/>
          </a:bodyPr>
          <a:lstStyle/>
          <a:p>
            <a:pPr lvl="0">
              <a:lnSpc>
                <a:spcPct val="120000"/>
              </a:lnSpc>
              <a:defRPr>
                <a:solidFill>
                  <a:srgbClr val="000000"/>
                </a:solidFill>
              </a:defRPr>
            </a:pPr>
            <a:r>
              <a:rPr lang="zh-CN" altLang="en-US" dirty="0">
                <a:solidFill>
                  <a:schemeClr val="tx2">
                    <a:lumMod val="10000"/>
                  </a:schemeClr>
                </a:solidFill>
                <a:latin typeface="PingFang SC" charset="-122"/>
                <a:ea typeface="PingFang SC" charset="-122"/>
                <a:cs typeface="PingFang SC" charset="-122"/>
              </a:rPr>
              <a:t>形态信号提醒</a:t>
            </a:r>
            <a:r>
              <a:rPr dirty="0">
                <a:solidFill>
                  <a:schemeClr val="tx2">
                    <a:lumMod val="10000"/>
                  </a:schemeClr>
                </a:solidFill>
                <a:latin typeface="PingFang SC" charset="-122"/>
                <a:ea typeface="PingFang SC" charset="-122"/>
                <a:cs typeface="PingFang SC" charset="-122"/>
              </a:rPr>
              <a:t>，</a:t>
            </a:r>
            <a:endParaRPr lang="en-US" dirty="0">
              <a:solidFill>
                <a:schemeClr val="tx2">
                  <a:lumMod val="10000"/>
                </a:schemeClr>
              </a:solidFill>
              <a:latin typeface="PingFang SC" charset="-122"/>
              <a:ea typeface="PingFang SC" charset="-122"/>
              <a:cs typeface="PingFang SC" charset="-122"/>
            </a:endParaRPr>
          </a:p>
          <a:p>
            <a:pPr lvl="0">
              <a:lnSpc>
                <a:spcPct val="120000"/>
              </a:lnSpc>
              <a:defRPr>
                <a:solidFill>
                  <a:srgbClr val="000000"/>
                </a:solidFill>
              </a:defRPr>
            </a:pPr>
            <a:r>
              <a:rPr lang="zh-CN" altLang="en-US" dirty="0">
                <a:solidFill>
                  <a:schemeClr val="tx2">
                    <a:lumMod val="10000"/>
                  </a:schemeClr>
                </a:solidFill>
                <a:latin typeface="PingFang SC" charset="-122"/>
                <a:ea typeface="PingFang SC" charset="-122"/>
                <a:cs typeface="PingFang SC" charset="-122"/>
              </a:rPr>
              <a:t>形态有效性回测，</a:t>
            </a:r>
            <a:endParaRPr dirty="0">
              <a:solidFill>
                <a:schemeClr val="tx2">
                  <a:lumMod val="10000"/>
                </a:schemeClr>
              </a:solidFill>
              <a:latin typeface="PingFang SC" charset="-122"/>
              <a:ea typeface="PingFang SC" charset="-122"/>
              <a:cs typeface="PingFang SC" charset="-122"/>
            </a:endParaRPr>
          </a:p>
          <a:p>
            <a:pPr lvl="0">
              <a:lnSpc>
                <a:spcPct val="120000"/>
              </a:lnSpc>
              <a:defRPr>
                <a:solidFill>
                  <a:srgbClr val="000000"/>
                </a:solidFill>
              </a:defRPr>
            </a:pPr>
            <a:r>
              <a:rPr lang="zh-CN" altLang="en-US" dirty="0">
                <a:solidFill>
                  <a:schemeClr val="tx2">
                    <a:lumMod val="10000"/>
                  </a:schemeClr>
                </a:solidFill>
                <a:latin typeface="PingFang SC" charset="-122"/>
                <a:ea typeface="PingFang SC" charset="-122"/>
                <a:cs typeface="PingFang SC" charset="-122"/>
              </a:rPr>
              <a:t>形态信号预判</a:t>
            </a:r>
            <a:endParaRPr dirty="0">
              <a:solidFill>
                <a:schemeClr val="tx2">
                  <a:lumMod val="10000"/>
                </a:schemeClr>
              </a:solidFill>
              <a:latin typeface="PingFang SC" charset="-122"/>
              <a:ea typeface="PingFang SC" charset="-122"/>
              <a:cs typeface="PingFang SC" charset="-122"/>
            </a:endParaRPr>
          </a:p>
          <a:p>
            <a:pPr lvl="0">
              <a:lnSpc>
                <a:spcPct val="120000"/>
              </a:lnSpc>
              <a:defRPr>
                <a:solidFill>
                  <a:srgbClr val="000000"/>
                </a:solidFill>
              </a:defRPr>
            </a:pPr>
            <a:endParaRPr dirty="0">
              <a:solidFill>
                <a:schemeClr val="tx2">
                  <a:lumMod val="10000"/>
                </a:schemeClr>
              </a:solidFill>
              <a:latin typeface="PingFang SC" charset="-122"/>
              <a:ea typeface="PingFang SC" charset="-122"/>
              <a:cs typeface="PingFang SC" charset="-122"/>
            </a:endParaRPr>
          </a:p>
        </p:txBody>
      </p:sp>
      <p:sp>
        <p:nvSpPr>
          <p:cNvPr id="73" name="Shape 336">
            <a:extLst>
              <a:ext uri="{FF2B5EF4-FFF2-40B4-BE49-F238E27FC236}">
                <a16:creationId xmlns:a16="http://schemas.microsoft.com/office/drawing/2014/main" id="{667808AF-A809-43AF-9869-B7506936E402}"/>
              </a:ext>
            </a:extLst>
          </p:cNvPr>
          <p:cNvSpPr/>
          <p:nvPr/>
        </p:nvSpPr>
        <p:spPr>
          <a:xfrm>
            <a:off x="5770201" y="2954568"/>
            <a:ext cx="1951055" cy="738664"/>
          </a:xfrm>
          <a:prstGeom prst="rect">
            <a:avLst/>
          </a:prstGeom>
          <a:ln w="12700">
            <a:miter lim="400000"/>
          </a:ln>
        </p:spPr>
        <p:txBody>
          <a:bodyPr lIns="0" tIns="0" rIns="0" bIns="0">
            <a:spAutoFit/>
          </a:bodyPr>
          <a:lstStyle>
            <a:lvl1pPr algn="ctr">
              <a:lnSpc>
                <a:spcPct val="120000"/>
              </a:lnSpc>
              <a:defRPr sz="2000">
                <a:solidFill>
                  <a:srgbClr val="FFFFFF"/>
                </a:solidFill>
              </a:defRPr>
            </a:lvl1pPr>
          </a:lstStyle>
          <a:p>
            <a:pPr lvl="0">
              <a:defRPr sz="1800">
                <a:solidFill>
                  <a:srgbClr val="000000"/>
                </a:solidFill>
              </a:defRPr>
            </a:pPr>
            <a:r>
              <a:rPr lang="zh-CN" altLang="en-US" sz="2000" dirty="0">
                <a:solidFill>
                  <a:schemeClr val="bg1"/>
                </a:solidFill>
                <a:latin typeface="PingFang SC" charset="-122"/>
                <a:ea typeface="PingFang SC" charset="-122"/>
                <a:cs typeface="PingFang SC" charset="-122"/>
              </a:rPr>
              <a:t>形态信号</a:t>
            </a:r>
            <a:endParaRPr lang="en-US" altLang="zh-CN" sz="2000" dirty="0">
              <a:solidFill>
                <a:schemeClr val="bg1"/>
              </a:solidFill>
              <a:latin typeface="PingFang SC" charset="-122"/>
              <a:ea typeface="PingFang SC" charset="-122"/>
              <a:cs typeface="PingFang SC" charset="-122"/>
            </a:endParaRPr>
          </a:p>
          <a:p>
            <a:pPr lvl="0">
              <a:defRPr sz="1800">
                <a:solidFill>
                  <a:srgbClr val="000000"/>
                </a:solidFill>
              </a:defRPr>
            </a:pPr>
            <a:r>
              <a:rPr lang="zh-CN" altLang="en-US" sz="2000" dirty="0">
                <a:solidFill>
                  <a:schemeClr val="bg1"/>
                </a:solidFill>
                <a:latin typeface="PingFang SC" charset="-122"/>
                <a:ea typeface="PingFang SC" charset="-122"/>
                <a:cs typeface="PingFang SC" charset="-122"/>
              </a:rPr>
              <a:t>预判</a:t>
            </a:r>
            <a:endParaRPr sz="2000" dirty="0">
              <a:solidFill>
                <a:schemeClr val="bg1"/>
              </a:solidFill>
              <a:latin typeface="PingFang SC" charset="-122"/>
              <a:ea typeface="PingFang SC" charset="-122"/>
              <a:cs typeface="PingFang SC" charset="-122"/>
            </a:endParaRPr>
          </a:p>
        </p:txBody>
      </p:sp>
      <p:sp>
        <p:nvSpPr>
          <p:cNvPr id="74" name="Shape 337">
            <a:extLst>
              <a:ext uri="{FF2B5EF4-FFF2-40B4-BE49-F238E27FC236}">
                <a16:creationId xmlns:a16="http://schemas.microsoft.com/office/drawing/2014/main" id="{AA81E63E-4565-46F6-8F85-960D2E999ABB}"/>
              </a:ext>
            </a:extLst>
          </p:cNvPr>
          <p:cNvSpPr/>
          <p:nvPr/>
        </p:nvSpPr>
        <p:spPr>
          <a:xfrm>
            <a:off x="8103585" y="4486266"/>
            <a:ext cx="3023698" cy="981359"/>
          </a:xfrm>
          <a:prstGeom prst="rect">
            <a:avLst/>
          </a:prstGeom>
          <a:ln w="12700">
            <a:miter lim="400000"/>
          </a:ln>
        </p:spPr>
        <p:txBody>
          <a:bodyPr lIns="0" tIns="0" rIns="0" bIns="0">
            <a:spAutoFit/>
          </a:bodyPr>
          <a:lstStyle/>
          <a:p>
            <a:pPr lvl="0">
              <a:lnSpc>
                <a:spcPct val="120000"/>
              </a:lnSpc>
              <a:defRPr>
                <a:solidFill>
                  <a:srgbClr val="000000"/>
                </a:solidFill>
              </a:defRPr>
            </a:pPr>
            <a:r>
              <a:rPr lang="zh-CN" altLang="en-US" dirty="0">
                <a:solidFill>
                  <a:schemeClr val="tx2">
                    <a:lumMod val="10000"/>
                  </a:schemeClr>
                </a:solidFill>
                <a:latin typeface="PingFang SC" charset="-122"/>
                <a:ea typeface="PingFang SC" charset="-122"/>
                <a:cs typeface="PingFang SC" charset="-122"/>
              </a:rPr>
              <a:t>波动性预测</a:t>
            </a:r>
            <a:r>
              <a:rPr dirty="0">
                <a:solidFill>
                  <a:schemeClr val="tx2">
                    <a:lumMod val="10000"/>
                  </a:schemeClr>
                </a:solidFill>
                <a:latin typeface="PingFang SC" charset="-122"/>
                <a:ea typeface="PingFang SC" charset="-122"/>
                <a:cs typeface="PingFang SC" charset="-122"/>
              </a:rPr>
              <a:t>、</a:t>
            </a:r>
            <a:endParaRPr lang="en-US" dirty="0">
              <a:solidFill>
                <a:schemeClr val="tx2">
                  <a:lumMod val="10000"/>
                </a:schemeClr>
              </a:solidFill>
              <a:latin typeface="PingFang SC" charset="-122"/>
              <a:ea typeface="PingFang SC" charset="-122"/>
              <a:cs typeface="PingFang SC" charset="-122"/>
            </a:endParaRPr>
          </a:p>
          <a:p>
            <a:pPr lvl="0">
              <a:lnSpc>
                <a:spcPct val="120000"/>
              </a:lnSpc>
              <a:defRPr>
                <a:solidFill>
                  <a:srgbClr val="000000"/>
                </a:solidFill>
              </a:defRPr>
            </a:pPr>
            <a:r>
              <a:rPr lang="zh-CN" altLang="en-US" dirty="0">
                <a:solidFill>
                  <a:schemeClr val="tx2">
                    <a:lumMod val="10000"/>
                  </a:schemeClr>
                </a:solidFill>
                <a:latin typeface="PingFang SC" charset="-122"/>
                <a:ea typeface="PingFang SC" charset="-122"/>
                <a:cs typeface="PingFang SC" charset="-122"/>
              </a:rPr>
              <a:t>交易量预测、</a:t>
            </a:r>
            <a:endParaRPr dirty="0">
              <a:solidFill>
                <a:schemeClr val="tx2">
                  <a:lumMod val="10000"/>
                </a:schemeClr>
              </a:solidFill>
              <a:latin typeface="PingFang SC" charset="-122"/>
              <a:ea typeface="PingFang SC" charset="-122"/>
              <a:cs typeface="PingFang SC" charset="-122"/>
            </a:endParaRPr>
          </a:p>
          <a:p>
            <a:pPr lvl="0">
              <a:lnSpc>
                <a:spcPct val="120000"/>
              </a:lnSpc>
              <a:defRPr>
                <a:solidFill>
                  <a:srgbClr val="000000"/>
                </a:solidFill>
              </a:defRPr>
            </a:pPr>
            <a:r>
              <a:rPr lang="zh-CN" altLang="en-US" dirty="0">
                <a:solidFill>
                  <a:schemeClr val="tx2">
                    <a:lumMod val="10000"/>
                  </a:schemeClr>
                </a:solidFill>
                <a:latin typeface="PingFang SC" charset="-122"/>
                <a:ea typeface="PingFang SC" charset="-122"/>
                <a:cs typeface="PingFang SC" charset="-122"/>
              </a:rPr>
              <a:t>近期价格变化预测</a:t>
            </a:r>
            <a:endParaRPr dirty="0">
              <a:solidFill>
                <a:schemeClr val="tx2">
                  <a:lumMod val="10000"/>
                </a:schemeClr>
              </a:solidFill>
              <a:latin typeface="PingFang SC" charset="-122"/>
              <a:ea typeface="PingFang SC" charset="-122"/>
              <a:cs typeface="PingFang SC" charset="-122"/>
            </a:endParaRPr>
          </a:p>
        </p:txBody>
      </p:sp>
      <p:sp>
        <p:nvSpPr>
          <p:cNvPr id="75" name="Shape 338">
            <a:extLst>
              <a:ext uri="{FF2B5EF4-FFF2-40B4-BE49-F238E27FC236}">
                <a16:creationId xmlns:a16="http://schemas.microsoft.com/office/drawing/2014/main" id="{FBAA435D-D4AB-4677-9530-369CD2CCA3DA}"/>
              </a:ext>
            </a:extLst>
          </p:cNvPr>
          <p:cNvSpPr/>
          <p:nvPr/>
        </p:nvSpPr>
        <p:spPr>
          <a:xfrm>
            <a:off x="7398032" y="2214265"/>
            <a:ext cx="3023698" cy="1403461"/>
          </a:xfrm>
          <a:prstGeom prst="rect">
            <a:avLst/>
          </a:prstGeom>
          <a:ln w="12700">
            <a:miter lim="400000"/>
          </a:ln>
        </p:spPr>
        <p:txBody>
          <a:bodyPr lIns="0" tIns="0" rIns="0" bIns="0">
            <a:spAutoFit/>
          </a:bodyPr>
          <a:lstStyle/>
          <a:p>
            <a:pPr lvl="0" algn="ctr">
              <a:lnSpc>
                <a:spcPct val="120000"/>
              </a:lnSpc>
              <a:defRPr>
                <a:solidFill>
                  <a:srgbClr val="000000"/>
                </a:solidFill>
              </a:defRPr>
            </a:pPr>
            <a:endParaRPr dirty="0">
              <a:solidFill>
                <a:schemeClr val="bg1"/>
              </a:solidFill>
              <a:latin typeface="PingFang SC" charset="-122"/>
              <a:ea typeface="PingFang SC" charset="-122"/>
              <a:cs typeface="PingFang SC" charset="-122"/>
            </a:endParaRPr>
          </a:p>
          <a:p>
            <a:pPr lvl="0" algn="ctr">
              <a:lnSpc>
                <a:spcPct val="120000"/>
              </a:lnSpc>
              <a:defRPr>
                <a:solidFill>
                  <a:srgbClr val="000000"/>
                </a:solidFill>
              </a:defRPr>
            </a:pPr>
            <a:endParaRPr dirty="0">
              <a:solidFill>
                <a:schemeClr val="bg1"/>
              </a:solidFill>
              <a:latin typeface="PingFang SC" charset="-122"/>
              <a:ea typeface="PingFang SC" charset="-122"/>
              <a:cs typeface="PingFang SC" charset="-122"/>
            </a:endParaRPr>
          </a:p>
          <a:p>
            <a:pPr lvl="0" algn="ctr">
              <a:lnSpc>
                <a:spcPct val="120000"/>
              </a:lnSpc>
              <a:defRPr>
                <a:solidFill>
                  <a:srgbClr val="000000"/>
                </a:solidFill>
              </a:defRPr>
            </a:pPr>
            <a:r>
              <a:rPr lang="zh-CN" altLang="en-US" sz="2000" dirty="0">
                <a:solidFill>
                  <a:schemeClr val="bg1"/>
                </a:solidFill>
                <a:latin typeface="PingFang SC" charset="-122"/>
                <a:ea typeface="PingFang SC" charset="-122"/>
                <a:cs typeface="PingFang SC" charset="-122"/>
              </a:rPr>
              <a:t>市场动态</a:t>
            </a:r>
            <a:endParaRPr lang="en-US" altLang="zh-CN" sz="2000" dirty="0">
              <a:solidFill>
                <a:schemeClr val="bg1"/>
              </a:solidFill>
              <a:latin typeface="PingFang SC" charset="-122"/>
              <a:ea typeface="PingFang SC" charset="-122"/>
              <a:cs typeface="PingFang SC" charset="-122"/>
            </a:endParaRPr>
          </a:p>
          <a:p>
            <a:pPr lvl="0" algn="ctr">
              <a:lnSpc>
                <a:spcPct val="120000"/>
              </a:lnSpc>
              <a:defRPr>
                <a:solidFill>
                  <a:srgbClr val="000000"/>
                </a:solidFill>
              </a:defRPr>
            </a:pPr>
            <a:r>
              <a:rPr lang="zh-CN" altLang="en-US" sz="2000" dirty="0">
                <a:solidFill>
                  <a:schemeClr val="bg1"/>
                </a:solidFill>
                <a:latin typeface="PingFang SC" charset="-122"/>
                <a:ea typeface="PingFang SC" charset="-122"/>
                <a:cs typeface="PingFang SC" charset="-122"/>
              </a:rPr>
              <a:t>预测</a:t>
            </a:r>
            <a:endParaRPr sz="2000" dirty="0">
              <a:solidFill>
                <a:schemeClr val="bg1"/>
              </a:solidFill>
              <a:latin typeface="PingFang SC" charset="-122"/>
              <a:ea typeface="PingFang SC" charset="-122"/>
              <a:cs typeface="PingFang SC" charset="-122"/>
            </a:endParaRPr>
          </a:p>
        </p:txBody>
      </p:sp>
      <p:sp>
        <p:nvSpPr>
          <p:cNvPr id="76" name="Shape 310">
            <a:extLst>
              <a:ext uri="{FF2B5EF4-FFF2-40B4-BE49-F238E27FC236}">
                <a16:creationId xmlns:a16="http://schemas.microsoft.com/office/drawing/2014/main" id="{73126EC4-0DE2-48F5-909A-152D22BBF7E8}"/>
              </a:ext>
            </a:extLst>
          </p:cNvPr>
          <p:cNvSpPr/>
          <p:nvPr/>
        </p:nvSpPr>
        <p:spPr>
          <a:xfrm>
            <a:off x="1446667" y="1094457"/>
            <a:ext cx="9653724" cy="1107996"/>
          </a:xfrm>
          <a:prstGeom prst="rect">
            <a:avLst/>
          </a:prstGeom>
          <a:ln w="12700">
            <a:miter lim="400000"/>
          </a:ln>
        </p:spPr>
        <p:txBody>
          <a:bodyPr wrap="square" lIns="0" tIns="0" rIns="0" bIns="0">
            <a:spAutoFit/>
          </a:bodyPr>
          <a:lstStyle/>
          <a:p>
            <a:pPr lvl="0">
              <a:defRPr>
                <a:solidFill>
                  <a:srgbClr val="000000"/>
                </a:solidFill>
              </a:defRPr>
            </a:pPr>
            <a:r>
              <a:rPr lang="zh-CN" altLang="en-US" dirty="0">
                <a:solidFill>
                  <a:schemeClr val="tx2">
                    <a:lumMod val="10000"/>
                  </a:schemeClr>
                </a:solidFill>
                <a:latin typeface="PingFang SC" charset="-122"/>
                <a:ea typeface="PingFang SC" charset="-122"/>
                <a:cs typeface="PingFang SC" charset="-122"/>
              </a:rPr>
              <a:t>      利用机器学习和大数据等技术对海量行情数据进行分析，识别形态信号并且根据形态特征进行建模，并选取更加稳固的模型，通过一定时间的模型训练甄选出不同形态信号展示的多空倾向，再根据用户交易画像和投资需求偏好做出判断，进行个性化智能匹配，给用户推荐最合适的形态，帮助用户提高投资水平，延长投资生命周期</a:t>
            </a:r>
            <a:endParaRPr dirty="0">
              <a:solidFill>
                <a:schemeClr val="tx2">
                  <a:lumMod val="10000"/>
                </a:schemeClr>
              </a:solidFill>
              <a:latin typeface="PingFang SC" charset="-122"/>
              <a:ea typeface="PingFang SC" charset="-122"/>
              <a:cs typeface="PingFang SC" charset="-122"/>
            </a:endParaRPr>
          </a:p>
        </p:txBody>
      </p:sp>
    </p:spTree>
    <p:extLst>
      <p:ext uri="{BB962C8B-B14F-4D97-AF65-F5344CB8AC3E}">
        <p14:creationId xmlns:p14="http://schemas.microsoft.com/office/powerpoint/2010/main" val="40038079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57"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8"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9" name="04"/>
          <p:cNvSpPr txBox="1"/>
          <p:nvPr/>
        </p:nvSpPr>
        <p:spPr>
          <a:xfrm>
            <a:off x="356995" y="6344413"/>
            <a:ext cx="218679" cy="231380"/>
          </a:xfrm>
          <a:prstGeom prst="rect">
            <a:avLst/>
          </a:prstGeom>
          <a:ln w="3175">
            <a:miter lim="400000"/>
          </a:ln>
          <a:extLst>
            <a:ext uri="{C572A759-6A51-4108-AA02-DFA0A04FC94B}">
              <ma14:wrappingTextBoxFlag xmlns="" xmlns:ma14="http://schemas.microsoft.com/office/mac/drawingml/2011/main" val="1"/>
            </a:ext>
          </a:extLst>
        </p:spPr>
        <p:txBody>
          <a:bodyPr wrap="none" lIns="26789" tIns="26789" rIns="26789" bIns="26789" anchor="ctr">
            <a:spAutoFit/>
          </a:bodyPr>
          <a:lstStyle>
            <a:lvl1pPr>
              <a:defRPr sz="1000">
                <a:solidFill>
                  <a:srgbClr val="CAA354"/>
                </a:solidFill>
                <a:latin typeface="PingFang SC Regular"/>
                <a:ea typeface="PingFang SC Regular"/>
                <a:cs typeface="PingFang SC Regular"/>
                <a:sym typeface="PingFang SC Regular"/>
              </a:defRPr>
            </a:lvl1pPr>
          </a:lstStyle>
          <a:p>
            <a:r>
              <a:rPr dirty="0"/>
              <a:t>04</a:t>
            </a:r>
          </a:p>
        </p:txBody>
      </p:sp>
      <p:pic>
        <p:nvPicPr>
          <p:cNvPr id="32" name="图像" descr="图像"/>
          <p:cNvPicPr>
            <a:picLocks noChangeAspect="1"/>
          </p:cNvPicPr>
          <p:nvPr/>
        </p:nvPicPr>
        <p:blipFill>
          <a:blip r:embed="rId3">
            <a:extLst/>
          </a:blip>
          <a:stretch>
            <a:fillRect/>
          </a:stretch>
        </p:blipFill>
        <p:spPr>
          <a:xfrm>
            <a:off x="10484724" y="427048"/>
            <a:ext cx="1253576" cy="332979"/>
          </a:xfrm>
          <a:prstGeom prst="rect">
            <a:avLst/>
          </a:prstGeom>
          <a:ln w="3175">
            <a:miter lim="400000"/>
          </a:ln>
        </p:spPr>
      </p:pic>
      <p:sp>
        <p:nvSpPr>
          <p:cNvPr id="29" name="文本框 28"/>
          <p:cNvSpPr txBox="1"/>
          <p:nvPr/>
        </p:nvSpPr>
        <p:spPr>
          <a:xfrm>
            <a:off x="1214668" y="274314"/>
            <a:ext cx="9270056" cy="584775"/>
          </a:xfrm>
          <a:prstGeom prst="rect">
            <a:avLst/>
          </a:prstGeom>
          <a:noFill/>
        </p:spPr>
        <p:txBody>
          <a:bodyPr wrap="square" rtlCol="0">
            <a:spAutoFit/>
          </a:bodyPr>
          <a:lstStyle/>
          <a:p>
            <a:pPr lvl="0">
              <a:defRPr sz="1800">
                <a:solidFill>
                  <a:srgbClr val="000000"/>
                </a:solidFill>
              </a:defRPr>
            </a:pPr>
            <a:r>
              <a:rPr lang="zh-CN" altLang="en-US" sz="3200" b="1" dirty="0">
                <a:solidFill>
                  <a:schemeClr val="tx2">
                    <a:lumMod val="10000"/>
                  </a:schemeClr>
                </a:solidFill>
                <a:latin typeface="PingFang SC" charset="-122"/>
                <a:ea typeface="PingFang SC" charset="-122"/>
                <a:cs typeface="PingFang SC" charset="-122"/>
              </a:rPr>
              <a:t>集选股盯盘一体的投资交易助手</a:t>
            </a:r>
          </a:p>
        </p:txBody>
      </p:sp>
      <p:sp>
        <p:nvSpPr>
          <p:cNvPr id="33" name="矩形 32">
            <a:extLst>
              <a:ext uri="{FF2B5EF4-FFF2-40B4-BE49-F238E27FC236}">
                <a16:creationId xmlns:a16="http://schemas.microsoft.com/office/drawing/2014/main" id="{07CCDA19-C78F-4FEF-9A33-1AEE922E976D}"/>
              </a:ext>
            </a:extLst>
          </p:cNvPr>
          <p:cNvSpPr/>
          <p:nvPr/>
        </p:nvSpPr>
        <p:spPr>
          <a:xfrm>
            <a:off x="1313439" y="885638"/>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FD35F411-A1E5-4031-B455-0E2C81A8D091}"/>
              </a:ext>
            </a:extLst>
          </p:cNvPr>
          <p:cNvSpPr/>
          <p:nvPr/>
        </p:nvSpPr>
        <p:spPr>
          <a:xfrm>
            <a:off x="5387036" y="885638"/>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Shape 310">
            <a:extLst>
              <a:ext uri="{FF2B5EF4-FFF2-40B4-BE49-F238E27FC236}">
                <a16:creationId xmlns:a16="http://schemas.microsoft.com/office/drawing/2014/main" id="{99904C51-D2A4-4096-A5CC-558447191B4A}"/>
              </a:ext>
            </a:extLst>
          </p:cNvPr>
          <p:cNvSpPr/>
          <p:nvPr/>
        </p:nvSpPr>
        <p:spPr>
          <a:xfrm>
            <a:off x="995223" y="4428341"/>
            <a:ext cx="4725823" cy="2183483"/>
          </a:xfrm>
          <a:prstGeom prst="rect">
            <a:avLst/>
          </a:prstGeom>
          <a:ln w="12700">
            <a:miter lim="400000"/>
          </a:ln>
        </p:spPr>
        <p:txBody>
          <a:bodyPr wrap="square" lIns="0" tIns="0" rIns="0" bIns="0">
            <a:spAutoFit/>
          </a:bodyPr>
          <a:lstStyle/>
          <a:p>
            <a:pPr marL="285750" lvl="0" indent="-285750">
              <a:lnSpc>
                <a:spcPct val="150000"/>
              </a:lnSpc>
              <a:buFont typeface="Arial" charset="0"/>
              <a:buChar char="•"/>
              <a:defRPr>
                <a:solidFill>
                  <a:srgbClr val="000000"/>
                </a:solidFill>
              </a:defRPr>
            </a:pPr>
            <a:r>
              <a:rPr lang="zh-CN" altLang="en-US" sz="1600" b="1" dirty="0">
                <a:solidFill>
                  <a:schemeClr val="tx2">
                    <a:lumMod val="10000"/>
                  </a:schemeClr>
                </a:solidFill>
                <a:latin typeface="PingFang SC" charset="-122"/>
                <a:ea typeface="PingFang SC" charset="-122"/>
                <a:cs typeface="PingFang SC" charset="-122"/>
              </a:rPr>
              <a:t>智能形态选股：</a:t>
            </a:r>
            <a:r>
              <a:rPr lang="zh-CN" altLang="en-US" sz="1600" dirty="0">
                <a:solidFill>
                  <a:schemeClr val="tx2">
                    <a:lumMod val="10000"/>
                  </a:schemeClr>
                </a:solidFill>
                <a:latin typeface="PingFang SC" charset="-122"/>
                <a:ea typeface="PingFang SC" charset="-122"/>
                <a:cs typeface="PingFang SC" charset="-122"/>
              </a:rPr>
              <a:t>基于大数据对经典</a:t>
            </a:r>
            <a:r>
              <a:rPr lang="en-US" altLang="zh-CN" sz="1600" dirty="0">
                <a:solidFill>
                  <a:schemeClr val="tx2">
                    <a:lumMod val="10000"/>
                  </a:schemeClr>
                </a:solidFill>
                <a:latin typeface="PingFang SC" charset="-122"/>
                <a:ea typeface="PingFang SC" charset="-122"/>
                <a:cs typeface="PingFang SC" charset="-122"/>
              </a:rPr>
              <a:t>K</a:t>
            </a:r>
            <a:r>
              <a:rPr lang="zh-CN" altLang="en-US" sz="1600" dirty="0">
                <a:solidFill>
                  <a:schemeClr val="tx2">
                    <a:lumMod val="10000"/>
                  </a:schemeClr>
                </a:solidFill>
                <a:latin typeface="PingFang SC" charset="-122"/>
                <a:ea typeface="PingFang SC" charset="-122"/>
                <a:cs typeface="PingFang SC" charset="-122"/>
              </a:rPr>
              <a:t>线形态进行分析识别分类，辅助技术指标，并结合的交易记录为用户提供最适合的股票（人工智能、大数据、</a:t>
            </a:r>
            <a:r>
              <a:rPr lang="zh-CN" altLang="en-US" sz="1600" b="1" dirty="0">
                <a:solidFill>
                  <a:schemeClr val="tx2">
                    <a:lumMod val="10000"/>
                  </a:schemeClr>
                </a:solidFill>
                <a:latin typeface="PingFang SC" charset="-122"/>
                <a:ea typeface="PingFang SC" charset="-122"/>
                <a:cs typeface="PingFang SC" charset="-122"/>
              </a:rPr>
              <a:t>智能盯盘：</a:t>
            </a:r>
            <a:r>
              <a:rPr lang="zh-CN" altLang="en-US" sz="1600" dirty="0">
                <a:solidFill>
                  <a:schemeClr val="tx2">
                    <a:lumMod val="10000"/>
                  </a:schemeClr>
                </a:solidFill>
                <a:latin typeface="PingFang SC" charset="-122"/>
                <a:ea typeface="PingFang SC" charset="-122"/>
                <a:cs typeface="PingFang SC" charset="-122"/>
              </a:rPr>
              <a:t>根据形态信号和用户的风险偏好为用户提供盯盘提醒功能，帮助用户及时止盈止损，实现收益最大化</a:t>
            </a:r>
            <a:endParaRPr lang="en-US" altLang="zh-CN" sz="1600" dirty="0">
              <a:solidFill>
                <a:schemeClr val="tx2">
                  <a:lumMod val="10000"/>
                </a:schemeClr>
              </a:solidFill>
              <a:latin typeface="PingFang SC" charset="-122"/>
              <a:ea typeface="PingFang SC" charset="-122"/>
              <a:cs typeface="PingFang SC" charset="-122"/>
            </a:endParaRPr>
          </a:p>
        </p:txBody>
      </p:sp>
      <p:sp>
        <p:nvSpPr>
          <p:cNvPr id="28" name="文本框 27">
            <a:extLst>
              <a:ext uri="{FF2B5EF4-FFF2-40B4-BE49-F238E27FC236}">
                <a16:creationId xmlns:a16="http://schemas.microsoft.com/office/drawing/2014/main" id="{400D2D78-1591-4F9A-827E-736F98F9AE55}"/>
              </a:ext>
            </a:extLst>
          </p:cNvPr>
          <p:cNvSpPr txBox="1"/>
          <p:nvPr/>
        </p:nvSpPr>
        <p:spPr>
          <a:xfrm>
            <a:off x="947097" y="1256692"/>
            <a:ext cx="1107996" cy="369332"/>
          </a:xfrm>
          <a:prstGeom prst="rect">
            <a:avLst/>
          </a:prstGeom>
          <a:noFill/>
        </p:spPr>
        <p:txBody>
          <a:bodyPr wrap="none" rtlCol="0">
            <a:spAutoFit/>
          </a:bodyPr>
          <a:lstStyle/>
          <a:p>
            <a:r>
              <a:rPr kumimoji="1" lang="zh-CN" altLang="en-US" b="1" dirty="0">
                <a:latin typeface="PingFang SC" charset="-122"/>
                <a:ea typeface="PingFang SC" charset="-122"/>
                <a:cs typeface="PingFang SC" charset="-122"/>
              </a:rPr>
              <a:t>产品优势</a:t>
            </a:r>
          </a:p>
        </p:txBody>
      </p:sp>
      <p:sp>
        <p:nvSpPr>
          <p:cNvPr id="30" name="文本框 29">
            <a:extLst>
              <a:ext uri="{FF2B5EF4-FFF2-40B4-BE49-F238E27FC236}">
                <a16:creationId xmlns:a16="http://schemas.microsoft.com/office/drawing/2014/main" id="{577CFA88-BFBE-4E11-831A-AC0217A4A9F1}"/>
              </a:ext>
            </a:extLst>
          </p:cNvPr>
          <p:cNvSpPr txBox="1"/>
          <p:nvPr/>
        </p:nvSpPr>
        <p:spPr>
          <a:xfrm>
            <a:off x="1100919" y="1700463"/>
            <a:ext cx="4620127" cy="2308324"/>
          </a:xfrm>
          <a:prstGeom prst="rect">
            <a:avLst/>
          </a:prstGeom>
          <a:noFill/>
        </p:spPr>
        <p:txBody>
          <a:bodyPr wrap="square" rtlCol="0">
            <a:spAutoFit/>
          </a:bodyPr>
          <a:lstStyle/>
          <a:p>
            <a:pPr marL="285750" indent="-285750">
              <a:lnSpc>
                <a:spcPct val="150000"/>
              </a:lnSpc>
              <a:buFont typeface="Arial" charset="0"/>
              <a:buChar char="•"/>
            </a:pPr>
            <a:r>
              <a:rPr lang="zh-CN" altLang="en-US" sz="1600" b="1" dirty="0">
                <a:solidFill>
                  <a:schemeClr val="tx2">
                    <a:lumMod val="10000"/>
                  </a:schemeClr>
                </a:solidFill>
                <a:latin typeface="PingFang SC" charset="-122"/>
                <a:ea typeface="PingFang SC" charset="-122"/>
                <a:cs typeface="PingFang SC" charset="-122"/>
              </a:rPr>
              <a:t>市场形态历史全景回测</a:t>
            </a:r>
            <a:r>
              <a:rPr lang="zh-CN" altLang="en-US" sz="1600" dirty="0">
                <a:solidFill>
                  <a:schemeClr val="tx2">
                    <a:lumMod val="10000"/>
                  </a:schemeClr>
                </a:solidFill>
                <a:latin typeface="PingFang SC" charset="-122"/>
                <a:ea typeface="PingFang SC" charset="-122"/>
                <a:cs typeface="PingFang SC" charset="-122"/>
              </a:rPr>
              <a:t>：通过大数据的处理对金融交易市场进行历史全景回测，挑选出成功率和收益率最高的形态</a:t>
            </a:r>
            <a:endParaRPr lang="en-US" altLang="zh-CN" sz="1600" dirty="0">
              <a:solidFill>
                <a:schemeClr val="tx2">
                  <a:lumMod val="10000"/>
                </a:schemeClr>
              </a:solidFill>
              <a:latin typeface="PingFang SC" charset="-122"/>
              <a:ea typeface="PingFang SC" charset="-122"/>
              <a:cs typeface="PingFang SC" charset="-122"/>
            </a:endParaRPr>
          </a:p>
          <a:p>
            <a:pPr marL="285750" indent="-285750">
              <a:lnSpc>
                <a:spcPct val="150000"/>
              </a:lnSpc>
              <a:buFont typeface="Arial" charset="0"/>
              <a:buChar char="•"/>
            </a:pPr>
            <a:r>
              <a:rPr lang="zh-CN" altLang="en-US" sz="1600" b="1" dirty="0">
                <a:solidFill>
                  <a:schemeClr val="tx2">
                    <a:lumMod val="10000"/>
                  </a:schemeClr>
                </a:solidFill>
                <a:latin typeface="PingFang SC" charset="-122"/>
                <a:ea typeface="PingFang SC" charset="-122"/>
                <a:cs typeface="PingFang SC" charset="-122"/>
              </a:rPr>
              <a:t>个性化智能匹配：</a:t>
            </a:r>
            <a:r>
              <a:rPr lang="zh-CN" altLang="en-US" sz="1600" dirty="0">
                <a:solidFill>
                  <a:schemeClr val="tx2">
                    <a:lumMod val="10000"/>
                  </a:schemeClr>
                </a:solidFill>
                <a:latin typeface="PingFang SC" charset="-122"/>
                <a:ea typeface="PingFang SC" charset="-122"/>
                <a:cs typeface="PingFang SC" charset="-122"/>
              </a:rPr>
              <a:t>通过对用户的历史交易记录和行为数据分析用户最擅长和最关注的形态，为用户提供个性化形态推荐</a:t>
            </a:r>
            <a:endParaRPr lang="en-US" altLang="zh-CN" sz="1600" dirty="0">
              <a:solidFill>
                <a:schemeClr val="tx2">
                  <a:lumMod val="10000"/>
                </a:schemeClr>
              </a:solidFill>
              <a:latin typeface="PingFang SC" charset="-122"/>
              <a:ea typeface="PingFang SC" charset="-122"/>
              <a:cs typeface="PingFang SC" charset="-122"/>
            </a:endParaRPr>
          </a:p>
        </p:txBody>
      </p:sp>
      <p:sp>
        <p:nvSpPr>
          <p:cNvPr id="31" name="文本框 30">
            <a:extLst>
              <a:ext uri="{FF2B5EF4-FFF2-40B4-BE49-F238E27FC236}">
                <a16:creationId xmlns:a16="http://schemas.microsoft.com/office/drawing/2014/main" id="{202EBB2E-5B34-4400-93F6-92F35B053278}"/>
              </a:ext>
            </a:extLst>
          </p:cNvPr>
          <p:cNvSpPr txBox="1"/>
          <p:nvPr/>
        </p:nvSpPr>
        <p:spPr>
          <a:xfrm>
            <a:off x="947097" y="4010883"/>
            <a:ext cx="1107996" cy="369332"/>
          </a:xfrm>
          <a:prstGeom prst="rect">
            <a:avLst/>
          </a:prstGeom>
          <a:noFill/>
        </p:spPr>
        <p:txBody>
          <a:bodyPr wrap="none" rtlCol="0">
            <a:spAutoFit/>
          </a:bodyPr>
          <a:lstStyle/>
          <a:p>
            <a:r>
              <a:rPr kumimoji="1" lang="zh-CN" altLang="en-US" b="1" dirty="0">
                <a:latin typeface="PingFang SC" charset="-122"/>
                <a:ea typeface="PingFang SC" charset="-122"/>
                <a:cs typeface="PingFang SC" charset="-122"/>
              </a:rPr>
              <a:t>产品应用</a:t>
            </a:r>
          </a:p>
        </p:txBody>
      </p:sp>
      <p:pic>
        <p:nvPicPr>
          <p:cNvPr id="35" name="图片 34">
            <a:extLst>
              <a:ext uri="{FF2B5EF4-FFF2-40B4-BE49-F238E27FC236}">
                <a16:creationId xmlns:a16="http://schemas.microsoft.com/office/drawing/2014/main" id="{34EE5A73-2B78-4AFE-A201-769E185324B6}"/>
              </a:ext>
            </a:extLst>
          </p:cNvPr>
          <p:cNvPicPr>
            <a:picLocks noChangeAspect="1"/>
          </p:cNvPicPr>
          <p:nvPr/>
        </p:nvPicPr>
        <p:blipFill>
          <a:blip r:embed="rId4"/>
          <a:stretch>
            <a:fillRect/>
          </a:stretch>
        </p:blipFill>
        <p:spPr>
          <a:xfrm>
            <a:off x="5929593" y="4170946"/>
            <a:ext cx="3078686" cy="2421129"/>
          </a:xfrm>
          <a:prstGeom prst="rect">
            <a:avLst/>
          </a:prstGeom>
        </p:spPr>
      </p:pic>
      <p:pic>
        <p:nvPicPr>
          <p:cNvPr id="36" name="图片 35">
            <a:extLst>
              <a:ext uri="{FF2B5EF4-FFF2-40B4-BE49-F238E27FC236}">
                <a16:creationId xmlns:a16="http://schemas.microsoft.com/office/drawing/2014/main" id="{65BB1B53-58FE-4B67-9C81-F9998E62DCD9}"/>
              </a:ext>
            </a:extLst>
          </p:cNvPr>
          <p:cNvPicPr>
            <a:picLocks noChangeAspect="1"/>
          </p:cNvPicPr>
          <p:nvPr/>
        </p:nvPicPr>
        <p:blipFill>
          <a:blip r:embed="rId5"/>
          <a:stretch>
            <a:fillRect/>
          </a:stretch>
        </p:blipFill>
        <p:spPr>
          <a:xfrm>
            <a:off x="8974063" y="1364309"/>
            <a:ext cx="3194546" cy="1444883"/>
          </a:xfrm>
          <a:prstGeom prst="rect">
            <a:avLst/>
          </a:prstGeom>
        </p:spPr>
      </p:pic>
      <p:pic>
        <p:nvPicPr>
          <p:cNvPr id="37" name="图片 36">
            <a:extLst>
              <a:ext uri="{FF2B5EF4-FFF2-40B4-BE49-F238E27FC236}">
                <a16:creationId xmlns:a16="http://schemas.microsoft.com/office/drawing/2014/main" id="{FBCA828A-840A-4410-AE51-9CC66D93A7F7}"/>
              </a:ext>
            </a:extLst>
          </p:cNvPr>
          <p:cNvPicPr>
            <a:picLocks noChangeAspect="1"/>
          </p:cNvPicPr>
          <p:nvPr/>
        </p:nvPicPr>
        <p:blipFill>
          <a:blip r:embed="rId6"/>
          <a:stretch>
            <a:fillRect/>
          </a:stretch>
        </p:blipFill>
        <p:spPr>
          <a:xfrm>
            <a:off x="8970786" y="2808588"/>
            <a:ext cx="3181781" cy="3783487"/>
          </a:xfrm>
          <a:prstGeom prst="rect">
            <a:avLst/>
          </a:prstGeom>
        </p:spPr>
      </p:pic>
      <p:pic>
        <p:nvPicPr>
          <p:cNvPr id="38" name="图片 37">
            <a:extLst>
              <a:ext uri="{FF2B5EF4-FFF2-40B4-BE49-F238E27FC236}">
                <a16:creationId xmlns:a16="http://schemas.microsoft.com/office/drawing/2014/main" id="{4890EC99-6099-4F9D-9BB2-035DF2ACC197}"/>
              </a:ext>
            </a:extLst>
          </p:cNvPr>
          <p:cNvPicPr>
            <a:picLocks noChangeAspect="1"/>
          </p:cNvPicPr>
          <p:nvPr/>
        </p:nvPicPr>
        <p:blipFill>
          <a:blip r:embed="rId7"/>
          <a:stretch>
            <a:fillRect/>
          </a:stretch>
        </p:blipFill>
        <p:spPr>
          <a:xfrm>
            <a:off x="5929593" y="1364309"/>
            <a:ext cx="3044321" cy="2806637"/>
          </a:xfrm>
          <a:prstGeom prst="rect">
            <a:avLst/>
          </a:prstGeom>
        </p:spPr>
      </p:pic>
    </p:spTree>
    <p:extLst>
      <p:ext uri="{BB962C8B-B14F-4D97-AF65-F5344CB8AC3E}">
        <p14:creationId xmlns:p14="http://schemas.microsoft.com/office/powerpoint/2010/main" val="27991648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0" name="14441896787_163b98fa52_b.jpg" descr="14441896787_163b98fa52_b.jpg"/>
          <p:cNvPicPr>
            <a:picLocks noChangeAspect="1"/>
          </p:cNvPicPr>
          <p:nvPr/>
        </p:nvPicPr>
        <p:blipFill>
          <a:blip r:embed="rId2">
            <a:alphaModFix amt="23803"/>
            <a:extLst/>
          </a:blip>
          <a:stretch>
            <a:fillRect/>
          </a:stretch>
        </p:blipFill>
        <p:spPr>
          <a:xfrm>
            <a:off x="0" y="0"/>
            <a:ext cx="12192000" cy="6858000"/>
          </a:xfrm>
          <a:prstGeom prst="rect">
            <a:avLst/>
          </a:prstGeom>
          <a:ln w="3175">
            <a:miter lim="400000"/>
          </a:ln>
        </p:spPr>
      </p:pic>
      <p:pic>
        <p:nvPicPr>
          <p:cNvPr id="171" name="图像" descr="图像"/>
          <p:cNvPicPr>
            <a:picLocks noChangeAspect="1"/>
          </p:cNvPicPr>
          <p:nvPr/>
        </p:nvPicPr>
        <p:blipFill>
          <a:blip r:embed="rId3">
            <a:extLst/>
          </a:blip>
          <a:stretch>
            <a:fillRect/>
          </a:stretch>
        </p:blipFill>
        <p:spPr>
          <a:xfrm>
            <a:off x="10444834" y="466533"/>
            <a:ext cx="1253577" cy="332979"/>
          </a:xfrm>
          <a:prstGeom prst="rect">
            <a:avLst/>
          </a:prstGeom>
          <a:ln w="3175">
            <a:miter lim="400000"/>
          </a:ln>
        </p:spPr>
      </p:pic>
      <p:sp>
        <p:nvSpPr>
          <p:cNvPr id="172" name="矩形"/>
          <p:cNvSpPr/>
          <p:nvPr/>
        </p:nvSpPr>
        <p:spPr>
          <a:xfrm>
            <a:off x="-48235" y="1797772"/>
            <a:ext cx="7761787" cy="2983056"/>
          </a:xfrm>
          <a:prstGeom prst="rect">
            <a:avLst/>
          </a:prstGeom>
          <a:solidFill>
            <a:srgbClr val="CAA354"/>
          </a:solidFill>
          <a:ln w="3175">
            <a:miter lim="400000"/>
          </a:ln>
        </p:spPr>
        <p:txBody>
          <a:bodyPr lIns="26789" tIns="26789" rIns="26789" bIns="26789" anchor="ctr"/>
          <a:lstStyle/>
          <a:p>
            <a:pPr>
              <a:defRPr sz="1400">
                <a:latin typeface="+mn-lt"/>
                <a:ea typeface="+mn-ea"/>
                <a:cs typeface="+mn-cs"/>
                <a:sym typeface="Helvetica Neue Medium"/>
              </a:defRPr>
            </a:pPr>
            <a:endParaRPr/>
          </a:p>
        </p:txBody>
      </p:sp>
      <p:sp>
        <p:nvSpPr>
          <p:cNvPr id="173" name="大标题"/>
          <p:cNvSpPr txBox="1"/>
          <p:nvPr/>
        </p:nvSpPr>
        <p:spPr>
          <a:xfrm>
            <a:off x="237258" y="2262082"/>
            <a:ext cx="7935192" cy="1716095"/>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3800">
                <a:latin typeface="PingFang SC Semibold"/>
                <a:ea typeface="PingFang SC Semibold"/>
                <a:cs typeface="PingFang SC Semibold"/>
                <a:sym typeface="PingFang SC Semibold"/>
              </a:defRPr>
            </a:lvl1pPr>
          </a:lstStyle>
          <a:p>
            <a:pPr algn="l"/>
            <a:r>
              <a:rPr lang="zh-CN" altLang="en-US" sz="3600" dirty="0">
                <a:solidFill>
                  <a:schemeClr val="bg1"/>
                </a:solidFill>
              </a:rPr>
              <a:t>智能投资：</a:t>
            </a:r>
            <a:endParaRPr lang="en-US" altLang="zh-CN" sz="3600" dirty="0">
              <a:solidFill>
                <a:schemeClr val="bg1"/>
              </a:solidFill>
            </a:endParaRPr>
          </a:p>
          <a:p>
            <a:pPr algn="l"/>
            <a:r>
              <a:rPr lang="zh-CN" altLang="en-US" sz="3600" dirty="0">
                <a:solidFill>
                  <a:schemeClr val="bg1"/>
                </a:solidFill>
              </a:rPr>
              <a:t>千人千面的资产配置</a:t>
            </a:r>
            <a:endParaRPr lang="en-US" altLang="zh-CN" sz="3600" dirty="0">
              <a:solidFill>
                <a:schemeClr val="bg1"/>
              </a:solidFill>
            </a:endParaRPr>
          </a:p>
          <a:p>
            <a:pPr algn="l"/>
            <a:r>
              <a:rPr lang="zh-CN" altLang="en-US" sz="3600" dirty="0">
                <a:solidFill>
                  <a:schemeClr val="bg1"/>
                </a:solidFill>
              </a:rPr>
              <a:t>一站解决投资的烦恼</a:t>
            </a:r>
            <a:endParaRPr sz="3600" dirty="0">
              <a:solidFill>
                <a:schemeClr val="bg1"/>
              </a:solidFill>
            </a:endParaRPr>
          </a:p>
        </p:txBody>
      </p:sp>
      <p:sp>
        <p:nvSpPr>
          <p:cNvPr id="175" name="矩形"/>
          <p:cNvSpPr/>
          <p:nvPr/>
        </p:nvSpPr>
        <p:spPr>
          <a:xfrm>
            <a:off x="189304" y="219031"/>
            <a:ext cx="11813392" cy="6419938"/>
          </a:xfrm>
          <a:prstGeom prst="rect">
            <a:avLst/>
          </a:prstGeom>
          <a:ln>
            <a:solidFill>
              <a:srgbClr val="FFFFFF"/>
            </a:solidFill>
            <a:miter lim="400000"/>
          </a:ln>
        </p:spPr>
        <p:txBody>
          <a:bodyPr lIns="26789" tIns="26789" rIns="26789" bIns="26789" anchor="ctr"/>
          <a:lstStyle/>
          <a:p>
            <a:pPr>
              <a:defRPr sz="1400">
                <a:latin typeface="+mn-lt"/>
                <a:ea typeface="+mn-ea"/>
                <a:cs typeface="+mn-cs"/>
                <a:sym typeface="Helvetica Neue Medium"/>
              </a:defRPr>
            </a:pPr>
            <a:endParaRPr/>
          </a:p>
        </p:txBody>
      </p:sp>
    </p:spTree>
    <p:extLst>
      <p:ext uri="{BB962C8B-B14F-4D97-AF65-F5344CB8AC3E}">
        <p14:creationId xmlns:p14="http://schemas.microsoft.com/office/powerpoint/2010/main" val="38890360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57"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8"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9" name="04"/>
          <p:cNvSpPr txBox="1"/>
          <p:nvPr/>
        </p:nvSpPr>
        <p:spPr>
          <a:xfrm>
            <a:off x="356995" y="6344413"/>
            <a:ext cx="218679" cy="231380"/>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lvl1pPr>
              <a:defRPr sz="1000">
                <a:solidFill>
                  <a:srgbClr val="CAA354"/>
                </a:solidFill>
                <a:latin typeface="PingFang SC Regular"/>
                <a:ea typeface="PingFang SC Regular"/>
                <a:cs typeface="PingFang SC Regular"/>
                <a:sym typeface="PingFang SC Regular"/>
              </a:defRPr>
            </a:lvl1pPr>
          </a:lstStyle>
          <a:p>
            <a:r>
              <a:rPr dirty="0"/>
              <a:t>04</a:t>
            </a:r>
          </a:p>
        </p:txBody>
      </p:sp>
      <p:pic>
        <p:nvPicPr>
          <p:cNvPr id="161" name="图像" descr="图像"/>
          <p:cNvPicPr>
            <a:picLocks noChangeAspect="1"/>
          </p:cNvPicPr>
          <p:nvPr/>
        </p:nvPicPr>
        <p:blipFill>
          <a:blip r:embed="rId2">
            <a:extLst/>
          </a:blip>
          <a:stretch>
            <a:fillRect/>
          </a:stretch>
        </p:blipFill>
        <p:spPr>
          <a:xfrm>
            <a:off x="10484724" y="427048"/>
            <a:ext cx="1253576" cy="332979"/>
          </a:xfrm>
          <a:prstGeom prst="rect">
            <a:avLst/>
          </a:prstGeom>
          <a:ln w="3175">
            <a:miter lim="400000"/>
          </a:ln>
        </p:spPr>
      </p:pic>
      <p:sp>
        <p:nvSpPr>
          <p:cNvPr id="162" name="标题"/>
          <p:cNvSpPr txBox="1"/>
          <p:nvPr/>
        </p:nvSpPr>
        <p:spPr>
          <a:xfrm>
            <a:off x="1111274" y="158945"/>
            <a:ext cx="5388895" cy="546544"/>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kumimoji="1" lang="zh-CN" altLang="en-US" sz="3200" b="1" dirty="0">
                <a:solidFill>
                  <a:schemeClr val="tx1"/>
                </a:solidFill>
                <a:latin typeface="+mn-lt"/>
                <a:ea typeface="+mn-ea"/>
                <a:cs typeface="+mn-cs"/>
              </a:rPr>
              <a:t>我们希望帮助用户更好地投资</a:t>
            </a:r>
            <a:endParaRPr kumimoji="1" sz="3200" b="1" dirty="0">
              <a:solidFill>
                <a:schemeClr val="tx1"/>
              </a:solidFill>
              <a:latin typeface="+mn-lt"/>
              <a:ea typeface="+mn-ea"/>
              <a:cs typeface="+mn-cs"/>
            </a:endParaRPr>
          </a:p>
        </p:txBody>
      </p:sp>
      <p:grpSp>
        <p:nvGrpSpPr>
          <p:cNvPr id="32" name="组合 8"/>
          <p:cNvGrpSpPr/>
          <p:nvPr/>
        </p:nvGrpSpPr>
        <p:grpSpPr>
          <a:xfrm>
            <a:off x="3323965" y="3942883"/>
            <a:ext cx="5547518" cy="591395"/>
            <a:chOff x="3323965" y="3942883"/>
            <a:chExt cx="5547518" cy="591395"/>
          </a:xfrm>
        </p:grpSpPr>
        <p:cxnSp>
          <p:nvCxnSpPr>
            <p:cNvPr id="33" name="Elbow Connector 72"/>
            <p:cNvCxnSpPr/>
            <p:nvPr/>
          </p:nvCxnSpPr>
          <p:spPr>
            <a:xfrm rot="5400000" flipH="1" flipV="1">
              <a:off x="6091374" y="1754169"/>
              <a:ext cx="12700" cy="5547518"/>
            </a:xfrm>
            <a:prstGeom prst="bentConnector3">
              <a:avLst>
                <a:gd name="adj1" fmla="val 1800000"/>
              </a:avLst>
            </a:prstGeom>
            <a:noFill/>
            <a:ln w="12700">
              <a:solidFill>
                <a:schemeClr val="tx1"/>
              </a:solidFill>
            </a:ln>
            <a:effectLst/>
          </p:spPr>
          <p:style>
            <a:lnRef idx="1">
              <a:schemeClr val="accent1"/>
            </a:lnRef>
            <a:fillRef idx="3">
              <a:schemeClr val="accent1"/>
            </a:fillRef>
            <a:effectRef idx="2">
              <a:schemeClr val="accent1"/>
            </a:effectRef>
            <a:fontRef idx="minor">
              <a:schemeClr val="lt1"/>
            </a:fontRef>
          </p:style>
        </p:cxnSp>
        <p:cxnSp>
          <p:nvCxnSpPr>
            <p:cNvPr id="34" name="Straight Connector 73"/>
            <p:cNvCxnSpPr/>
            <p:nvPr/>
          </p:nvCxnSpPr>
          <p:spPr>
            <a:xfrm>
              <a:off x="6096000" y="3942883"/>
              <a:ext cx="0" cy="352892"/>
            </a:xfrm>
            <a:prstGeom prst="line">
              <a:avLst/>
            </a:prstGeom>
            <a:noFill/>
            <a:ln w="12700">
              <a:solidFill>
                <a:schemeClr val="tx1"/>
              </a:solidFill>
            </a:ln>
            <a:effectLst/>
          </p:spPr>
          <p:style>
            <a:lnRef idx="1">
              <a:schemeClr val="accent1"/>
            </a:lnRef>
            <a:fillRef idx="3">
              <a:schemeClr val="accent1"/>
            </a:fillRef>
            <a:effectRef idx="2">
              <a:schemeClr val="accent1"/>
            </a:effectRef>
            <a:fontRef idx="minor">
              <a:schemeClr val="lt1"/>
            </a:fontRef>
          </p:style>
        </p:cxnSp>
      </p:grpSp>
      <p:grpSp>
        <p:nvGrpSpPr>
          <p:cNvPr id="35" name="组合 7"/>
          <p:cNvGrpSpPr/>
          <p:nvPr/>
        </p:nvGrpSpPr>
        <p:grpSpPr>
          <a:xfrm>
            <a:off x="4733508" y="1327263"/>
            <a:ext cx="2665288" cy="2665288"/>
            <a:chOff x="4763356" y="1277595"/>
            <a:chExt cx="2665288" cy="2665288"/>
          </a:xfrm>
        </p:grpSpPr>
        <p:sp>
          <p:nvSpPr>
            <p:cNvPr id="36" name="Oval 50"/>
            <p:cNvSpPr/>
            <p:nvPr/>
          </p:nvSpPr>
          <p:spPr>
            <a:xfrm>
              <a:off x="4763356" y="1277595"/>
              <a:ext cx="2665288" cy="2665288"/>
            </a:xfrm>
            <a:prstGeom prst="ellipse">
              <a:avLst/>
            </a:prstGeom>
            <a:solidFill>
              <a:schemeClr val="tx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FFFF"/>
                </a:solidFill>
                <a:cs typeface="+mn-ea"/>
                <a:sym typeface="+mn-lt"/>
              </a:endParaRPr>
            </a:p>
          </p:txBody>
        </p:sp>
        <p:grpSp>
          <p:nvGrpSpPr>
            <p:cNvPr id="37" name="Group 51"/>
            <p:cNvGrpSpPr/>
            <p:nvPr/>
          </p:nvGrpSpPr>
          <p:grpSpPr>
            <a:xfrm>
              <a:off x="5152704" y="1384249"/>
              <a:ext cx="1900279" cy="2512804"/>
              <a:chOff x="3578894" y="932283"/>
              <a:chExt cx="2066717" cy="2732892"/>
            </a:xfrm>
          </p:grpSpPr>
          <p:sp>
            <p:nvSpPr>
              <p:cNvPr id="39" name="Arc 52"/>
              <p:cNvSpPr/>
              <p:nvPr/>
            </p:nvSpPr>
            <p:spPr>
              <a:xfrm rot="7200000">
                <a:off x="3604448" y="1245010"/>
                <a:ext cx="2041163" cy="2041163"/>
              </a:xfrm>
              <a:prstGeom prst="arc">
                <a:avLst>
                  <a:gd name="adj1" fmla="val 8709740"/>
                  <a:gd name="adj2" fmla="val 20385626"/>
                </a:avLst>
              </a:prstGeom>
              <a:ln w="307975">
                <a:solidFill>
                  <a:schemeClr val="accent4">
                    <a:lumMod val="20000"/>
                    <a:lumOff val="80000"/>
                  </a:schemeClr>
                </a:solidFill>
                <a:tailEnd type="none"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rgbClr val="FFFFFF"/>
                  </a:solidFill>
                  <a:cs typeface="+mn-ea"/>
                  <a:sym typeface="+mn-lt"/>
                </a:endParaRPr>
              </a:p>
            </p:txBody>
          </p:sp>
          <p:sp>
            <p:nvSpPr>
              <p:cNvPr id="40" name="Arc 53"/>
              <p:cNvSpPr/>
              <p:nvPr/>
            </p:nvSpPr>
            <p:spPr>
              <a:xfrm>
                <a:off x="3578894" y="1251915"/>
                <a:ext cx="2041163" cy="2041163"/>
              </a:xfrm>
              <a:prstGeom prst="arc">
                <a:avLst>
                  <a:gd name="adj1" fmla="val 5589548"/>
                  <a:gd name="adj2" fmla="val 15840859"/>
                </a:avLst>
              </a:prstGeom>
              <a:ln w="307975">
                <a:gradFill flip="none" rotWithShape="1">
                  <a:gsLst>
                    <a:gs pos="100000">
                      <a:srgbClr val="F99B15"/>
                    </a:gs>
                    <a:gs pos="0">
                      <a:schemeClr val="accent4">
                        <a:lumMod val="60000"/>
                        <a:lumOff val="40000"/>
                      </a:schemeClr>
                    </a:gs>
                    <a:gs pos="100000">
                      <a:schemeClr val="accent1">
                        <a:lumMod val="75000"/>
                      </a:schemeClr>
                    </a:gs>
                  </a:gsLst>
                  <a:lin ang="1200000" scaled="0"/>
                  <a:tileRect/>
                </a:gradFill>
                <a:tailEnd type="none"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FFFFFF"/>
                  </a:solidFill>
                  <a:cs typeface="+mn-ea"/>
                  <a:sym typeface="+mn-lt"/>
                </a:endParaRPr>
              </a:p>
            </p:txBody>
          </p:sp>
          <p:sp>
            <p:nvSpPr>
              <p:cNvPr id="41" name="Isosceles Triangle 61"/>
              <p:cNvSpPr/>
              <p:nvPr/>
            </p:nvSpPr>
            <p:spPr>
              <a:xfrm rot="5400000">
                <a:off x="4227698" y="1061378"/>
                <a:ext cx="754226" cy="496035"/>
              </a:xfrm>
              <a:prstGeom prst="triangl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FFFF"/>
                  </a:solidFill>
                  <a:cs typeface="+mn-ea"/>
                  <a:sym typeface="+mn-lt"/>
                </a:endParaRPr>
              </a:p>
            </p:txBody>
          </p:sp>
          <p:sp>
            <p:nvSpPr>
              <p:cNvPr id="42" name="Isosceles Triangle 62"/>
              <p:cNvSpPr/>
              <p:nvPr/>
            </p:nvSpPr>
            <p:spPr>
              <a:xfrm rot="16200000">
                <a:off x="4086009" y="3040044"/>
                <a:ext cx="754226" cy="496035"/>
              </a:xfrm>
              <a:prstGeom prst="triangle">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FFFF"/>
                  </a:solidFill>
                  <a:cs typeface="+mn-ea"/>
                  <a:sym typeface="+mn-lt"/>
                </a:endParaRPr>
              </a:p>
            </p:txBody>
          </p:sp>
        </p:grpSp>
        <p:sp>
          <p:nvSpPr>
            <p:cNvPr id="38" name="矩形 37"/>
            <p:cNvSpPr/>
            <p:nvPr/>
          </p:nvSpPr>
          <p:spPr>
            <a:xfrm>
              <a:off x="5518472" y="2348734"/>
              <a:ext cx="1210588" cy="707886"/>
            </a:xfrm>
            <a:prstGeom prst="rect">
              <a:avLst/>
            </a:prstGeom>
          </p:spPr>
          <p:txBody>
            <a:bodyPr wrap="none">
              <a:spAutoFit/>
            </a:bodyPr>
            <a:lstStyle/>
            <a:p>
              <a:r>
                <a:rPr lang="zh-CN" altLang="en-US" sz="2000" b="1" dirty="0">
                  <a:solidFill>
                    <a:schemeClr val="bg1"/>
                  </a:solidFill>
                  <a:cs typeface="+mn-ea"/>
                  <a:sym typeface="+mn-lt"/>
                </a:rPr>
                <a:t>智能投顾</a:t>
              </a:r>
              <a:endParaRPr lang="en-US" altLang="zh-CN" sz="2000" b="1" dirty="0">
                <a:solidFill>
                  <a:schemeClr val="bg1"/>
                </a:solidFill>
                <a:cs typeface="+mn-ea"/>
                <a:sym typeface="+mn-lt"/>
              </a:endParaRPr>
            </a:p>
            <a:p>
              <a:r>
                <a:rPr lang="zh-CN" altLang="en-US" sz="2000" b="1" dirty="0">
                  <a:solidFill>
                    <a:schemeClr val="bg1"/>
                  </a:solidFill>
                  <a:cs typeface="+mn-ea"/>
                  <a:sym typeface="+mn-lt"/>
                </a:rPr>
                <a:t>解决方案</a:t>
              </a:r>
              <a:endParaRPr lang="en-US" altLang="zh-CN" sz="2000" b="1" dirty="0">
                <a:solidFill>
                  <a:schemeClr val="bg1"/>
                </a:solidFill>
                <a:cs typeface="+mn-ea"/>
                <a:sym typeface="+mn-lt"/>
              </a:endParaRPr>
            </a:p>
          </p:txBody>
        </p:sp>
      </p:grpSp>
      <p:grpSp>
        <p:nvGrpSpPr>
          <p:cNvPr id="43" name="组合 4"/>
          <p:cNvGrpSpPr/>
          <p:nvPr/>
        </p:nvGrpSpPr>
        <p:grpSpPr>
          <a:xfrm>
            <a:off x="8475365" y="1377984"/>
            <a:ext cx="2866938" cy="2586990"/>
            <a:chOff x="8433622" y="2020877"/>
            <a:chExt cx="2866938" cy="2586990"/>
          </a:xfrm>
        </p:grpSpPr>
        <p:sp>
          <p:nvSpPr>
            <p:cNvPr id="46" name="矩形 45"/>
            <p:cNvSpPr/>
            <p:nvPr/>
          </p:nvSpPr>
          <p:spPr>
            <a:xfrm>
              <a:off x="8686249" y="2020877"/>
              <a:ext cx="1963614" cy="400110"/>
            </a:xfrm>
            <a:prstGeom prst="rect">
              <a:avLst/>
            </a:prstGeom>
          </p:spPr>
          <p:txBody>
            <a:bodyPr wrap="none">
              <a:spAutoFit/>
            </a:bodyPr>
            <a:lstStyle/>
            <a:p>
              <a:pPr algn="ctr" defTabSz="608965"/>
              <a:r>
                <a:rPr lang="en-US" altLang="zh-CN" sz="2000" b="1" dirty="0">
                  <a:solidFill>
                    <a:srgbClr val="C00000"/>
                  </a:solidFill>
                  <a:latin typeface="+mj-ea"/>
                  <a:ea typeface="+mj-ea"/>
                  <a:cs typeface="+mn-ea"/>
                  <a:sym typeface="+mn-lt"/>
                </a:rPr>
                <a:t>FDT</a:t>
              </a:r>
              <a:r>
                <a:rPr lang="zh-CN" altLang="en-US" sz="2000" b="1" dirty="0">
                  <a:solidFill>
                    <a:srgbClr val="C00000"/>
                  </a:solidFill>
                  <a:latin typeface="+mj-ea"/>
                  <a:ea typeface="+mj-ea"/>
                  <a:cs typeface="+mn-ea"/>
                  <a:sym typeface="+mn-lt"/>
                </a:rPr>
                <a:t>一站式投顾</a:t>
              </a:r>
            </a:p>
          </p:txBody>
        </p:sp>
        <p:sp>
          <p:nvSpPr>
            <p:cNvPr id="47" name="矩形 46"/>
            <p:cNvSpPr/>
            <p:nvPr/>
          </p:nvSpPr>
          <p:spPr>
            <a:xfrm>
              <a:off x="8433622" y="2361098"/>
              <a:ext cx="2866938" cy="2246769"/>
            </a:xfrm>
            <a:prstGeom prst="rect">
              <a:avLst/>
            </a:prstGeom>
          </p:spPr>
          <p:txBody>
            <a:bodyPr wrap="square">
              <a:spAutoFit/>
            </a:bodyPr>
            <a:lstStyle/>
            <a:p>
              <a:r>
                <a:rPr lang="zh-CN" altLang="en-US" sz="2000" dirty="0"/>
                <a:t>是通过大数据</a:t>
              </a:r>
              <a:r>
                <a:rPr lang="en-US" altLang="zh-CN" sz="2000" dirty="0"/>
                <a:t>+AI+</a:t>
              </a:r>
              <a:r>
                <a:rPr lang="zh-CN" altLang="en-US" sz="2000" dirty="0"/>
                <a:t>行为金融学的分析，判断出用户真实需求并进行精准推荐，真正实现千人千面的资产配置，并对市场的动态对资产配置再平衡提供建议。</a:t>
              </a:r>
            </a:p>
          </p:txBody>
        </p:sp>
      </p:grpSp>
      <p:grpSp>
        <p:nvGrpSpPr>
          <p:cNvPr id="50" name="组合 3"/>
          <p:cNvGrpSpPr/>
          <p:nvPr/>
        </p:nvGrpSpPr>
        <p:grpSpPr>
          <a:xfrm>
            <a:off x="1577321" y="1485859"/>
            <a:ext cx="2866938" cy="2586990"/>
            <a:chOff x="815691" y="2020877"/>
            <a:chExt cx="2866938" cy="2586990"/>
          </a:xfrm>
        </p:grpSpPr>
        <p:sp>
          <p:nvSpPr>
            <p:cNvPr id="53" name="矩形 52"/>
            <p:cNvSpPr/>
            <p:nvPr/>
          </p:nvSpPr>
          <p:spPr>
            <a:xfrm>
              <a:off x="1074372" y="2020877"/>
              <a:ext cx="2031326" cy="461665"/>
            </a:xfrm>
            <a:prstGeom prst="rect">
              <a:avLst/>
            </a:prstGeom>
          </p:spPr>
          <p:txBody>
            <a:bodyPr wrap="none">
              <a:spAutoFit/>
            </a:bodyPr>
            <a:lstStyle/>
            <a:p>
              <a:pPr algn="ctr" defTabSz="608965"/>
              <a:r>
                <a:rPr lang="zh-CN" altLang="en-US" sz="2400" b="1" dirty="0">
                  <a:solidFill>
                    <a:srgbClr val="C00000"/>
                  </a:solidFill>
                  <a:latin typeface="+mj-ea"/>
                  <a:ea typeface="+mj-ea"/>
                  <a:cs typeface="+mn-ea"/>
                  <a:sym typeface="+mn-lt"/>
                </a:rPr>
                <a:t>基础智能投顾</a:t>
              </a:r>
            </a:p>
          </p:txBody>
        </p:sp>
        <p:sp>
          <p:nvSpPr>
            <p:cNvPr id="54" name="矩形 53"/>
            <p:cNvSpPr/>
            <p:nvPr/>
          </p:nvSpPr>
          <p:spPr>
            <a:xfrm>
              <a:off x="815691" y="2361098"/>
              <a:ext cx="2866938" cy="2246769"/>
            </a:xfrm>
            <a:prstGeom prst="rect">
              <a:avLst/>
            </a:prstGeom>
          </p:spPr>
          <p:txBody>
            <a:bodyPr wrap="square">
              <a:spAutoFit/>
            </a:bodyPr>
            <a:lstStyle/>
            <a:p>
              <a:r>
                <a:rPr lang="zh-CN" altLang="en-US" sz="2000" dirty="0"/>
                <a:t>是一种新的财富管理服务，初级阶段是根据投资者提供的风险承受水平、收益目标等要求，运用一系列智能算法为用户提供最终的投资参考。</a:t>
              </a:r>
            </a:p>
          </p:txBody>
        </p:sp>
      </p:grpSp>
      <p:sp>
        <p:nvSpPr>
          <p:cNvPr id="57" name="矩形 56"/>
          <p:cNvSpPr/>
          <p:nvPr/>
        </p:nvSpPr>
        <p:spPr>
          <a:xfrm>
            <a:off x="1634724" y="4521578"/>
            <a:ext cx="3378481" cy="42295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lumMod val="85000"/>
                    <a:lumOff val="15000"/>
                  </a:schemeClr>
                </a:solidFill>
                <a:latin typeface="+mj-ea"/>
                <a:ea typeface="+mj-ea"/>
                <a:cs typeface="+mn-ea"/>
                <a:sym typeface="+mn-lt"/>
              </a:rPr>
              <a:t>基础投顾</a:t>
            </a:r>
          </a:p>
        </p:txBody>
      </p:sp>
      <p:sp>
        <p:nvSpPr>
          <p:cNvPr id="58" name="矩形 57"/>
          <p:cNvSpPr/>
          <p:nvPr/>
        </p:nvSpPr>
        <p:spPr>
          <a:xfrm>
            <a:off x="1634723" y="4952106"/>
            <a:ext cx="3378481" cy="1532151"/>
          </a:xfrm>
          <a:prstGeom prst="rect">
            <a:avLst/>
          </a:prstGeom>
        </p:spPr>
        <p:txBody>
          <a:bodyPr wrap="square">
            <a:spAutoFit/>
          </a:bodyPr>
          <a:lstStyle/>
          <a:p>
            <a:pPr algn="just" defTabSz="608965">
              <a:lnSpc>
                <a:spcPct val="150000"/>
              </a:lnSpc>
            </a:pPr>
            <a:r>
              <a:rPr lang="zh-CN" altLang="en-US" sz="1600" dirty="0">
                <a:solidFill>
                  <a:schemeClr val="tx1">
                    <a:lumMod val="85000"/>
                    <a:lumOff val="15000"/>
                  </a:schemeClr>
                </a:solidFill>
                <a:latin typeface="+mj-ea"/>
                <a:ea typeface="+mj-ea"/>
                <a:cs typeface="+mn-ea"/>
                <a:sym typeface="+mn-lt"/>
              </a:rPr>
              <a:t>用户风险测评</a:t>
            </a:r>
            <a:endParaRPr lang="en-US" altLang="zh-CN" sz="1600" dirty="0">
              <a:solidFill>
                <a:schemeClr val="tx1">
                  <a:lumMod val="85000"/>
                  <a:lumOff val="15000"/>
                </a:schemeClr>
              </a:solidFill>
              <a:latin typeface="+mj-ea"/>
              <a:ea typeface="+mj-ea"/>
              <a:cs typeface="+mn-ea"/>
              <a:sym typeface="+mn-lt"/>
            </a:endParaRPr>
          </a:p>
          <a:p>
            <a:pPr algn="just" defTabSz="608965">
              <a:lnSpc>
                <a:spcPct val="150000"/>
              </a:lnSpc>
            </a:pPr>
            <a:r>
              <a:rPr lang="zh-CN" altLang="en-US" sz="1600" dirty="0">
                <a:solidFill>
                  <a:schemeClr val="tx1">
                    <a:lumMod val="85000"/>
                    <a:lumOff val="15000"/>
                  </a:schemeClr>
                </a:solidFill>
                <a:latin typeface="+mj-ea"/>
                <a:ea typeface="+mj-ea"/>
                <a:cs typeface="+mn-ea"/>
                <a:sym typeface="+mn-lt"/>
              </a:rPr>
              <a:t>国内资产配置</a:t>
            </a:r>
            <a:endParaRPr lang="en-US" altLang="zh-CN" sz="1600" dirty="0">
              <a:solidFill>
                <a:schemeClr val="tx1">
                  <a:lumMod val="85000"/>
                  <a:lumOff val="15000"/>
                </a:schemeClr>
              </a:solidFill>
              <a:latin typeface="+mj-ea"/>
              <a:ea typeface="+mj-ea"/>
              <a:cs typeface="+mn-ea"/>
              <a:sym typeface="+mn-lt"/>
            </a:endParaRPr>
          </a:p>
          <a:p>
            <a:pPr algn="just" defTabSz="608965">
              <a:lnSpc>
                <a:spcPct val="150000"/>
              </a:lnSpc>
            </a:pPr>
            <a:r>
              <a:rPr lang="zh-CN" altLang="en-US" sz="1600" dirty="0">
                <a:solidFill>
                  <a:schemeClr val="tx1">
                    <a:lumMod val="85000"/>
                    <a:lumOff val="15000"/>
                  </a:schemeClr>
                </a:solidFill>
                <a:latin typeface="+mj-ea"/>
                <a:ea typeface="+mj-ea"/>
                <a:cs typeface="+mn-ea"/>
                <a:sym typeface="+mn-lt"/>
              </a:rPr>
              <a:t>缺乏投后管理</a:t>
            </a:r>
            <a:endParaRPr lang="en-US" altLang="zh-CN" sz="1600" dirty="0">
              <a:solidFill>
                <a:schemeClr val="tx1">
                  <a:lumMod val="85000"/>
                  <a:lumOff val="15000"/>
                </a:schemeClr>
              </a:solidFill>
              <a:latin typeface="+mj-ea"/>
              <a:ea typeface="+mj-ea"/>
              <a:cs typeface="+mn-ea"/>
              <a:sym typeface="+mn-lt"/>
            </a:endParaRPr>
          </a:p>
          <a:p>
            <a:pPr algn="just" defTabSz="608965">
              <a:lnSpc>
                <a:spcPct val="150000"/>
              </a:lnSpc>
            </a:pPr>
            <a:r>
              <a:rPr lang="zh-CN" altLang="en-US" sz="1600" dirty="0">
                <a:solidFill>
                  <a:schemeClr val="tx1">
                    <a:lumMod val="85000"/>
                    <a:lumOff val="15000"/>
                  </a:schemeClr>
                </a:solidFill>
                <a:latin typeface="+mj-ea"/>
                <a:ea typeface="+mj-ea"/>
                <a:cs typeface="+mn-ea"/>
                <a:sym typeface="+mn-lt"/>
              </a:rPr>
              <a:t>以输出策略为主</a:t>
            </a:r>
          </a:p>
        </p:txBody>
      </p:sp>
      <p:sp>
        <p:nvSpPr>
          <p:cNvPr id="59" name="矩形 58"/>
          <p:cNvSpPr/>
          <p:nvPr/>
        </p:nvSpPr>
        <p:spPr>
          <a:xfrm>
            <a:off x="7182242" y="4513956"/>
            <a:ext cx="3378481" cy="42295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lumMod val="85000"/>
                    <a:lumOff val="15000"/>
                  </a:schemeClr>
                </a:solidFill>
                <a:latin typeface="+mj-ea"/>
                <a:ea typeface="+mj-ea"/>
                <a:cs typeface="+mn-ea"/>
                <a:sym typeface="+mn-lt"/>
              </a:rPr>
              <a:t>一站式投顾</a:t>
            </a:r>
          </a:p>
        </p:txBody>
      </p:sp>
      <p:sp>
        <p:nvSpPr>
          <p:cNvPr id="60" name="矩形 59"/>
          <p:cNvSpPr/>
          <p:nvPr/>
        </p:nvSpPr>
        <p:spPr>
          <a:xfrm>
            <a:off x="7182242" y="4952106"/>
            <a:ext cx="3378481" cy="1532151"/>
          </a:xfrm>
          <a:prstGeom prst="rect">
            <a:avLst/>
          </a:prstGeom>
        </p:spPr>
        <p:txBody>
          <a:bodyPr wrap="square">
            <a:spAutoFit/>
          </a:bodyPr>
          <a:lstStyle/>
          <a:p>
            <a:pPr algn="just" defTabSz="608965">
              <a:lnSpc>
                <a:spcPct val="150000"/>
              </a:lnSpc>
            </a:pPr>
            <a:r>
              <a:rPr lang="zh-CN" altLang="en-US" sz="1600" dirty="0">
                <a:solidFill>
                  <a:schemeClr val="tx1">
                    <a:lumMod val="85000"/>
                    <a:lumOff val="15000"/>
                  </a:schemeClr>
                </a:solidFill>
                <a:latin typeface="+mj-ea"/>
                <a:ea typeface="+mj-ea"/>
                <a:cs typeface="+mn-ea"/>
                <a:sym typeface="+mn-lt"/>
              </a:rPr>
              <a:t>海量用户画像分析</a:t>
            </a:r>
            <a:endParaRPr lang="en-US" altLang="zh-CN" sz="1600" dirty="0">
              <a:solidFill>
                <a:schemeClr val="tx1">
                  <a:lumMod val="85000"/>
                  <a:lumOff val="15000"/>
                </a:schemeClr>
              </a:solidFill>
              <a:latin typeface="+mj-ea"/>
              <a:ea typeface="+mj-ea"/>
              <a:cs typeface="+mn-ea"/>
              <a:sym typeface="+mn-lt"/>
            </a:endParaRPr>
          </a:p>
          <a:p>
            <a:pPr algn="just" defTabSz="608965">
              <a:lnSpc>
                <a:spcPct val="150000"/>
              </a:lnSpc>
            </a:pPr>
            <a:r>
              <a:rPr lang="zh-CN" altLang="en-US" sz="1600" dirty="0">
                <a:solidFill>
                  <a:schemeClr val="tx1">
                    <a:lumMod val="85000"/>
                    <a:lumOff val="15000"/>
                  </a:schemeClr>
                </a:solidFill>
                <a:latin typeface="+mj-ea"/>
                <a:ea typeface="+mj-ea"/>
                <a:cs typeface="+mn-ea"/>
                <a:sym typeface="+mn-lt"/>
              </a:rPr>
              <a:t>全球资产配置</a:t>
            </a:r>
            <a:endParaRPr lang="en-US" altLang="zh-CN" sz="1600" dirty="0">
              <a:solidFill>
                <a:schemeClr val="tx1">
                  <a:lumMod val="85000"/>
                  <a:lumOff val="15000"/>
                </a:schemeClr>
              </a:solidFill>
              <a:latin typeface="+mj-ea"/>
              <a:ea typeface="+mj-ea"/>
              <a:cs typeface="+mn-ea"/>
              <a:sym typeface="+mn-lt"/>
            </a:endParaRPr>
          </a:p>
          <a:p>
            <a:pPr algn="just" defTabSz="608965">
              <a:lnSpc>
                <a:spcPct val="150000"/>
              </a:lnSpc>
            </a:pPr>
            <a:r>
              <a:rPr lang="zh-CN" altLang="en-US" sz="1600" dirty="0">
                <a:solidFill>
                  <a:schemeClr val="tx1">
                    <a:lumMod val="85000"/>
                    <a:lumOff val="15000"/>
                  </a:schemeClr>
                </a:solidFill>
                <a:latin typeface="+mj-ea"/>
                <a:ea typeface="+mj-ea"/>
                <a:cs typeface="+mn-ea"/>
                <a:sym typeface="+mn-lt"/>
              </a:rPr>
              <a:t>智能投后管理</a:t>
            </a:r>
            <a:endParaRPr lang="en-US" altLang="zh-CN" sz="1600" dirty="0">
              <a:solidFill>
                <a:schemeClr val="tx1">
                  <a:lumMod val="85000"/>
                  <a:lumOff val="15000"/>
                </a:schemeClr>
              </a:solidFill>
              <a:latin typeface="+mj-ea"/>
              <a:ea typeface="+mj-ea"/>
              <a:cs typeface="+mn-ea"/>
              <a:sym typeface="+mn-lt"/>
            </a:endParaRPr>
          </a:p>
          <a:p>
            <a:pPr algn="just" defTabSz="608965">
              <a:lnSpc>
                <a:spcPct val="150000"/>
              </a:lnSpc>
            </a:pPr>
            <a:r>
              <a:rPr lang="zh-CN" altLang="en-US" sz="1600" dirty="0">
                <a:solidFill>
                  <a:schemeClr val="tx1">
                    <a:lumMod val="85000"/>
                    <a:lumOff val="15000"/>
                  </a:schemeClr>
                </a:solidFill>
                <a:latin typeface="+mj-ea"/>
                <a:ea typeface="+mj-ea"/>
                <a:cs typeface="+mn-ea"/>
                <a:sym typeface="+mn-lt"/>
              </a:rPr>
              <a:t>交易后台系统</a:t>
            </a:r>
            <a:endParaRPr lang="en-US" altLang="zh-CN" sz="1600" dirty="0">
              <a:solidFill>
                <a:schemeClr val="tx1">
                  <a:lumMod val="85000"/>
                  <a:lumOff val="15000"/>
                </a:schemeClr>
              </a:solidFill>
              <a:latin typeface="+mj-ea"/>
              <a:ea typeface="+mj-ea"/>
              <a:cs typeface="+mn-ea"/>
              <a:sym typeface="+mn-lt"/>
            </a:endParaRPr>
          </a:p>
        </p:txBody>
      </p:sp>
      <p:sp>
        <p:nvSpPr>
          <p:cNvPr id="61" name="文本框 60"/>
          <p:cNvSpPr txBox="1"/>
          <p:nvPr/>
        </p:nvSpPr>
        <p:spPr>
          <a:xfrm>
            <a:off x="5592377" y="2110628"/>
            <a:ext cx="1589865" cy="369332"/>
          </a:xfrm>
          <a:prstGeom prst="rect">
            <a:avLst/>
          </a:prstGeom>
          <a:noFill/>
        </p:spPr>
        <p:txBody>
          <a:bodyPr wrap="square" rtlCol="0">
            <a:spAutoFit/>
          </a:bodyPr>
          <a:lstStyle/>
          <a:p>
            <a:r>
              <a:rPr lang="zh-CN" altLang="en-US" dirty="0">
                <a:solidFill>
                  <a:schemeClr val="bg1"/>
                </a:solidFill>
                <a:latin typeface="微软雅黑" panose="020B0503020204020204" charset="-122"/>
                <a:ea typeface="微软雅黑" panose="020B0503020204020204" charset="-122"/>
              </a:rPr>
              <a:t>一站式</a:t>
            </a:r>
          </a:p>
        </p:txBody>
      </p:sp>
      <p:grpSp>
        <p:nvGrpSpPr>
          <p:cNvPr id="30" name="组 29"/>
          <p:cNvGrpSpPr/>
          <p:nvPr/>
        </p:nvGrpSpPr>
        <p:grpSpPr>
          <a:xfrm>
            <a:off x="1040299" y="852945"/>
            <a:ext cx="6446261" cy="103887"/>
            <a:chOff x="1040299" y="852945"/>
            <a:chExt cx="6446261" cy="103887"/>
          </a:xfrm>
        </p:grpSpPr>
        <p:sp>
          <p:nvSpPr>
            <p:cNvPr id="31" name="矩形 30">
              <a:extLst>
                <a:ext uri="{FF2B5EF4-FFF2-40B4-BE49-F238E27FC236}">
                  <a16:creationId xmlns:a16="http://schemas.microsoft.com/office/drawing/2014/main" id="{07CCDA19-C78F-4FEF-9A33-1AEE922E976D}"/>
                </a:ext>
              </a:extLst>
            </p:cNvPr>
            <p:cNvSpPr/>
            <p:nvPr/>
          </p:nvSpPr>
          <p:spPr>
            <a:xfrm>
              <a:off x="1040299" y="852945"/>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a:extLst>
                <a:ext uri="{FF2B5EF4-FFF2-40B4-BE49-F238E27FC236}">
                  <a16:creationId xmlns:a16="http://schemas.microsoft.com/office/drawing/2014/main" id="{FD35F411-A1E5-4031-B455-0E2C81A8D091}"/>
                </a:ext>
              </a:extLst>
            </p:cNvPr>
            <p:cNvSpPr/>
            <p:nvPr/>
          </p:nvSpPr>
          <p:spPr>
            <a:xfrm>
              <a:off x="5113896" y="852945"/>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9446363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57"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8"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9" name="04"/>
          <p:cNvSpPr txBox="1"/>
          <p:nvPr/>
        </p:nvSpPr>
        <p:spPr>
          <a:xfrm>
            <a:off x="356995" y="6344413"/>
            <a:ext cx="218679" cy="231380"/>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lvl1pPr>
              <a:defRPr sz="1000">
                <a:solidFill>
                  <a:srgbClr val="CAA354"/>
                </a:solidFill>
                <a:latin typeface="PingFang SC Regular"/>
                <a:ea typeface="PingFang SC Regular"/>
                <a:cs typeface="PingFang SC Regular"/>
                <a:sym typeface="PingFang SC Regular"/>
              </a:defRPr>
            </a:lvl1pPr>
          </a:lstStyle>
          <a:p>
            <a:r>
              <a:rPr dirty="0"/>
              <a:t>04</a:t>
            </a:r>
          </a:p>
        </p:txBody>
      </p:sp>
      <p:pic>
        <p:nvPicPr>
          <p:cNvPr id="161" name="图像" descr="图像"/>
          <p:cNvPicPr>
            <a:picLocks noChangeAspect="1"/>
          </p:cNvPicPr>
          <p:nvPr/>
        </p:nvPicPr>
        <p:blipFill>
          <a:blip r:embed="rId2">
            <a:extLst/>
          </a:blip>
          <a:stretch>
            <a:fillRect/>
          </a:stretch>
        </p:blipFill>
        <p:spPr>
          <a:xfrm>
            <a:off x="10484724" y="427048"/>
            <a:ext cx="1253576" cy="332979"/>
          </a:xfrm>
          <a:prstGeom prst="rect">
            <a:avLst/>
          </a:prstGeom>
          <a:ln w="3175">
            <a:miter lim="400000"/>
          </a:ln>
        </p:spPr>
      </p:pic>
      <p:sp>
        <p:nvSpPr>
          <p:cNvPr id="162" name="标题"/>
          <p:cNvSpPr txBox="1"/>
          <p:nvPr/>
        </p:nvSpPr>
        <p:spPr>
          <a:xfrm>
            <a:off x="1022090" y="340595"/>
            <a:ext cx="5667467" cy="546544"/>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kumimoji="1" lang="zh-CN" altLang="en-US" sz="3200" b="1" dirty="0">
                <a:solidFill>
                  <a:schemeClr val="tx1"/>
                </a:solidFill>
                <a:latin typeface="+mn-lt"/>
                <a:ea typeface="+mn-ea"/>
                <a:cs typeface="+mn-cs"/>
              </a:rPr>
              <a:t>我们的产品能够解决这些问题</a:t>
            </a:r>
            <a:endParaRPr kumimoji="1" sz="3200" b="1" dirty="0">
              <a:solidFill>
                <a:schemeClr val="tx1"/>
              </a:solidFill>
              <a:latin typeface="+mn-lt"/>
              <a:ea typeface="+mn-ea"/>
              <a:cs typeface="+mn-cs"/>
            </a:endParaRPr>
          </a:p>
        </p:txBody>
      </p:sp>
      <p:sp>
        <p:nvSpPr>
          <p:cNvPr id="28" name="正文"/>
          <p:cNvSpPr txBox="1"/>
          <p:nvPr/>
        </p:nvSpPr>
        <p:spPr>
          <a:xfrm>
            <a:off x="1495357" y="3885867"/>
            <a:ext cx="9062836" cy="361878"/>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lgn="l">
              <a:defRPr sz="2000">
                <a:solidFill>
                  <a:srgbClr val="5E5E5E"/>
                </a:solidFill>
                <a:latin typeface="PingFang SC Regular"/>
                <a:ea typeface="PingFang SC Regular"/>
                <a:cs typeface="PingFang SC Regular"/>
                <a:sym typeface="PingFang SC Regular"/>
              </a:defRPr>
            </a:lvl1pPr>
          </a:lstStyle>
          <a:p>
            <a:endParaRPr dirty="0"/>
          </a:p>
        </p:txBody>
      </p:sp>
      <p:sp>
        <p:nvSpPr>
          <p:cNvPr id="22" name="모서리가 둥근 직사각형 17"/>
          <p:cNvSpPr/>
          <p:nvPr/>
        </p:nvSpPr>
        <p:spPr>
          <a:xfrm>
            <a:off x="2250405" y="1681254"/>
            <a:ext cx="3840426" cy="1721733"/>
          </a:xfrm>
          <a:prstGeom prst="roundRect">
            <a:avLst>
              <a:gd name="adj" fmla="val 7355"/>
            </a:avLst>
          </a:prstGeom>
          <a:solidFill>
            <a:srgbClr val="D2A143"/>
          </a:solidFill>
          <a:ln w="44450" cap="flat" cmpd="sng" algn="ctr">
            <a:noFill/>
            <a:prstDash val="solid"/>
          </a:ln>
          <a:effectLst/>
        </p:spPr>
        <p:txBody>
          <a:bodyPr anchor="ctr"/>
          <a:lstStyle/>
          <a:p>
            <a:pPr algn="ctr" fontAlgn="base">
              <a:spcBef>
                <a:spcPct val="0"/>
              </a:spcBef>
              <a:spcAft>
                <a:spcPct val="0"/>
              </a:spcAft>
            </a:pPr>
            <a:r>
              <a:rPr kumimoji="1" lang="en-US" altLang="ko-KR" kern="0" dirty="0">
                <a:solidFill>
                  <a:srgbClr val="FFFFFF"/>
                </a:solidFill>
                <a:latin typeface="Arial" panose="020B0604020202020204" pitchFamily="34" charset="0"/>
                <a:ea typeface="微软雅黑" panose="020B0503020204020204" charset="-122"/>
                <a:cs typeface="+mn-ea"/>
                <a:sym typeface="Arial" panose="020B0604020202020204" pitchFamily="34" charset="0"/>
              </a:rPr>
              <a:t> </a:t>
            </a:r>
            <a:endParaRPr kumimoji="1" lang="ko-KR" altLang="en-US" kern="0" dirty="0">
              <a:solidFill>
                <a:srgbClr val="FFFFFF"/>
              </a:solidFill>
              <a:latin typeface="Arial" panose="020B0604020202020204" pitchFamily="34" charset="0"/>
              <a:cs typeface="+mn-ea"/>
              <a:sym typeface="Arial" panose="020B0604020202020204" pitchFamily="34" charset="0"/>
            </a:endParaRPr>
          </a:p>
        </p:txBody>
      </p:sp>
      <p:sp>
        <p:nvSpPr>
          <p:cNvPr id="24" name="모서리가 둥근 직사각형 18"/>
          <p:cNvSpPr/>
          <p:nvPr/>
        </p:nvSpPr>
        <p:spPr>
          <a:xfrm>
            <a:off x="6241716" y="1710167"/>
            <a:ext cx="3838754" cy="1721733"/>
          </a:xfrm>
          <a:prstGeom prst="roundRect">
            <a:avLst>
              <a:gd name="adj" fmla="val 5360"/>
            </a:avLst>
          </a:prstGeom>
          <a:solidFill>
            <a:srgbClr val="991E23"/>
          </a:solidFill>
          <a:ln w="44450" cap="flat" cmpd="sng" algn="ctr">
            <a:noFill/>
            <a:prstDash val="solid"/>
          </a:ln>
          <a:effectLst/>
        </p:spPr>
        <p:txBody>
          <a:bodyPr anchor="ctr"/>
          <a:lstStyle/>
          <a:p>
            <a:pPr algn="ctr" fontAlgn="base">
              <a:spcBef>
                <a:spcPct val="0"/>
              </a:spcBef>
              <a:spcAft>
                <a:spcPct val="0"/>
              </a:spcAft>
            </a:pPr>
            <a:endParaRPr kumimoji="1" lang="ko-KR" altLang="en-US" kern="0">
              <a:solidFill>
                <a:srgbClr val="FFFFFF"/>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32" name="모서리가 둥근 직사각형 19"/>
          <p:cNvSpPr/>
          <p:nvPr/>
        </p:nvSpPr>
        <p:spPr>
          <a:xfrm>
            <a:off x="2250405" y="3540166"/>
            <a:ext cx="3840426" cy="1721733"/>
          </a:xfrm>
          <a:prstGeom prst="roundRect">
            <a:avLst>
              <a:gd name="adj" fmla="val 6690"/>
            </a:avLst>
          </a:prstGeom>
          <a:solidFill>
            <a:srgbClr val="991E23"/>
          </a:solidFill>
          <a:ln w="44450" cap="flat" cmpd="sng" algn="ctr">
            <a:noFill/>
            <a:prstDash val="solid"/>
          </a:ln>
          <a:effectLst/>
        </p:spPr>
        <p:txBody>
          <a:bodyPr anchor="ctr"/>
          <a:lstStyle/>
          <a:p>
            <a:pPr algn="ctr" fontAlgn="base">
              <a:spcBef>
                <a:spcPct val="0"/>
              </a:spcBef>
              <a:spcAft>
                <a:spcPct val="0"/>
              </a:spcAft>
            </a:pPr>
            <a:endParaRPr kumimoji="1" lang="ko-KR" altLang="en-US" kern="0">
              <a:solidFill>
                <a:prstClr val="white"/>
              </a:solidFill>
              <a:latin typeface="Arial" panose="020B0604020202020204" pitchFamily="34" charset="0"/>
              <a:cs typeface="+mn-ea"/>
              <a:sym typeface="Arial" panose="020B0604020202020204" pitchFamily="34" charset="0"/>
            </a:endParaRPr>
          </a:p>
        </p:txBody>
      </p:sp>
      <p:sp>
        <p:nvSpPr>
          <p:cNvPr id="33" name="모서리가 둥근 직사각형 20"/>
          <p:cNvSpPr/>
          <p:nvPr/>
        </p:nvSpPr>
        <p:spPr>
          <a:xfrm>
            <a:off x="6227628" y="3540166"/>
            <a:ext cx="3838754" cy="1721733"/>
          </a:xfrm>
          <a:prstGeom prst="roundRect">
            <a:avLst>
              <a:gd name="adj" fmla="val 10016"/>
            </a:avLst>
          </a:prstGeom>
          <a:solidFill>
            <a:srgbClr val="D2A143"/>
          </a:solidFill>
          <a:ln w="44450" cap="flat" cmpd="sng" algn="ctr">
            <a:noFill/>
            <a:prstDash val="solid"/>
          </a:ln>
          <a:effectLst/>
        </p:spPr>
        <p:txBody>
          <a:bodyPr anchor="ctr"/>
          <a:lstStyle/>
          <a:p>
            <a:pPr algn="ctr" fontAlgn="base">
              <a:spcBef>
                <a:spcPct val="0"/>
              </a:spcBef>
              <a:spcAft>
                <a:spcPct val="0"/>
              </a:spcAft>
            </a:pPr>
            <a:endParaRPr kumimoji="1" lang="ko-KR" altLang="en-US" kern="0">
              <a:solidFill>
                <a:prstClr val="white"/>
              </a:solidFill>
              <a:latin typeface="Arial" panose="020B0604020202020204" pitchFamily="34" charset="0"/>
              <a:cs typeface="+mn-ea"/>
              <a:sym typeface="Arial" panose="020B0604020202020204" pitchFamily="34" charset="0"/>
            </a:endParaRPr>
          </a:p>
        </p:txBody>
      </p:sp>
      <p:sp>
        <p:nvSpPr>
          <p:cNvPr id="34" name="모서리가 둥근 직사각형 21"/>
          <p:cNvSpPr/>
          <p:nvPr/>
        </p:nvSpPr>
        <p:spPr>
          <a:xfrm>
            <a:off x="2401290" y="439807"/>
            <a:ext cx="3689541" cy="1908641"/>
          </a:xfrm>
          <a:prstGeom prst="roundRect">
            <a:avLst>
              <a:gd name="adj" fmla="val 16667"/>
            </a:avLst>
          </a:prstGeom>
        </p:spPr>
        <p:txBody>
          <a:bodyPr anchor="ctr"/>
          <a:lstStyle>
            <a:lvl1pPr eaLnBrk="0" hangingPunct="0">
              <a:defRPr kumimoji="1">
                <a:solidFill>
                  <a:schemeClr val="tx1"/>
                </a:solidFill>
                <a:latin typeface="Gulim" panose="020B0600000101010101" pitchFamily="34" charset="-127"/>
                <a:ea typeface="Gulim" panose="020B0600000101010101" pitchFamily="34" charset="-127"/>
              </a:defRPr>
            </a:lvl1pPr>
            <a:lvl2pPr marL="742950" indent="-285750" eaLnBrk="0" hangingPunct="0">
              <a:defRPr kumimoji="1">
                <a:solidFill>
                  <a:schemeClr val="tx1"/>
                </a:solidFill>
                <a:latin typeface="Gulim" panose="020B0600000101010101" pitchFamily="34" charset="-127"/>
                <a:ea typeface="Gulim" panose="020B0600000101010101" pitchFamily="34" charset="-127"/>
              </a:defRPr>
            </a:lvl2pPr>
            <a:lvl3pPr marL="1143000" indent="-228600" eaLnBrk="0" hangingPunct="0">
              <a:defRPr kumimoji="1">
                <a:solidFill>
                  <a:schemeClr val="tx1"/>
                </a:solidFill>
                <a:latin typeface="Gulim" panose="020B0600000101010101" pitchFamily="34" charset="-127"/>
                <a:ea typeface="Gulim" panose="020B0600000101010101" pitchFamily="34" charset="-127"/>
              </a:defRPr>
            </a:lvl3pPr>
            <a:lvl4pPr marL="1600200" indent="-228600" eaLnBrk="0" hangingPunct="0">
              <a:defRPr kumimoji="1">
                <a:solidFill>
                  <a:schemeClr val="tx1"/>
                </a:solidFill>
                <a:latin typeface="Gulim" panose="020B0600000101010101" pitchFamily="34" charset="-127"/>
                <a:ea typeface="Gulim" panose="020B0600000101010101" pitchFamily="34" charset="-127"/>
              </a:defRPr>
            </a:lvl4pPr>
            <a:lvl5pPr marL="2057400" indent="-228600" eaLnBrk="0" hangingPunct="0">
              <a:defRPr kumimoji="1">
                <a:solidFill>
                  <a:schemeClr val="tx1"/>
                </a:solidFill>
                <a:latin typeface="Gulim" panose="020B0600000101010101" pitchFamily="34" charset="-127"/>
                <a:ea typeface="Gulim"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Gulim" panose="020B0600000101010101" pitchFamily="34" charset="-127"/>
                <a:ea typeface="Gulim"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Gulim" panose="020B0600000101010101" pitchFamily="34" charset="-127"/>
                <a:ea typeface="Gulim"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Gulim" panose="020B0600000101010101" pitchFamily="34" charset="-127"/>
                <a:ea typeface="Gulim"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Gulim" panose="020B0600000101010101" pitchFamily="34" charset="-127"/>
                <a:ea typeface="Gulim" panose="020B0600000101010101" pitchFamily="34" charset="-127"/>
              </a:defRPr>
            </a:lvl9pPr>
          </a:lstStyle>
          <a:p>
            <a:pPr algn="ctr" eaLnBrk="1" fontAlgn="base" hangingPunct="1">
              <a:spcBef>
                <a:spcPct val="0"/>
              </a:spcBef>
              <a:spcAft>
                <a:spcPct val="0"/>
              </a:spcAft>
              <a:defRPr/>
            </a:pPr>
            <a:endParaRPr lang="ko-KR" altLang="en-US" kern="0">
              <a:solidFill>
                <a:prstClr val="white"/>
              </a:solidFill>
              <a:latin typeface="Arial" panose="020B0604020202020204" pitchFamily="34" charset="0"/>
              <a:ea typeface="Malgun Gothic" panose="020B0503020000020004" pitchFamily="34" charset="-127"/>
              <a:cs typeface="+mn-ea"/>
              <a:sym typeface="Arial" panose="020B0604020202020204" pitchFamily="34" charset="0"/>
            </a:endParaRPr>
          </a:p>
        </p:txBody>
      </p:sp>
      <p:sp>
        <p:nvSpPr>
          <p:cNvPr id="35" name="모서리가 둥근 직사각형 22"/>
          <p:cNvSpPr/>
          <p:nvPr/>
        </p:nvSpPr>
        <p:spPr>
          <a:xfrm>
            <a:off x="6503558" y="439807"/>
            <a:ext cx="3689541" cy="1908641"/>
          </a:xfrm>
          <a:prstGeom prst="roundRect">
            <a:avLst>
              <a:gd name="adj" fmla="val 16667"/>
            </a:avLst>
          </a:prstGeom>
        </p:spPr>
        <p:txBody>
          <a:bodyPr anchor="ctr"/>
          <a:lstStyle>
            <a:lvl1pPr eaLnBrk="0" hangingPunct="0">
              <a:defRPr kumimoji="1">
                <a:solidFill>
                  <a:schemeClr val="tx1"/>
                </a:solidFill>
                <a:latin typeface="Gulim" panose="020B0600000101010101" pitchFamily="34" charset="-127"/>
                <a:ea typeface="Gulim" panose="020B0600000101010101" pitchFamily="34" charset="-127"/>
              </a:defRPr>
            </a:lvl1pPr>
            <a:lvl2pPr marL="742950" indent="-285750" eaLnBrk="0" hangingPunct="0">
              <a:defRPr kumimoji="1">
                <a:solidFill>
                  <a:schemeClr val="tx1"/>
                </a:solidFill>
                <a:latin typeface="Gulim" panose="020B0600000101010101" pitchFamily="34" charset="-127"/>
                <a:ea typeface="Gulim" panose="020B0600000101010101" pitchFamily="34" charset="-127"/>
              </a:defRPr>
            </a:lvl2pPr>
            <a:lvl3pPr marL="1143000" indent="-228600" eaLnBrk="0" hangingPunct="0">
              <a:defRPr kumimoji="1">
                <a:solidFill>
                  <a:schemeClr val="tx1"/>
                </a:solidFill>
                <a:latin typeface="Gulim" panose="020B0600000101010101" pitchFamily="34" charset="-127"/>
                <a:ea typeface="Gulim" panose="020B0600000101010101" pitchFamily="34" charset="-127"/>
              </a:defRPr>
            </a:lvl3pPr>
            <a:lvl4pPr marL="1600200" indent="-228600" eaLnBrk="0" hangingPunct="0">
              <a:defRPr kumimoji="1">
                <a:solidFill>
                  <a:schemeClr val="tx1"/>
                </a:solidFill>
                <a:latin typeface="Gulim" panose="020B0600000101010101" pitchFamily="34" charset="-127"/>
                <a:ea typeface="Gulim" panose="020B0600000101010101" pitchFamily="34" charset="-127"/>
              </a:defRPr>
            </a:lvl4pPr>
            <a:lvl5pPr marL="2057400" indent="-228600" eaLnBrk="0" hangingPunct="0">
              <a:defRPr kumimoji="1">
                <a:solidFill>
                  <a:schemeClr val="tx1"/>
                </a:solidFill>
                <a:latin typeface="Gulim" panose="020B0600000101010101" pitchFamily="34" charset="-127"/>
                <a:ea typeface="Gulim"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Gulim" panose="020B0600000101010101" pitchFamily="34" charset="-127"/>
                <a:ea typeface="Gulim"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Gulim" panose="020B0600000101010101" pitchFamily="34" charset="-127"/>
                <a:ea typeface="Gulim"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Gulim" panose="020B0600000101010101" pitchFamily="34" charset="-127"/>
                <a:ea typeface="Gulim"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Gulim" panose="020B0600000101010101" pitchFamily="34" charset="-127"/>
                <a:ea typeface="Gulim" panose="020B0600000101010101" pitchFamily="34" charset="-127"/>
              </a:defRPr>
            </a:lvl9pPr>
          </a:lstStyle>
          <a:p>
            <a:pPr algn="ctr" eaLnBrk="1" fontAlgn="base" hangingPunct="1">
              <a:spcBef>
                <a:spcPct val="0"/>
              </a:spcBef>
              <a:spcAft>
                <a:spcPct val="0"/>
              </a:spcAft>
              <a:defRPr/>
            </a:pPr>
            <a:endParaRPr lang="ko-KR" altLang="en-US" kern="0">
              <a:solidFill>
                <a:prstClr val="white"/>
              </a:solidFill>
              <a:latin typeface="Arial" panose="020B0604020202020204" pitchFamily="34" charset="0"/>
              <a:ea typeface="Malgun Gothic" panose="020B0503020000020004" pitchFamily="34" charset="-127"/>
              <a:cs typeface="+mn-ea"/>
              <a:sym typeface="Arial" panose="020B0604020202020204" pitchFamily="34" charset="0"/>
            </a:endParaRPr>
          </a:p>
        </p:txBody>
      </p:sp>
      <p:sp>
        <p:nvSpPr>
          <p:cNvPr id="36" name="모서리가 둥근 직사각형 23"/>
          <p:cNvSpPr/>
          <p:nvPr/>
        </p:nvSpPr>
        <p:spPr>
          <a:xfrm>
            <a:off x="2313593" y="3583247"/>
            <a:ext cx="3689541" cy="1908641"/>
          </a:xfrm>
          <a:prstGeom prst="roundRect">
            <a:avLst>
              <a:gd name="adj" fmla="val 16667"/>
            </a:avLst>
          </a:prstGeom>
        </p:spPr>
        <p:txBody>
          <a:bodyPr anchor="ctr"/>
          <a:lstStyle>
            <a:lvl1pPr eaLnBrk="0" hangingPunct="0">
              <a:defRPr kumimoji="1">
                <a:solidFill>
                  <a:schemeClr val="tx1"/>
                </a:solidFill>
                <a:latin typeface="Gulim" panose="020B0600000101010101" pitchFamily="34" charset="-127"/>
                <a:ea typeface="Gulim" panose="020B0600000101010101" pitchFamily="34" charset="-127"/>
              </a:defRPr>
            </a:lvl1pPr>
            <a:lvl2pPr marL="742950" indent="-285750" eaLnBrk="0" hangingPunct="0">
              <a:defRPr kumimoji="1">
                <a:solidFill>
                  <a:schemeClr val="tx1"/>
                </a:solidFill>
                <a:latin typeface="Gulim" panose="020B0600000101010101" pitchFamily="34" charset="-127"/>
                <a:ea typeface="Gulim" panose="020B0600000101010101" pitchFamily="34" charset="-127"/>
              </a:defRPr>
            </a:lvl2pPr>
            <a:lvl3pPr marL="1143000" indent="-228600" eaLnBrk="0" hangingPunct="0">
              <a:defRPr kumimoji="1">
                <a:solidFill>
                  <a:schemeClr val="tx1"/>
                </a:solidFill>
                <a:latin typeface="Gulim" panose="020B0600000101010101" pitchFamily="34" charset="-127"/>
                <a:ea typeface="Gulim" panose="020B0600000101010101" pitchFamily="34" charset="-127"/>
              </a:defRPr>
            </a:lvl3pPr>
            <a:lvl4pPr marL="1600200" indent="-228600" eaLnBrk="0" hangingPunct="0">
              <a:defRPr kumimoji="1">
                <a:solidFill>
                  <a:schemeClr val="tx1"/>
                </a:solidFill>
                <a:latin typeface="Gulim" panose="020B0600000101010101" pitchFamily="34" charset="-127"/>
                <a:ea typeface="Gulim" panose="020B0600000101010101" pitchFamily="34" charset="-127"/>
              </a:defRPr>
            </a:lvl4pPr>
            <a:lvl5pPr marL="2057400" indent="-228600" eaLnBrk="0" hangingPunct="0">
              <a:defRPr kumimoji="1">
                <a:solidFill>
                  <a:schemeClr val="tx1"/>
                </a:solidFill>
                <a:latin typeface="Gulim" panose="020B0600000101010101" pitchFamily="34" charset="-127"/>
                <a:ea typeface="Gulim"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Gulim" panose="020B0600000101010101" pitchFamily="34" charset="-127"/>
                <a:ea typeface="Gulim"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Gulim" panose="020B0600000101010101" pitchFamily="34" charset="-127"/>
                <a:ea typeface="Gulim"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Gulim" panose="020B0600000101010101" pitchFamily="34" charset="-127"/>
                <a:ea typeface="Gulim"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Gulim" panose="020B0600000101010101" pitchFamily="34" charset="-127"/>
                <a:ea typeface="Gulim" panose="020B0600000101010101" pitchFamily="34" charset="-127"/>
              </a:defRPr>
            </a:lvl9pPr>
          </a:lstStyle>
          <a:p>
            <a:pPr algn="ctr" eaLnBrk="1" fontAlgn="base" hangingPunct="1">
              <a:spcBef>
                <a:spcPct val="0"/>
              </a:spcBef>
              <a:spcAft>
                <a:spcPct val="0"/>
              </a:spcAft>
              <a:defRPr/>
            </a:pPr>
            <a:endParaRPr lang="ko-KR" altLang="en-US" kern="0">
              <a:solidFill>
                <a:prstClr val="white"/>
              </a:solidFill>
              <a:latin typeface="Arial" panose="020B0604020202020204" pitchFamily="34" charset="0"/>
              <a:ea typeface="Malgun Gothic" panose="020B0503020000020004" pitchFamily="34" charset="-127"/>
              <a:cs typeface="+mn-ea"/>
              <a:sym typeface="Arial" panose="020B0604020202020204" pitchFamily="34" charset="0"/>
            </a:endParaRPr>
          </a:p>
        </p:txBody>
      </p:sp>
      <p:sp>
        <p:nvSpPr>
          <p:cNvPr id="37" name="모서리가 둥근 직사각형 24"/>
          <p:cNvSpPr/>
          <p:nvPr/>
        </p:nvSpPr>
        <p:spPr>
          <a:xfrm>
            <a:off x="6415861" y="3583247"/>
            <a:ext cx="3689541" cy="1908641"/>
          </a:xfrm>
          <a:prstGeom prst="roundRect">
            <a:avLst>
              <a:gd name="adj" fmla="val 16667"/>
            </a:avLst>
          </a:prstGeom>
        </p:spPr>
        <p:txBody>
          <a:bodyPr anchor="ctr"/>
          <a:lstStyle>
            <a:lvl1pPr eaLnBrk="0" hangingPunct="0">
              <a:defRPr kumimoji="1">
                <a:solidFill>
                  <a:schemeClr val="tx1"/>
                </a:solidFill>
                <a:latin typeface="Gulim" panose="020B0600000101010101" pitchFamily="34" charset="-127"/>
                <a:ea typeface="Gulim" panose="020B0600000101010101" pitchFamily="34" charset="-127"/>
              </a:defRPr>
            </a:lvl1pPr>
            <a:lvl2pPr marL="742950" indent="-285750" eaLnBrk="0" hangingPunct="0">
              <a:defRPr kumimoji="1">
                <a:solidFill>
                  <a:schemeClr val="tx1"/>
                </a:solidFill>
                <a:latin typeface="Gulim" panose="020B0600000101010101" pitchFamily="34" charset="-127"/>
                <a:ea typeface="Gulim" panose="020B0600000101010101" pitchFamily="34" charset="-127"/>
              </a:defRPr>
            </a:lvl2pPr>
            <a:lvl3pPr marL="1143000" indent="-228600" eaLnBrk="0" hangingPunct="0">
              <a:defRPr kumimoji="1">
                <a:solidFill>
                  <a:schemeClr val="tx1"/>
                </a:solidFill>
                <a:latin typeface="Gulim" panose="020B0600000101010101" pitchFamily="34" charset="-127"/>
                <a:ea typeface="Gulim" panose="020B0600000101010101" pitchFamily="34" charset="-127"/>
              </a:defRPr>
            </a:lvl3pPr>
            <a:lvl4pPr marL="1600200" indent="-228600" eaLnBrk="0" hangingPunct="0">
              <a:defRPr kumimoji="1">
                <a:solidFill>
                  <a:schemeClr val="tx1"/>
                </a:solidFill>
                <a:latin typeface="Gulim" panose="020B0600000101010101" pitchFamily="34" charset="-127"/>
                <a:ea typeface="Gulim" panose="020B0600000101010101" pitchFamily="34" charset="-127"/>
              </a:defRPr>
            </a:lvl4pPr>
            <a:lvl5pPr marL="2057400" indent="-228600" eaLnBrk="0" hangingPunct="0">
              <a:defRPr kumimoji="1">
                <a:solidFill>
                  <a:schemeClr val="tx1"/>
                </a:solidFill>
                <a:latin typeface="Gulim" panose="020B0600000101010101" pitchFamily="34" charset="-127"/>
                <a:ea typeface="Gulim"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Gulim" panose="020B0600000101010101" pitchFamily="34" charset="-127"/>
                <a:ea typeface="Gulim"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Gulim" panose="020B0600000101010101" pitchFamily="34" charset="-127"/>
                <a:ea typeface="Gulim"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Gulim" panose="020B0600000101010101" pitchFamily="34" charset="-127"/>
                <a:ea typeface="Gulim"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Gulim" panose="020B0600000101010101" pitchFamily="34" charset="-127"/>
                <a:ea typeface="Gulim" panose="020B0600000101010101" pitchFamily="34" charset="-127"/>
              </a:defRPr>
            </a:lvl9pPr>
          </a:lstStyle>
          <a:p>
            <a:pPr algn="ctr" eaLnBrk="1" fontAlgn="base" hangingPunct="1">
              <a:spcBef>
                <a:spcPct val="0"/>
              </a:spcBef>
              <a:spcAft>
                <a:spcPct val="0"/>
              </a:spcAft>
              <a:defRPr/>
            </a:pPr>
            <a:endParaRPr lang="ko-KR" altLang="en-US" kern="0">
              <a:solidFill>
                <a:prstClr val="white"/>
              </a:solidFill>
              <a:latin typeface="Arial" panose="020B0604020202020204" pitchFamily="34" charset="0"/>
              <a:ea typeface="Malgun Gothic" panose="020B0503020000020004" pitchFamily="34" charset="-127"/>
              <a:cs typeface="+mn-ea"/>
              <a:sym typeface="Arial" panose="020B0604020202020204" pitchFamily="34" charset="0"/>
            </a:endParaRPr>
          </a:p>
        </p:txBody>
      </p:sp>
      <p:sp>
        <p:nvSpPr>
          <p:cNvPr id="38" name="타원 25@|1FFC:0|FBC:0|LFC:16777215|LBC:16777215"/>
          <p:cNvSpPr/>
          <p:nvPr/>
        </p:nvSpPr>
        <p:spPr>
          <a:xfrm>
            <a:off x="5069061" y="2257125"/>
            <a:ext cx="2239290" cy="2239291"/>
          </a:xfrm>
          <a:prstGeom prst="ellipse">
            <a:avLst/>
          </a:prstGeom>
          <a:solidFill>
            <a:srgbClr val="FFFFFF"/>
          </a:solidFill>
          <a:ln w="44450" cap="flat" cmpd="sng" algn="ctr">
            <a:noFill/>
            <a:prstDash val="solid"/>
          </a:ln>
          <a:effectLst/>
        </p:spPr>
        <p:txBody>
          <a:bodyPr anchor="ctr"/>
          <a:lstStyle/>
          <a:p>
            <a:pPr algn="ctr" fontAlgn="base">
              <a:spcBef>
                <a:spcPct val="0"/>
              </a:spcBef>
              <a:spcAft>
                <a:spcPct val="0"/>
              </a:spcAft>
            </a:pPr>
            <a:endParaRPr kumimoji="1" lang="ko-KR" altLang="en-US" kern="0">
              <a:solidFill>
                <a:srgbClr val="FFFFFF"/>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39" name="원호 27@|1FFC:0|FBC:0|LFC:12566463|LBC:16777215"/>
          <p:cNvSpPr/>
          <p:nvPr/>
        </p:nvSpPr>
        <p:spPr>
          <a:xfrm>
            <a:off x="5293555" y="2468040"/>
            <a:ext cx="1807300" cy="1807299"/>
          </a:xfrm>
          <a:prstGeom prst="arc">
            <a:avLst>
              <a:gd name="adj1" fmla="val 16200000"/>
              <a:gd name="adj2" fmla="val 12086864"/>
            </a:avLst>
          </a:prstGeom>
          <a:noFill/>
          <a:ln w="63500" cap="flat" cmpd="sng" algn="ctr">
            <a:solidFill>
              <a:srgbClr val="ADBACA"/>
            </a:solidFill>
            <a:prstDash val="solid"/>
            <a:tailEnd type="triangle" w="lg" len="lg"/>
          </a:ln>
          <a:effectLst/>
        </p:spPr>
        <p:txBody>
          <a:bodyPr anchor="ctr"/>
          <a:lstStyle>
            <a:lvl1pPr eaLnBrk="0" hangingPunct="0">
              <a:defRPr kumimoji="1">
                <a:solidFill>
                  <a:schemeClr val="tx1"/>
                </a:solidFill>
                <a:latin typeface="Gulim" panose="020B0600000101010101" pitchFamily="34" charset="-127"/>
                <a:ea typeface="Gulim" panose="020B0600000101010101" pitchFamily="34" charset="-127"/>
              </a:defRPr>
            </a:lvl1pPr>
            <a:lvl2pPr marL="742950" indent="-285750" eaLnBrk="0" hangingPunct="0">
              <a:defRPr kumimoji="1">
                <a:solidFill>
                  <a:schemeClr val="tx1"/>
                </a:solidFill>
                <a:latin typeface="Gulim" panose="020B0600000101010101" pitchFamily="34" charset="-127"/>
                <a:ea typeface="Gulim" panose="020B0600000101010101" pitchFamily="34" charset="-127"/>
              </a:defRPr>
            </a:lvl2pPr>
            <a:lvl3pPr marL="1143000" indent="-228600" eaLnBrk="0" hangingPunct="0">
              <a:defRPr kumimoji="1">
                <a:solidFill>
                  <a:schemeClr val="tx1"/>
                </a:solidFill>
                <a:latin typeface="Gulim" panose="020B0600000101010101" pitchFamily="34" charset="-127"/>
                <a:ea typeface="Gulim" panose="020B0600000101010101" pitchFamily="34" charset="-127"/>
              </a:defRPr>
            </a:lvl3pPr>
            <a:lvl4pPr marL="1600200" indent="-228600" eaLnBrk="0" hangingPunct="0">
              <a:defRPr kumimoji="1">
                <a:solidFill>
                  <a:schemeClr val="tx1"/>
                </a:solidFill>
                <a:latin typeface="Gulim" panose="020B0600000101010101" pitchFamily="34" charset="-127"/>
                <a:ea typeface="Gulim" panose="020B0600000101010101" pitchFamily="34" charset="-127"/>
              </a:defRPr>
            </a:lvl4pPr>
            <a:lvl5pPr marL="2057400" indent="-228600" eaLnBrk="0" hangingPunct="0">
              <a:defRPr kumimoji="1">
                <a:solidFill>
                  <a:schemeClr val="tx1"/>
                </a:solidFill>
                <a:latin typeface="Gulim" panose="020B0600000101010101" pitchFamily="34" charset="-127"/>
                <a:ea typeface="Gulim"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Gulim" panose="020B0600000101010101" pitchFamily="34" charset="-127"/>
                <a:ea typeface="Gulim"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Gulim" panose="020B0600000101010101" pitchFamily="34" charset="-127"/>
                <a:ea typeface="Gulim"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Gulim" panose="020B0600000101010101" pitchFamily="34" charset="-127"/>
                <a:ea typeface="Gulim"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Gulim" panose="020B0600000101010101" pitchFamily="34" charset="-127"/>
                <a:ea typeface="Gulim" panose="020B0600000101010101" pitchFamily="34" charset="-127"/>
              </a:defRPr>
            </a:lvl9pPr>
          </a:lstStyle>
          <a:p>
            <a:pPr algn="ctr" eaLnBrk="1" fontAlgn="base" latinLnBrk="1" hangingPunct="1">
              <a:spcBef>
                <a:spcPct val="0"/>
              </a:spcBef>
              <a:spcAft>
                <a:spcPct val="0"/>
              </a:spcAft>
              <a:defRPr/>
            </a:pPr>
            <a:endParaRPr lang="ko-KR" altLang="en-US" kern="0">
              <a:solidFill>
                <a:prstClr val="white"/>
              </a:solidFill>
              <a:latin typeface="Arial" panose="020B0604020202020204" pitchFamily="34" charset="0"/>
              <a:ea typeface="Malgun Gothic" panose="020B0503020000020004" pitchFamily="34" charset="-127"/>
              <a:cs typeface="+mn-ea"/>
              <a:sym typeface="Arial" panose="020B0604020202020204" pitchFamily="34" charset="0"/>
            </a:endParaRPr>
          </a:p>
        </p:txBody>
      </p:sp>
      <p:sp>
        <p:nvSpPr>
          <p:cNvPr id="40" name="TextBox 13"/>
          <p:cNvSpPr txBox="1"/>
          <p:nvPr/>
        </p:nvSpPr>
        <p:spPr>
          <a:xfrm>
            <a:off x="2631569" y="1810586"/>
            <a:ext cx="1952995" cy="307777"/>
          </a:xfrm>
          <a:prstGeom prst="rect">
            <a:avLst/>
          </a:prstGeom>
          <a:noFill/>
        </p:spPr>
        <p:txBody>
          <a:bodyPr wrap="square" lIns="0" tIns="0" rIns="0" bIns="0" rtlCol="0" anchor="t" anchorCtr="0">
            <a:spAutoFit/>
          </a:bodyPr>
          <a:lstStyle/>
          <a:p>
            <a:pPr defTabSz="1216660">
              <a:spcBef>
                <a:spcPct val="20000"/>
              </a:spcBef>
              <a:defRPr/>
            </a:pPr>
            <a:r>
              <a:rPr lang="zh-CN" altLang="en-US" sz="2000" b="1" dirty="0">
                <a:solidFill>
                  <a:srgbClr val="FFFFFF"/>
                </a:solidFill>
                <a:latin typeface="+mn-ea"/>
                <a:sym typeface="Arial" panose="020B0604020202020204" pitchFamily="34" charset="0"/>
              </a:rPr>
              <a:t>传统投顾痛点</a:t>
            </a:r>
          </a:p>
        </p:txBody>
      </p:sp>
      <p:sp>
        <p:nvSpPr>
          <p:cNvPr id="41" name="TextBox 13"/>
          <p:cNvSpPr txBox="1"/>
          <p:nvPr/>
        </p:nvSpPr>
        <p:spPr>
          <a:xfrm>
            <a:off x="2578486" y="2223765"/>
            <a:ext cx="2333999" cy="984885"/>
          </a:xfrm>
          <a:prstGeom prst="rect">
            <a:avLst/>
          </a:prstGeom>
          <a:noFill/>
        </p:spPr>
        <p:txBody>
          <a:bodyPr wrap="square" lIns="0" tIns="0" rIns="0" bIns="0" rtlCol="0" anchor="t" anchorCtr="0">
            <a:spAutoFit/>
          </a:bodyPr>
          <a:lstStyle/>
          <a:p>
            <a:r>
              <a:rPr lang="zh-CN" altLang="en-US" sz="1600" dirty="0">
                <a:solidFill>
                  <a:schemeClr val="bg1"/>
                </a:solidFill>
                <a:latin typeface="+mj-ea"/>
                <a:ea typeface="+mj-ea"/>
              </a:rPr>
              <a:t>无法快速匹配投资需求</a:t>
            </a:r>
            <a:endParaRPr lang="en-US" altLang="zh-CN" sz="1600" dirty="0">
              <a:solidFill>
                <a:schemeClr val="bg1"/>
              </a:solidFill>
              <a:latin typeface="+mj-ea"/>
              <a:ea typeface="+mj-ea"/>
            </a:endParaRPr>
          </a:p>
          <a:p>
            <a:r>
              <a:rPr lang="zh-CN" altLang="en-US" sz="1600" dirty="0">
                <a:solidFill>
                  <a:schemeClr val="bg1"/>
                </a:solidFill>
                <a:latin typeface="+mj-ea"/>
                <a:ea typeface="+mj-ea"/>
              </a:rPr>
              <a:t>无法</a:t>
            </a:r>
            <a:r>
              <a:rPr lang="en-US" altLang="zh-CN" sz="1600" dirty="0">
                <a:solidFill>
                  <a:schemeClr val="bg1"/>
                </a:solidFill>
                <a:latin typeface="+mj-ea"/>
                <a:ea typeface="+mj-ea"/>
              </a:rPr>
              <a:t>7</a:t>
            </a:r>
            <a:r>
              <a:rPr lang="zh-CN" altLang="en-US" sz="1600" dirty="0">
                <a:solidFill>
                  <a:schemeClr val="bg1"/>
                </a:solidFill>
                <a:latin typeface="+mj-ea"/>
                <a:ea typeface="+mj-ea"/>
              </a:rPr>
              <a:t>*</a:t>
            </a:r>
            <a:r>
              <a:rPr lang="en-US" altLang="zh-CN" sz="1600" dirty="0">
                <a:solidFill>
                  <a:schemeClr val="bg1"/>
                </a:solidFill>
                <a:latin typeface="+mj-ea"/>
                <a:ea typeface="+mj-ea"/>
              </a:rPr>
              <a:t>24</a:t>
            </a:r>
            <a:r>
              <a:rPr lang="zh-CN" altLang="en-US" sz="1600" dirty="0">
                <a:solidFill>
                  <a:schemeClr val="bg1"/>
                </a:solidFill>
                <a:latin typeface="+mj-ea"/>
                <a:ea typeface="+mj-ea"/>
              </a:rPr>
              <a:t>小时保持实时数据披露和高流动，人力成本高</a:t>
            </a:r>
          </a:p>
        </p:txBody>
      </p:sp>
      <p:sp>
        <p:nvSpPr>
          <p:cNvPr id="42" name="TextBox 13"/>
          <p:cNvSpPr txBox="1"/>
          <p:nvPr/>
        </p:nvSpPr>
        <p:spPr>
          <a:xfrm>
            <a:off x="2605628" y="3771792"/>
            <a:ext cx="2200910" cy="307777"/>
          </a:xfrm>
          <a:prstGeom prst="rect">
            <a:avLst/>
          </a:prstGeom>
          <a:noFill/>
        </p:spPr>
        <p:txBody>
          <a:bodyPr wrap="square" lIns="0" tIns="0" rIns="0" bIns="0" rtlCol="0" anchor="t" anchorCtr="0">
            <a:spAutoFit/>
          </a:bodyPr>
          <a:lstStyle/>
          <a:p>
            <a:pPr defTabSz="1216660">
              <a:spcBef>
                <a:spcPct val="20000"/>
              </a:spcBef>
              <a:defRPr/>
            </a:pPr>
            <a:r>
              <a:rPr lang="zh-CN" altLang="en-US" sz="2000" b="1" dirty="0">
                <a:solidFill>
                  <a:srgbClr val="FFFFFF"/>
                </a:solidFill>
                <a:latin typeface="+mn-ea"/>
                <a:sym typeface="Arial" panose="020B0604020202020204" pitchFamily="34" charset="0"/>
              </a:rPr>
              <a:t>散户痛点</a:t>
            </a:r>
          </a:p>
        </p:txBody>
      </p:sp>
      <p:sp>
        <p:nvSpPr>
          <p:cNvPr id="43" name="TextBox 13"/>
          <p:cNvSpPr txBox="1"/>
          <p:nvPr/>
        </p:nvSpPr>
        <p:spPr>
          <a:xfrm>
            <a:off x="2545984" y="4106029"/>
            <a:ext cx="2333999" cy="984885"/>
          </a:xfrm>
          <a:prstGeom prst="rect">
            <a:avLst/>
          </a:prstGeom>
          <a:noFill/>
        </p:spPr>
        <p:txBody>
          <a:bodyPr wrap="square" lIns="0" tIns="0" rIns="0" bIns="0" rtlCol="0" anchor="t" anchorCtr="0">
            <a:spAutoFit/>
          </a:bodyPr>
          <a:lstStyle/>
          <a:p>
            <a:r>
              <a:rPr lang="zh-CN" altLang="en-US" sz="1600" dirty="0">
                <a:solidFill>
                  <a:schemeClr val="bg1"/>
                </a:solidFill>
                <a:latin typeface="+mj-ea"/>
                <a:ea typeface="+mj-ea"/>
              </a:rPr>
              <a:t>自我认知不清晰</a:t>
            </a:r>
            <a:endParaRPr lang="en-US" altLang="zh-CN" sz="1600" dirty="0">
              <a:solidFill>
                <a:schemeClr val="bg1"/>
              </a:solidFill>
              <a:latin typeface="+mj-ea"/>
              <a:ea typeface="+mj-ea"/>
            </a:endParaRPr>
          </a:p>
          <a:p>
            <a:r>
              <a:rPr lang="zh-CN" altLang="en-US" sz="1600" dirty="0">
                <a:solidFill>
                  <a:schemeClr val="bg1"/>
                </a:solidFill>
                <a:latin typeface="+mj-ea"/>
                <a:ea typeface="+mj-ea"/>
              </a:rPr>
              <a:t>无法挑选合适的投资标的</a:t>
            </a:r>
            <a:endParaRPr lang="en-US" altLang="zh-CN" sz="1600" dirty="0">
              <a:solidFill>
                <a:schemeClr val="bg1"/>
              </a:solidFill>
              <a:latin typeface="+mj-ea"/>
              <a:ea typeface="+mj-ea"/>
            </a:endParaRPr>
          </a:p>
          <a:p>
            <a:r>
              <a:rPr lang="zh-CN" altLang="en-US" sz="1600" dirty="0">
                <a:solidFill>
                  <a:schemeClr val="bg1"/>
                </a:solidFill>
                <a:latin typeface="+mj-ea"/>
                <a:ea typeface="+mj-ea"/>
              </a:rPr>
              <a:t>无法克服追涨杀跌等的人性弱点</a:t>
            </a:r>
            <a:endParaRPr lang="en-US" altLang="zh-CN" sz="1600" dirty="0">
              <a:solidFill>
                <a:schemeClr val="bg1"/>
              </a:solidFill>
              <a:latin typeface="+mj-ea"/>
              <a:ea typeface="+mj-ea"/>
            </a:endParaRPr>
          </a:p>
        </p:txBody>
      </p:sp>
      <p:sp>
        <p:nvSpPr>
          <p:cNvPr id="45" name="TextBox 13"/>
          <p:cNvSpPr txBox="1"/>
          <p:nvPr/>
        </p:nvSpPr>
        <p:spPr>
          <a:xfrm>
            <a:off x="7307840" y="2346763"/>
            <a:ext cx="2333999" cy="738664"/>
          </a:xfrm>
          <a:prstGeom prst="rect">
            <a:avLst/>
          </a:prstGeom>
          <a:noFill/>
        </p:spPr>
        <p:txBody>
          <a:bodyPr wrap="square" lIns="0" tIns="0" rIns="0" bIns="0" rtlCol="0" anchor="t" anchorCtr="0">
            <a:spAutoFit/>
          </a:bodyPr>
          <a:lstStyle/>
          <a:p>
            <a:r>
              <a:rPr lang="zh-CN" altLang="en-US" sz="1600" dirty="0">
                <a:solidFill>
                  <a:schemeClr val="bg1"/>
                </a:solidFill>
              </a:rPr>
              <a:t>配置资产缺乏</a:t>
            </a:r>
            <a:endParaRPr lang="en-US" altLang="zh-CN" sz="1600" dirty="0">
              <a:solidFill>
                <a:schemeClr val="bg1"/>
              </a:solidFill>
            </a:endParaRPr>
          </a:p>
          <a:p>
            <a:r>
              <a:rPr lang="zh-CN" altLang="en-US" sz="1600" dirty="0">
                <a:solidFill>
                  <a:schemeClr val="bg1"/>
                </a:solidFill>
              </a:rPr>
              <a:t>无成套的交易管理系统</a:t>
            </a:r>
            <a:endParaRPr lang="en-US" altLang="zh-CN" sz="1600" dirty="0">
              <a:solidFill>
                <a:schemeClr val="bg1"/>
              </a:solidFill>
            </a:endParaRPr>
          </a:p>
          <a:p>
            <a:r>
              <a:rPr lang="zh-CN" altLang="en-US" sz="1600" dirty="0">
                <a:solidFill>
                  <a:schemeClr val="bg1"/>
                </a:solidFill>
              </a:rPr>
              <a:t>算法模型匹配仍需验证</a:t>
            </a:r>
          </a:p>
        </p:txBody>
      </p:sp>
      <p:sp>
        <p:nvSpPr>
          <p:cNvPr id="46" name="TextBox 13"/>
          <p:cNvSpPr txBox="1"/>
          <p:nvPr/>
        </p:nvSpPr>
        <p:spPr>
          <a:xfrm>
            <a:off x="7307840" y="3815595"/>
            <a:ext cx="2418196" cy="307777"/>
          </a:xfrm>
          <a:prstGeom prst="rect">
            <a:avLst/>
          </a:prstGeom>
          <a:noFill/>
        </p:spPr>
        <p:txBody>
          <a:bodyPr wrap="square" lIns="0" tIns="0" rIns="0" bIns="0" rtlCol="0" anchor="t" anchorCtr="0">
            <a:spAutoFit/>
          </a:bodyPr>
          <a:lstStyle/>
          <a:p>
            <a:pPr defTabSz="1216660">
              <a:spcBef>
                <a:spcPct val="20000"/>
              </a:spcBef>
              <a:defRPr/>
            </a:pPr>
            <a:r>
              <a:rPr lang="zh-CN" altLang="en-US" sz="2000" b="1" dirty="0">
                <a:solidFill>
                  <a:srgbClr val="FFFFFF"/>
                </a:solidFill>
                <a:latin typeface="+mn-ea"/>
                <a:sym typeface="Arial" panose="020B0604020202020204" pitchFamily="34" charset="0"/>
              </a:rPr>
              <a:t>进阶用户痛点</a:t>
            </a:r>
          </a:p>
        </p:txBody>
      </p:sp>
      <p:sp>
        <p:nvSpPr>
          <p:cNvPr id="47" name="TextBox 13"/>
          <p:cNvSpPr txBox="1"/>
          <p:nvPr/>
        </p:nvSpPr>
        <p:spPr>
          <a:xfrm>
            <a:off x="7313668" y="4190041"/>
            <a:ext cx="2333999" cy="738664"/>
          </a:xfrm>
          <a:prstGeom prst="rect">
            <a:avLst/>
          </a:prstGeom>
          <a:noFill/>
        </p:spPr>
        <p:txBody>
          <a:bodyPr wrap="square" lIns="0" tIns="0" rIns="0" bIns="0" rtlCol="0" anchor="t" anchorCtr="0">
            <a:spAutoFit/>
          </a:bodyPr>
          <a:lstStyle/>
          <a:p>
            <a:pPr defTabSz="1216660">
              <a:spcBef>
                <a:spcPct val="20000"/>
              </a:spcBef>
              <a:defRPr/>
            </a:pPr>
            <a:r>
              <a:rPr lang="zh-CN" altLang="en-US" sz="1600" dirty="0">
                <a:solidFill>
                  <a:srgbClr val="FFFFFF"/>
                </a:solidFill>
                <a:latin typeface="+mj-ea"/>
                <a:ea typeface="+mj-ea"/>
                <a:sym typeface="Arial" panose="020B0604020202020204" pitchFamily="34" charset="0"/>
              </a:rPr>
              <a:t>投资时间成本高</a:t>
            </a:r>
            <a:endParaRPr lang="en-US" altLang="zh-CN" sz="1600" dirty="0">
              <a:solidFill>
                <a:srgbClr val="FFFFFF"/>
              </a:solidFill>
              <a:latin typeface="+mj-ea"/>
              <a:ea typeface="+mj-ea"/>
              <a:sym typeface="Arial" panose="020B0604020202020204" pitchFamily="34" charset="0"/>
            </a:endParaRPr>
          </a:p>
          <a:p>
            <a:r>
              <a:rPr lang="zh-CN" altLang="en-US" sz="1600" dirty="0">
                <a:solidFill>
                  <a:srgbClr val="FFFFFF"/>
                </a:solidFill>
                <a:latin typeface="+mj-ea"/>
                <a:ea typeface="+mj-ea"/>
                <a:sym typeface="Arial" panose="020B0604020202020204" pitchFamily="34" charset="0"/>
              </a:rPr>
              <a:t>配置全球资产的渠道有限</a:t>
            </a:r>
            <a:endParaRPr lang="en-US" altLang="zh-CN" sz="1600" dirty="0">
              <a:solidFill>
                <a:srgbClr val="FFFFFF"/>
              </a:solidFill>
              <a:latin typeface="+mj-ea"/>
              <a:ea typeface="+mj-ea"/>
              <a:sym typeface="Arial" panose="020B0604020202020204" pitchFamily="34" charset="0"/>
            </a:endParaRPr>
          </a:p>
          <a:p>
            <a:r>
              <a:rPr lang="zh-CN" altLang="en-US" sz="1600" dirty="0">
                <a:solidFill>
                  <a:srgbClr val="FFFFFF"/>
                </a:solidFill>
                <a:latin typeface="+mj-ea"/>
                <a:ea typeface="+mj-ea"/>
                <a:sym typeface="Arial" panose="020B0604020202020204" pitchFamily="34" charset="0"/>
              </a:rPr>
              <a:t>分平台交易交易费率高</a:t>
            </a:r>
          </a:p>
        </p:txBody>
      </p:sp>
      <p:sp>
        <p:nvSpPr>
          <p:cNvPr id="49" name="TextBox 13"/>
          <p:cNvSpPr txBox="1"/>
          <p:nvPr/>
        </p:nvSpPr>
        <p:spPr>
          <a:xfrm>
            <a:off x="7325349" y="1887468"/>
            <a:ext cx="1952995" cy="307777"/>
          </a:xfrm>
          <a:prstGeom prst="rect">
            <a:avLst/>
          </a:prstGeom>
          <a:noFill/>
        </p:spPr>
        <p:txBody>
          <a:bodyPr wrap="square" lIns="0" tIns="0" rIns="0" bIns="0" rtlCol="0" anchor="t" anchorCtr="0">
            <a:spAutoFit/>
          </a:bodyPr>
          <a:lstStyle/>
          <a:p>
            <a:pPr defTabSz="1216660">
              <a:spcBef>
                <a:spcPct val="20000"/>
              </a:spcBef>
              <a:defRPr/>
            </a:pPr>
            <a:r>
              <a:rPr lang="zh-CN" altLang="en-US" sz="2000" b="1" dirty="0">
                <a:solidFill>
                  <a:srgbClr val="FFFFFF"/>
                </a:solidFill>
                <a:latin typeface="+mn-ea"/>
                <a:sym typeface="Arial" panose="020B0604020202020204" pitchFamily="34" charset="0"/>
              </a:rPr>
              <a:t>其他投顾问题</a:t>
            </a:r>
          </a:p>
        </p:txBody>
      </p:sp>
      <p:grpSp>
        <p:nvGrpSpPr>
          <p:cNvPr id="44" name="组 43"/>
          <p:cNvGrpSpPr/>
          <p:nvPr/>
        </p:nvGrpSpPr>
        <p:grpSpPr>
          <a:xfrm>
            <a:off x="1040299" y="852945"/>
            <a:ext cx="6446261" cy="103887"/>
            <a:chOff x="1040299" y="852945"/>
            <a:chExt cx="6446261" cy="103887"/>
          </a:xfrm>
        </p:grpSpPr>
        <p:sp>
          <p:nvSpPr>
            <p:cNvPr id="50" name="矩形 49">
              <a:extLst>
                <a:ext uri="{FF2B5EF4-FFF2-40B4-BE49-F238E27FC236}">
                  <a16:creationId xmlns:a16="http://schemas.microsoft.com/office/drawing/2014/main" id="{07CCDA19-C78F-4FEF-9A33-1AEE922E976D}"/>
                </a:ext>
              </a:extLst>
            </p:cNvPr>
            <p:cNvSpPr/>
            <p:nvPr/>
          </p:nvSpPr>
          <p:spPr>
            <a:xfrm>
              <a:off x="1040299" y="852945"/>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a:extLst>
                <a:ext uri="{FF2B5EF4-FFF2-40B4-BE49-F238E27FC236}">
                  <a16:creationId xmlns:a16="http://schemas.microsoft.com/office/drawing/2014/main" id="{FD35F411-A1E5-4031-B455-0E2C81A8D091}"/>
                </a:ext>
              </a:extLst>
            </p:cNvPr>
            <p:cNvSpPr/>
            <p:nvPr/>
          </p:nvSpPr>
          <p:spPr>
            <a:xfrm>
              <a:off x="5113896" y="852945"/>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0" name="矩形 29">
            <a:extLst>
              <a:ext uri="{FF2B5EF4-FFF2-40B4-BE49-F238E27FC236}">
                <a16:creationId xmlns:a16="http://schemas.microsoft.com/office/drawing/2014/main" id="{A4367C8B-64EB-48D7-BEF5-77C88C5670D4}"/>
              </a:ext>
            </a:extLst>
          </p:cNvPr>
          <p:cNvSpPr/>
          <p:nvPr/>
        </p:nvSpPr>
        <p:spPr>
          <a:xfrm>
            <a:off x="5559973" y="3093869"/>
            <a:ext cx="1210588" cy="400110"/>
          </a:xfrm>
          <a:prstGeom prst="rect">
            <a:avLst/>
          </a:prstGeom>
        </p:spPr>
        <p:txBody>
          <a:bodyPr wrap="none">
            <a:spAutoFit/>
          </a:bodyPr>
          <a:lstStyle/>
          <a:p>
            <a:r>
              <a:rPr lang="zh-CN" altLang="en-US" sz="2000" b="1" dirty="0">
                <a:solidFill>
                  <a:srgbClr val="C00000"/>
                </a:solidFill>
                <a:cs typeface="+mn-ea"/>
                <a:sym typeface="+mn-lt"/>
              </a:rPr>
              <a:t>智能投资</a:t>
            </a:r>
            <a:endParaRPr lang="en-US" altLang="zh-CN" sz="2000" b="1" dirty="0">
              <a:solidFill>
                <a:srgbClr val="C00000"/>
              </a:solidFill>
              <a:cs typeface="+mn-ea"/>
              <a:sym typeface="+mn-lt"/>
            </a:endParaRPr>
          </a:p>
        </p:txBody>
      </p:sp>
    </p:spTree>
    <p:extLst>
      <p:ext uri="{BB962C8B-B14F-4D97-AF65-F5344CB8AC3E}">
        <p14:creationId xmlns:p14="http://schemas.microsoft.com/office/powerpoint/2010/main" val="1911899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left)">
                                      <p:cBhvr>
                                        <p:cTn id="7" dur="500"/>
                                        <p:tgtEl>
                                          <p:spTgt spid="4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wipe(left)">
                                      <p:cBhvr>
                                        <p:cTn id="11" dur="500"/>
                                        <p:tgtEl>
                                          <p:spTgt spid="41"/>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2"/>
                                        </p:tgtEl>
                                        <p:attrNameLst>
                                          <p:attrName>style.visibility</p:attrName>
                                        </p:attrNameLst>
                                      </p:cBhvr>
                                      <p:to>
                                        <p:strVal val="visible"/>
                                      </p:to>
                                    </p:set>
                                    <p:animEffect transition="in" filter="wipe(left)">
                                      <p:cBhvr>
                                        <p:cTn id="15" dur="500"/>
                                        <p:tgtEl>
                                          <p:spTgt spid="42"/>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wipe(left)">
                                      <p:cBhvr>
                                        <p:cTn id="19" dur="500"/>
                                        <p:tgtEl>
                                          <p:spTgt spid="43"/>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45"/>
                                        </p:tgtEl>
                                        <p:attrNameLst>
                                          <p:attrName>style.visibility</p:attrName>
                                        </p:attrNameLst>
                                      </p:cBhvr>
                                      <p:to>
                                        <p:strVal val="visible"/>
                                      </p:to>
                                    </p:set>
                                    <p:animEffect transition="in" filter="wipe(left)">
                                      <p:cBhvr>
                                        <p:cTn id="23" dur="500"/>
                                        <p:tgtEl>
                                          <p:spTgt spid="45"/>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wipe(left)">
                                      <p:cBhvr>
                                        <p:cTn id="27" dur="500"/>
                                        <p:tgtEl>
                                          <p:spTgt spid="46"/>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47"/>
                                        </p:tgtEl>
                                        <p:attrNameLst>
                                          <p:attrName>style.visibility</p:attrName>
                                        </p:attrNameLst>
                                      </p:cBhvr>
                                      <p:to>
                                        <p:strVal val="visible"/>
                                      </p:to>
                                    </p:set>
                                    <p:animEffect transition="in" filter="wipe(left)">
                                      <p:cBhvr>
                                        <p:cTn id="31" dur="500"/>
                                        <p:tgtEl>
                                          <p:spTgt spid="47"/>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49"/>
                                        </p:tgtEl>
                                        <p:attrNameLst>
                                          <p:attrName>style.visibility</p:attrName>
                                        </p:attrNameLst>
                                      </p:cBhvr>
                                      <p:to>
                                        <p:strVal val="visible"/>
                                      </p:to>
                                    </p:set>
                                    <p:animEffect transition="in" filter="wipe(left)">
                                      <p:cBhvr>
                                        <p:cTn id="35"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2" grpId="0"/>
      <p:bldP spid="43" grpId="0"/>
      <p:bldP spid="45" grpId="0"/>
      <p:bldP spid="46" grpId="0"/>
      <p:bldP spid="47" grpId="0"/>
      <p:bldP spid="4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71"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72"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73" name="03"/>
          <p:cNvSpPr txBox="1"/>
          <p:nvPr/>
        </p:nvSpPr>
        <p:spPr>
          <a:xfrm>
            <a:off x="356995" y="6344413"/>
            <a:ext cx="218679" cy="231380"/>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lvl1pPr>
              <a:defRPr sz="1000">
                <a:solidFill>
                  <a:srgbClr val="CAA354"/>
                </a:solidFill>
                <a:latin typeface="PingFang SC Regular"/>
                <a:ea typeface="PingFang SC Regular"/>
                <a:cs typeface="PingFang SC Regular"/>
                <a:sym typeface="PingFang SC Regular"/>
              </a:defRPr>
            </a:lvl1pPr>
          </a:lstStyle>
          <a:p>
            <a:r>
              <a:rPr dirty="0"/>
              <a:t>03</a:t>
            </a:r>
          </a:p>
        </p:txBody>
      </p:sp>
      <p:pic>
        <p:nvPicPr>
          <p:cNvPr id="175" name="图像" descr="图像"/>
          <p:cNvPicPr>
            <a:picLocks noChangeAspect="1"/>
          </p:cNvPicPr>
          <p:nvPr/>
        </p:nvPicPr>
        <p:blipFill>
          <a:blip r:embed="rId2">
            <a:extLst/>
          </a:blip>
          <a:stretch>
            <a:fillRect/>
          </a:stretch>
        </p:blipFill>
        <p:spPr>
          <a:xfrm>
            <a:off x="10484724" y="427048"/>
            <a:ext cx="1253576" cy="332979"/>
          </a:xfrm>
          <a:prstGeom prst="rect">
            <a:avLst/>
          </a:prstGeom>
          <a:ln w="3175">
            <a:miter lim="400000"/>
          </a:ln>
        </p:spPr>
      </p:pic>
      <p:pic>
        <p:nvPicPr>
          <p:cNvPr id="12" name="图片 11" descr="视频"/>
          <p:cNvPicPr>
            <a:picLocks noChangeAspect="1"/>
          </p:cNvPicPr>
          <p:nvPr/>
        </p:nvPicPr>
        <p:blipFill>
          <a:blip r:embed="rId3"/>
          <a:stretch>
            <a:fillRect/>
          </a:stretch>
        </p:blipFill>
        <p:spPr>
          <a:xfrm>
            <a:off x="5283200" y="2780030"/>
            <a:ext cx="1621790" cy="1216660"/>
          </a:xfrm>
          <a:prstGeom prst="rect">
            <a:avLst/>
          </a:prstGeom>
        </p:spPr>
      </p:pic>
      <p:sp>
        <p:nvSpPr>
          <p:cNvPr id="13" name="Freeform 5"/>
          <p:cNvSpPr>
            <a:spLocks noEditPoints="1"/>
          </p:cNvSpPr>
          <p:nvPr/>
        </p:nvSpPr>
        <p:spPr bwMode="auto">
          <a:xfrm>
            <a:off x="4725450" y="2001364"/>
            <a:ext cx="2739764" cy="2736922"/>
          </a:xfrm>
          <a:custGeom>
            <a:avLst/>
            <a:gdLst>
              <a:gd name="T0" fmla="*/ 870 w 935"/>
              <a:gd name="T1" fmla="*/ 608 h 935"/>
              <a:gd name="T2" fmla="*/ 870 w 935"/>
              <a:gd name="T3" fmla="*/ 608 h 935"/>
              <a:gd name="T4" fmla="*/ 806 w 935"/>
              <a:gd name="T5" fmla="*/ 468 h 935"/>
              <a:gd name="T6" fmla="*/ 870 w 935"/>
              <a:gd name="T7" fmla="*/ 327 h 935"/>
              <a:gd name="T8" fmla="*/ 870 w 935"/>
              <a:gd name="T9" fmla="*/ 327 h 935"/>
              <a:gd name="T10" fmla="*/ 935 w 935"/>
              <a:gd name="T11" fmla="*/ 186 h 935"/>
              <a:gd name="T12" fmla="*/ 750 w 935"/>
              <a:gd name="T13" fmla="*/ 0 h 935"/>
              <a:gd name="T14" fmla="*/ 608 w 935"/>
              <a:gd name="T15" fmla="*/ 65 h 935"/>
              <a:gd name="T16" fmla="*/ 608 w 935"/>
              <a:gd name="T17" fmla="*/ 65 h 935"/>
              <a:gd name="T18" fmla="*/ 468 w 935"/>
              <a:gd name="T19" fmla="*/ 129 h 935"/>
              <a:gd name="T20" fmla="*/ 328 w 935"/>
              <a:gd name="T21" fmla="*/ 65 h 935"/>
              <a:gd name="T22" fmla="*/ 328 w 935"/>
              <a:gd name="T23" fmla="*/ 65 h 935"/>
              <a:gd name="T24" fmla="*/ 186 w 935"/>
              <a:gd name="T25" fmla="*/ 0 h 935"/>
              <a:gd name="T26" fmla="*/ 0 w 935"/>
              <a:gd name="T27" fmla="*/ 186 h 935"/>
              <a:gd name="T28" fmla="*/ 66 w 935"/>
              <a:gd name="T29" fmla="*/ 327 h 935"/>
              <a:gd name="T30" fmla="*/ 66 w 935"/>
              <a:gd name="T31" fmla="*/ 327 h 935"/>
              <a:gd name="T32" fmla="*/ 130 w 935"/>
              <a:gd name="T33" fmla="*/ 468 h 935"/>
              <a:gd name="T34" fmla="*/ 66 w 935"/>
              <a:gd name="T35" fmla="*/ 608 h 935"/>
              <a:gd name="T36" fmla="*/ 66 w 935"/>
              <a:gd name="T37" fmla="*/ 608 h 935"/>
              <a:gd name="T38" fmla="*/ 0 w 935"/>
              <a:gd name="T39" fmla="*/ 749 h 935"/>
              <a:gd name="T40" fmla="*/ 186 w 935"/>
              <a:gd name="T41" fmla="*/ 935 h 935"/>
              <a:gd name="T42" fmla="*/ 328 w 935"/>
              <a:gd name="T43" fmla="*/ 870 h 935"/>
              <a:gd name="T44" fmla="*/ 328 w 935"/>
              <a:gd name="T45" fmla="*/ 870 h 935"/>
              <a:gd name="T46" fmla="*/ 468 w 935"/>
              <a:gd name="T47" fmla="*/ 806 h 935"/>
              <a:gd name="T48" fmla="*/ 608 w 935"/>
              <a:gd name="T49" fmla="*/ 870 h 935"/>
              <a:gd name="T50" fmla="*/ 608 w 935"/>
              <a:gd name="T51" fmla="*/ 870 h 935"/>
              <a:gd name="T52" fmla="*/ 750 w 935"/>
              <a:gd name="T53" fmla="*/ 935 h 935"/>
              <a:gd name="T54" fmla="*/ 935 w 935"/>
              <a:gd name="T55" fmla="*/ 749 h 935"/>
              <a:gd name="T56" fmla="*/ 870 w 935"/>
              <a:gd name="T57" fmla="*/ 608 h 935"/>
              <a:gd name="T58" fmla="*/ 468 w 935"/>
              <a:gd name="T59" fmla="*/ 681 h 935"/>
              <a:gd name="T60" fmla="*/ 255 w 935"/>
              <a:gd name="T61" fmla="*/ 468 h 935"/>
              <a:gd name="T62" fmla="*/ 468 w 935"/>
              <a:gd name="T63" fmla="*/ 255 h 935"/>
              <a:gd name="T64" fmla="*/ 681 w 935"/>
              <a:gd name="T65" fmla="*/ 468 h 935"/>
              <a:gd name="T66" fmla="*/ 468 w 935"/>
              <a:gd name="T67" fmla="*/ 681 h 9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35" h="935">
                <a:moveTo>
                  <a:pt x="870" y="608"/>
                </a:moveTo>
                <a:cubicBezTo>
                  <a:pt x="870" y="608"/>
                  <a:pt x="870" y="608"/>
                  <a:pt x="870" y="608"/>
                </a:cubicBezTo>
                <a:cubicBezTo>
                  <a:pt x="831" y="574"/>
                  <a:pt x="806" y="524"/>
                  <a:pt x="806" y="468"/>
                </a:cubicBezTo>
                <a:cubicBezTo>
                  <a:pt x="806" y="412"/>
                  <a:pt x="831" y="362"/>
                  <a:pt x="870" y="327"/>
                </a:cubicBezTo>
                <a:cubicBezTo>
                  <a:pt x="870" y="327"/>
                  <a:pt x="870" y="327"/>
                  <a:pt x="870" y="327"/>
                </a:cubicBezTo>
                <a:cubicBezTo>
                  <a:pt x="910" y="293"/>
                  <a:pt x="935" y="243"/>
                  <a:pt x="935" y="186"/>
                </a:cubicBezTo>
                <a:cubicBezTo>
                  <a:pt x="935" y="83"/>
                  <a:pt x="852" y="0"/>
                  <a:pt x="750" y="0"/>
                </a:cubicBezTo>
                <a:cubicBezTo>
                  <a:pt x="693" y="0"/>
                  <a:pt x="642" y="25"/>
                  <a:pt x="608" y="65"/>
                </a:cubicBezTo>
                <a:cubicBezTo>
                  <a:pt x="608" y="65"/>
                  <a:pt x="608" y="65"/>
                  <a:pt x="608" y="65"/>
                </a:cubicBezTo>
                <a:cubicBezTo>
                  <a:pt x="574" y="105"/>
                  <a:pt x="524" y="129"/>
                  <a:pt x="468" y="129"/>
                </a:cubicBezTo>
                <a:cubicBezTo>
                  <a:pt x="412" y="129"/>
                  <a:pt x="362" y="105"/>
                  <a:pt x="328" y="65"/>
                </a:cubicBezTo>
                <a:cubicBezTo>
                  <a:pt x="328" y="65"/>
                  <a:pt x="328" y="65"/>
                  <a:pt x="328" y="65"/>
                </a:cubicBezTo>
                <a:cubicBezTo>
                  <a:pt x="294" y="25"/>
                  <a:pt x="243" y="0"/>
                  <a:pt x="186" y="0"/>
                </a:cubicBezTo>
                <a:cubicBezTo>
                  <a:pt x="83" y="0"/>
                  <a:pt x="0" y="83"/>
                  <a:pt x="0" y="186"/>
                </a:cubicBezTo>
                <a:cubicBezTo>
                  <a:pt x="0" y="243"/>
                  <a:pt x="26" y="293"/>
                  <a:pt x="66" y="327"/>
                </a:cubicBezTo>
                <a:cubicBezTo>
                  <a:pt x="66" y="327"/>
                  <a:pt x="66" y="327"/>
                  <a:pt x="66" y="327"/>
                </a:cubicBezTo>
                <a:cubicBezTo>
                  <a:pt x="105" y="362"/>
                  <a:pt x="130" y="412"/>
                  <a:pt x="130" y="468"/>
                </a:cubicBezTo>
                <a:cubicBezTo>
                  <a:pt x="130" y="524"/>
                  <a:pt x="105" y="574"/>
                  <a:pt x="66" y="608"/>
                </a:cubicBezTo>
                <a:cubicBezTo>
                  <a:pt x="66" y="608"/>
                  <a:pt x="66" y="608"/>
                  <a:pt x="66" y="608"/>
                </a:cubicBezTo>
                <a:cubicBezTo>
                  <a:pt x="26" y="642"/>
                  <a:pt x="0" y="693"/>
                  <a:pt x="0" y="749"/>
                </a:cubicBezTo>
                <a:cubicBezTo>
                  <a:pt x="0" y="852"/>
                  <a:pt x="83" y="935"/>
                  <a:pt x="186" y="935"/>
                </a:cubicBezTo>
                <a:cubicBezTo>
                  <a:pt x="243" y="935"/>
                  <a:pt x="294" y="910"/>
                  <a:pt x="328" y="870"/>
                </a:cubicBezTo>
                <a:cubicBezTo>
                  <a:pt x="328" y="870"/>
                  <a:pt x="328" y="870"/>
                  <a:pt x="328" y="870"/>
                </a:cubicBezTo>
                <a:cubicBezTo>
                  <a:pt x="362" y="831"/>
                  <a:pt x="412" y="806"/>
                  <a:pt x="468" y="806"/>
                </a:cubicBezTo>
                <a:cubicBezTo>
                  <a:pt x="524" y="806"/>
                  <a:pt x="574" y="831"/>
                  <a:pt x="608" y="870"/>
                </a:cubicBezTo>
                <a:cubicBezTo>
                  <a:pt x="608" y="870"/>
                  <a:pt x="608" y="870"/>
                  <a:pt x="608" y="870"/>
                </a:cubicBezTo>
                <a:cubicBezTo>
                  <a:pt x="642" y="910"/>
                  <a:pt x="693" y="935"/>
                  <a:pt x="750" y="935"/>
                </a:cubicBezTo>
                <a:cubicBezTo>
                  <a:pt x="852" y="935"/>
                  <a:pt x="935" y="852"/>
                  <a:pt x="935" y="749"/>
                </a:cubicBezTo>
                <a:cubicBezTo>
                  <a:pt x="935" y="693"/>
                  <a:pt x="910" y="642"/>
                  <a:pt x="870" y="608"/>
                </a:cubicBezTo>
                <a:close/>
                <a:moveTo>
                  <a:pt x="468" y="681"/>
                </a:moveTo>
                <a:cubicBezTo>
                  <a:pt x="350" y="681"/>
                  <a:pt x="255" y="585"/>
                  <a:pt x="255" y="468"/>
                </a:cubicBezTo>
                <a:cubicBezTo>
                  <a:pt x="255" y="350"/>
                  <a:pt x="350" y="255"/>
                  <a:pt x="468" y="255"/>
                </a:cubicBezTo>
                <a:cubicBezTo>
                  <a:pt x="585" y="255"/>
                  <a:pt x="681" y="350"/>
                  <a:pt x="681" y="468"/>
                </a:cubicBezTo>
                <a:cubicBezTo>
                  <a:pt x="681" y="585"/>
                  <a:pt x="585" y="681"/>
                  <a:pt x="468" y="681"/>
                </a:cubicBezTo>
                <a:close/>
              </a:path>
            </a:pathLst>
          </a:custGeom>
          <a:solidFill>
            <a:schemeClr val="bg1">
              <a:lumMod val="95000"/>
            </a:schemeClr>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tx2">
                  <a:lumMod val="10000"/>
                </a:schemeClr>
              </a:solidFill>
              <a:effectLst/>
              <a:uLnTx/>
              <a:uFillTx/>
              <a:latin typeface="Calibri" panose="020F0502020204030204"/>
              <a:ea typeface="华文细黑" panose="02010600040101010101" pitchFamily="2" charset="-122"/>
            </a:endParaRPr>
          </a:p>
        </p:txBody>
      </p:sp>
      <p:sp>
        <p:nvSpPr>
          <p:cNvPr id="16" name="AutoShape 4"/>
          <p:cNvSpPr/>
          <p:nvPr/>
        </p:nvSpPr>
        <p:spPr bwMode="auto">
          <a:xfrm>
            <a:off x="6766057" y="2396415"/>
            <a:ext cx="311208" cy="31262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7428" y="17466"/>
                </a:moveTo>
                <a:cubicBezTo>
                  <a:pt x="16669" y="16923"/>
                  <a:pt x="15846" y="16465"/>
                  <a:pt x="14963" y="16121"/>
                </a:cubicBezTo>
                <a:cubicBezTo>
                  <a:pt x="15595" y="14609"/>
                  <a:pt x="15967" y="12928"/>
                  <a:pt x="16010" y="11148"/>
                </a:cubicBezTo>
                <a:lnTo>
                  <a:pt x="20188" y="11148"/>
                </a:lnTo>
                <a:cubicBezTo>
                  <a:pt x="20097" y="13612"/>
                  <a:pt x="19065" y="15838"/>
                  <a:pt x="17428" y="17466"/>
                </a:cubicBezTo>
                <a:moveTo>
                  <a:pt x="1411" y="11148"/>
                </a:moveTo>
                <a:lnTo>
                  <a:pt x="5589" y="11148"/>
                </a:lnTo>
                <a:cubicBezTo>
                  <a:pt x="5632" y="12928"/>
                  <a:pt x="6004" y="14609"/>
                  <a:pt x="6636" y="16121"/>
                </a:cubicBezTo>
                <a:cubicBezTo>
                  <a:pt x="5753" y="16465"/>
                  <a:pt x="4931" y="16923"/>
                  <a:pt x="4171" y="17466"/>
                </a:cubicBezTo>
                <a:cubicBezTo>
                  <a:pt x="2534" y="15838"/>
                  <a:pt x="1502" y="13612"/>
                  <a:pt x="1411" y="11148"/>
                </a:cubicBezTo>
                <a:moveTo>
                  <a:pt x="3785" y="4553"/>
                </a:moveTo>
                <a:cubicBezTo>
                  <a:pt x="4579" y="5170"/>
                  <a:pt x="5448" y="5691"/>
                  <a:pt x="6388" y="6084"/>
                </a:cubicBezTo>
                <a:cubicBezTo>
                  <a:pt x="5901" y="7433"/>
                  <a:pt x="5627" y="8908"/>
                  <a:pt x="5589" y="10451"/>
                </a:cubicBezTo>
                <a:lnTo>
                  <a:pt x="1411" y="10451"/>
                </a:lnTo>
                <a:cubicBezTo>
                  <a:pt x="1494" y="8190"/>
                  <a:pt x="2376" y="6135"/>
                  <a:pt x="3785" y="4553"/>
                </a:cubicBezTo>
                <a:moveTo>
                  <a:pt x="11148" y="10451"/>
                </a:moveTo>
                <a:lnTo>
                  <a:pt x="11148" y="6950"/>
                </a:lnTo>
                <a:cubicBezTo>
                  <a:pt x="12339" y="6913"/>
                  <a:pt x="13484" y="6696"/>
                  <a:pt x="14558" y="6324"/>
                </a:cubicBezTo>
                <a:cubicBezTo>
                  <a:pt x="15018" y="7598"/>
                  <a:pt x="15276" y="8992"/>
                  <a:pt x="15314" y="10451"/>
                </a:cubicBezTo>
                <a:cubicBezTo>
                  <a:pt x="15314" y="10451"/>
                  <a:pt x="11148" y="10451"/>
                  <a:pt x="11148" y="10451"/>
                </a:cubicBezTo>
                <a:close/>
                <a:moveTo>
                  <a:pt x="14311" y="15882"/>
                </a:moveTo>
                <a:cubicBezTo>
                  <a:pt x="13309" y="15559"/>
                  <a:pt x="12247" y="15380"/>
                  <a:pt x="11148" y="15346"/>
                </a:cubicBezTo>
                <a:lnTo>
                  <a:pt x="11148" y="11148"/>
                </a:lnTo>
                <a:lnTo>
                  <a:pt x="15314" y="11148"/>
                </a:lnTo>
                <a:cubicBezTo>
                  <a:pt x="15270" y="12844"/>
                  <a:pt x="14914" y="14445"/>
                  <a:pt x="14311" y="15882"/>
                </a:cubicBezTo>
                <a:moveTo>
                  <a:pt x="14683" y="16757"/>
                </a:moveTo>
                <a:cubicBezTo>
                  <a:pt x="15476" y="17063"/>
                  <a:pt x="16218" y="17466"/>
                  <a:pt x="16904" y="17941"/>
                </a:cubicBezTo>
                <a:cubicBezTo>
                  <a:pt x="15632" y="19031"/>
                  <a:pt x="14067" y="19781"/>
                  <a:pt x="12344" y="20068"/>
                </a:cubicBezTo>
                <a:cubicBezTo>
                  <a:pt x="13280" y="19136"/>
                  <a:pt x="14076" y="18017"/>
                  <a:pt x="14683" y="16757"/>
                </a:cubicBezTo>
                <a:moveTo>
                  <a:pt x="11148" y="20188"/>
                </a:moveTo>
                <a:lnTo>
                  <a:pt x="11148" y="16043"/>
                </a:lnTo>
                <a:cubicBezTo>
                  <a:pt x="12146" y="16075"/>
                  <a:pt x="13113" y="16231"/>
                  <a:pt x="14025" y="16516"/>
                </a:cubicBezTo>
                <a:cubicBezTo>
                  <a:pt x="13314" y="17970"/>
                  <a:pt x="12343" y="19223"/>
                  <a:pt x="11185" y="20186"/>
                </a:cubicBezTo>
                <a:cubicBezTo>
                  <a:pt x="11185" y="20186"/>
                  <a:pt x="11148" y="20188"/>
                  <a:pt x="11148" y="20188"/>
                </a:cubicBezTo>
                <a:close/>
                <a:moveTo>
                  <a:pt x="9255" y="20068"/>
                </a:moveTo>
                <a:cubicBezTo>
                  <a:pt x="7532" y="19781"/>
                  <a:pt x="5967" y="19031"/>
                  <a:pt x="4695" y="17941"/>
                </a:cubicBezTo>
                <a:cubicBezTo>
                  <a:pt x="5381" y="17466"/>
                  <a:pt x="6123" y="17063"/>
                  <a:pt x="6916" y="16757"/>
                </a:cubicBezTo>
                <a:cubicBezTo>
                  <a:pt x="7523" y="18017"/>
                  <a:pt x="8319" y="19136"/>
                  <a:pt x="9255" y="20068"/>
                </a:cubicBezTo>
                <a:moveTo>
                  <a:pt x="10451" y="11148"/>
                </a:moveTo>
                <a:lnTo>
                  <a:pt x="10451" y="15346"/>
                </a:lnTo>
                <a:cubicBezTo>
                  <a:pt x="9352" y="15380"/>
                  <a:pt x="8290" y="15559"/>
                  <a:pt x="7288" y="15882"/>
                </a:cubicBezTo>
                <a:cubicBezTo>
                  <a:pt x="6685" y="14445"/>
                  <a:pt x="6329" y="12844"/>
                  <a:pt x="6285" y="11148"/>
                </a:cubicBezTo>
                <a:cubicBezTo>
                  <a:pt x="6285" y="11148"/>
                  <a:pt x="10451" y="11148"/>
                  <a:pt x="10451" y="11148"/>
                </a:cubicBezTo>
                <a:close/>
                <a:moveTo>
                  <a:pt x="7041" y="6324"/>
                </a:moveTo>
                <a:cubicBezTo>
                  <a:pt x="8115" y="6696"/>
                  <a:pt x="9260" y="6913"/>
                  <a:pt x="10451" y="6950"/>
                </a:cubicBezTo>
                <a:lnTo>
                  <a:pt x="10451" y="10451"/>
                </a:lnTo>
                <a:lnTo>
                  <a:pt x="6285" y="10451"/>
                </a:lnTo>
                <a:cubicBezTo>
                  <a:pt x="6324" y="8992"/>
                  <a:pt x="6581" y="7598"/>
                  <a:pt x="7041" y="6324"/>
                </a:cubicBezTo>
                <a:moveTo>
                  <a:pt x="6651" y="5442"/>
                </a:moveTo>
                <a:cubicBezTo>
                  <a:pt x="5790" y="5084"/>
                  <a:pt x="4993" y="4609"/>
                  <a:pt x="4263" y="4050"/>
                </a:cubicBezTo>
                <a:cubicBezTo>
                  <a:pt x="5606" y="2749"/>
                  <a:pt x="7332" y="1851"/>
                  <a:pt x="9255" y="1531"/>
                </a:cubicBezTo>
                <a:cubicBezTo>
                  <a:pt x="8175" y="2610"/>
                  <a:pt x="7286" y="3939"/>
                  <a:pt x="6651" y="5442"/>
                </a:cubicBezTo>
                <a:moveTo>
                  <a:pt x="10451" y="1411"/>
                </a:moveTo>
                <a:lnTo>
                  <a:pt x="10451" y="6253"/>
                </a:lnTo>
                <a:cubicBezTo>
                  <a:pt x="9352" y="6217"/>
                  <a:pt x="8296" y="6021"/>
                  <a:pt x="7303" y="5681"/>
                </a:cubicBezTo>
                <a:cubicBezTo>
                  <a:pt x="8029" y="3972"/>
                  <a:pt x="9101" y="2507"/>
                  <a:pt x="10415" y="1413"/>
                </a:cubicBezTo>
                <a:cubicBezTo>
                  <a:pt x="10427" y="1412"/>
                  <a:pt x="10439" y="1411"/>
                  <a:pt x="10451" y="1411"/>
                </a:cubicBezTo>
                <a:moveTo>
                  <a:pt x="12344" y="1531"/>
                </a:moveTo>
                <a:cubicBezTo>
                  <a:pt x="14267" y="1851"/>
                  <a:pt x="15993" y="2749"/>
                  <a:pt x="17336" y="4050"/>
                </a:cubicBezTo>
                <a:cubicBezTo>
                  <a:pt x="16606" y="4609"/>
                  <a:pt x="15809" y="5084"/>
                  <a:pt x="14948" y="5442"/>
                </a:cubicBezTo>
                <a:cubicBezTo>
                  <a:pt x="14313" y="3939"/>
                  <a:pt x="13424" y="2610"/>
                  <a:pt x="12344" y="1531"/>
                </a:cubicBezTo>
                <a:moveTo>
                  <a:pt x="11184" y="1413"/>
                </a:moveTo>
                <a:cubicBezTo>
                  <a:pt x="12498" y="2507"/>
                  <a:pt x="13570" y="3972"/>
                  <a:pt x="14296" y="5681"/>
                </a:cubicBezTo>
                <a:cubicBezTo>
                  <a:pt x="13303" y="6021"/>
                  <a:pt x="12247" y="6217"/>
                  <a:pt x="11148" y="6253"/>
                </a:cubicBezTo>
                <a:lnTo>
                  <a:pt x="11148" y="1411"/>
                </a:lnTo>
                <a:cubicBezTo>
                  <a:pt x="11160" y="1411"/>
                  <a:pt x="11172" y="1412"/>
                  <a:pt x="11184" y="1413"/>
                </a:cubicBezTo>
                <a:moveTo>
                  <a:pt x="10414" y="20186"/>
                </a:moveTo>
                <a:cubicBezTo>
                  <a:pt x="9256" y="19223"/>
                  <a:pt x="8285" y="17970"/>
                  <a:pt x="7574" y="16516"/>
                </a:cubicBezTo>
                <a:cubicBezTo>
                  <a:pt x="8486" y="16231"/>
                  <a:pt x="9453" y="16075"/>
                  <a:pt x="10451" y="16043"/>
                </a:cubicBezTo>
                <a:lnTo>
                  <a:pt x="10451" y="20188"/>
                </a:lnTo>
                <a:cubicBezTo>
                  <a:pt x="10451" y="20188"/>
                  <a:pt x="10414" y="20186"/>
                  <a:pt x="10414" y="20186"/>
                </a:cubicBezTo>
                <a:close/>
                <a:moveTo>
                  <a:pt x="20188" y="10451"/>
                </a:moveTo>
                <a:lnTo>
                  <a:pt x="16010" y="10451"/>
                </a:lnTo>
                <a:cubicBezTo>
                  <a:pt x="15972" y="8908"/>
                  <a:pt x="15698" y="7433"/>
                  <a:pt x="15211" y="6084"/>
                </a:cubicBezTo>
                <a:cubicBezTo>
                  <a:pt x="16151" y="5691"/>
                  <a:pt x="17020" y="5170"/>
                  <a:pt x="17814" y="4553"/>
                </a:cubicBezTo>
                <a:cubicBezTo>
                  <a:pt x="19223" y="6135"/>
                  <a:pt x="20105" y="8190"/>
                  <a:pt x="20188" y="10451"/>
                </a:cubicBezTo>
                <a:moveTo>
                  <a:pt x="10800" y="0"/>
                </a:moveTo>
                <a:cubicBezTo>
                  <a:pt x="4835" y="0"/>
                  <a:pt x="0" y="4835"/>
                  <a:pt x="0" y="10800"/>
                </a:cubicBezTo>
                <a:cubicBezTo>
                  <a:pt x="0" y="16764"/>
                  <a:pt x="4835" y="21600"/>
                  <a:pt x="10800" y="21600"/>
                </a:cubicBezTo>
                <a:cubicBezTo>
                  <a:pt x="16764" y="21600"/>
                  <a:pt x="21600" y="16764"/>
                  <a:pt x="21600" y="10800"/>
                </a:cubicBezTo>
                <a:cubicBezTo>
                  <a:pt x="21600" y="4835"/>
                  <a:pt x="16764" y="0"/>
                  <a:pt x="10800" y="0"/>
                </a:cubicBezTo>
              </a:path>
            </a:pathLst>
          </a:custGeom>
          <a:solidFill>
            <a:schemeClr val="bg1"/>
          </a:solidFill>
          <a:ln>
            <a:noFill/>
          </a:ln>
          <a:effectLst/>
        </p:spPr>
        <p:txBody>
          <a:bodyPr lIns="19050" tIns="19050" rIns="19050" bIns="19050" anchor="ctr"/>
          <a:lstStyle/>
          <a:p>
            <a:pPr algn="ctr" defTabSz="228600">
              <a:defRPr/>
            </a:pPr>
            <a:endParaRPr lang="en-US" sz="1500" kern="0">
              <a:solidFill>
                <a:schemeClr val="tx2">
                  <a:lumMod val="10000"/>
                </a:schemeClr>
              </a:solidFill>
              <a:effectLst>
                <a:outerShdw blurRad="38100" dist="38100" dir="2700000" algn="tl">
                  <a:srgbClr val="000000"/>
                </a:outerShdw>
              </a:effectLst>
              <a:latin typeface="Gill Sans" charset="0"/>
              <a:ea typeface="华文细黑" panose="02010600040101010101" pitchFamily="2" charset="-122"/>
              <a:sym typeface="Gill Sans" charset="0"/>
            </a:endParaRPr>
          </a:p>
        </p:txBody>
      </p:sp>
      <p:grpSp>
        <p:nvGrpSpPr>
          <p:cNvPr id="17" name="组合 5"/>
          <p:cNvGrpSpPr/>
          <p:nvPr/>
        </p:nvGrpSpPr>
        <p:grpSpPr>
          <a:xfrm>
            <a:off x="6566026" y="3376595"/>
            <a:ext cx="794358" cy="1224207"/>
            <a:chOff x="4831017" y="3878178"/>
            <a:chExt cx="887413" cy="1367605"/>
          </a:xfrm>
          <a:solidFill>
            <a:srgbClr val="00B0F0"/>
          </a:solidFill>
        </p:grpSpPr>
        <p:sp>
          <p:nvSpPr>
            <p:cNvPr id="18" name="Oval 6"/>
            <p:cNvSpPr>
              <a:spLocks noChangeArrowheads="1"/>
            </p:cNvSpPr>
            <p:nvPr/>
          </p:nvSpPr>
          <p:spPr bwMode="auto">
            <a:xfrm>
              <a:off x="4831017" y="4359958"/>
              <a:ext cx="887413" cy="885825"/>
            </a:xfrm>
            <a:prstGeom prst="ellipse">
              <a:avLst/>
            </a:prstGeom>
            <a:grpFill/>
            <a:ln>
              <a:noFill/>
            </a:ln>
          </p:spPr>
          <p:txBody>
            <a:bodyPr/>
            <a:lstStyle/>
            <a:p>
              <a:pPr defTabSz="914400"/>
              <a:endParaRPr lang="zh-CN" altLang="en-US" sz="1800">
                <a:solidFill>
                  <a:schemeClr val="tx2">
                    <a:lumMod val="10000"/>
                  </a:schemeClr>
                </a:solidFill>
                <a:latin typeface="Calibri" panose="020F0502020204030204"/>
                <a:ea typeface="华文细黑" panose="02010600040101010101" pitchFamily="2" charset="-122"/>
              </a:endParaRPr>
            </a:p>
          </p:txBody>
        </p:sp>
        <p:sp>
          <p:nvSpPr>
            <p:cNvPr id="19" name="AutoShape 5"/>
            <p:cNvSpPr/>
            <p:nvPr/>
          </p:nvSpPr>
          <p:spPr bwMode="auto">
            <a:xfrm>
              <a:off x="5550276" y="3878178"/>
              <a:ext cx="68262" cy="904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7999" y="18900"/>
                  </a:moveTo>
                  <a:lnTo>
                    <a:pt x="3600" y="18900"/>
                  </a:lnTo>
                  <a:lnTo>
                    <a:pt x="3600" y="2700"/>
                  </a:lnTo>
                  <a:lnTo>
                    <a:pt x="7200" y="2700"/>
                  </a:lnTo>
                  <a:lnTo>
                    <a:pt x="17999" y="14850"/>
                  </a:lnTo>
                  <a:cubicBezTo>
                    <a:pt x="17999" y="14850"/>
                    <a:pt x="17999" y="18900"/>
                    <a:pt x="17999" y="18900"/>
                  </a:cubicBezTo>
                  <a:close/>
                  <a:moveTo>
                    <a:pt x="10195" y="1202"/>
                  </a:moveTo>
                  <a:cubicBezTo>
                    <a:pt x="9527" y="450"/>
                    <a:pt x="8402" y="0"/>
                    <a:pt x="7200" y="0"/>
                  </a:cubicBezTo>
                  <a:lnTo>
                    <a:pt x="3600" y="0"/>
                  </a:lnTo>
                  <a:cubicBezTo>
                    <a:pt x="1610" y="0"/>
                    <a:pt x="0" y="1207"/>
                    <a:pt x="0" y="2700"/>
                  </a:cubicBezTo>
                  <a:lnTo>
                    <a:pt x="0" y="18900"/>
                  </a:lnTo>
                  <a:cubicBezTo>
                    <a:pt x="0" y="20392"/>
                    <a:pt x="1610" y="21599"/>
                    <a:pt x="3600" y="21599"/>
                  </a:cubicBezTo>
                  <a:lnTo>
                    <a:pt x="17999" y="21599"/>
                  </a:lnTo>
                  <a:cubicBezTo>
                    <a:pt x="19989" y="21599"/>
                    <a:pt x="21600" y="20392"/>
                    <a:pt x="21600" y="18900"/>
                  </a:cubicBezTo>
                  <a:lnTo>
                    <a:pt x="21600" y="14850"/>
                  </a:lnTo>
                  <a:cubicBezTo>
                    <a:pt x="21600" y="14317"/>
                    <a:pt x="21389" y="13795"/>
                    <a:pt x="20995" y="13352"/>
                  </a:cubicBezTo>
                  <a:cubicBezTo>
                    <a:pt x="20995" y="13352"/>
                    <a:pt x="10195" y="1202"/>
                    <a:pt x="10195" y="1202"/>
                  </a:cubicBezTo>
                  <a:close/>
                </a:path>
              </a:pathLst>
            </a:custGeom>
            <a:grpFill/>
            <a:ln>
              <a:noFill/>
            </a:ln>
            <a:effectLst/>
          </p:spPr>
          <p:txBody>
            <a:bodyPr lIns="19050" tIns="19050" rIns="19050" bIns="19050" anchor="ctr"/>
            <a:lstStyle/>
            <a:p>
              <a:pPr algn="ctr" defTabSz="228600">
                <a:defRPr/>
              </a:pPr>
              <a:endParaRPr lang="en-US" sz="1500" kern="0">
                <a:solidFill>
                  <a:schemeClr val="tx2">
                    <a:lumMod val="10000"/>
                  </a:schemeClr>
                </a:solidFill>
                <a:effectLst>
                  <a:outerShdw blurRad="38100" dist="38100" dir="2700000" algn="tl">
                    <a:srgbClr val="000000"/>
                  </a:outerShdw>
                </a:effectLst>
                <a:latin typeface="Gill Sans" charset="0"/>
                <a:ea typeface="华文细黑" panose="02010600040101010101" pitchFamily="2" charset="-122"/>
                <a:sym typeface="Gill Sans" charset="0"/>
              </a:endParaRPr>
            </a:p>
          </p:txBody>
        </p:sp>
      </p:grpSp>
      <p:sp>
        <p:nvSpPr>
          <p:cNvPr id="21" name="Oval 9"/>
          <p:cNvSpPr>
            <a:spLocks noChangeArrowheads="1"/>
          </p:cNvSpPr>
          <p:nvPr/>
        </p:nvSpPr>
        <p:spPr bwMode="auto">
          <a:xfrm>
            <a:off x="4874660" y="3806084"/>
            <a:ext cx="791519" cy="792940"/>
          </a:xfrm>
          <a:prstGeom prst="ellipse">
            <a:avLst/>
          </a:prstGeom>
          <a:solidFill>
            <a:schemeClr val="accent4"/>
          </a:solidFill>
          <a:ln>
            <a:noFill/>
          </a:ln>
        </p:spPr>
        <p:txBody>
          <a:bodyPr/>
          <a:lstStyle/>
          <a:p>
            <a:pPr defTabSz="914400"/>
            <a:endParaRPr lang="zh-CN" altLang="en-US" sz="1800">
              <a:solidFill>
                <a:schemeClr val="tx2">
                  <a:lumMod val="10000"/>
                </a:schemeClr>
              </a:solidFill>
              <a:latin typeface="Calibri" panose="020F0502020204030204"/>
              <a:ea typeface="华文细黑" panose="02010600040101010101" pitchFamily="2" charset="-122"/>
            </a:endParaRPr>
          </a:p>
        </p:txBody>
      </p:sp>
      <p:sp>
        <p:nvSpPr>
          <p:cNvPr id="24" name="Oval 7"/>
          <p:cNvSpPr>
            <a:spLocks noChangeArrowheads="1"/>
          </p:cNvSpPr>
          <p:nvPr/>
        </p:nvSpPr>
        <p:spPr bwMode="auto">
          <a:xfrm>
            <a:off x="4837333" y="2138389"/>
            <a:ext cx="791519" cy="790099"/>
          </a:xfrm>
          <a:prstGeom prst="ellipse">
            <a:avLst/>
          </a:prstGeom>
          <a:solidFill>
            <a:srgbClr val="E12757"/>
          </a:solidFill>
          <a:ln>
            <a:noFill/>
          </a:ln>
        </p:spPr>
        <p:txBody>
          <a:bodyPr/>
          <a:lstStyle/>
          <a:p>
            <a:pPr defTabSz="914400"/>
            <a:endParaRPr lang="zh-CN" altLang="en-US" sz="1800" dirty="0">
              <a:solidFill>
                <a:schemeClr val="tx2">
                  <a:lumMod val="10000"/>
                </a:schemeClr>
              </a:solidFill>
              <a:latin typeface="Calibri" panose="020F0502020204030204"/>
              <a:ea typeface="华文细黑" panose="02010600040101010101" pitchFamily="2" charset="-122"/>
            </a:endParaRPr>
          </a:p>
        </p:txBody>
      </p:sp>
      <p:sp>
        <p:nvSpPr>
          <p:cNvPr id="28" name="文本框 27"/>
          <p:cNvSpPr txBox="1"/>
          <p:nvPr/>
        </p:nvSpPr>
        <p:spPr>
          <a:xfrm>
            <a:off x="2880525" y="1597846"/>
            <a:ext cx="1723549" cy="400110"/>
          </a:xfrm>
          <a:prstGeom prst="rect">
            <a:avLst/>
          </a:prstGeom>
          <a:noFill/>
        </p:spPr>
        <p:txBody>
          <a:bodyPr wrap="none" rtlCol="0" anchor="t">
            <a:spAutoFit/>
          </a:bodyPr>
          <a:lstStyle/>
          <a:p>
            <a:pPr algn="dist"/>
            <a:r>
              <a:rPr lang="zh-CN" altLang="en-US" sz="2000" dirty="0">
                <a:solidFill>
                  <a:schemeClr val="tx2">
                    <a:lumMod val="10000"/>
                  </a:schemeClr>
                </a:solidFill>
                <a:latin typeface="+mn-ea"/>
                <a:sym typeface="+mn-ea"/>
              </a:rPr>
              <a:t>用户画像分析</a:t>
            </a:r>
          </a:p>
        </p:txBody>
      </p:sp>
      <p:sp>
        <p:nvSpPr>
          <p:cNvPr id="30" name="文本框 29"/>
          <p:cNvSpPr txBox="1"/>
          <p:nvPr/>
        </p:nvSpPr>
        <p:spPr>
          <a:xfrm>
            <a:off x="7920675" y="1635282"/>
            <a:ext cx="1620957" cy="400110"/>
          </a:xfrm>
          <a:prstGeom prst="rect">
            <a:avLst/>
          </a:prstGeom>
          <a:noFill/>
        </p:spPr>
        <p:txBody>
          <a:bodyPr wrap="none" rtlCol="0" anchor="t">
            <a:spAutoFit/>
          </a:bodyPr>
          <a:lstStyle/>
          <a:p>
            <a:pPr algn="dist"/>
            <a:r>
              <a:rPr lang="zh-CN" altLang="en-US" sz="2000" dirty="0">
                <a:solidFill>
                  <a:schemeClr val="tx2">
                    <a:lumMod val="10000"/>
                  </a:schemeClr>
                </a:solidFill>
                <a:latin typeface="+mn-ea"/>
                <a:sym typeface="+mn-ea"/>
              </a:rPr>
              <a:t>智能</a:t>
            </a:r>
            <a:r>
              <a:rPr lang="zh-CN" altLang="en-US" sz="1800" dirty="0">
                <a:solidFill>
                  <a:schemeClr val="tx2">
                    <a:lumMod val="10000"/>
                  </a:schemeClr>
                </a:solidFill>
                <a:latin typeface="微软雅黑" panose="020B0503020204020204" charset="-122"/>
                <a:ea typeface="微软雅黑" panose="020B0503020204020204" charset="-122"/>
                <a:sym typeface="+mn-ea"/>
              </a:rPr>
              <a:t>资产配置</a:t>
            </a:r>
          </a:p>
        </p:txBody>
      </p:sp>
      <p:sp>
        <p:nvSpPr>
          <p:cNvPr id="31" name="文本框 30"/>
          <p:cNvSpPr txBox="1"/>
          <p:nvPr/>
        </p:nvSpPr>
        <p:spPr>
          <a:xfrm>
            <a:off x="3267621" y="4128040"/>
            <a:ext cx="1159292" cy="400110"/>
          </a:xfrm>
          <a:prstGeom prst="rect">
            <a:avLst/>
          </a:prstGeom>
          <a:noFill/>
        </p:spPr>
        <p:txBody>
          <a:bodyPr wrap="none" rtlCol="0" anchor="t">
            <a:spAutoFit/>
          </a:bodyPr>
          <a:lstStyle/>
          <a:p>
            <a:pPr algn="dist"/>
            <a:r>
              <a:rPr lang="zh-CN" altLang="en-US" sz="2000" dirty="0">
                <a:solidFill>
                  <a:schemeClr val="tx2">
                    <a:lumMod val="10000"/>
                  </a:schemeClr>
                </a:solidFill>
                <a:latin typeface="+mn-ea"/>
                <a:sym typeface="+mn-ea"/>
              </a:rPr>
              <a:t>投后</a:t>
            </a:r>
            <a:r>
              <a:rPr lang="zh-CN" altLang="en-US" sz="1800" dirty="0">
                <a:solidFill>
                  <a:schemeClr val="tx2">
                    <a:lumMod val="10000"/>
                  </a:schemeClr>
                </a:solidFill>
                <a:latin typeface="微软雅黑" panose="020B0503020204020204" charset="-122"/>
                <a:ea typeface="微软雅黑" panose="020B0503020204020204" charset="-122"/>
                <a:sym typeface="+mn-ea"/>
              </a:rPr>
              <a:t>管理</a:t>
            </a:r>
          </a:p>
        </p:txBody>
      </p:sp>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12615" y="2157678"/>
            <a:ext cx="798576" cy="786384"/>
          </a:xfrm>
          <a:prstGeom prst="rect">
            <a:avLst/>
          </a:prstGeom>
        </p:spPr>
      </p:pic>
      <p:sp>
        <p:nvSpPr>
          <p:cNvPr id="36" name="标题"/>
          <p:cNvSpPr txBox="1"/>
          <p:nvPr/>
        </p:nvSpPr>
        <p:spPr>
          <a:xfrm>
            <a:off x="982082" y="189060"/>
            <a:ext cx="8146639" cy="546544"/>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kumimoji="1" lang="zh-CN" altLang="en-US" sz="3200" b="1" dirty="0">
                <a:solidFill>
                  <a:schemeClr val="tx1"/>
                </a:solidFill>
                <a:latin typeface="+mn-lt"/>
                <a:ea typeface="+mn-ea"/>
                <a:cs typeface="+mn-cs"/>
              </a:rPr>
              <a:t>我们提供了一站式投顾服务解决方案</a:t>
            </a:r>
            <a:endParaRPr kumimoji="1" sz="3200" b="1" dirty="0">
              <a:solidFill>
                <a:schemeClr val="tx1"/>
              </a:solidFill>
              <a:latin typeface="+mn-lt"/>
              <a:ea typeface="+mn-ea"/>
              <a:cs typeface="+mn-cs"/>
            </a:endParaRPr>
          </a:p>
        </p:txBody>
      </p:sp>
      <p:sp>
        <p:nvSpPr>
          <p:cNvPr id="4" name="文本框 3"/>
          <p:cNvSpPr txBox="1"/>
          <p:nvPr/>
        </p:nvSpPr>
        <p:spPr>
          <a:xfrm>
            <a:off x="7800182" y="2157678"/>
            <a:ext cx="3519276" cy="153142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indent="-285750" algn="just" defTabSz="608965">
              <a:buFont typeface="Arial" charset="0"/>
              <a:buChar char="•"/>
            </a:pPr>
            <a:r>
              <a:rPr lang="en-US" altLang="zh-CN" sz="1600" dirty="0">
                <a:solidFill>
                  <a:schemeClr val="tx1">
                    <a:lumMod val="85000"/>
                    <a:lumOff val="15000"/>
                  </a:schemeClr>
                </a:solidFill>
                <a:latin typeface="+mj-ea"/>
                <a:ea typeface="+mj-ea"/>
                <a:cs typeface="+mn-ea"/>
              </a:rPr>
              <a:t>What-</a:t>
            </a:r>
            <a:r>
              <a:rPr lang="zh-CN" altLang="en-US" sz="1600" dirty="0">
                <a:solidFill>
                  <a:schemeClr val="tx1">
                    <a:lumMod val="85000"/>
                    <a:lumOff val="15000"/>
                  </a:schemeClr>
                </a:solidFill>
                <a:latin typeface="+mj-ea"/>
                <a:ea typeface="+mj-ea"/>
                <a:cs typeface="+mn-ea"/>
              </a:rPr>
              <a:t>包括多元与个性化资产配置与基金排序评级等</a:t>
            </a:r>
            <a:endParaRPr lang="en-US" altLang="zh-CN" sz="1600" dirty="0">
              <a:solidFill>
                <a:schemeClr val="tx1">
                  <a:lumMod val="85000"/>
                  <a:lumOff val="15000"/>
                </a:schemeClr>
              </a:solidFill>
              <a:latin typeface="+mj-ea"/>
              <a:ea typeface="+mj-ea"/>
              <a:cs typeface="+mn-ea"/>
            </a:endParaRPr>
          </a:p>
          <a:p>
            <a:pPr indent="-285750" algn="just" defTabSz="608965">
              <a:buFont typeface="Arial" charset="0"/>
              <a:buChar char="•"/>
            </a:pPr>
            <a:endParaRPr lang="en-US" altLang="zh-CN" sz="1600" dirty="0">
              <a:solidFill>
                <a:schemeClr val="tx1">
                  <a:lumMod val="85000"/>
                  <a:lumOff val="15000"/>
                </a:schemeClr>
              </a:solidFill>
              <a:latin typeface="+mj-ea"/>
              <a:ea typeface="+mj-ea"/>
              <a:cs typeface="+mn-ea"/>
            </a:endParaRPr>
          </a:p>
          <a:p>
            <a:pPr indent="-285750" algn="just" defTabSz="608965">
              <a:buFont typeface="Arial" charset="0"/>
              <a:buChar char="•"/>
            </a:pPr>
            <a:r>
              <a:rPr lang="en-US" altLang="zh-CN" sz="1600" dirty="0">
                <a:solidFill>
                  <a:schemeClr val="tx1">
                    <a:lumMod val="85000"/>
                    <a:lumOff val="15000"/>
                  </a:schemeClr>
                </a:solidFill>
                <a:latin typeface="+mj-ea"/>
                <a:ea typeface="+mj-ea"/>
                <a:cs typeface="+mn-ea"/>
                <a:sym typeface="Arial Black"/>
              </a:rPr>
              <a:t>Why-</a:t>
            </a:r>
            <a:r>
              <a:rPr lang="zh-CN" altLang="en-US" sz="1600" dirty="0">
                <a:solidFill>
                  <a:schemeClr val="tx1">
                    <a:lumMod val="85000"/>
                    <a:lumOff val="15000"/>
                  </a:schemeClr>
                </a:solidFill>
                <a:latin typeface="+mj-ea"/>
                <a:ea typeface="+mj-ea"/>
                <a:cs typeface="+mn-ea"/>
                <a:sym typeface="Arial Black"/>
              </a:rPr>
              <a:t>资产涵盖（港美股、国内外基金等）</a:t>
            </a:r>
            <a:r>
              <a:rPr lang="en-US" altLang="zh-CN" sz="1600" dirty="0">
                <a:solidFill>
                  <a:schemeClr val="tx1">
                    <a:lumMod val="85000"/>
                    <a:lumOff val="15000"/>
                  </a:schemeClr>
                </a:solidFill>
                <a:latin typeface="+mj-ea"/>
                <a:ea typeface="+mj-ea"/>
                <a:cs typeface="+mn-ea"/>
                <a:sym typeface="Arial Black"/>
              </a:rPr>
              <a:t>,</a:t>
            </a:r>
            <a:r>
              <a:rPr lang="zh-CN" altLang="en-US" sz="1600" dirty="0">
                <a:solidFill>
                  <a:schemeClr val="tx1">
                    <a:lumMod val="85000"/>
                    <a:lumOff val="15000"/>
                  </a:schemeClr>
                </a:solidFill>
                <a:latin typeface="+mj-ea"/>
                <a:ea typeface="+mj-ea"/>
                <a:cs typeface="+mn-ea"/>
                <a:sym typeface="Arial Black"/>
              </a:rPr>
              <a:t>业内领先的算法模型，数据来源于</a:t>
            </a:r>
            <a:r>
              <a:rPr lang="en-US" altLang="zh-CN" sz="1600" dirty="0" err="1">
                <a:solidFill>
                  <a:schemeClr val="tx1">
                    <a:lumMod val="85000"/>
                    <a:lumOff val="15000"/>
                  </a:schemeClr>
                </a:solidFill>
                <a:latin typeface="+mj-ea"/>
                <a:ea typeface="+mj-ea"/>
                <a:cs typeface="+mn-ea"/>
                <a:sym typeface="Arial Black"/>
              </a:rPr>
              <a:t>moringstar</a:t>
            </a:r>
            <a:r>
              <a:rPr lang="zh-CN" altLang="en-US" sz="1600" dirty="0">
                <a:solidFill>
                  <a:schemeClr val="tx1">
                    <a:lumMod val="85000"/>
                    <a:lumOff val="15000"/>
                  </a:schemeClr>
                </a:solidFill>
                <a:latin typeface="+mj-ea"/>
                <a:ea typeface="+mj-ea"/>
                <a:cs typeface="+mn-ea"/>
              </a:rPr>
              <a:t>等专业机构</a:t>
            </a:r>
            <a:endParaRPr lang="zh-CN" altLang="en-US" sz="1600" dirty="0">
              <a:solidFill>
                <a:schemeClr val="tx1">
                  <a:lumMod val="85000"/>
                  <a:lumOff val="15000"/>
                </a:schemeClr>
              </a:solidFill>
              <a:latin typeface="+mj-ea"/>
              <a:ea typeface="+mj-ea"/>
              <a:cs typeface="+mn-ea"/>
              <a:sym typeface="Arial Black"/>
            </a:endParaRPr>
          </a:p>
        </p:txBody>
      </p:sp>
      <p:sp>
        <p:nvSpPr>
          <p:cNvPr id="41" name="文本框 40"/>
          <p:cNvSpPr txBox="1"/>
          <p:nvPr/>
        </p:nvSpPr>
        <p:spPr>
          <a:xfrm>
            <a:off x="1068244" y="4627121"/>
            <a:ext cx="3603183" cy="128520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indent="-285750" algn="just" defTabSz="608965">
              <a:lnSpc>
                <a:spcPct val="100000"/>
              </a:lnSpc>
              <a:buFont typeface="Arial" charset="0"/>
              <a:buChar char="•"/>
            </a:pPr>
            <a:r>
              <a:rPr lang="en-US" altLang="zh-CN" sz="1600" dirty="0">
                <a:solidFill>
                  <a:schemeClr val="tx1">
                    <a:lumMod val="85000"/>
                    <a:lumOff val="15000"/>
                  </a:schemeClr>
                </a:solidFill>
                <a:latin typeface="+mj-ea"/>
                <a:ea typeface="+mj-ea"/>
                <a:cs typeface="+mn-ea"/>
              </a:rPr>
              <a:t>What-</a:t>
            </a:r>
            <a:r>
              <a:rPr lang="zh-CN" altLang="en-US" sz="1600" dirty="0">
                <a:solidFill>
                  <a:schemeClr val="tx1">
                    <a:lumMod val="85000"/>
                    <a:lumOff val="15000"/>
                  </a:schemeClr>
                </a:solidFill>
                <a:latin typeface="+mj-ea"/>
                <a:ea typeface="+mj-ea"/>
                <a:cs typeface="+mn-ea"/>
                <a:sym typeface="Arial Black"/>
              </a:rPr>
              <a:t>包括有止盈止</a:t>
            </a:r>
            <a:r>
              <a:rPr lang="zh-CN" altLang="en-US" sz="1600" dirty="0">
                <a:solidFill>
                  <a:schemeClr val="tx1">
                    <a:lumMod val="85000"/>
                    <a:lumOff val="15000"/>
                  </a:schemeClr>
                </a:solidFill>
                <a:latin typeface="+mj-ea"/>
                <a:ea typeface="+mj-ea"/>
                <a:cs typeface="+mn-ea"/>
              </a:rPr>
              <a:t>损</a:t>
            </a:r>
            <a:r>
              <a:rPr lang="zh-CN" altLang="en-US" sz="1600" dirty="0">
                <a:solidFill>
                  <a:schemeClr val="tx1">
                    <a:lumMod val="85000"/>
                    <a:lumOff val="15000"/>
                  </a:schemeClr>
                </a:solidFill>
                <a:latin typeface="+mj-ea"/>
                <a:ea typeface="+mj-ea"/>
                <a:cs typeface="+mn-ea"/>
                <a:sym typeface="Arial Black"/>
              </a:rPr>
              <a:t>、市场解读与资产再平衡建议等</a:t>
            </a:r>
            <a:endParaRPr lang="en-US" altLang="zh-CN" sz="1600" dirty="0">
              <a:solidFill>
                <a:schemeClr val="tx1">
                  <a:lumMod val="85000"/>
                  <a:lumOff val="15000"/>
                </a:schemeClr>
              </a:solidFill>
              <a:latin typeface="+mj-ea"/>
              <a:ea typeface="+mj-ea"/>
              <a:cs typeface="+mn-ea"/>
              <a:sym typeface="Arial Black"/>
            </a:endParaRPr>
          </a:p>
          <a:p>
            <a:pPr indent="-285750" algn="just" defTabSz="608965">
              <a:lnSpc>
                <a:spcPct val="100000"/>
              </a:lnSpc>
              <a:buFont typeface="Arial" charset="0"/>
              <a:buChar char="•"/>
            </a:pPr>
            <a:endParaRPr lang="en-US" altLang="zh-CN" sz="1600" dirty="0">
              <a:solidFill>
                <a:schemeClr val="tx1">
                  <a:lumMod val="85000"/>
                  <a:lumOff val="15000"/>
                </a:schemeClr>
              </a:solidFill>
              <a:latin typeface="+mj-ea"/>
              <a:ea typeface="+mj-ea"/>
              <a:cs typeface="+mn-ea"/>
              <a:sym typeface="Arial Black"/>
            </a:endParaRPr>
          </a:p>
          <a:p>
            <a:pPr indent="-285750" algn="just" defTabSz="608965">
              <a:lnSpc>
                <a:spcPct val="100000"/>
              </a:lnSpc>
              <a:buFont typeface="Arial" charset="0"/>
              <a:buChar char="•"/>
            </a:pPr>
            <a:r>
              <a:rPr lang="en-US" altLang="zh-CN" sz="1600" dirty="0">
                <a:solidFill>
                  <a:schemeClr val="tx1">
                    <a:lumMod val="85000"/>
                    <a:lumOff val="15000"/>
                  </a:schemeClr>
                </a:solidFill>
                <a:latin typeface="+mj-ea"/>
                <a:ea typeface="+mj-ea"/>
                <a:cs typeface="+mn-ea"/>
              </a:rPr>
              <a:t>Why-</a:t>
            </a:r>
            <a:r>
              <a:rPr lang="zh-CN" altLang="en-US" sz="1600" dirty="0">
                <a:solidFill>
                  <a:schemeClr val="tx1">
                    <a:lumMod val="85000"/>
                    <a:lumOff val="15000"/>
                  </a:schemeClr>
                </a:solidFill>
                <a:latin typeface="+mj-ea"/>
                <a:ea typeface="+mj-ea"/>
                <a:cs typeface="+mn-ea"/>
              </a:rPr>
              <a:t>业内独创的投后管理模型，以提升交易活跃为核心目的</a:t>
            </a:r>
            <a:endParaRPr lang="en-US" altLang="zh-CN" sz="1600" dirty="0">
              <a:solidFill>
                <a:schemeClr val="tx1">
                  <a:lumMod val="85000"/>
                  <a:lumOff val="15000"/>
                </a:schemeClr>
              </a:solidFill>
              <a:latin typeface="+mj-ea"/>
              <a:ea typeface="+mj-ea"/>
              <a:cs typeface="+mn-ea"/>
            </a:endParaRPr>
          </a:p>
        </p:txBody>
      </p:sp>
      <p:sp>
        <p:nvSpPr>
          <p:cNvPr id="42" name="文本框 41"/>
          <p:cNvSpPr txBox="1"/>
          <p:nvPr/>
        </p:nvSpPr>
        <p:spPr>
          <a:xfrm>
            <a:off x="1077581" y="2069002"/>
            <a:ext cx="3593846" cy="1777650"/>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R="0" indent="-285750" algn="just" defTabSz="608965" fontAlgn="auto">
              <a:spcBef>
                <a:spcPts val="0"/>
              </a:spcBef>
              <a:spcAft>
                <a:spcPts val="0"/>
              </a:spcAft>
              <a:buClrTx/>
              <a:buSzTx/>
              <a:buFont typeface="Arial" charset="0"/>
              <a:buChar char="•"/>
              <a:tabLst/>
            </a:pPr>
            <a:r>
              <a:rPr lang="en-US" altLang="zh-CN" sz="1600" dirty="0">
                <a:solidFill>
                  <a:schemeClr val="tx1">
                    <a:lumMod val="85000"/>
                    <a:lumOff val="15000"/>
                  </a:schemeClr>
                </a:solidFill>
                <a:latin typeface="+mj-ea"/>
                <a:ea typeface="+mj-ea"/>
                <a:cs typeface="+mn-ea"/>
              </a:rPr>
              <a:t>What-</a:t>
            </a:r>
            <a:r>
              <a:rPr lang="zh-CN" altLang="en-US" sz="1600" dirty="0">
                <a:solidFill>
                  <a:schemeClr val="tx1">
                    <a:lumMod val="85000"/>
                    <a:lumOff val="15000"/>
                  </a:schemeClr>
                </a:solidFill>
                <a:latin typeface="+mj-ea"/>
                <a:ea typeface="+mj-ea"/>
                <a:cs typeface="+mn-ea"/>
              </a:rPr>
              <a:t>用户信息分析统计模型及对应的可视化界面等</a:t>
            </a:r>
            <a:endParaRPr lang="en-US" altLang="zh-CN" sz="1600" dirty="0">
              <a:solidFill>
                <a:schemeClr val="tx1">
                  <a:lumMod val="85000"/>
                  <a:lumOff val="15000"/>
                </a:schemeClr>
              </a:solidFill>
              <a:latin typeface="+mj-ea"/>
              <a:ea typeface="+mj-ea"/>
              <a:cs typeface="+mn-ea"/>
            </a:endParaRPr>
          </a:p>
          <a:p>
            <a:pPr marR="0" indent="-285750" algn="just" defTabSz="608965" fontAlgn="auto">
              <a:spcBef>
                <a:spcPts val="0"/>
              </a:spcBef>
              <a:spcAft>
                <a:spcPts val="0"/>
              </a:spcAft>
              <a:buClrTx/>
              <a:buSzTx/>
              <a:buFont typeface="Arial" charset="0"/>
              <a:buChar char="•"/>
              <a:tabLst/>
            </a:pPr>
            <a:endParaRPr lang="en-US" altLang="zh-CN" sz="1600" dirty="0">
              <a:solidFill>
                <a:schemeClr val="tx1">
                  <a:lumMod val="85000"/>
                  <a:lumOff val="15000"/>
                </a:schemeClr>
              </a:solidFill>
              <a:latin typeface="+mj-ea"/>
              <a:ea typeface="+mj-ea"/>
              <a:cs typeface="+mn-ea"/>
            </a:endParaRPr>
          </a:p>
          <a:p>
            <a:pPr marR="0" indent="-285750" algn="just" defTabSz="608965" fontAlgn="auto">
              <a:spcBef>
                <a:spcPts val="0"/>
              </a:spcBef>
              <a:spcAft>
                <a:spcPts val="0"/>
              </a:spcAft>
              <a:buClrTx/>
              <a:buSzTx/>
              <a:buFont typeface="Arial" charset="0"/>
              <a:buChar char="•"/>
              <a:tabLst/>
            </a:pPr>
            <a:r>
              <a:rPr lang="en-US" altLang="zh-CN" sz="1600" dirty="0">
                <a:solidFill>
                  <a:schemeClr val="tx1">
                    <a:lumMod val="85000"/>
                    <a:lumOff val="15000"/>
                  </a:schemeClr>
                </a:solidFill>
                <a:latin typeface="+mj-ea"/>
                <a:ea typeface="+mj-ea"/>
                <a:cs typeface="+mn-ea"/>
              </a:rPr>
              <a:t>Why-</a:t>
            </a:r>
            <a:r>
              <a:rPr lang="zh-CN" altLang="en-US" sz="1600" dirty="0">
                <a:solidFill>
                  <a:schemeClr val="tx1">
                    <a:lumMod val="85000"/>
                    <a:lumOff val="15000"/>
                  </a:schemeClr>
                </a:solidFill>
                <a:latin typeface="+mj-ea"/>
                <a:ea typeface="+mj-ea"/>
                <a:cs typeface="+mn-ea"/>
              </a:rPr>
              <a:t>整合了</a:t>
            </a:r>
            <a:r>
              <a:rPr lang="en-US" altLang="zh-CN" sz="1600" dirty="0">
                <a:solidFill>
                  <a:schemeClr val="tx1">
                    <a:lumMod val="85000"/>
                    <a:lumOff val="15000"/>
                  </a:schemeClr>
                </a:solidFill>
                <a:latin typeface="+mj-ea"/>
                <a:ea typeface="+mj-ea"/>
                <a:cs typeface="+mn-ea"/>
              </a:rPr>
              <a:t>FDT</a:t>
            </a:r>
            <a:r>
              <a:rPr lang="zh-CN" altLang="en-US" sz="1600" dirty="0">
                <a:solidFill>
                  <a:schemeClr val="tx1">
                    <a:lumMod val="85000"/>
                    <a:lumOff val="15000"/>
                  </a:schemeClr>
                </a:solidFill>
                <a:latin typeface="+mj-ea"/>
                <a:ea typeface="+mj-ea"/>
                <a:cs typeface="+mn-ea"/>
              </a:rPr>
              <a:t>集团的科技优势，依靠海量用户操作数据及团队多年的市场研究经验，对用户进行精准的行为个性判断</a:t>
            </a:r>
            <a:endParaRPr lang="zh-CN" altLang="en-US" sz="1600" dirty="0">
              <a:solidFill>
                <a:schemeClr val="tx1">
                  <a:lumMod val="85000"/>
                  <a:lumOff val="15000"/>
                </a:schemeClr>
              </a:solidFill>
              <a:latin typeface="+mj-ea"/>
              <a:ea typeface="+mj-ea"/>
              <a:cs typeface="+mn-ea"/>
              <a:sym typeface="Arial Black"/>
            </a:endParaRPr>
          </a:p>
        </p:txBody>
      </p:sp>
      <p:sp>
        <p:nvSpPr>
          <p:cNvPr id="3" name="文本框 2"/>
          <p:cNvSpPr txBox="1"/>
          <p:nvPr/>
        </p:nvSpPr>
        <p:spPr>
          <a:xfrm>
            <a:off x="5055402" y="2210078"/>
            <a:ext cx="339437" cy="700432"/>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en-US" altLang="zh-CN" sz="4200" b="0" i="0" u="none" strike="noStrike" cap="none" spc="0" normalizeH="0" baseline="0" dirty="0">
                <a:ln>
                  <a:noFill/>
                </a:ln>
                <a:solidFill>
                  <a:srgbClr val="FFFFFF"/>
                </a:solidFill>
                <a:effectLst/>
                <a:uFillTx/>
                <a:latin typeface="Weibei SC" charset="-122"/>
                <a:ea typeface="Weibei SC" charset="-122"/>
                <a:cs typeface="Weibei SC" charset="-122"/>
                <a:sym typeface="Arial Black"/>
              </a:rPr>
              <a:t>1</a:t>
            </a:r>
            <a:endParaRPr kumimoji="0" lang="zh-CN" altLang="en-US" sz="4200" b="0" i="0" u="none" strike="noStrike" cap="none" spc="0" normalizeH="0" baseline="0" dirty="0">
              <a:ln>
                <a:noFill/>
              </a:ln>
              <a:solidFill>
                <a:srgbClr val="FFFFFF"/>
              </a:solidFill>
              <a:effectLst/>
              <a:uFillTx/>
              <a:latin typeface="Weibei SC" charset="-122"/>
              <a:ea typeface="Weibei SC" charset="-122"/>
              <a:cs typeface="Weibei SC" charset="-122"/>
              <a:sym typeface="Arial Black"/>
            </a:endParaRPr>
          </a:p>
        </p:txBody>
      </p:sp>
      <p:pic>
        <p:nvPicPr>
          <p:cNvPr id="5" name="图片 4"/>
          <p:cNvPicPr>
            <a:picLocks noChangeAspect="1"/>
          </p:cNvPicPr>
          <p:nvPr/>
        </p:nvPicPr>
        <p:blipFill>
          <a:blip r:embed="rId5"/>
          <a:stretch>
            <a:fillRect/>
          </a:stretch>
        </p:blipFill>
        <p:spPr>
          <a:xfrm>
            <a:off x="6829577" y="2264721"/>
            <a:ext cx="401129" cy="471044"/>
          </a:xfrm>
          <a:prstGeom prst="rect">
            <a:avLst/>
          </a:prstGeom>
        </p:spPr>
      </p:pic>
      <p:sp>
        <p:nvSpPr>
          <p:cNvPr id="35" name="文本框 34"/>
          <p:cNvSpPr txBox="1"/>
          <p:nvPr/>
        </p:nvSpPr>
        <p:spPr>
          <a:xfrm>
            <a:off x="6888713" y="2194610"/>
            <a:ext cx="339437" cy="700432"/>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en-US" altLang="zh-CN" sz="4200" b="0" i="0" u="none" strike="noStrike" cap="none" spc="0" normalizeH="0" baseline="0" dirty="0">
                <a:ln>
                  <a:noFill/>
                </a:ln>
                <a:solidFill>
                  <a:srgbClr val="FFFFFF"/>
                </a:solidFill>
                <a:effectLst/>
                <a:uFillTx/>
                <a:latin typeface="Weibei SC" charset="-122"/>
                <a:ea typeface="Weibei SC" charset="-122"/>
                <a:cs typeface="Weibei SC" charset="-122"/>
                <a:sym typeface="Arial Black"/>
              </a:rPr>
              <a:t>2</a:t>
            </a:r>
            <a:endParaRPr kumimoji="0" lang="zh-CN" altLang="en-US" sz="4200" b="0" i="0" u="none" strike="noStrike" cap="none" spc="0" normalizeH="0" baseline="0" dirty="0">
              <a:ln>
                <a:noFill/>
              </a:ln>
              <a:solidFill>
                <a:srgbClr val="FFFFFF"/>
              </a:solidFill>
              <a:effectLst/>
              <a:uFillTx/>
              <a:latin typeface="Weibei SC" charset="-122"/>
              <a:ea typeface="Weibei SC" charset="-122"/>
              <a:cs typeface="Weibei SC" charset="-122"/>
              <a:sym typeface="Arial Black"/>
            </a:endParaRPr>
          </a:p>
        </p:txBody>
      </p:sp>
      <p:sp>
        <p:nvSpPr>
          <p:cNvPr id="39" name="文本框 38"/>
          <p:cNvSpPr txBox="1"/>
          <p:nvPr/>
        </p:nvSpPr>
        <p:spPr>
          <a:xfrm>
            <a:off x="6783857" y="3870469"/>
            <a:ext cx="339437" cy="700432"/>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en-US" altLang="zh-CN" sz="4200" b="0" i="0" u="none" strike="noStrike" cap="none" spc="0" normalizeH="0" baseline="0" dirty="0">
                <a:ln>
                  <a:noFill/>
                </a:ln>
                <a:solidFill>
                  <a:srgbClr val="FFFFFF"/>
                </a:solidFill>
                <a:effectLst/>
                <a:uFillTx/>
                <a:latin typeface="Weibei SC" charset="-122"/>
                <a:ea typeface="Weibei SC" charset="-122"/>
                <a:cs typeface="Weibei SC" charset="-122"/>
                <a:sym typeface="Arial Black"/>
              </a:rPr>
              <a:t>4</a:t>
            </a:r>
            <a:endParaRPr kumimoji="0" lang="zh-CN" altLang="en-US" sz="4200" b="0" i="0" u="none" strike="noStrike" cap="none" spc="0" normalizeH="0" baseline="0" dirty="0">
              <a:ln>
                <a:noFill/>
              </a:ln>
              <a:solidFill>
                <a:srgbClr val="FFFFFF"/>
              </a:solidFill>
              <a:effectLst/>
              <a:uFillTx/>
              <a:latin typeface="Weibei SC" charset="-122"/>
              <a:ea typeface="Weibei SC" charset="-122"/>
              <a:cs typeface="Weibei SC" charset="-122"/>
              <a:sym typeface="Arial Black"/>
            </a:endParaRPr>
          </a:p>
        </p:txBody>
      </p:sp>
      <p:sp>
        <p:nvSpPr>
          <p:cNvPr id="43" name="文本框 42"/>
          <p:cNvSpPr txBox="1"/>
          <p:nvPr/>
        </p:nvSpPr>
        <p:spPr>
          <a:xfrm>
            <a:off x="7920678" y="4154140"/>
            <a:ext cx="1620957" cy="400110"/>
          </a:xfrm>
          <a:prstGeom prst="rect">
            <a:avLst/>
          </a:prstGeom>
          <a:noFill/>
        </p:spPr>
        <p:txBody>
          <a:bodyPr wrap="none" rtlCol="0" anchor="t">
            <a:spAutoFit/>
          </a:bodyPr>
          <a:lstStyle/>
          <a:p>
            <a:pPr algn="dist"/>
            <a:r>
              <a:rPr lang="zh-CN" altLang="en-US" sz="1800" dirty="0">
                <a:solidFill>
                  <a:schemeClr val="tx2">
                    <a:lumMod val="10000"/>
                  </a:schemeClr>
                </a:solidFill>
                <a:latin typeface="微软雅黑" panose="020B0503020204020204" charset="-122"/>
                <a:ea typeface="微软雅黑" panose="020B0503020204020204" charset="-122"/>
                <a:sym typeface="+mn-ea"/>
              </a:rPr>
              <a:t>智能</a:t>
            </a:r>
            <a:r>
              <a:rPr lang="zh-CN" altLang="en-US" sz="2000" dirty="0">
                <a:solidFill>
                  <a:schemeClr val="tx2">
                    <a:lumMod val="10000"/>
                  </a:schemeClr>
                </a:solidFill>
                <a:latin typeface="+mn-ea"/>
                <a:sym typeface="+mn-ea"/>
              </a:rPr>
              <a:t>后台</a:t>
            </a:r>
            <a:r>
              <a:rPr lang="zh-CN" altLang="en-US" sz="1800" dirty="0">
                <a:solidFill>
                  <a:schemeClr val="tx2">
                    <a:lumMod val="10000"/>
                  </a:schemeClr>
                </a:solidFill>
                <a:latin typeface="微软雅黑" panose="020B0503020204020204" charset="-122"/>
                <a:ea typeface="微软雅黑" panose="020B0503020204020204" charset="-122"/>
                <a:sym typeface="+mn-ea"/>
              </a:rPr>
              <a:t>管理</a:t>
            </a:r>
          </a:p>
        </p:txBody>
      </p:sp>
      <p:sp>
        <p:nvSpPr>
          <p:cNvPr id="44" name="文本框 43"/>
          <p:cNvSpPr txBox="1"/>
          <p:nvPr/>
        </p:nvSpPr>
        <p:spPr>
          <a:xfrm>
            <a:off x="7800182" y="4657247"/>
            <a:ext cx="3519276" cy="1592984"/>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R="0" indent="-285750" algn="just" defTabSz="608965" fontAlgn="auto">
              <a:lnSpc>
                <a:spcPts val="2000"/>
              </a:lnSpc>
              <a:spcBef>
                <a:spcPts val="0"/>
              </a:spcBef>
              <a:spcAft>
                <a:spcPts val="0"/>
              </a:spcAft>
              <a:buClrTx/>
              <a:buSzTx/>
              <a:buFont typeface="Arial" charset="0"/>
              <a:buChar char="•"/>
              <a:tabLst/>
            </a:pPr>
            <a:r>
              <a:rPr lang="zh-CN" altLang="en-US" sz="1600" dirty="0">
                <a:solidFill>
                  <a:schemeClr val="tx1">
                    <a:lumMod val="85000"/>
                    <a:lumOff val="15000"/>
                  </a:schemeClr>
                </a:solidFill>
                <a:latin typeface="+mj-ea"/>
                <a:ea typeface="+mj-ea"/>
                <a:cs typeface="+mn-ea"/>
              </a:rPr>
              <a:t>包括客户管理／交易管理／业务结算等完整交易管理后台系统</a:t>
            </a:r>
            <a:endParaRPr lang="en-US" altLang="zh-CN" sz="1600" dirty="0">
              <a:solidFill>
                <a:schemeClr val="tx1">
                  <a:lumMod val="85000"/>
                  <a:lumOff val="15000"/>
                </a:schemeClr>
              </a:solidFill>
              <a:latin typeface="+mj-ea"/>
              <a:ea typeface="+mj-ea"/>
              <a:cs typeface="+mn-ea"/>
            </a:endParaRPr>
          </a:p>
          <a:p>
            <a:pPr marR="0" indent="-285750" algn="just" defTabSz="608965" fontAlgn="auto">
              <a:lnSpc>
                <a:spcPts val="2000"/>
              </a:lnSpc>
              <a:spcBef>
                <a:spcPts val="0"/>
              </a:spcBef>
              <a:spcAft>
                <a:spcPts val="0"/>
              </a:spcAft>
              <a:buClrTx/>
              <a:buSzTx/>
              <a:buFont typeface="Arial" charset="0"/>
              <a:buChar char="•"/>
              <a:tabLst/>
            </a:pPr>
            <a:endParaRPr lang="en-US" altLang="zh-CN" sz="1600" dirty="0">
              <a:solidFill>
                <a:schemeClr val="tx1">
                  <a:lumMod val="85000"/>
                  <a:lumOff val="15000"/>
                </a:schemeClr>
              </a:solidFill>
              <a:latin typeface="+mj-ea"/>
              <a:ea typeface="+mj-ea"/>
              <a:cs typeface="+mn-ea"/>
            </a:endParaRPr>
          </a:p>
          <a:p>
            <a:pPr marR="0" indent="-285750" algn="just" defTabSz="608965" fontAlgn="auto">
              <a:lnSpc>
                <a:spcPts val="2000"/>
              </a:lnSpc>
              <a:spcBef>
                <a:spcPts val="0"/>
              </a:spcBef>
              <a:spcAft>
                <a:spcPts val="0"/>
              </a:spcAft>
              <a:buClrTx/>
              <a:buSzTx/>
              <a:buFont typeface="Arial" charset="0"/>
              <a:buChar char="•"/>
              <a:tabLst/>
            </a:pPr>
            <a:r>
              <a:rPr lang="en-US" altLang="zh-CN" sz="1600" dirty="0">
                <a:solidFill>
                  <a:schemeClr val="tx1">
                    <a:lumMod val="85000"/>
                    <a:lumOff val="15000"/>
                  </a:schemeClr>
                </a:solidFill>
                <a:latin typeface="+mj-ea"/>
                <a:ea typeface="+mj-ea"/>
                <a:cs typeface="+mn-ea"/>
                <a:sym typeface="Arial Black"/>
              </a:rPr>
              <a:t>Why-</a:t>
            </a:r>
            <a:r>
              <a:rPr lang="zh-CN" altLang="en-US" sz="1600" dirty="0">
                <a:solidFill>
                  <a:schemeClr val="tx1">
                    <a:lumMod val="85000"/>
                    <a:lumOff val="15000"/>
                  </a:schemeClr>
                </a:solidFill>
                <a:latin typeface="+mj-ea"/>
                <a:ea typeface="+mj-ea"/>
                <a:cs typeface="+mn-ea"/>
              </a:rPr>
              <a:t>以提升业务效率为核心目标，有效降低人力成本，已和大型银行机构深入合作</a:t>
            </a:r>
            <a:endParaRPr lang="zh-CN" altLang="en-US" sz="1600" dirty="0">
              <a:solidFill>
                <a:schemeClr val="tx1">
                  <a:lumMod val="85000"/>
                  <a:lumOff val="15000"/>
                </a:schemeClr>
              </a:solidFill>
              <a:latin typeface="+mj-ea"/>
              <a:ea typeface="+mj-ea"/>
              <a:cs typeface="+mn-ea"/>
              <a:sym typeface="Arial Black"/>
            </a:endParaRPr>
          </a:p>
        </p:txBody>
      </p:sp>
      <p:sp>
        <p:nvSpPr>
          <p:cNvPr id="32" name="文本框 31"/>
          <p:cNvSpPr txBox="1"/>
          <p:nvPr/>
        </p:nvSpPr>
        <p:spPr>
          <a:xfrm>
            <a:off x="5119159" y="3852338"/>
            <a:ext cx="339437" cy="700432"/>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en-US" altLang="zh-CN" sz="4200" b="0" i="0" u="none" strike="noStrike" cap="none" spc="0" normalizeH="0" baseline="0" dirty="0">
                <a:ln>
                  <a:noFill/>
                </a:ln>
                <a:solidFill>
                  <a:srgbClr val="FFFFFF"/>
                </a:solidFill>
                <a:effectLst/>
                <a:uFillTx/>
                <a:latin typeface="Weibei SC" charset="-122"/>
                <a:ea typeface="Weibei SC" charset="-122"/>
                <a:cs typeface="Weibei SC" charset="-122"/>
                <a:sym typeface="Arial Black"/>
              </a:rPr>
              <a:t>3</a:t>
            </a:r>
            <a:endParaRPr kumimoji="0" lang="zh-CN" altLang="en-US" sz="4200" b="0" i="0" u="none" strike="noStrike" cap="none" spc="0" normalizeH="0" baseline="0" dirty="0">
              <a:ln>
                <a:noFill/>
              </a:ln>
              <a:solidFill>
                <a:srgbClr val="FFFFFF"/>
              </a:solidFill>
              <a:effectLst/>
              <a:uFillTx/>
              <a:latin typeface="Weibei SC" charset="-122"/>
              <a:ea typeface="Weibei SC" charset="-122"/>
              <a:cs typeface="Weibei SC" charset="-122"/>
              <a:sym typeface="Arial Black"/>
            </a:endParaRPr>
          </a:p>
        </p:txBody>
      </p:sp>
      <p:grpSp>
        <p:nvGrpSpPr>
          <p:cNvPr id="33" name="组 32"/>
          <p:cNvGrpSpPr/>
          <p:nvPr/>
        </p:nvGrpSpPr>
        <p:grpSpPr>
          <a:xfrm>
            <a:off x="1040299" y="852945"/>
            <a:ext cx="6446261" cy="103887"/>
            <a:chOff x="1040299" y="852945"/>
            <a:chExt cx="6446261" cy="103887"/>
          </a:xfrm>
        </p:grpSpPr>
        <p:sp>
          <p:nvSpPr>
            <p:cNvPr id="34" name="矩形 33">
              <a:extLst>
                <a:ext uri="{FF2B5EF4-FFF2-40B4-BE49-F238E27FC236}">
                  <a16:creationId xmlns:a16="http://schemas.microsoft.com/office/drawing/2014/main" id="{07CCDA19-C78F-4FEF-9A33-1AEE922E976D}"/>
                </a:ext>
              </a:extLst>
            </p:cNvPr>
            <p:cNvSpPr/>
            <p:nvPr/>
          </p:nvSpPr>
          <p:spPr>
            <a:xfrm>
              <a:off x="1040299" y="852945"/>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FD35F411-A1E5-4031-B455-0E2C81A8D091}"/>
                </a:ext>
              </a:extLst>
            </p:cNvPr>
            <p:cNvSpPr/>
            <p:nvPr/>
          </p:nvSpPr>
          <p:spPr>
            <a:xfrm>
              <a:off x="5113896" y="852945"/>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429947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dissolve">
                                      <p:cBhvr>
                                        <p:cTn id="7" dur="500"/>
                                        <p:tgtEl>
                                          <p:spTgt spid="28"/>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dissolve">
                                      <p:cBhvr>
                                        <p:cTn id="11" dur="500"/>
                                        <p:tgtEl>
                                          <p:spTgt spid="30"/>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dissolve">
                                      <p:cBhvr>
                                        <p:cTn id="15" dur="500"/>
                                        <p:tgtEl>
                                          <p:spTgt spid="31"/>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dissolve">
                                      <p:cBhvr>
                                        <p:cTn id="19"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0" grpId="0"/>
      <p:bldP spid="31" grpId="0"/>
      <p:bldP spid="4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71"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72"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73" name="03"/>
          <p:cNvSpPr txBox="1"/>
          <p:nvPr/>
        </p:nvSpPr>
        <p:spPr>
          <a:xfrm>
            <a:off x="356995" y="6344413"/>
            <a:ext cx="218679" cy="231380"/>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lvl1pPr>
              <a:defRPr sz="1000">
                <a:solidFill>
                  <a:srgbClr val="CAA354"/>
                </a:solidFill>
                <a:latin typeface="PingFang SC Regular"/>
                <a:ea typeface="PingFang SC Regular"/>
                <a:cs typeface="PingFang SC Regular"/>
                <a:sym typeface="PingFang SC Regular"/>
              </a:defRPr>
            </a:lvl1pPr>
          </a:lstStyle>
          <a:p>
            <a:r>
              <a:rPr dirty="0"/>
              <a:t>03</a:t>
            </a:r>
          </a:p>
        </p:txBody>
      </p:sp>
      <p:pic>
        <p:nvPicPr>
          <p:cNvPr id="175" name="图像" descr="图像"/>
          <p:cNvPicPr>
            <a:picLocks noChangeAspect="1"/>
          </p:cNvPicPr>
          <p:nvPr/>
        </p:nvPicPr>
        <p:blipFill>
          <a:blip r:embed="rId2">
            <a:extLst/>
          </a:blip>
          <a:stretch>
            <a:fillRect/>
          </a:stretch>
        </p:blipFill>
        <p:spPr>
          <a:xfrm>
            <a:off x="10484724" y="427048"/>
            <a:ext cx="1253576" cy="332979"/>
          </a:xfrm>
          <a:prstGeom prst="rect">
            <a:avLst/>
          </a:prstGeom>
          <a:ln w="3175">
            <a:miter lim="400000"/>
          </a:ln>
        </p:spPr>
      </p:pic>
      <p:sp>
        <p:nvSpPr>
          <p:cNvPr id="36" name="标题"/>
          <p:cNvSpPr txBox="1"/>
          <p:nvPr/>
        </p:nvSpPr>
        <p:spPr>
          <a:xfrm>
            <a:off x="1166737" y="144131"/>
            <a:ext cx="4132141" cy="546544"/>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kumimoji="1" lang="zh-CN" altLang="en-US" sz="3200" b="1" dirty="0">
                <a:solidFill>
                  <a:schemeClr val="tx1"/>
                </a:solidFill>
                <a:latin typeface="+mn-lt"/>
                <a:ea typeface="+mn-ea"/>
                <a:cs typeface="+mn-cs"/>
              </a:rPr>
              <a:t>一分钟体验智能投顾</a:t>
            </a:r>
            <a:endParaRPr kumimoji="1" sz="3200" b="1" dirty="0">
              <a:solidFill>
                <a:schemeClr val="tx1"/>
              </a:solidFill>
              <a:latin typeface="+mn-lt"/>
              <a:ea typeface="+mn-ea"/>
              <a:cs typeface="+mn-cs"/>
            </a:endParaRPr>
          </a:p>
        </p:txBody>
      </p:sp>
      <p:sp>
        <p:nvSpPr>
          <p:cNvPr id="60" name="副标题"/>
          <p:cNvSpPr txBox="1"/>
          <p:nvPr/>
        </p:nvSpPr>
        <p:spPr>
          <a:xfrm>
            <a:off x="9844183" y="6460103"/>
            <a:ext cx="3788233" cy="269545"/>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lgn="l">
              <a:defRPr sz="2400">
                <a:solidFill>
                  <a:srgbClr val="5E5E5E">
                    <a:alpha val="90000"/>
                  </a:srgbClr>
                </a:solidFill>
                <a:latin typeface="PingFang SC Regular"/>
                <a:ea typeface="PingFang SC Regular"/>
                <a:cs typeface="PingFang SC Regular"/>
                <a:sym typeface="PingFang SC Regular"/>
              </a:defRPr>
            </a:lvl1pPr>
          </a:lstStyle>
          <a:p>
            <a:r>
              <a:rPr lang="zh-CN" altLang="en-US" sz="1400" dirty="0"/>
              <a:t>数据时间：</a:t>
            </a:r>
            <a:r>
              <a:rPr lang="en-US" altLang="zh-CN" sz="1400" dirty="0"/>
              <a:t>2013.9-2017.9</a:t>
            </a:r>
            <a:endParaRPr sz="1400" dirty="0"/>
          </a:p>
        </p:txBody>
      </p:sp>
      <p:grpSp>
        <p:nvGrpSpPr>
          <p:cNvPr id="45" name="组合 3"/>
          <p:cNvGrpSpPr/>
          <p:nvPr/>
        </p:nvGrpSpPr>
        <p:grpSpPr>
          <a:xfrm>
            <a:off x="892080" y="915871"/>
            <a:ext cx="1419767" cy="5610457"/>
            <a:chOff x="5261108" y="875698"/>
            <a:chExt cx="1419767" cy="5610457"/>
          </a:xfrm>
        </p:grpSpPr>
        <p:sp>
          <p:nvSpPr>
            <p:cNvPr id="47" name="Freeform 13"/>
            <p:cNvSpPr/>
            <p:nvPr/>
          </p:nvSpPr>
          <p:spPr bwMode="auto">
            <a:xfrm>
              <a:off x="5261253" y="1563615"/>
              <a:ext cx="1419622" cy="4922540"/>
            </a:xfrm>
            <a:custGeom>
              <a:avLst/>
              <a:gdLst/>
              <a:ahLst/>
              <a:cxnLst>
                <a:cxn ang="0">
                  <a:pos x="102" y="0"/>
                </a:cxn>
                <a:cxn ang="0">
                  <a:pos x="144" y="41"/>
                </a:cxn>
                <a:cxn ang="0">
                  <a:pos x="140" y="85"/>
                </a:cxn>
                <a:cxn ang="0">
                  <a:pos x="136" y="92"/>
                </a:cxn>
                <a:cxn ang="0">
                  <a:pos x="131" y="113"/>
                </a:cxn>
                <a:cxn ang="0">
                  <a:pos x="124" y="124"/>
                </a:cxn>
                <a:cxn ang="0">
                  <a:pos x="132" y="139"/>
                </a:cxn>
                <a:cxn ang="0">
                  <a:pos x="168" y="154"/>
                </a:cxn>
                <a:cxn ang="0">
                  <a:pos x="194" y="179"/>
                </a:cxn>
                <a:cxn ang="0">
                  <a:pos x="220" y="221"/>
                </a:cxn>
                <a:cxn ang="0">
                  <a:pos x="242" y="268"/>
                </a:cxn>
                <a:cxn ang="0">
                  <a:pos x="200" y="292"/>
                </a:cxn>
                <a:cxn ang="0">
                  <a:pos x="181" y="284"/>
                </a:cxn>
                <a:cxn ang="0">
                  <a:pos x="194" y="361"/>
                </a:cxn>
                <a:cxn ang="0">
                  <a:pos x="203" y="440"/>
                </a:cxn>
                <a:cxn ang="0">
                  <a:pos x="188" y="448"/>
                </a:cxn>
                <a:cxn ang="0">
                  <a:pos x="176" y="549"/>
                </a:cxn>
                <a:cxn ang="0">
                  <a:pos x="162" y="646"/>
                </a:cxn>
                <a:cxn ang="0">
                  <a:pos x="160" y="707"/>
                </a:cxn>
                <a:cxn ang="0">
                  <a:pos x="188" y="746"/>
                </a:cxn>
                <a:cxn ang="0">
                  <a:pos x="221" y="753"/>
                </a:cxn>
                <a:cxn ang="0">
                  <a:pos x="217" y="768"/>
                </a:cxn>
                <a:cxn ang="0">
                  <a:pos x="165" y="763"/>
                </a:cxn>
                <a:cxn ang="0">
                  <a:pos x="146" y="755"/>
                </a:cxn>
                <a:cxn ang="0">
                  <a:pos x="132" y="765"/>
                </a:cxn>
                <a:cxn ang="0">
                  <a:pos x="112" y="753"/>
                </a:cxn>
                <a:cxn ang="0">
                  <a:pos x="109" y="720"/>
                </a:cxn>
                <a:cxn ang="0">
                  <a:pos x="113" y="683"/>
                </a:cxn>
                <a:cxn ang="0">
                  <a:pos x="106" y="629"/>
                </a:cxn>
                <a:cxn ang="0">
                  <a:pos x="106" y="585"/>
                </a:cxn>
                <a:cxn ang="0">
                  <a:pos x="111" y="544"/>
                </a:cxn>
                <a:cxn ang="0">
                  <a:pos x="110" y="516"/>
                </a:cxn>
                <a:cxn ang="0">
                  <a:pos x="95" y="594"/>
                </a:cxn>
                <a:cxn ang="0">
                  <a:pos x="87" y="685"/>
                </a:cxn>
                <a:cxn ang="0">
                  <a:pos x="73" y="742"/>
                </a:cxn>
                <a:cxn ang="0">
                  <a:pos x="68" y="767"/>
                </a:cxn>
                <a:cxn ang="0">
                  <a:pos x="75" y="798"/>
                </a:cxn>
                <a:cxn ang="0">
                  <a:pos x="69" y="843"/>
                </a:cxn>
                <a:cxn ang="0">
                  <a:pos x="30" y="816"/>
                </a:cxn>
                <a:cxn ang="0">
                  <a:pos x="27" y="772"/>
                </a:cxn>
                <a:cxn ang="0">
                  <a:pos x="22" y="738"/>
                </a:cxn>
                <a:cxn ang="0">
                  <a:pos x="22" y="690"/>
                </a:cxn>
                <a:cxn ang="0">
                  <a:pos x="29" y="607"/>
                </a:cxn>
                <a:cxn ang="0">
                  <a:pos x="38" y="506"/>
                </a:cxn>
                <a:cxn ang="0">
                  <a:pos x="39" y="453"/>
                </a:cxn>
                <a:cxn ang="0">
                  <a:pos x="13" y="442"/>
                </a:cxn>
                <a:cxn ang="0">
                  <a:pos x="23" y="379"/>
                </a:cxn>
                <a:cxn ang="0">
                  <a:pos x="37" y="314"/>
                </a:cxn>
                <a:cxn ang="0">
                  <a:pos x="33" y="270"/>
                </a:cxn>
                <a:cxn ang="0">
                  <a:pos x="10" y="214"/>
                </a:cxn>
                <a:cxn ang="0">
                  <a:pos x="9" y="152"/>
                </a:cxn>
                <a:cxn ang="0">
                  <a:pos x="47" y="139"/>
                </a:cxn>
                <a:cxn ang="0">
                  <a:pos x="67" y="116"/>
                </a:cxn>
                <a:cxn ang="0">
                  <a:pos x="74" y="107"/>
                </a:cxn>
                <a:cxn ang="0">
                  <a:pos x="72" y="93"/>
                </a:cxn>
                <a:cxn ang="0">
                  <a:pos x="61" y="79"/>
                </a:cxn>
                <a:cxn ang="0">
                  <a:pos x="60" y="33"/>
                </a:cxn>
                <a:cxn ang="0">
                  <a:pos x="102" y="0"/>
                </a:cxn>
              </a:cxnLst>
              <a:rect l="0" t="0" r="r" b="b"/>
              <a:pathLst>
                <a:path w="246" h="843">
                  <a:moveTo>
                    <a:pt x="102" y="0"/>
                  </a:moveTo>
                  <a:cubicBezTo>
                    <a:pt x="118" y="0"/>
                    <a:pt x="144" y="16"/>
                    <a:pt x="144" y="41"/>
                  </a:cubicBezTo>
                  <a:cubicBezTo>
                    <a:pt x="144" y="66"/>
                    <a:pt x="142" y="77"/>
                    <a:pt x="140" y="85"/>
                  </a:cubicBezTo>
                  <a:cubicBezTo>
                    <a:pt x="138" y="93"/>
                    <a:pt x="136" y="92"/>
                    <a:pt x="136" y="92"/>
                  </a:cubicBezTo>
                  <a:cubicBezTo>
                    <a:pt x="136" y="92"/>
                    <a:pt x="136" y="109"/>
                    <a:pt x="131" y="113"/>
                  </a:cubicBezTo>
                  <a:cubicBezTo>
                    <a:pt x="125" y="117"/>
                    <a:pt x="124" y="119"/>
                    <a:pt x="124" y="124"/>
                  </a:cubicBezTo>
                  <a:cubicBezTo>
                    <a:pt x="124" y="129"/>
                    <a:pt x="127" y="133"/>
                    <a:pt x="132" y="139"/>
                  </a:cubicBezTo>
                  <a:cubicBezTo>
                    <a:pt x="137" y="144"/>
                    <a:pt x="157" y="150"/>
                    <a:pt x="168" y="154"/>
                  </a:cubicBezTo>
                  <a:cubicBezTo>
                    <a:pt x="179" y="158"/>
                    <a:pt x="188" y="165"/>
                    <a:pt x="194" y="179"/>
                  </a:cubicBezTo>
                  <a:cubicBezTo>
                    <a:pt x="200" y="192"/>
                    <a:pt x="209" y="209"/>
                    <a:pt x="220" y="221"/>
                  </a:cubicBezTo>
                  <a:cubicBezTo>
                    <a:pt x="232" y="232"/>
                    <a:pt x="246" y="251"/>
                    <a:pt x="242" y="268"/>
                  </a:cubicBezTo>
                  <a:cubicBezTo>
                    <a:pt x="238" y="286"/>
                    <a:pt x="213" y="299"/>
                    <a:pt x="200" y="292"/>
                  </a:cubicBezTo>
                  <a:cubicBezTo>
                    <a:pt x="186" y="284"/>
                    <a:pt x="181" y="284"/>
                    <a:pt x="181" y="284"/>
                  </a:cubicBezTo>
                  <a:cubicBezTo>
                    <a:pt x="181" y="284"/>
                    <a:pt x="190" y="322"/>
                    <a:pt x="194" y="361"/>
                  </a:cubicBezTo>
                  <a:cubicBezTo>
                    <a:pt x="198" y="400"/>
                    <a:pt x="209" y="437"/>
                    <a:pt x="203" y="440"/>
                  </a:cubicBezTo>
                  <a:cubicBezTo>
                    <a:pt x="197" y="444"/>
                    <a:pt x="188" y="448"/>
                    <a:pt x="188" y="448"/>
                  </a:cubicBezTo>
                  <a:cubicBezTo>
                    <a:pt x="188" y="448"/>
                    <a:pt x="186" y="502"/>
                    <a:pt x="176" y="549"/>
                  </a:cubicBezTo>
                  <a:cubicBezTo>
                    <a:pt x="167" y="597"/>
                    <a:pt x="163" y="618"/>
                    <a:pt x="162" y="646"/>
                  </a:cubicBezTo>
                  <a:cubicBezTo>
                    <a:pt x="160" y="674"/>
                    <a:pt x="157" y="695"/>
                    <a:pt x="160" y="707"/>
                  </a:cubicBezTo>
                  <a:cubicBezTo>
                    <a:pt x="162" y="718"/>
                    <a:pt x="179" y="742"/>
                    <a:pt x="188" y="746"/>
                  </a:cubicBezTo>
                  <a:cubicBezTo>
                    <a:pt x="197" y="750"/>
                    <a:pt x="214" y="750"/>
                    <a:pt x="221" y="753"/>
                  </a:cubicBezTo>
                  <a:cubicBezTo>
                    <a:pt x="228" y="756"/>
                    <a:pt x="233" y="765"/>
                    <a:pt x="217" y="768"/>
                  </a:cubicBezTo>
                  <a:cubicBezTo>
                    <a:pt x="202" y="770"/>
                    <a:pt x="172" y="766"/>
                    <a:pt x="165" y="763"/>
                  </a:cubicBezTo>
                  <a:cubicBezTo>
                    <a:pt x="157" y="761"/>
                    <a:pt x="146" y="755"/>
                    <a:pt x="146" y="755"/>
                  </a:cubicBezTo>
                  <a:cubicBezTo>
                    <a:pt x="146" y="755"/>
                    <a:pt x="149" y="765"/>
                    <a:pt x="132" y="765"/>
                  </a:cubicBezTo>
                  <a:cubicBezTo>
                    <a:pt x="116" y="765"/>
                    <a:pt x="112" y="763"/>
                    <a:pt x="112" y="753"/>
                  </a:cubicBezTo>
                  <a:cubicBezTo>
                    <a:pt x="111" y="742"/>
                    <a:pt x="112" y="728"/>
                    <a:pt x="109" y="720"/>
                  </a:cubicBezTo>
                  <a:cubicBezTo>
                    <a:pt x="107" y="713"/>
                    <a:pt x="119" y="693"/>
                    <a:pt x="113" y="683"/>
                  </a:cubicBezTo>
                  <a:cubicBezTo>
                    <a:pt x="107" y="672"/>
                    <a:pt x="101" y="645"/>
                    <a:pt x="106" y="629"/>
                  </a:cubicBezTo>
                  <a:cubicBezTo>
                    <a:pt x="112" y="612"/>
                    <a:pt x="104" y="596"/>
                    <a:pt x="106" y="585"/>
                  </a:cubicBezTo>
                  <a:cubicBezTo>
                    <a:pt x="108" y="575"/>
                    <a:pt x="111" y="561"/>
                    <a:pt x="111" y="544"/>
                  </a:cubicBezTo>
                  <a:cubicBezTo>
                    <a:pt x="111" y="528"/>
                    <a:pt x="110" y="516"/>
                    <a:pt x="110" y="516"/>
                  </a:cubicBezTo>
                  <a:cubicBezTo>
                    <a:pt x="110" y="516"/>
                    <a:pt x="98" y="577"/>
                    <a:pt x="95" y="594"/>
                  </a:cubicBezTo>
                  <a:cubicBezTo>
                    <a:pt x="92" y="610"/>
                    <a:pt x="87" y="668"/>
                    <a:pt x="87" y="685"/>
                  </a:cubicBezTo>
                  <a:cubicBezTo>
                    <a:pt x="87" y="703"/>
                    <a:pt x="74" y="727"/>
                    <a:pt x="73" y="742"/>
                  </a:cubicBezTo>
                  <a:cubicBezTo>
                    <a:pt x="73" y="758"/>
                    <a:pt x="72" y="767"/>
                    <a:pt x="68" y="767"/>
                  </a:cubicBezTo>
                  <a:cubicBezTo>
                    <a:pt x="63" y="767"/>
                    <a:pt x="72" y="785"/>
                    <a:pt x="75" y="798"/>
                  </a:cubicBezTo>
                  <a:cubicBezTo>
                    <a:pt x="78" y="812"/>
                    <a:pt x="87" y="843"/>
                    <a:pt x="69" y="843"/>
                  </a:cubicBezTo>
                  <a:cubicBezTo>
                    <a:pt x="51" y="843"/>
                    <a:pt x="31" y="835"/>
                    <a:pt x="30" y="816"/>
                  </a:cubicBezTo>
                  <a:cubicBezTo>
                    <a:pt x="29" y="796"/>
                    <a:pt x="32" y="780"/>
                    <a:pt x="27" y="772"/>
                  </a:cubicBezTo>
                  <a:cubicBezTo>
                    <a:pt x="22" y="765"/>
                    <a:pt x="21" y="748"/>
                    <a:pt x="22" y="738"/>
                  </a:cubicBezTo>
                  <a:cubicBezTo>
                    <a:pt x="23" y="728"/>
                    <a:pt x="19" y="712"/>
                    <a:pt x="22" y="690"/>
                  </a:cubicBezTo>
                  <a:cubicBezTo>
                    <a:pt x="24" y="669"/>
                    <a:pt x="24" y="634"/>
                    <a:pt x="29" y="607"/>
                  </a:cubicBezTo>
                  <a:cubicBezTo>
                    <a:pt x="34" y="580"/>
                    <a:pt x="36" y="539"/>
                    <a:pt x="38" y="506"/>
                  </a:cubicBezTo>
                  <a:cubicBezTo>
                    <a:pt x="41" y="474"/>
                    <a:pt x="43" y="458"/>
                    <a:pt x="39" y="453"/>
                  </a:cubicBezTo>
                  <a:cubicBezTo>
                    <a:pt x="36" y="448"/>
                    <a:pt x="18" y="443"/>
                    <a:pt x="13" y="442"/>
                  </a:cubicBezTo>
                  <a:cubicBezTo>
                    <a:pt x="8" y="441"/>
                    <a:pt x="19" y="407"/>
                    <a:pt x="23" y="379"/>
                  </a:cubicBezTo>
                  <a:cubicBezTo>
                    <a:pt x="26" y="351"/>
                    <a:pt x="33" y="334"/>
                    <a:pt x="37" y="314"/>
                  </a:cubicBezTo>
                  <a:cubicBezTo>
                    <a:pt x="41" y="294"/>
                    <a:pt x="41" y="285"/>
                    <a:pt x="33" y="270"/>
                  </a:cubicBezTo>
                  <a:cubicBezTo>
                    <a:pt x="24" y="256"/>
                    <a:pt x="14" y="247"/>
                    <a:pt x="10" y="214"/>
                  </a:cubicBezTo>
                  <a:cubicBezTo>
                    <a:pt x="6" y="182"/>
                    <a:pt x="0" y="160"/>
                    <a:pt x="9" y="152"/>
                  </a:cubicBezTo>
                  <a:cubicBezTo>
                    <a:pt x="18" y="144"/>
                    <a:pt x="34" y="149"/>
                    <a:pt x="47" y="139"/>
                  </a:cubicBezTo>
                  <a:cubicBezTo>
                    <a:pt x="59" y="129"/>
                    <a:pt x="61" y="117"/>
                    <a:pt x="67" y="116"/>
                  </a:cubicBezTo>
                  <a:cubicBezTo>
                    <a:pt x="73" y="115"/>
                    <a:pt x="74" y="114"/>
                    <a:pt x="74" y="107"/>
                  </a:cubicBezTo>
                  <a:cubicBezTo>
                    <a:pt x="74" y="100"/>
                    <a:pt x="72" y="93"/>
                    <a:pt x="72" y="93"/>
                  </a:cubicBezTo>
                  <a:cubicBezTo>
                    <a:pt x="72" y="93"/>
                    <a:pt x="63" y="87"/>
                    <a:pt x="61" y="79"/>
                  </a:cubicBezTo>
                  <a:cubicBezTo>
                    <a:pt x="59" y="70"/>
                    <a:pt x="58" y="48"/>
                    <a:pt x="60" y="33"/>
                  </a:cubicBezTo>
                  <a:cubicBezTo>
                    <a:pt x="63" y="18"/>
                    <a:pt x="76" y="0"/>
                    <a:pt x="102" y="0"/>
                  </a:cubicBezTo>
                  <a:close/>
                </a:path>
              </a:pathLst>
            </a:custGeom>
            <a:solidFill>
              <a:srgbClr val="D1CECE"/>
            </a:solidFill>
            <a:ln w="9525">
              <a:noFill/>
              <a:round/>
            </a:ln>
          </p:spPr>
          <p:txBody>
            <a:bodyPr vert="horz" wrap="square" lIns="121682" tIns="60841" rIns="121682" bIns="60841" numCol="1" anchor="t" anchorCtr="0" compatLnSpc="1"/>
            <a:lstStyle/>
            <a:p>
              <a:pPr defTabSz="1217295">
                <a:defRPr/>
              </a:pPr>
              <a:endParaRPr lang="en-US" sz="3190" kern="0" dirty="0">
                <a:solidFill>
                  <a:srgbClr val="262626"/>
                </a:solidFill>
                <a:latin typeface="Arial" panose="020B0604020202020204" pitchFamily="34" charset="0"/>
                <a:ea typeface="微软雅黑" panose="020B0503020204020204" charset="-122"/>
                <a:sym typeface="Arial" panose="020B0604020202020204" pitchFamily="34" charset="0"/>
              </a:endParaRPr>
            </a:p>
          </p:txBody>
        </p:sp>
        <p:sp>
          <p:nvSpPr>
            <p:cNvPr id="53" name="TextBox 13"/>
            <p:cNvSpPr txBox="1"/>
            <p:nvPr/>
          </p:nvSpPr>
          <p:spPr>
            <a:xfrm>
              <a:off x="5261108" y="875698"/>
              <a:ext cx="1372819" cy="304800"/>
            </a:xfrm>
            <a:prstGeom prst="rect">
              <a:avLst/>
            </a:prstGeom>
            <a:noFill/>
          </p:spPr>
          <p:txBody>
            <a:bodyPr wrap="square" lIns="0" tIns="0" rIns="0" bIns="0" rtlCol="0" anchor="t" anchorCtr="0">
              <a:spAutoFit/>
            </a:bodyPr>
            <a:lstStyle/>
            <a:p>
              <a:pPr algn="ctr" defTabSz="1216660">
                <a:spcBef>
                  <a:spcPct val="20000"/>
                </a:spcBef>
                <a:defRPr/>
              </a:pPr>
              <a:endParaRPr lang="en-US" sz="2000" b="1" dirty="0">
                <a:solidFill>
                  <a:srgbClr val="445469"/>
                </a:solidFill>
                <a:latin typeface="Arial" panose="020B0604020202020204" pitchFamily="34" charset="0"/>
                <a:ea typeface="微软雅黑" panose="020B0503020204020204" charset="-122"/>
                <a:sym typeface="Arial" panose="020B0604020202020204" pitchFamily="34" charset="0"/>
              </a:endParaRPr>
            </a:p>
          </p:txBody>
        </p:sp>
      </p:grpSp>
      <p:cxnSp>
        <p:nvCxnSpPr>
          <p:cNvPr id="55" name="直接箭头连接符 28"/>
          <p:cNvCxnSpPr/>
          <p:nvPr/>
        </p:nvCxnSpPr>
        <p:spPr>
          <a:xfrm>
            <a:off x="1846580" y="3519805"/>
            <a:ext cx="734695" cy="0"/>
          </a:xfrm>
          <a:prstGeom prst="straightConnector1">
            <a:avLst/>
          </a:prstGeom>
          <a:ln>
            <a:solidFill>
              <a:srgbClr val="007E5C"/>
            </a:solidFill>
            <a:tailEnd type="arrow"/>
          </a:ln>
        </p:spPr>
        <p:style>
          <a:lnRef idx="1">
            <a:schemeClr val="accent1"/>
          </a:lnRef>
          <a:fillRef idx="0">
            <a:schemeClr val="accent1"/>
          </a:fillRef>
          <a:effectRef idx="0">
            <a:schemeClr val="accent1"/>
          </a:effectRef>
          <a:fontRef idx="minor">
            <a:schemeClr val="tx1"/>
          </a:fontRef>
        </p:style>
      </p:cxnSp>
      <p:cxnSp>
        <p:nvCxnSpPr>
          <p:cNvPr id="56" name="直接连接符 29"/>
          <p:cNvCxnSpPr/>
          <p:nvPr/>
        </p:nvCxnSpPr>
        <p:spPr>
          <a:xfrm>
            <a:off x="2639060" y="1673225"/>
            <a:ext cx="0" cy="4225290"/>
          </a:xfrm>
          <a:prstGeom prst="line">
            <a:avLst/>
          </a:prstGeom>
          <a:ln>
            <a:solidFill>
              <a:srgbClr val="007E5C"/>
            </a:solidFill>
          </a:ln>
        </p:spPr>
        <p:style>
          <a:lnRef idx="1">
            <a:schemeClr val="accent1"/>
          </a:lnRef>
          <a:fillRef idx="0">
            <a:schemeClr val="accent1"/>
          </a:fillRef>
          <a:effectRef idx="0">
            <a:schemeClr val="accent1"/>
          </a:effectRef>
          <a:fontRef idx="minor">
            <a:schemeClr val="tx1"/>
          </a:fontRef>
        </p:style>
      </p:cxnSp>
      <p:sp>
        <p:nvSpPr>
          <p:cNvPr id="57" name="文本框 56"/>
          <p:cNvSpPr txBox="1"/>
          <p:nvPr/>
        </p:nvSpPr>
        <p:spPr>
          <a:xfrm>
            <a:off x="2813050" y="1769646"/>
            <a:ext cx="1256665" cy="338554"/>
          </a:xfrm>
          <a:prstGeom prst="rect">
            <a:avLst/>
          </a:prstGeom>
          <a:solidFill>
            <a:srgbClr val="991E23"/>
          </a:solidFill>
        </p:spPr>
        <p:txBody>
          <a:bodyPr wrap="square" rtlCol="0">
            <a:spAutoFit/>
          </a:bodyPr>
          <a:lstStyle/>
          <a:p>
            <a:r>
              <a:rPr lang="en-US" altLang="zh-CN" sz="1600" dirty="0">
                <a:solidFill>
                  <a:schemeClr val="bg1"/>
                </a:solidFill>
                <a:latin typeface="+mj-lt"/>
                <a:ea typeface="幼圆" panose="02010509060101010101" charset="-122"/>
              </a:rPr>
              <a:t>10w</a:t>
            </a:r>
            <a:r>
              <a:rPr lang="zh-CN" altLang="en-US" sz="1600" dirty="0">
                <a:solidFill>
                  <a:schemeClr val="bg1"/>
                </a:solidFill>
                <a:latin typeface="+mj-lt"/>
                <a:ea typeface="幼圆" panose="02010509060101010101" charset="-122"/>
              </a:rPr>
              <a:t>本金</a:t>
            </a:r>
          </a:p>
        </p:txBody>
      </p:sp>
      <p:sp>
        <p:nvSpPr>
          <p:cNvPr id="58" name="文本框 57"/>
          <p:cNvSpPr txBox="1"/>
          <p:nvPr/>
        </p:nvSpPr>
        <p:spPr>
          <a:xfrm>
            <a:off x="4607546" y="1752332"/>
            <a:ext cx="1256665" cy="338554"/>
          </a:xfrm>
          <a:prstGeom prst="rect">
            <a:avLst/>
          </a:prstGeom>
          <a:noFill/>
        </p:spPr>
        <p:txBody>
          <a:bodyPr wrap="square" rtlCol="0">
            <a:spAutoFit/>
          </a:bodyPr>
          <a:lstStyle/>
          <a:p>
            <a:r>
              <a:rPr lang="zh-CN" altLang="en-US" sz="1600" dirty="0">
                <a:latin typeface="+mj-ea"/>
                <a:ea typeface="+mj-ea"/>
              </a:rPr>
              <a:t>风险测评</a:t>
            </a:r>
          </a:p>
        </p:txBody>
      </p:sp>
      <p:sp>
        <p:nvSpPr>
          <p:cNvPr id="59" name="文本框 58"/>
          <p:cNvSpPr txBox="1"/>
          <p:nvPr/>
        </p:nvSpPr>
        <p:spPr>
          <a:xfrm>
            <a:off x="6628447" y="1689577"/>
            <a:ext cx="1476058" cy="338554"/>
          </a:xfrm>
          <a:prstGeom prst="rect">
            <a:avLst/>
          </a:prstGeom>
          <a:noFill/>
        </p:spPr>
        <p:txBody>
          <a:bodyPr wrap="square" rtlCol="0">
            <a:spAutoFit/>
          </a:bodyPr>
          <a:lstStyle/>
          <a:p>
            <a:r>
              <a:rPr lang="zh-CN" altLang="en-US" sz="1600" dirty="0">
                <a:latin typeface="+mj-ea"/>
                <a:ea typeface="+mj-ea"/>
              </a:rPr>
              <a:t>分析持仓交易</a:t>
            </a:r>
          </a:p>
        </p:txBody>
      </p:sp>
      <p:cxnSp>
        <p:nvCxnSpPr>
          <p:cNvPr id="62" name="直接箭头连接符 35"/>
          <p:cNvCxnSpPr>
            <a:stCxn id="57" idx="3"/>
            <a:endCxn id="58" idx="1"/>
          </p:cNvCxnSpPr>
          <p:nvPr/>
        </p:nvCxnSpPr>
        <p:spPr>
          <a:xfrm flipV="1">
            <a:off x="4069715" y="1921609"/>
            <a:ext cx="537831" cy="17314"/>
          </a:xfrm>
          <a:prstGeom prst="straightConnector1">
            <a:avLst/>
          </a:prstGeom>
          <a:ln>
            <a:solidFill>
              <a:srgbClr val="D2A143"/>
            </a:solidFill>
            <a:tailEnd type="arrow"/>
          </a:ln>
        </p:spPr>
        <p:style>
          <a:lnRef idx="1">
            <a:schemeClr val="accent1"/>
          </a:lnRef>
          <a:fillRef idx="0">
            <a:schemeClr val="accent1"/>
          </a:fillRef>
          <a:effectRef idx="0">
            <a:schemeClr val="accent1"/>
          </a:effectRef>
          <a:fontRef idx="minor">
            <a:schemeClr val="tx1"/>
          </a:fontRef>
        </p:style>
      </p:cxnSp>
      <p:cxnSp>
        <p:nvCxnSpPr>
          <p:cNvPr id="64" name="直接箭头连接符 37"/>
          <p:cNvCxnSpPr/>
          <p:nvPr/>
        </p:nvCxnSpPr>
        <p:spPr>
          <a:xfrm>
            <a:off x="5791835" y="1859915"/>
            <a:ext cx="734695" cy="0"/>
          </a:xfrm>
          <a:prstGeom prst="straightConnector1">
            <a:avLst/>
          </a:prstGeom>
          <a:ln>
            <a:solidFill>
              <a:srgbClr val="D2A143"/>
            </a:solidFill>
            <a:tailEnd type="arrow"/>
          </a:ln>
        </p:spPr>
        <p:style>
          <a:lnRef idx="1">
            <a:schemeClr val="accent1"/>
          </a:lnRef>
          <a:fillRef idx="0">
            <a:schemeClr val="accent1"/>
          </a:fillRef>
          <a:effectRef idx="0">
            <a:schemeClr val="accent1"/>
          </a:effectRef>
          <a:fontRef idx="minor">
            <a:schemeClr val="tx1"/>
          </a:fontRef>
        </p:style>
      </p:cxnSp>
      <p:sp>
        <p:nvSpPr>
          <p:cNvPr id="66" name="文本框 65"/>
          <p:cNvSpPr txBox="1"/>
          <p:nvPr/>
        </p:nvSpPr>
        <p:spPr>
          <a:xfrm>
            <a:off x="8104505" y="1126692"/>
            <a:ext cx="1471295" cy="584775"/>
          </a:xfrm>
          <a:prstGeom prst="rect">
            <a:avLst/>
          </a:prstGeom>
          <a:noFill/>
        </p:spPr>
        <p:txBody>
          <a:bodyPr wrap="square" rtlCol="0">
            <a:spAutoFit/>
          </a:bodyPr>
          <a:lstStyle/>
          <a:p>
            <a:r>
              <a:rPr lang="zh-CN" altLang="en-US" sz="1600" dirty="0">
                <a:solidFill>
                  <a:srgbClr val="C00000"/>
                </a:solidFill>
                <a:latin typeface="+mj-lt"/>
                <a:ea typeface="幼圆" panose="02010509060101010101" charset="-122"/>
              </a:rPr>
              <a:t>用户画像分析（稳健型）</a:t>
            </a:r>
          </a:p>
        </p:txBody>
      </p:sp>
      <p:sp>
        <p:nvSpPr>
          <p:cNvPr id="73" name="文本框 72"/>
          <p:cNvSpPr txBox="1"/>
          <p:nvPr/>
        </p:nvSpPr>
        <p:spPr>
          <a:xfrm>
            <a:off x="2813050" y="5487989"/>
            <a:ext cx="1421130" cy="338554"/>
          </a:xfrm>
          <a:prstGeom prst="rect">
            <a:avLst/>
          </a:prstGeom>
          <a:solidFill>
            <a:srgbClr val="D2A143"/>
          </a:solidFill>
        </p:spPr>
        <p:txBody>
          <a:bodyPr wrap="square" rtlCol="0">
            <a:spAutoFit/>
          </a:bodyPr>
          <a:lstStyle/>
          <a:p>
            <a:r>
              <a:rPr lang="en-US" altLang="zh-CN" sz="1600" dirty="0">
                <a:solidFill>
                  <a:schemeClr val="bg1"/>
                </a:solidFill>
                <a:latin typeface="+mj-lt"/>
                <a:ea typeface="幼圆" panose="02010509060101010101" charset="-122"/>
              </a:rPr>
              <a:t>10w</a:t>
            </a:r>
            <a:r>
              <a:rPr lang="zh-CN" altLang="en-US" sz="1600" dirty="0">
                <a:solidFill>
                  <a:schemeClr val="bg1"/>
                </a:solidFill>
                <a:latin typeface="+mj-lt"/>
                <a:ea typeface="幼圆" panose="02010509060101010101" charset="-122"/>
              </a:rPr>
              <a:t>本金</a:t>
            </a:r>
            <a:endParaRPr lang="zh-CN" altLang="en-US" sz="1600" dirty="0">
              <a:latin typeface="+mj-lt"/>
              <a:ea typeface="幼圆" panose="02010509060101010101" charset="-122"/>
            </a:endParaRPr>
          </a:p>
        </p:txBody>
      </p:sp>
      <p:sp>
        <p:nvSpPr>
          <p:cNvPr id="77" name="文本框 76"/>
          <p:cNvSpPr txBox="1"/>
          <p:nvPr/>
        </p:nvSpPr>
        <p:spPr>
          <a:xfrm>
            <a:off x="9492392" y="1556239"/>
            <a:ext cx="1569085" cy="584775"/>
          </a:xfrm>
          <a:prstGeom prst="rect">
            <a:avLst/>
          </a:prstGeom>
          <a:noFill/>
        </p:spPr>
        <p:txBody>
          <a:bodyPr wrap="square" rtlCol="0">
            <a:spAutoFit/>
          </a:bodyPr>
          <a:lstStyle/>
          <a:p>
            <a:r>
              <a:rPr lang="zh-CN" altLang="en-US" sz="1600" dirty="0">
                <a:latin typeface="+mj-ea"/>
                <a:ea typeface="+mj-ea"/>
              </a:rPr>
              <a:t>智能匹配组合（智投四号）</a:t>
            </a:r>
            <a:endParaRPr lang="en-US" altLang="zh-CN" sz="1600" dirty="0">
              <a:latin typeface="+mj-ea"/>
              <a:ea typeface="+mj-ea"/>
            </a:endParaRPr>
          </a:p>
        </p:txBody>
      </p:sp>
      <p:cxnSp>
        <p:nvCxnSpPr>
          <p:cNvPr id="78" name="直接箭头连接符 47"/>
          <p:cNvCxnSpPr/>
          <p:nvPr/>
        </p:nvCxnSpPr>
        <p:spPr>
          <a:xfrm flipV="1">
            <a:off x="8048942" y="1848627"/>
            <a:ext cx="1367472" cy="6564"/>
          </a:xfrm>
          <a:prstGeom prst="straightConnector1">
            <a:avLst/>
          </a:prstGeom>
          <a:ln>
            <a:solidFill>
              <a:srgbClr val="D2A143"/>
            </a:solidFill>
            <a:tailEnd type="arrow"/>
          </a:ln>
        </p:spPr>
        <p:style>
          <a:lnRef idx="1">
            <a:schemeClr val="accent1"/>
          </a:lnRef>
          <a:fillRef idx="0">
            <a:schemeClr val="accent1"/>
          </a:fillRef>
          <a:effectRef idx="0">
            <a:schemeClr val="accent1"/>
          </a:effectRef>
          <a:fontRef idx="minor">
            <a:schemeClr val="tx1"/>
          </a:fontRef>
        </p:style>
      </p:cxnSp>
      <p:sp>
        <p:nvSpPr>
          <p:cNvPr id="85" name="文本框 84"/>
          <p:cNvSpPr txBox="1"/>
          <p:nvPr/>
        </p:nvSpPr>
        <p:spPr>
          <a:xfrm>
            <a:off x="4802822" y="5473253"/>
            <a:ext cx="1723708" cy="338554"/>
          </a:xfrm>
          <a:prstGeom prst="rect">
            <a:avLst/>
          </a:prstGeom>
          <a:noFill/>
        </p:spPr>
        <p:txBody>
          <a:bodyPr wrap="square" rtlCol="0">
            <a:spAutoFit/>
          </a:bodyPr>
          <a:lstStyle/>
          <a:p>
            <a:r>
              <a:rPr lang="zh-CN" altLang="en-US" sz="1600" dirty="0">
                <a:latin typeface="+mj-ea"/>
                <a:ea typeface="+mj-ea"/>
              </a:rPr>
              <a:t>用户自发购买</a:t>
            </a:r>
          </a:p>
        </p:txBody>
      </p:sp>
      <p:cxnSp>
        <p:nvCxnSpPr>
          <p:cNvPr id="87" name="直接箭头连接符 56"/>
          <p:cNvCxnSpPr/>
          <p:nvPr/>
        </p:nvCxnSpPr>
        <p:spPr>
          <a:xfrm flipV="1">
            <a:off x="4234180" y="5669280"/>
            <a:ext cx="570230" cy="2858"/>
          </a:xfrm>
          <a:prstGeom prst="straightConnector1">
            <a:avLst/>
          </a:prstGeom>
          <a:ln>
            <a:solidFill>
              <a:srgbClr val="D2A143"/>
            </a:solidFill>
            <a:tailEnd type="arrow"/>
          </a:ln>
        </p:spPr>
        <p:style>
          <a:lnRef idx="1">
            <a:schemeClr val="accent1"/>
          </a:lnRef>
          <a:fillRef idx="0">
            <a:schemeClr val="accent1"/>
          </a:fillRef>
          <a:effectRef idx="0">
            <a:schemeClr val="accent1"/>
          </a:effectRef>
          <a:fontRef idx="minor">
            <a:schemeClr val="tx1"/>
          </a:fontRef>
        </p:style>
      </p:cxnSp>
      <p:sp>
        <p:nvSpPr>
          <p:cNvPr id="42" name="公司简介"/>
          <p:cNvSpPr txBox="1"/>
          <p:nvPr/>
        </p:nvSpPr>
        <p:spPr>
          <a:xfrm>
            <a:off x="1154765" y="2657306"/>
            <a:ext cx="1731101" cy="1454485"/>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2000">
                <a:solidFill>
                  <a:srgbClr val="5E5E5E"/>
                </a:solidFill>
                <a:latin typeface="PingFang SC Regular"/>
                <a:ea typeface="PingFang SC Regular"/>
                <a:cs typeface="PingFang SC Regular"/>
                <a:sym typeface="PingFang SC Regular"/>
              </a:defRPr>
            </a:lvl1pPr>
          </a:lstStyle>
          <a:p>
            <a:pPr algn="l">
              <a:lnSpc>
                <a:spcPct val="130000"/>
              </a:lnSpc>
            </a:pPr>
            <a:r>
              <a:rPr lang="zh-CN" altLang="en-US" sz="1400" b="1" dirty="0">
                <a:solidFill>
                  <a:schemeClr val="tx1"/>
                </a:solidFill>
                <a:latin typeface="+mj-ea"/>
                <a:ea typeface="+mj-ea"/>
                <a:cs typeface="SimSun" charset="-122"/>
              </a:rPr>
              <a:t>甲</a:t>
            </a:r>
            <a:endParaRPr lang="en-US" altLang="zh-CN" sz="1400" b="1" dirty="0">
              <a:solidFill>
                <a:schemeClr val="tx1"/>
              </a:solidFill>
              <a:latin typeface="+mj-ea"/>
              <a:ea typeface="+mj-ea"/>
              <a:cs typeface="SimSun" charset="-122"/>
            </a:endParaRPr>
          </a:p>
          <a:p>
            <a:pPr algn="l">
              <a:lnSpc>
                <a:spcPct val="130000"/>
              </a:lnSpc>
            </a:pPr>
            <a:r>
              <a:rPr lang="zh-CN" altLang="en-US" sz="1400" dirty="0">
                <a:solidFill>
                  <a:schemeClr val="tx1"/>
                </a:solidFill>
                <a:latin typeface="+mj-ea"/>
                <a:ea typeface="+mj-ea"/>
                <a:cs typeface="SimSun" charset="-122"/>
              </a:rPr>
              <a:t>投资时间：</a:t>
            </a:r>
            <a:endParaRPr lang="en-US" altLang="zh-CN" sz="1400" dirty="0">
              <a:solidFill>
                <a:schemeClr val="tx1"/>
              </a:solidFill>
              <a:latin typeface="+mj-ea"/>
              <a:ea typeface="+mj-ea"/>
              <a:cs typeface="SimSun" charset="-122"/>
            </a:endParaRPr>
          </a:p>
          <a:p>
            <a:pPr algn="l">
              <a:lnSpc>
                <a:spcPct val="130000"/>
              </a:lnSpc>
            </a:pPr>
            <a:r>
              <a:rPr lang="en-US" altLang="zh-CN" sz="1400" dirty="0">
                <a:solidFill>
                  <a:schemeClr val="tx1"/>
                </a:solidFill>
                <a:latin typeface="+mj-ea"/>
                <a:ea typeface="+mj-ea"/>
                <a:cs typeface="SimSun" charset="-122"/>
              </a:rPr>
              <a:t>2012.1.1</a:t>
            </a:r>
          </a:p>
          <a:p>
            <a:pPr algn="l">
              <a:lnSpc>
                <a:spcPct val="130000"/>
              </a:lnSpc>
            </a:pPr>
            <a:r>
              <a:rPr lang="zh-CN" altLang="en-US" sz="1400" dirty="0">
                <a:solidFill>
                  <a:schemeClr val="tx1"/>
                </a:solidFill>
                <a:latin typeface="+mj-ea"/>
                <a:ea typeface="+mj-ea"/>
                <a:cs typeface="SimSun" charset="-122"/>
              </a:rPr>
              <a:t>持仓时间</a:t>
            </a:r>
            <a:endParaRPr lang="en-US" altLang="zh-CN" sz="1400" dirty="0">
              <a:solidFill>
                <a:schemeClr val="tx1"/>
              </a:solidFill>
              <a:latin typeface="+mj-ea"/>
              <a:ea typeface="+mj-ea"/>
              <a:cs typeface="SimSun" charset="-122"/>
            </a:endParaRPr>
          </a:p>
          <a:p>
            <a:pPr algn="l">
              <a:lnSpc>
                <a:spcPct val="130000"/>
              </a:lnSpc>
            </a:pPr>
            <a:r>
              <a:rPr lang="en-US" altLang="zh-CN" sz="1400" dirty="0">
                <a:solidFill>
                  <a:schemeClr val="tx1"/>
                </a:solidFill>
                <a:latin typeface="+mj-ea"/>
                <a:ea typeface="+mj-ea"/>
                <a:cs typeface="SimSun" charset="-122"/>
              </a:rPr>
              <a:t>5</a:t>
            </a:r>
            <a:r>
              <a:rPr lang="zh-CN" altLang="en-US" sz="1400" dirty="0">
                <a:solidFill>
                  <a:schemeClr val="tx1"/>
                </a:solidFill>
                <a:latin typeface="+mj-ea"/>
                <a:ea typeface="+mj-ea"/>
                <a:cs typeface="SimSun" charset="-122"/>
              </a:rPr>
              <a:t>年</a:t>
            </a:r>
            <a:endParaRPr lang="en-US" altLang="zh-CN" sz="1400" dirty="0">
              <a:solidFill>
                <a:schemeClr val="tx1"/>
              </a:solidFill>
              <a:latin typeface="+mj-ea"/>
              <a:ea typeface="+mj-ea"/>
              <a:cs typeface="SimSun" charset="-122"/>
            </a:endParaRPr>
          </a:p>
        </p:txBody>
      </p:sp>
      <p:cxnSp>
        <p:nvCxnSpPr>
          <p:cNvPr id="98" name="直线箭头连接符 97"/>
          <p:cNvCxnSpPr>
            <a:stCxn id="77" idx="2"/>
          </p:cNvCxnSpPr>
          <p:nvPr/>
        </p:nvCxnSpPr>
        <p:spPr>
          <a:xfrm>
            <a:off x="10276935" y="2141014"/>
            <a:ext cx="0" cy="5024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1" name="圆角矩形 100"/>
          <p:cNvSpPr/>
          <p:nvPr/>
        </p:nvSpPr>
        <p:spPr>
          <a:xfrm>
            <a:off x="7263399" y="2771820"/>
            <a:ext cx="3685001" cy="248139"/>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latin typeface="+mj-ea"/>
                <a:ea typeface="+mj-ea"/>
              </a:rPr>
              <a:t>组合</a:t>
            </a:r>
            <a:r>
              <a:rPr kumimoji="1" lang="en-US" altLang="zh-CN" dirty="0">
                <a:latin typeface="+mj-ea"/>
                <a:ea typeface="+mj-ea"/>
              </a:rPr>
              <a:t>5</a:t>
            </a:r>
            <a:r>
              <a:rPr kumimoji="1" lang="zh-CN" altLang="en-US" dirty="0">
                <a:latin typeface="+mj-ea"/>
                <a:ea typeface="+mj-ea"/>
              </a:rPr>
              <a:t>年后总资产：</a:t>
            </a:r>
            <a:r>
              <a:rPr kumimoji="1" lang="en-US" altLang="zh-CN" dirty="0">
                <a:latin typeface="+mj-ea"/>
                <a:ea typeface="+mj-ea"/>
              </a:rPr>
              <a:t>500000</a:t>
            </a:r>
            <a:endParaRPr kumimoji="1" lang="zh-CN" altLang="en-US" dirty="0">
              <a:latin typeface="+mj-ea"/>
              <a:ea typeface="+mj-ea"/>
            </a:endParaRPr>
          </a:p>
        </p:txBody>
      </p:sp>
      <p:sp>
        <p:nvSpPr>
          <p:cNvPr id="110" name="圆角矩形 109"/>
          <p:cNvSpPr/>
          <p:nvPr/>
        </p:nvSpPr>
        <p:spPr>
          <a:xfrm>
            <a:off x="8586788" y="3241718"/>
            <a:ext cx="2361611" cy="288676"/>
          </a:xfrm>
          <a:prstGeom prst="round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latin typeface="+mj-ea"/>
                <a:ea typeface="+mj-ea"/>
              </a:rPr>
              <a:t>5</a:t>
            </a:r>
            <a:r>
              <a:rPr kumimoji="1" lang="zh-CN" altLang="en-US" sz="1400" dirty="0">
                <a:latin typeface="+mj-ea"/>
                <a:ea typeface="+mj-ea"/>
              </a:rPr>
              <a:t>年后预计资产：</a:t>
            </a:r>
            <a:r>
              <a:rPr kumimoji="1" lang="en-US" altLang="zh-CN" sz="1400" dirty="0">
                <a:latin typeface="+mj-ea"/>
                <a:ea typeface="+mj-ea"/>
              </a:rPr>
              <a:t>110000</a:t>
            </a:r>
            <a:endParaRPr kumimoji="1" lang="zh-CN" altLang="en-US" sz="1400" dirty="0">
              <a:latin typeface="+mj-ea"/>
              <a:ea typeface="+mj-ea"/>
            </a:endParaRPr>
          </a:p>
        </p:txBody>
      </p:sp>
      <p:sp>
        <p:nvSpPr>
          <p:cNvPr id="111" name="圆角矩形 110"/>
          <p:cNvSpPr/>
          <p:nvPr/>
        </p:nvSpPr>
        <p:spPr>
          <a:xfrm>
            <a:off x="8034655" y="3666997"/>
            <a:ext cx="2913743" cy="214604"/>
          </a:xfrm>
          <a:prstGeom prst="roundRect">
            <a:avLst/>
          </a:prstGeom>
          <a:solidFill>
            <a:srgbClr val="D1CE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latin typeface="+mj-ea"/>
                <a:ea typeface="+mj-ea"/>
              </a:rPr>
              <a:t>组合</a:t>
            </a:r>
            <a:r>
              <a:rPr kumimoji="1" lang="en-US" altLang="zh-CN" sz="1400" dirty="0">
                <a:latin typeface="+mj-ea"/>
                <a:ea typeface="+mj-ea"/>
              </a:rPr>
              <a:t>5</a:t>
            </a:r>
            <a:r>
              <a:rPr kumimoji="1" lang="zh-CN" altLang="en-US" sz="1400" dirty="0">
                <a:latin typeface="+mj-ea"/>
                <a:ea typeface="+mj-ea"/>
              </a:rPr>
              <a:t>年后总资产：</a:t>
            </a:r>
            <a:r>
              <a:rPr kumimoji="1" lang="en-US" altLang="zh-CN" sz="1400" dirty="0">
                <a:latin typeface="+mj-ea"/>
                <a:ea typeface="+mj-ea"/>
              </a:rPr>
              <a:t>140000</a:t>
            </a:r>
            <a:endParaRPr kumimoji="1" lang="zh-CN" altLang="en-US" sz="1400" dirty="0">
              <a:latin typeface="+mj-ea"/>
              <a:ea typeface="+mj-ea"/>
            </a:endParaRPr>
          </a:p>
        </p:txBody>
      </p:sp>
      <p:sp>
        <p:nvSpPr>
          <p:cNvPr id="112" name="圆角矩形 111"/>
          <p:cNvSpPr/>
          <p:nvPr/>
        </p:nvSpPr>
        <p:spPr>
          <a:xfrm>
            <a:off x="8386763" y="4098982"/>
            <a:ext cx="2561633" cy="248138"/>
          </a:xfrm>
          <a:prstGeom prst="round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latin typeface="+mj-ea"/>
                <a:ea typeface="+mj-ea"/>
              </a:rPr>
              <a:t>组合</a:t>
            </a:r>
            <a:r>
              <a:rPr kumimoji="1" lang="en-US" altLang="zh-CN" sz="1400" dirty="0">
                <a:latin typeface="+mj-ea"/>
                <a:ea typeface="+mj-ea"/>
              </a:rPr>
              <a:t>5</a:t>
            </a:r>
            <a:r>
              <a:rPr kumimoji="1" lang="zh-CN" altLang="en-US" sz="1400" dirty="0">
                <a:latin typeface="+mj-ea"/>
                <a:ea typeface="+mj-ea"/>
              </a:rPr>
              <a:t>年后总资产：</a:t>
            </a:r>
            <a:r>
              <a:rPr kumimoji="1" lang="en-US" altLang="zh-CN" sz="1400" dirty="0">
                <a:latin typeface="+mj-ea"/>
                <a:ea typeface="+mj-ea"/>
              </a:rPr>
              <a:t>130000</a:t>
            </a:r>
            <a:endParaRPr kumimoji="1" lang="zh-CN" altLang="en-US" sz="1400" dirty="0">
              <a:latin typeface="+mj-ea"/>
              <a:ea typeface="+mj-ea"/>
            </a:endParaRPr>
          </a:p>
        </p:txBody>
      </p:sp>
      <p:sp>
        <p:nvSpPr>
          <p:cNvPr id="113" name="圆角矩形 112"/>
          <p:cNvSpPr/>
          <p:nvPr/>
        </p:nvSpPr>
        <p:spPr>
          <a:xfrm>
            <a:off x="8586788" y="4483722"/>
            <a:ext cx="2361608" cy="229495"/>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latin typeface="+mj-ea"/>
                <a:ea typeface="+mj-ea"/>
              </a:rPr>
              <a:t>组合</a:t>
            </a:r>
            <a:r>
              <a:rPr kumimoji="1" lang="en-US" altLang="zh-CN" sz="1400" dirty="0">
                <a:latin typeface="+mj-ea"/>
                <a:ea typeface="+mj-ea"/>
              </a:rPr>
              <a:t>5</a:t>
            </a:r>
            <a:r>
              <a:rPr kumimoji="1" lang="zh-CN" altLang="en-US" sz="1400" dirty="0">
                <a:latin typeface="+mj-ea"/>
                <a:ea typeface="+mj-ea"/>
              </a:rPr>
              <a:t>年后总资产：</a:t>
            </a:r>
            <a:r>
              <a:rPr kumimoji="1" lang="en-US" altLang="zh-CN" sz="1400" dirty="0">
                <a:latin typeface="+mj-ea"/>
                <a:ea typeface="+mj-ea"/>
              </a:rPr>
              <a:t>110000</a:t>
            </a:r>
            <a:endParaRPr kumimoji="1" lang="zh-CN" altLang="en-US" sz="1400" dirty="0">
              <a:latin typeface="+mj-ea"/>
              <a:ea typeface="+mj-ea"/>
            </a:endParaRPr>
          </a:p>
        </p:txBody>
      </p:sp>
      <p:cxnSp>
        <p:nvCxnSpPr>
          <p:cNvPr id="108" name="肘形连接符 107"/>
          <p:cNvCxnSpPr>
            <a:stCxn id="85" idx="0"/>
            <a:endCxn id="110" idx="1"/>
          </p:cNvCxnSpPr>
          <p:nvPr/>
        </p:nvCxnSpPr>
        <p:spPr>
          <a:xfrm rot="5400000" flipH="1" flipV="1">
            <a:off x="6082134" y="2968599"/>
            <a:ext cx="2087197" cy="292211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14" name="矩形 113"/>
          <p:cNvSpPr/>
          <p:nvPr/>
        </p:nvSpPr>
        <p:spPr>
          <a:xfrm>
            <a:off x="5686930" y="3015216"/>
            <a:ext cx="837089" cy="307777"/>
          </a:xfrm>
          <a:prstGeom prst="rect">
            <a:avLst/>
          </a:prstGeom>
        </p:spPr>
        <p:txBody>
          <a:bodyPr wrap="none">
            <a:spAutoFit/>
          </a:bodyPr>
          <a:lstStyle/>
          <a:p>
            <a:r>
              <a:rPr kumimoji="1" lang="zh-CN" altLang="en-US" sz="1400" dirty="0">
                <a:latin typeface="+mj-ea"/>
                <a:ea typeface="+mj-ea"/>
              </a:rPr>
              <a:t>投资</a:t>
            </a:r>
            <a:r>
              <a:rPr kumimoji="1" lang="en-US" altLang="zh-CN" sz="1400" dirty="0">
                <a:latin typeface="+mj-ea"/>
                <a:ea typeface="+mj-ea"/>
              </a:rPr>
              <a:t>A</a:t>
            </a:r>
            <a:r>
              <a:rPr kumimoji="1" lang="zh-CN" altLang="en-US" sz="1400" dirty="0">
                <a:latin typeface="+mj-ea"/>
                <a:ea typeface="+mj-ea"/>
              </a:rPr>
              <a:t>股</a:t>
            </a:r>
            <a:endParaRPr lang="zh-CN" altLang="en-US" sz="1400" dirty="0">
              <a:latin typeface="+mj-ea"/>
              <a:ea typeface="+mj-ea"/>
            </a:endParaRPr>
          </a:p>
        </p:txBody>
      </p:sp>
      <p:cxnSp>
        <p:nvCxnSpPr>
          <p:cNvPr id="116" name="肘形连接符 115"/>
          <p:cNvCxnSpPr>
            <a:stCxn id="85" idx="0"/>
            <a:endCxn id="111" idx="1"/>
          </p:cNvCxnSpPr>
          <p:nvPr/>
        </p:nvCxnSpPr>
        <p:spPr>
          <a:xfrm rot="5400000" flipH="1" flipV="1">
            <a:off x="6000188" y="3438787"/>
            <a:ext cx="1698954" cy="236997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22" name="矩形 121"/>
          <p:cNvSpPr/>
          <p:nvPr/>
        </p:nvSpPr>
        <p:spPr>
          <a:xfrm>
            <a:off x="5718085" y="3426279"/>
            <a:ext cx="1261884" cy="307777"/>
          </a:xfrm>
          <a:prstGeom prst="rect">
            <a:avLst/>
          </a:prstGeom>
        </p:spPr>
        <p:txBody>
          <a:bodyPr wrap="none">
            <a:spAutoFit/>
          </a:bodyPr>
          <a:lstStyle/>
          <a:p>
            <a:r>
              <a:rPr kumimoji="1" lang="zh-CN" altLang="en-US" sz="1400" dirty="0">
                <a:latin typeface="+mj-ea"/>
                <a:ea typeface="+mj-ea"/>
              </a:rPr>
              <a:t>投资国内基金</a:t>
            </a:r>
            <a:endParaRPr lang="zh-CN" altLang="en-US" sz="1400" dirty="0">
              <a:latin typeface="+mj-ea"/>
              <a:ea typeface="+mj-ea"/>
            </a:endParaRPr>
          </a:p>
        </p:txBody>
      </p:sp>
      <p:cxnSp>
        <p:nvCxnSpPr>
          <p:cNvPr id="121" name="肘形连接符 120"/>
          <p:cNvCxnSpPr>
            <a:stCxn id="85" idx="0"/>
            <a:endCxn id="112" idx="1"/>
          </p:cNvCxnSpPr>
          <p:nvPr/>
        </p:nvCxnSpPr>
        <p:spPr>
          <a:xfrm rot="5400000" flipH="1" flipV="1">
            <a:off x="6400618" y="3487109"/>
            <a:ext cx="1250202" cy="272208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29" name="矩形 128"/>
          <p:cNvSpPr/>
          <p:nvPr/>
        </p:nvSpPr>
        <p:spPr>
          <a:xfrm>
            <a:off x="5733732" y="3878394"/>
            <a:ext cx="902811" cy="307777"/>
          </a:xfrm>
          <a:prstGeom prst="rect">
            <a:avLst/>
          </a:prstGeom>
        </p:spPr>
        <p:txBody>
          <a:bodyPr wrap="none">
            <a:spAutoFit/>
          </a:bodyPr>
          <a:lstStyle/>
          <a:p>
            <a:r>
              <a:rPr kumimoji="1" lang="zh-CN" altLang="en-US" sz="1400" dirty="0">
                <a:latin typeface="+mj-ea"/>
                <a:ea typeface="+mj-ea"/>
              </a:rPr>
              <a:t>投资债券</a:t>
            </a:r>
            <a:endParaRPr lang="zh-CN" altLang="en-US" sz="1400" dirty="0">
              <a:latin typeface="+mj-ea"/>
              <a:ea typeface="+mj-ea"/>
            </a:endParaRPr>
          </a:p>
        </p:txBody>
      </p:sp>
      <p:cxnSp>
        <p:nvCxnSpPr>
          <p:cNvPr id="126" name="肘形连接符 125"/>
          <p:cNvCxnSpPr>
            <a:stCxn id="85" idx="0"/>
            <a:endCxn id="113" idx="1"/>
          </p:cNvCxnSpPr>
          <p:nvPr/>
        </p:nvCxnSpPr>
        <p:spPr>
          <a:xfrm rot="5400000" flipH="1" flipV="1">
            <a:off x="6688341" y="3574806"/>
            <a:ext cx="874783" cy="292211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35" name="矩形 134"/>
          <p:cNvSpPr/>
          <p:nvPr/>
        </p:nvSpPr>
        <p:spPr>
          <a:xfrm>
            <a:off x="5733732" y="4215900"/>
            <a:ext cx="902811" cy="307777"/>
          </a:xfrm>
          <a:prstGeom prst="rect">
            <a:avLst/>
          </a:prstGeom>
        </p:spPr>
        <p:txBody>
          <a:bodyPr wrap="none">
            <a:spAutoFit/>
          </a:bodyPr>
          <a:lstStyle/>
          <a:p>
            <a:r>
              <a:rPr kumimoji="1" lang="zh-CN" altLang="en-US" sz="1400" dirty="0">
                <a:latin typeface="+mj-ea"/>
                <a:ea typeface="+mj-ea"/>
              </a:rPr>
              <a:t>银行存款</a:t>
            </a:r>
            <a:endParaRPr lang="zh-CN" altLang="en-US" sz="1400" dirty="0">
              <a:latin typeface="+mj-ea"/>
              <a:ea typeface="+mj-ea"/>
            </a:endParaRPr>
          </a:p>
        </p:txBody>
      </p:sp>
      <p:grpSp>
        <p:nvGrpSpPr>
          <p:cNvPr id="40" name="组 39"/>
          <p:cNvGrpSpPr/>
          <p:nvPr/>
        </p:nvGrpSpPr>
        <p:grpSpPr>
          <a:xfrm>
            <a:off x="1040299" y="852945"/>
            <a:ext cx="6446261" cy="103887"/>
            <a:chOff x="1040299" y="852945"/>
            <a:chExt cx="6446261" cy="103887"/>
          </a:xfrm>
        </p:grpSpPr>
        <p:sp>
          <p:nvSpPr>
            <p:cNvPr id="41" name="矩形 40">
              <a:extLst>
                <a:ext uri="{FF2B5EF4-FFF2-40B4-BE49-F238E27FC236}">
                  <a16:creationId xmlns:a16="http://schemas.microsoft.com/office/drawing/2014/main" id="{07CCDA19-C78F-4FEF-9A33-1AEE922E976D}"/>
                </a:ext>
              </a:extLst>
            </p:cNvPr>
            <p:cNvSpPr/>
            <p:nvPr/>
          </p:nvSpPr>
          <p:spPr>
            <a:xfrm>
              <a:off x="1040299" y="852945"/>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a:extLst>
                <a:ext uri="{FF2B5EF4-FFF2-40B4-BE49-F238E27FC236}">
                  <a16:creationId xmlns:a16="http://schemas.microsoft.com/office/drawing/2014/main" id="{FD35F411-A1E5-4031-B455-0E2C81A8D091}"/>
                </a:ext>
              </a:extLst>
            </p:cNvPr>
            <p:cNvSpPr/>
            <p:nvPr/>
          </p:nvSpPr>
          <p:spPr>
            <a:xfrm>
              <a:off x="5113896" y="852945"/>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780375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dissolve">
                                      <p:cBhvr>
                                        <p:cTn id="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71"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72"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73" name="03"/>
          <p:cNvSpPr txBox="1"/>
          <p:nvPr/>
        </p:nvSpPr>
        <p:spPr>
          <a:xfrm>
            <a:off x="356995" y="6344413"/>
            <a:ext cx="218679" cy="231380"/>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lvl1pPr>
              <a:defRPr sz="1000">
                <a:solidFill>
                  <a:srgbClr val="CAA354"/>
                </a:solidFill>
                <a:latin typeface="PingFang SC Regular"/>
                <a:ea typeface="PingFang SC Regular"/>
                <a:cs typeface="PingFang SC Regular"/>
                <a:sym typeface="PingFang SC Regular"/>
              </a:defRPr>
            </a:lvl1pPr>
          </a:lstStyle>
          <a:p>
            <a:r>
              <a:rPr dirty="0"/>
              <a:t>03</a:t>
            </a:r>
          </a:p>
        </p:txBody>
      </p:sp>
      <p:pic>
        <p:nvPicPr>
          <p:cNvPr id="175" name="图像" descr="图像"/>
          <p:cNvPicPr>
            <a:picLocks noChangeAspect="1"/>
          </p:cNvPicPr>
          <p:nvPr/>
        </p:nvPicPr>
        <p:blipFill>
          <a:blip r:embed="rId2">
            <a:extLst/>
          </a:blip>
          <a:stretch>
            <a:fillRect/>
          </a:stretch>
        </p:blipFill>
        <p:spPr>
          <a:xfrm>
            <a:off x="10484724" y="427048"/>
            <a:ext cx="1253576" cy="332979"/>
          </a:xfrm>
          <a:prstGeom prst="rect">
            <a:avLst/>
          </a:prstGeom>
          <a:ln w="3175">
            <a:miter lim="400000"/>
          </a:ln>
        </p:spPr>
      </p:pic>
      <p:pic>
        <p:nvPicPr>
          <p:cNvPr id="4" name="图片 3"/>
          <p:cNvPicPr>
            <a:picLocks noChangeAspect="1"/>
          </p:cNvPicPr>
          <p:nvPr/>
        </p:nvPicPr>
        <p:blipFill>
          <a:blip r:embed="rId3"/>
          <a:stretch>
            <a:fillRect/>
          </a:stretch>
        </p:blipFill>
        <p:spPr>
          <a:xfrm>
            <a:off x="972579" y="1750701"/>
            <a:ext cx="2637506" cy="4712922"/>
          </a:xfrm>
          <a:prstGeom prst="rect">
            <a:avLst/>
          </a:prstGeom>
        </p:spPr>
      </p:pic>
      <p:pic>
        <p:nvPicPr>
          <p:cNvPr id="6" name="图片 5"/>
          <p:cNvPicPr>
            <a:picLocks noChangeAspect="1"/>
          </p:cNvPicPr>
          <p:nvPr/>
        </p:nvPicPr>
        <p:blipFill>
          <a:blip r:embed="rId4"/>
          <a:stretch>
            <a:fillRect/>
          </a:stretch>
        </p:blipFill>
        <p:spPr>
          <a:xfrm>
            <a:off x="3751150" y="1750701"/>
            <a:ext cx="2630710" cy="4709402"/>
          </a:xfrm>
          <a:prstGeom prst="rect">
            <a:avLst/>
          </a:prstGeom>
        </p:spPr>
      </p:pic>
      <p:pic>
        <p:nvPicPr>
          <p:cNvPr id="10" name="图片 9"/>
          <p:cNvPicPr>
            <a:picLocks noChangeAspect="1"/>
          </p:cNvPicPr>
          <p:nvPr/>
        </p:nvPicPr>
        <p:blipFill>
          <a:blip r:embed="rId5"/>
          <a:stretch>
            <a:fillRect/>
          </a:stretch>
        </p:blipFill>
        <p:spPr>
          <a:xfrm>
            <a:off x="6522925" y="1750701"/>
            <a:ext cx="2596647" cy="4658689"/>
          </a:xfrm>
          <a:prstGeom prst="rect">
            <a:avLst/>
          </a:prstGeom>
        </p:spPr>
      </p:pic>
      <p:pic>
        <p:nvPicPr>
          <p:cNvPr id="11" name="图片 10"/>
          <p:cNvPicPr>
            <a:picLocks noChangeAspect="1"/>
          </p:cNvPicPr>
          <p:nvPr/>
        </p:nvPicPr>
        <p:blipFill>
          <a:blip r:embed="rId6"/>
          <a:stretch>
            <a:fillRect/>
          </a:stretch>
        </p:blipFill>
        <p:spPr>
          <a:xfrm>
            <a:off x="9260637" y="1731569"/>
            <a:ext cx="2620605" cy="4677822"/>
          </a:xfrm>
          <a:prstGeom prst="rect">
            <a:avLst/>
          </a:prstGeom>
        </p:spPr>
      </p:pic>
      <p:sp>
        <p:nvSpPr>
          <p:cNvPr id="13" name="标题">
            <a:extLst>
              <a:ext uri="{FF2B5EF4-FFF2-40B4-BE49-F238E27FC236}">
                <a16:creationId xmlns:a16="http://schemas.microsoft.com/office/drawing/2014/main" id="{117DF68D-89AE-4698-B1FC-E3A9BB685D93}"/>
              </a:ext>
            </a:extLst>
          </p:cNvPr>
          <p:cNvSpPr txBox="1"/>
          <p:nvPr/>
        </p:nvSpPr>
        <p:spPr>
          <a:xfrm>
            <a:off x="1166737" y="144131"/>
            <a:ext cx="4132141" cy="546544"/>
          </a:xfrm>
          <a:prstGeom prst="rect">
            <a:avLst/>
          </a:prstGeom>
          <a:ln w="3175">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kumimoji="1" lang="zh-CN" altLang="en-US" sz="3200" b="1" dirty="0">
                <a:solidFill>
                  <a:schemeClr val="tx1"/>
                </a:solidFill>
                <a:latin typeface="+mn-lt"/>
                <a:ea typeface="+mn-ea"/>
                <a:cs typeface="+mn-cs"/>
              </a:rPr>
              <a:t>界面展示</a:t>
            </a:r>
            <a:endParaRPr kumimoji="1" sz="3200" b="1" dirty="0">
              <a:solidFill>
                <a:schemeClr val="tx1"/>
              </a:solidFill>
              <a:latin typeface="+mn-lt"/>
              <a:ea typeface="+mn-ea"/>
              <a:cs typeface="+mn-cs"/>
            </a:endParaRPr>
          </a:p>
        </p:txBody>
      </p:sp>
      <p:grpSp>
        <p:nvGrpSpPr>
          <p:cNvPr id="14" name="组 39">
            <a:extLst>
              <a:ext uri="{FF2B5EF4-FFF2-40B4-BE49-F238E27FC236}">
                <a16:creationId xmlns:a16="http://schemas.microsoft.com/office/drawing/2014/main" id="{EC665308-403D-4A81-BDB0-D627FD47CF71}"/>
              </a:ext>
            </a:extLst>
          </p:cNvPr>
          <p:cNvGrpSpPr/>
          <p:nvPr/>
        </p:nvGrpSpPr>
        <p:grpSpPr>
          <a:xfrm>
            <a:off x="1040299" y="852945"/>
            <a:ext cx="6446261" cy="103887"/>
            <a:chOff x="1040299" y="852945"/>
            <a:chExt cx="6446261" cy="103887"/>
          </a:xfrm>
        </p:grpSpPr>
        <p:sp>
          <p:nvSpPr>
            <p:cNvPr id="15" name="矩形 14">
              <a:extLst>
                <a:ext uri="{FF2B5EF4-FFF2-40B4-BE49-F238E27FC236}">
                  <a16:creationId xmlns:a16="http://schemas.microsoft.com/office/drawing/2014/main" id="{9EA42662-3FBA-4153-BA76-4BFDED648485}"/>
                </a:ext>
              </a:extLst>
            </p:cNvPr>
            <p:cNvSpPr/>
            <p:nvPr/>
          </p:nvSpPr>
          <p:spPr>
            <a:xfrm>
              <a:off x="1040299" y="852945"/>
              <a:ext cx="4071361" cy="103887"/>
            </a:xfrm>
            <a:prstGeom prst="rect">
              <a:avLst/>
            </a:prstGeom>
            <a:solidFill>
              <a:srgbClr val="99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7C02936C-14DC-464E-816F-E72A401B16A8}"/>
                </a:ext>
              </a:extLst>
            </p:cNvPr>
            <p:cNvSpPr/>
            <p:nvPr/>
          </p:nvSpPr>
          <p:spPr>
            <a:xfrm>
              <a:off x="5113896" y="852945"/>
              <a:ext cx="2372664" cy="103887"/>
            </a:xfrm>
            <a:prstGeom prst="rect">
              <a:avLst/>
            </a:prstGeom>
            <a:solidFill>
              <a:srgbClr val="D2A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4956334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1" name="画板 2@4x.png" descr="画板 2@4x.png"/>
          <p:cNvPicPr>
            <a:picLocks noChangeAspect="1"/>
          </p:cNvPicPr>
          <p:nvPr/>
        </p:nvPicPr>
        <p:blipFill>
          <a:blip r:embed="rId2">
            <a:alphaModFix amt="49627"/>
            <a:extLst/>
          </a:blip>
          <a:stretch>
            <a:fillRect/>
          </a:stretch>
        </p:blipFill>
        <p:spPr>
          <a:xfrm>
            <a:off x="-209270" y="564189"/>
            <a:ext cx="15096501" cy="6099423"/>
          </a:xfrm>
          <a:prstGeom prst="rect">
            <a:avLst/>
          </a:prstGeom>
          <a:ln w="3175">
            <a:miter lim="400000"/>
          </a:ln>
        </p:spPr>
      </p:pic>
      <p:sp>
        <p:nvSpPr>
          <p:cNvPr id="182" name="谢谢观看"/>
          <p:cNvSpPr txBox="1"/>
          <p:nvPr/>
        </p:nvSpPr>
        <p:spPr>
          <a:xfrm>
            <a:off x="5493396" y="2367133"/>
            <a:ext cx="1516040" cy="638877"/>
          </a:xfrm>
          <a:prstGeom prst="rect">
            <a:avLst/>
          </a:prstGeom>
          <a:ln w="3175">
            <a:miter lim="400000"/>
          </a:ln>
          <a:extLst>
            <a:ext uri="{C572A759-6A51-4108-AA02-DFA0A04FC94B}">
              <ma14:wrappingTextBoxFlag xmlns:ma14="http://schemas.microsoft.com/office/mac/drawingml/2011/main" xmlns="" val="1"/>
            </a:ext>
          </a:extLst>
        </p:spPr>
        <p:txBody>
          <a:bodyPr wrap="non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dirty="0" err="1"/>
              <a:t>谢谢</a:t>
            </a:r>
            <a:r>
              <a:rPr lang="zh-CN" altLang="en-US" dirty="0"/>
              <a:t>！</a:t>
            </a:r>
            <a:endParaRPr dirty="0"/>
          </a:p>
        </p:txBody>
      </p:sp>
      <p:grpSp>
        <p:nvGrpSpPr>
          <p:cNvPr id="185" name="成组"/>
          <p:cNvGrpSpPr/>
          <p:nvPr/>
        </p:nvGrpSpPr>
        <p:grpSpPr>
          <a:xfrm>
            <a:off x="5219069" y="5074647"/>
            <a:ext cx="2204535" cy="1052106"/>
            <a:chOff x="0" y="73725"/>
            <a:chExt cx="2204533" cy="1052105"/>
          </a:xfrm>
        </p:grpSpPr>
        <p:pic>
          <p:nvPicPr>
            <p:cNvPr id="183" name="图像" descr="图像"/>
            <p:cNvPicPr>
              <a:picLocks noChangeAspect="1"/>
            </p:cNvPicPr>
            <p:nvPr/>
          </p:nvPicPr>
          <p:blipFill>
            <a:blip r:embed="rId3">
              <a:extLst/>
            </a:blip>
            <a:stretch>
              <a:fillRect/>
            </a:stretch>
          </p:blipFill>
          <p:spPr>
            <a:xfrm>
              <a:off x="50720" y="73725"/>
              <a:ext cx="2077694" cy="551883"/>
            </a:xfrm>
            <a:prstGeom prst="rect">
              <a:avLst/>
            </a:prstGeom>
            <a:ln w="3175" cap="flat">
              <a:noFill/>
              <a:miter lim="400000"/>
            </a:ln>
            <a:effectLst/>
          </p:spPr>
        </p:pic>
        <p:sp>
          <p:nvSpPr>
            <p:cNvPr id="184" name="懂你AI你，比你更懂你"/>
            <p:cNvSpPr txBox="1"/>
            <p:nvPr/>
          </p:nvSpPr>
          <p:spPr>
            <a:xfrm>
              <a:off x="0" y="767453"/>
              <a:ext cx="2204534" cy="358379"/>
            </a:xfrm>
            <a:prstGeom prst="rect">
              <a:avLst/>
            </a:prstGeom>
            <a:noFill/>
            <a:ln w="3175" cap="flat">
              <a:noFill/>
              <a:miter lim="400000"/>
            </a:ln>
            <a:effectLst/>
            <a:extLst>
              <a:ext uri="{C572A759-6A51-4108-AA02-DFA0A04FC94B}">
                <ma14:wrappingTextBoxFlag xmlns:ma14="http://schemas.microsoft.com/office/mac/drawingml/2011/main" xmlns="" val="1"/>
              </a:ext>
            </a:extLst>
          </p:spPr>
          <p:txBody>
            <a:bodyPr wrap="square" lIns="26789" tIns="26789" rIns="26789" bIns="26789" numCol="1" anchor="ctr">
              <a:spAutoFit/>
            </a:bodyPr>
            <a:lstStyle>
              <a:lvl1pPr algn="l">
                <a:defRPr sz="1700">
                  <a:solidFill>
                    <a:srgbClr val="CAA354"/>
                  </a:solidFill>
                  <a:latin typeface="PingFang SC Regular"/>
                  <a:ea typeface="PingFang SC Regular"/>
                  <a:cs typeface="PingFang SC Regular"/>
                  <a:sym typeface="PingFang SC Regular"/>
                </a:defRPr>
              </a:lvl1pPr>
            </a:lstStyle>
            <a:p>
              <a:r>
                <a:rPr dirty="0" err="1"/>
                <a:t>懂你AI你，比你更懂你</a:t>
              </a:r>
              <a:endParaRPr dirty="0"/>
            </a:p>
          </p:txBody>
        </p:sp>
      </p:grpSp>
    </p:spTree>
    <p:extLst>
      <p:ext uri="{BB962C8B-B14F-4D97-AF65-F5344CB8AC3E}">
        <p14:creationId xmlns:p14="http://schemas.microsoft.com/office/powerpoint/2010/main" val="36182802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4754</TotalTime>
  <Words>3943</Words>
  <Application>Microsoft Office PowerPoint</Application>
  <PresentationFormat>宽屏</PresentationFormat>
  <Paragraphs>483</Paragraphs>
  <Slides>35</Slides>
  <Notes>16</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35</vt:i4>
      </vt:variant>
    </vt:vector>
  </HeadingPairs>
  <TitlesOfParts>
    <vt:vector size="57" baseType="lpstr">
      <vt:lpstr>Gill Sans</vt:lpstr>
      <vt:lpstr>Helvetica Neue Medium</vt:lpstr>
      <vt:lpstr>KaiTi</vt:lpstr>
      <vt:lpstr>맑은 고딕</vt:lpstr>
      <vt:lpstr>맑은 고딕</vt:lpstr>
      <vt:lpstr>PingFang SC</vt:lpstr>
      <vt:lpstr>PingFang SC Light</vt:lpstr>
      <vt:lpstr>PingFang SC Regular</vt:lpstr>
      <vt:lpstr>PingFang SC Semibold</vt:lpstr>
      <vt:lpstr>Weibei SC</vt:lpstr>
      <vt:lpstr>DengXian</vt:lpstr>
      <vt:lpstr>DengXian Light</vt:lpstr>
      <vt:lpstr>华文细黑</vt:lpstr>
      <vt:lpstr>SimSun</vt:lpstr>
      <vt:lpstr>微软雅黑</vt:lpstr>
      <vt:lpstr>幼圆</vt:lpstr>
      <vt:lpstr>Arial</vt:lpstr>
      <vt:lpstr>Arial Black</vt:lpstr>
      <vt:lpstr>Calibri</vt:lpstr>
      <vt:lpstr>Helvetica</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黄tifa</dc:creator>
  <cp:lastModifiedBy>Yolanda Feng</cp:lastModifiedBy>
  <cp:revision>555</cp:revision>
  <dcterms:created xsi:type="dcterms:W3CDTF">2017-12-27T09:41:03Z</dcterms:created>
  <dcterms:modified xsi:type="dcterms:W3CDTF">2018-01-19T04:00:02Z</dcterms:modified>
</cp:coreProperties>
</file>