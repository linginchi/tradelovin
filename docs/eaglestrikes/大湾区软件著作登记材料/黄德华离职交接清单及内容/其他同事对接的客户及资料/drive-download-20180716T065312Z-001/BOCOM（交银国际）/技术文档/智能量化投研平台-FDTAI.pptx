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harts/chart1.xml" ContentType="application/vnd.openxmlformats-officedocument.drawingml.chart+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65.jpg" ContentType="image/png"/>
  <Override PartName="/ppt/media/image66.jpg" ContentType="image/png"/>
  <Override PartName="/ppt/media/image67.jpg" ContentType="image/png"/>
  <Override PartName="/ppt/media/image6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5"/>
  </p:notesMasterIdLst>
  <p:sldIdLst>
    <p:sldId id="256" r:id="rId2"/>
    <p:sldId id="257" r:id="rId3"/>
    <p:sldId id="325" r:id="rId4"/>
    <p:sldId id="354" r:id="rId5"/>
    <p:sldId id="365" r:id="rId6"/>
    <p:sldId id="366" r:id="rId7"/>
    <p:sldId id="367" r:id="rId8"/>
    <p:sldId id="368" r:id="rId9"/>
    <p:sldId id="369" r:id="rId10"/>
    <p:sldId id="370" r:id="rId11"/>
    <p:sldId id="328" r:id="rId12"/>
    <p:sldId id="372" r:id="rId13"/>
    <p:sldId id="300" r:id="rId14"/>
    <p:sldId id="351" r:id="rId15"/>
    <p:sldId id="274" r:id="rId16"/>
    <p:sldId id="341" r:id="rId17"/>
    <p:sldId id="340" r:id="rId18"/>
    <p:sldId id="338" r:id="rId19"/>
    <p:sldId id="373" r:id="rId20"/>
    <p:sldId id="375" r:id="rId21"/>
    <p:sldId id="374" r:id="rId22"/>
    <p:sldId id="327" r:id="rId23"/>
    <p:sldId id="342" r:id="rId24"/>
    <p:sldId id="343" r:id="rId25"/>
    <p:sldId id="344" r:id="rId26"/>
    <p:sldId id="345" r:id="rId27"/>
    <p:sldId id="346" r:id="rId28"/>
    <p:sldId id="347" r:id="rId29"/>
    <p:sldId id="348" r:id="rId30"/>
    <p:sldId id="349" r:id="rId31"/>
    <p:sldId id="350" r:id="rId32"/>
    <p:sldId id="355" r:id="rId33"/>
    <p:sldId id="356" r:id="rId34"/>
    <p:sldId id="357" r:id="rId35"/>
    <p:sldId id="358" r:id="rId36"/>
    <p:sldId id="359" r:id="rId37"/>
    <p:sldId id="371" r:id="rId38"/>
    <p:sldId id="361" r:id="rId39"/>
    <p:sldId id="360" r:id="rId40"/>
    <p:sldId id="362" r:id="rId41"/>
    <p:sldId id="363" r:id="rId42"/>
    <p:sldId id="364" r:id="rId43"/>
    <p:sldId id="334"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landa Feng" initials="YF" lastIdx="7"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1CECE"/>
    <a:srgbClr val="E5C261"/>
    <a:srgbClr val="991F23"/>
    <a:srgbClr val="991E23"/>
    <a:srgbClr val="F7F2F1"/>
    <a:srgbClr val="D2A142"/>
    <a:srgbClr val="FFFFFF"/>
    <a:srgbClr val="10438A"/>
    <a:srgbClr val="922126"/>
    <a:srgbClr val="7E9C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94"/>
    <p:restoredTop sz="94600"/>
  </p:normalViewPr>
  <p:slideViewPr>
    <p:cSldViewPr snapToGrid="0" snapToObjects="1">
      <p:cViewPr>
        <p:scale>
          <a:sx n="90" d="100"/>
          <a:sy n="90" d="100"/>
        </p:scale>
        <p:origin x="3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file:////C:\Users\CCTV\Desktop\&#22270;&#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pPr>
        <a:noFill/>
        <a:ln>
          <a:solidFill>
            <a:srgbClr val="BFBFBF"/>
          </a:solidFill>
        </a:ln>
      </c:spPr>
    </c:sideWall>
    <c:backWall>
      <c:thickness val="0"/>
      <c:spPr>
        <a:noFill/>
        <a:ln>
          <a:solidFill>
            <a:srgbClr val="BFBFBF"/>
          </a:solidFill>
        </a:ln>
      </c:spPr>
    </c:backWall>
    <c:plotArea>
      <c:layout>
        <c:manualLayout>
          <c:layoutTarget val="inner"/>
          <c:xMode val="edge"/>
          <c:yMode val="edge"/>
          <c:x val="6.9016185476815414E-2"/>
          <c:y val="4.2141294838145223E-2"/>
          <c:w val="0.89194356955380616"/>
          <c:h val="0.87428623505395098"/>
        </c:manualLayout>
      </c:layout>
      <c:bar3DChart>
        <c:barDir val="col"/>
        <c:grouping val="clustered"/>
        <c:varyColors val="0"/>
        <c:ser>
          <c:idx val="0"/>
          <c:order val="0"/>
          <c:spPr>
            <a:solidFill>
              <a:srgbClr val="6BAFDA"/>
            </a:solidFill>
          </c:spPr>
          <c:invertIfNegative val="0"/>
          <c:val>
            <c:numRef>
              <c:f>'8'!$B$2:$E$2</c:f>
              <c:numCache>
                <c:formatCode>General</c:formatCode>
                <c:ptCount val="4"/>
                <c:pt idx="0">
                  <c:v>3</c:v>
                </c:pt>
                <c:pt idx="1">
                  <c:v>4</c:v>
                </c:pt>
                <c:pt idx="2">
                  <c:v>2</c:v>
                </c:pt>
                <c:pt idx="3">
                  <c:v>1</c:v>
                </c:pt>
              </c:numCache>
            </c:numRef>
          </c:val>
          <c:extLst>
            <c:ext xmlns:c16="http://schemas.microsoft.com/office/drawing/2014/chart" uri="{C3380CC4-5D6E-409C-BE32-E72D297353CC}">
              <c16:uniqueId val="{00000000-1885-7243-A4BD-E6D5670D22D0}"/>
            </c:ext>
          </c:extLst>
        </c:ser>
        <c:ser>
          <c:idx val="1"/>
          <c:order val="1"/>
          <c:spPr>
            <a:solidFill>
              <a:srgbClr val="EE4B48"/>
            </a:solidFill>
          </c:spPr>
          <c:invertIfNegative val="0"/>
          <c:val>
            <c:numRef>
              <c:f>'8'!$B$3:$E$3</c:f>
              <c:numCache>
                <c:formatCode>General</c:formatCode>
                <c:ptCount val="4"/>
                <c:pt idx="0">
                  <c:v>4.5</c:v>
                </c:pt>
                <c:pt idx="1">
                  <c:v>2.1</c:v>
                </c:pt>
                <c:pt idx="2">
                  <c:v>3</c:v>
                </c:pt>
                <c:pt idx="3">
                  <c:v>4</c:v>
                </c:pt>
              </c:numCache>
            </c:numRef>
          </c:val>
          <c:extLst>
            <c:ext xmlns:c16="http://schemas.microsoft.com/office/drawing/2014/chart" uri="{C3380CC4-5D6E-409C-BE32-E72D297353CC}">
              <c16:uniqueId val="{00000001-1885-7243-A4BD-E6D5670D22D0}"/>
            </c:ext>
          </c:extLst>
        </c:ser>
        <c:ser>
          <c:idx val="2"/>
          <c:order val="2"/>
          <c:spPr>
            <a:solidFill>
              <a:srgbClr val="67B2B0"/>
            </a:solidFill>
          </c:spPr>
          <c:invertIfNegative val="0"/>
          <c:val>
            <c:numRef>
              <c:f>'8'!$B$4:$E$4</c:f>
              <c:numCache>
                <c:formatCode>General</c:formatCode>
                <c:ptCount val="4"/>
                <c:pt idx="0">
                  <c:v>4</c:v>
                </c:pt>
                <c:pt idx="1">
                  <c:v>1</c:v>
                </c:pt>
                <c:pt idx="2">
                  <c:v>4</c:v>
                </c:pt>
                <c:pt idx="3">
                  <c:v>2</c:v>
                </c:pt>
              </c:numCache>
            </c:numRef>
          </c:val>
          <c:extLst>
            <c:ext xmlns:c16="http://schemas.microsoft.com/office/drawing/2014/chart" uri="{C3380CC4-5D6E-409C-BE32-E72D297353CC}">
              <c16:uniqueId val="{00000002-1885-7243-A4BD-E6D5670D22D0}"/>
            </c:ext>
          </c:extLst>
        </c:ser>
        <c:dLbls>
          <c:showLegendKey val="0"/>
          <c:showVal val="0"/>
          <c:showCatName val="0"/>
          <c:showSerName val="0"/>
          <c:showPercent val="0"/>
          <c:showBubbleSize val="0"/>
        </c:dLbls>
        <c:gapWidth val="0"/>
        <c:gapDepth val="0"/>
        <c:shape val="pyramid"/>
        <c:axId val="-333440112"/>
        <c:axId val="-333450992"/>
        <c:axId val="0"/>
      </c:bar3DChart>
      <c:catAx>
        <c:axId val="-333440112"/>
        <c:scaling>
          <c:orientation val="minMax"/>
        </c:scaling>
        <c:delete val="1"/>
        <c:axPos val="b"/>
        <c:majorGridlines>
          <c:spPr>
            <a:ln>
              <a:noFill/>
            </a:ln>
          </c:spPr>
        </c:majorGridlines>
        <c:numFmt formatCode="General" sourceLinked="1"/>
        <c:majorTickMark val="out"/>
        <c:minorTickMark val="none"/>
        <c:tickLblPos val="nextTo"/>
        <c:crossAx val="-333450992"/>
        <c:crosses val="autoZero"/>
        <c:auto val="1"/>
        <c:lblAlgn val="ctr"/>
        <c:lblOffset val="100"/>
        <c:noMultiLvlLbl val="1"/>
      </c:catAx>
      <c:valAx>
        <c:axId val="-333450992"/>
        <c:scaling>
          <c:orientation val="minMax"/>
        </c:scaling>
        <c:delete val="0"/>
        <c:axPos val="l"/>
        <c:majorGridlines>
          <c:spPr>
            <a:ln>
              <a:solidFill>
                <a:srgbClr val="BFBFBF"/>
              </a:solidFill>
            </a:ln>
          </c:spPr>
        </c:majorGridlines>
        <c:numFmt formatCode="General" sourceLinked="1"/>
        <c:majorTickMark val="out"/>
        <c:minorTickMark val="none"/>
        <c:tickLblPos val="nextTo"/>
        <c:spPr>
          <a:ln>
            <a:solidFill>
              <a:schemeClr val="bg1">
                <a:lumMod val="75000"/>
              </a:schemeClr>
            </a:solidFill>
          </a:ln>
        </c:spPr>
        <c:crossAx val="-333440112"/>
        <c:crosses val="autoZero"/>
        <c:crossBetween val="between"/>
      </c:valAx>
      <c:spPr>
        <a:noFill/>
      </c:spPr>
    </c:plotArea>
    <c:plotVisOnly val="1"/>
    <c:dispBlanksAs val="gap"/>
    <c:showDLblsOverMax val="0"/>
  </c:chart>
  <c:spPr>
    <a:noFill/>
    <a:ln>
      <a:noFill/>
    </a:ln>
  </c:spPr>
  <c:txPr>
    <a:bodyPr/>
    <a:lstStyle/>
    <a:p>
      <a:pPr>
        <a:defRPr>
          <a:latin typeface="+mn-lt"/>
          <a:ea typeface="+mn-ea"/>
          <a:cs typeface="+mn-ea"/>
          <a:sym typeface="+mn-lt"/>
        </a:defRPr>
      </a:pPr>
      <a:endParaRPr lang="zh-CN"/>
    </a:p>
  </c:tx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18-01-10T15:31:17.787" idx="4">
    <p:pos x="10" y="10"/>
    <p:text>智能投资or智能投顾？</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44A68-927D-584C-BACA-5EDDE1DB1386}" type="datetimeFigureOut">
              <a:rPr kumimoji="1" lang="zh-CN" altLang="en-US" smtClean="0"/>
              <a:t>2018/6/11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F2A51-1587-3344-A875-2474DC575611}" type="slidenum">
              <a:rPr kumimoji="1" lang="zh-CN" altLang="en-US" smtClean="0"/>
              <a:t>‹#›</a:t>
            </a:fld>
            <a:endParaRPr kumimoji="1" lang="zh-CN" altLang="en-US"/>
          </a:p>
        </p:txBody>
      </p:sp>
    </p:spTree>
    <p:extLst>
      <p:ext uri="{BB962C8B-B14F-4D97-AF65-F5344CB8AC3E}">
        <p14:creationId xmlns:p14="http://schemas.microsoft.com/office/powerpoint/2010/main" val="140665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11</a:t>
            </a:fld>
            <a:endParaRPr kumimoji="1" lang="zh-CN" altLang="en-US" dirty="0"/>
          </a:p>
        </p:txBody>
      </p:sp>
    </p:spTree>
    <p:extLst>
      <p:ext uri="{BB962C8B-B14F-4D97-AF65-F5344CB8AC3E}">
        <p14:creationId xmlns:p14="http://schemas.microsoft.com/office/powerpoint/2010/main" val="1819960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15</a:t>
            </a:fld>
            <a:endParaRPr kumimoji="1" lang="zh-CN" altLang="en-US" dirty="0"/>
          </a:p>
        </p:txBody>
      </p:sp>
    </p:spTree>
    <p:extLst>
      <p:ext uri="{BB962C8B-B14F-4D97-AF65-F5344CB8AC3E}">
        <p14:creationId xmlns:p14="http://schemas.microsoft.com/office/powerpoint/2010/main" val="485955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22</a:t>
            </a:fld>
            <a:endParaRPr kumimoji="1" lang="zh-CN" altLang="en-US" dirty="0"/>
          </a:p>
        </p:txBody>
      </p:sp>
    </p:spTree>
    <p:extLst>
      <p:ext uri="{BB962C8B-B14F-4D97-AF65-F5344CB8AC3E}">
        <p14:creationId xmlns:p14="http://schemas.microsoft.com/office/powerpoint/2010/main" val="2755791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082958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073866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043509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30</a:t>
            </a:fld>
            <a:endParaRPr kumimoji="1" lang="zh-CN" altLang="en-US" dirty="0"/>
          </a:p>
        </p:txBody>
      </p:sp>
    </p:spTree>
    <p:extLst>
      <p:ext uri="{BB962C8B-B14F-4D97-AF65-F5344CB8AC3E}">
        <p14:creationId xmlns:p14="http://schemas.microsoft.com/office/powerpoint/2010/main" val="4234931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931942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313607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422496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3097756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2076006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4293201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221187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852961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789078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354530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95769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2493701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214769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Last Slide">
    <p:spTree>
      <p:nvGrpSpPr>
        <p:cNvPr id="1" name=""/>
        <p:cNvGrpSpPr/>
        <p:nvPr/>
      </p:nvGrpSpPr>
      <p:grpSpPr>
        <a:xfrm>
          <a:off x="0" y="0"/>
          <a:ext cx="0" cy="0"/>
          <a:chOff x="0" y="0"/>
          <a:chExt cx="0" cy="0"/>
        </a:xfrm>
      </p:grpSpPr>
      <p:sp>
        <p:nvSpPr>
          <p:cNvPr id="50" name="Shape 50"/>
          <p:cNvSpPr>
            <a:spLocks noGrp="1"/>
          </p:cNvSpPr>
          <p:nvPr>
            <p:ph type="body" idx="1"/>
          </p:nvPr>
        </p:nvSpPr>
        <p:spPr>
          <a:xfrm>
            <a:off x="1056220" y="4080514"/>
            <a:ext cx="10079566" cy="434344"/>
          </a:xfrm>
          <a:prstGeom prst="rect">
            <a:avLst/>
          </a:prstGeom>
        </p:spPr>
        <p:txBody>
          <a:bodyPr lIns="51581" tIns="51581" rIns="51581" bIns="51581"/>
          <a:lstStyle>
            <a:lvl1pPr marL="0" indent="0" algn="ctr">
              <a:spcBef>
                <a:spcPts val="0"/>
              </a:spcBef>
              <a:buSzTx/>
              <a:buFontTx/>
              <a:buNone/>
              <a:defRPr sz="1600">
                <a:solidFill>
                  <a:srgbClr val="595959"/>
                </a:solidFill>
                <a:latin typeface="Cambria" panose="02040503050406030204"/>
                <a:ea typeface="Cambria" panose="02040503050406030204"/>
                <a:cs typeface="Cambria" panose="02040503050406030204"/>
                <a:sym typeface="Cambria" panose="02040503050406030204"/>
              </a:defRPr>
            </a:lvl1pPr>
          </a:lstStyle>
          <a:p>
            <a:pPr lvl="0">
              <a:defRPr sz="1800">
                <a:solidFill>
                  <a:srgbClr val="000000"/>
                </a:solidFill>
              </a:defRPr>
            </a:pPr>
            <a:r>
              <a:rPr sz="1600">
                <a:solidFill>
                  <a:srgbClr val="595959"/>
                </a:solidFill>
              </a:rPr>
              <a:t>Click to edit Master text styles</a:t>
            </a:r>
          </a:p>
        </p:txBody>
      </p:sp>
      <p:sp>
        <p:nvSpPr>
          <p:cNvPr id="51" name="Shape 51"/>
          <p:cNvSpPr>
            <a:spLocks noGrp="1"/>
          </p:cNvSpPr>
          <p:nvPr>
            <p:ph type="title"/>
          </p:nvPr>
        </p:nvSpPr>
        <p:spPr>
          <a:xfrm>
            <a:off x="1056218" y="2994661"/>
            <a:ext cx="10079568" cy="1194437"/>
          </a:xfrm>
          <a:prstGeom prst="rect">
            <a:avLst/>
          </a:prstGeom>
        </p:spPr>
        <p:txBody>
          <a:bodyPr lIns="51581" tIns="51581" rIns="51581" bIns="51581"/>
          <a:lstStyle/>
          <a:p>
            <a:pPr lvl="0">
              <a:defRPr sz="1800"/>
            </a:pPr>
            <a:r>
              <a:rPr sz="4400"/>
              <a:t>Click to edit Master title style</a:t>
            </a:r>
          </a:p>
        </p:txBody>
      </p:sp>
    </p:spTree>
    <p:extLst>
      <p:ext uri="{BB962C8B-B14F-4D97-AF65-F5344CB8AC3E}">
        <p14:creationId xmlns:p14="http://schemas.microsoft.com/office/powerpoint/2010/main" val="142068335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042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C9969-E741-4B41-85BB-A965802C6605}" type="datetimeFigureOut">
              <a:rPr kumimoji="1" lang="zh-CN" altLang="en-US" smtClean="0"/>
              <a:t>2018/6/11</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3616198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0.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7.png"/><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68.jpg"/><Relationship Id="rId3" Type="http://schemas.openxmlformats.org/officeDocument/2006/relationships/image" Target="../media/image63.png"/><Relationship Id="rId7" Type="http://schemas.openxmlformats.org/officeDocument/2006/relationships/image" Target="../media/image67.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6.jpg"/><Relationship Id="rId5" Type="http://schemas.openxmlformats.org/officeDocument/2006/relationships/image" Target="../media/image65.jpg"/><Relationship Id="rId4" Type="http://schemas.openxmlformats.org/officeDocument/2006/relationships/image" Target="../media/image64.png"/><Relationship Id="rId9"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p:cNvSpPr/>
          <p:nvPr/>
        </p:nvSpPr>
        <p:spPr>
          <a:xfrm>
            <a:off x="-88297" y="-928993"/>
            <a:ext cx="12903929" cy="8715986"/>
          </a:xfrm>
          <a:prstGeom prst="rect">
            <a:avLst/>
          </a:prstGeom>
          <a:solidFill>
            <a:srgbClr val="00000A"/>
          </a:solidFill>
          <a:ln w="3175">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8" name="Hong Kond Science Park _ Places _ Student World Online _ .jpg" descr="Hong Kond Science Park _ Places _ Student World Online _ .jpg"/>
          <p:cNvPicPr>
            <a:picLocks noChangeAspect="1"/>
          </p:cNvPicPr>
          <p:nvPr/>
        </p:nvPicPr>
        <p:blipFill>
          <a:blip r:embed="rId2">
            <a:alphaModFix amt="49924"/>
            <a:extLst/>
          </a:blip>
          <a:stretch>
            <a:fillRect/>
          </a:stretch>
        </p:blipFill>
        <p:spPr>
          <a:xfrm>
            <a:off x="-88297" y="-928993"/>
            <a:ext cx="12903929" cy="8715986"/>
          </a:xfrm>
          <a:prstGeom prst="rect">
            <a:avLst/>
          </a:prstGeom>
          <a:ln w="3175">
            <a:miter lim="400000"/>
          </a:ln>
        </p:spPr>
      </p:pic>
      <p:sp>
        <p:nvSpPr>
          <p:cNvPr id="19" name="公司简介"/>
          <p:cNvSpPr txBox="1"/>
          <p:nvPr/>
        </p:nvSpPr>
        <p:spPr>
          <a:xfrm>
            <a:off x="2643297" y="2695891"/>
            <a:ext cx="7440739" cy="792765"/>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200">
                <a:latin typeface="PingFang SC Regular"/>
                <a:ea typeface="PingFang SC Regular"/>
                <a:cs typeface="PingFang SC Regular"/>
                <a:sym typeface="PingFang SC Regular"/>
              </a:defRPr>
            </a:lvl1pPr>
          </a:lstStyle>
          <a:p>
            <a:r>
              <a:rPr lang="zh-Hans" altLang="en-US" sz="4800" b="1" dirty="0">
                <a:solidFill>
                  <a:schemeClr val="bg1"/>
                </a:solidFill>
                <a:latin typeface="SimSun" charset="-122"/>
                <a:ea typeface="SimSun" charset="-122"/>
                <a:cs typeface="SimSun" charset="-122"/>
              </a:rPr>
              <a:t>智能量化投研</a:t>
            </a:r>
            <a:r>
              <a:rPr lang="zh-CN" altLang="en-US" sz="4800" b="1" dirty="0">
                <a:solidFill>
                  <a:schemeClr val="bg1"/>
                </a:solidFill>
                <a:latin typeface="SimSun" charset="-122"/>
                <a:ea typeface="SimSun" charset="-122"/>
                <a:cs typeface="SimSun" charset="-122"/>
              </a:rPr>
              <a:t>产品</a:t>
            </a:r>
            <a:r>
              <a:rPr lang="zh-Hans" altLang="en-US" sz="4800" b="1" dirty="0">
                <a:solidFill>
                  <a:schemeClr val="bg1"/>
                </a:solidFill>
                <a:latin typeface="SimSun" charset="-122"/>
                <a:ea typeface="SimSun" charset="-122"/>
                <a:cs typeface="SimSun" charset="-122"/>
              </a:rPr>
              <a:t>解决方案</a:t>
            </a:r>
            <a:endParaRPr sz="4800" b="1" dirty="0">
              <a:solidFill>
                <a:schemeClr val="bg1"/>
              </a:solidFill>
              <a:latin typeface="SimSun" charset="-122"/>
              <a:ea typeface="SimSun" charset="-122"/>
              <a:cs typeface="SimSun" charset="-122"/>
            </a:endParaRPr>
          </a:p>
        </p:txBody>
      </p:sp>
      <p:sp>
        <p:nvSpPr>
          <p:cNvPr id="20" name="线条"/>
          <p:cNvSpPr/>
          <p:nvPr/>
        </p:nvSpPr>
        <p:spPr>
          <a:xfrm flipV="1">
            <a:off x="922543" y="-4019"/>
            <a:ext cx="1" cy="6866038"/>
          </a:xfrm>
          <a:prstGeom prst="line">
            <a:avLst/>
          </a:prstGeom>
          <a:ln w="3175">
            <a:solidFill>
              <a:srgbClr val="FFFFFF">
                <a:alpha val="20000"/>
              </a:srgbClr>
            </a:solidFill>
            <a:miter lim="400000"/>
          </a:ln>
        </p:spPr>
        <p:txBody>
          <a:bodyPr lIns="26789" tIns="26789" rIns="26789" bIns="26789" anchor="ctr"/>
          <a:lstStyle/>
          <a:p>
            <a:pPr>
              <a:defRPr sz="1400">
                <a:latin typeface="+mn-lt"/>
                <a:ea typeface="+mn-ea"/>
                <a:cs typeface="+mn-cs"/>
                <a:sym typeface="Helvetica Neue Medium"/>
              </a:defRPr>
            </a:pPr>
            <a:endParaRPr>
              <a:solidFill>
                <a:schemeClr val="bg1"/>
              </a:solidFill>
              <a:latin typeface="SimSun" charset="-122"/>
              <a:ea typeface="SimSun" charset="-122"/>
              <a:cs typeface="SimSun" charset="-122"/>
            </a:endParaRPr>
          </a:p>
        </p:txBody>
      </p:sp>
      <p:sp>
        <p:nvSpPr>
          <p:cNvPr id="21" name="矩形"/>
          <p:cNvSpPr/>
          <p:nvPr/>
        </p:nvSpPr>
        <p:spPr>
          <a:xfrm rot="5400000">
            <a:off x="317207"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solidFill>
                <a:schemeClr val="bg1"/>
              </a:solidFill>
              <a:latin typeface="SimSun" charset="-122"/>
              <a:ea typeface="SimSun" charset="-122"/>
              <a:cs typeface="SimSun" charset="-122"/>
            </a:endParaRPr>
          </a:p>
        </p:txBody>
      </p:sp>
      <p:sp>
        <p:nvSpPr>
          <p:cNvPr id="22" name="矩形"/>
          <p:cNvSpPr/>
          <p:nvPr/>
        </p:nvSpPr>
        <p:spPr>
          <a:xfrm rot="5400000">
            <a:off x="375530"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solidFill>
                <a:schemeClr val="bg1"/>
              </a:solidFill>
              <a:latin typeface="SimSun" charset="-122"/>
              <a:ea typeface="SimSun" charset="-122"/>
              <a:cs typeface="SimSun" charset="-122"/>
            </a:endParaRPr>
          </a:p>
        </p:txBody>
      </p:sp>
      <p:pic>
        <p:nvPicPr>
          <p:cNvPr id="29" name="图像" descr="图像"/>
          <p:cNvPicPr>
            <a:picLocks noChangeAspect="1"/>
          </p:cNvPicPr>
          <p:nvPr/>
        </p:nvPicPr>
        <p:blipFill>
          <a:blip r:embed="rId3">
            <a:extLst/>
          </a:blip>
          <a:stretch>
            <a:fillRect/>
          </a:stretch>
        </p:blipFill>
        <p:spPr>
          <a:xfrm>
            <a:off x="10490200" y="431800"/>
            <a:ext cx="1257300" cy="333968"/>
          </a:xfrm>
          <a:prstGeom prst="rect">
            <a:avLst/>
          </a:prstGeom>
          <a:ln w="3175">
            <a:miter lim="400000"/>
          </a:ln>
        </p:spPr>
      </p:pic>
      <p:sp>
        <p:nvSpPr>
          <p:cNvPr id="2" name="矩形 1">
            <a:extLst>
              <a:ext uri="{FF2B5EF4-FFF2-40B4-BE49-F238E27FC236}">
                <a16:creationId xmlns:a16="http://schemas.microsoft.com/office/drawing/2014/main" id="{29CAD6A4-2894-AC45-957C-C19FB991700F}"/>
              </a:ext>
            </a:extLst>
          </p:cNvPr>
          <p:cNvSpPr/>
          <p:nvPr/>
        </p:nvSpPr>
        <p:spPr>
          <a:xfrm>
            <a:off x="5444776" y="5165683"/>
            <a:ext cx="1316386" cy="584775"/>
          </a:xfrm>
          <a:prstGeom prst="rect">
            <a:avLst/>
          </a:prstGeom>
        </p:spPr>
        <p:txBody>
          <a:bodyPr wrap="none">
            <a:spAutoFit/>
          </a:bodyPr>
          <a:lstStyle/>
          <a:p>
            <a:r>
              <a:rPr lang="en-US" altLang="zh-CN" sz="3200" b="1" dirty="0">
                <a:solidFill>
                  <a:srgbClr val="FFFFFF"/>
                </a:solidFill>
                <a:latin typeface="New Peninim MT" pitchFamily="2" charset="-79"/>
                <a:ea typeface="KaiTi" charset="-122"/>
                <a:cs typeface="New Peninim MT" pitchFamily="2" charset="-79"/>
              </a:rPr>
              <a:t>201</a:t>
            </a:r>
            <a:r>
              <a:rPr lang="en-US" altLang="zh-Hans" sz="3200" b="1" dirty="0">
                <a:solidFill>
                  <a:srgbClr val="FFFFFF"/>
                </a:solidFill>
                <a:latin typeface="New Peninim MT" pitchFamily="2" charset="-79"/>
                <a:ea typeface="KaiTi" charset="-122"/>
                <a:cs typeface="New Peninim MT" pitchFamily="2" charset="-79"/>
              </a:rPr>
              <a:t>8.06</a:t>
            </a:r>
            <a:endParaRPr lang="zh-CN" altLang="en-US" sz="3200" dirty="0"/>
          </a:p>
        </p:txBody>
      </p:sp>
      <p:sp>
        <p:nvSpPr>
          <p:cNvPr id="33" name="灯片编号占位符 3">
            <a:extLst>
              <a:ext uri="{FF2B5EF4-FFF2-40B4-BE49-F238E27FC236}">
                <a16:creationId xmlns:a16="http://schemas.microsoft.com/office/drawing/2014/main" id="{4C7C1147-3E7E-F141-983E-D0C0C6F3A12D}"/>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a:t>
            </a:fld>
            <a:endParaRPr lang="zh-CN" altLang="en-US" dirty="0"/>
          </a:p>
        </p:txBody>
      </p:sp>
    </p:spTree>
    <p:extLst>
      <p:ext uri="{BB962C8B-B14F-4D97-AF65-F5344CB8AC3E}">
        <p14:creationId xmlns:p14="http://schemas.microsoft.com/office/powerpoint/2010/main" val="1976955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latin typeface="SimSun" panose="02010600030101010101" pitchFamily="2" charset="-122"/>
              <a:ea typeface="SimSun" panose="02010600030101010101" pitchFamily="2" charset="-122"/>
            </a:endParaRPr>
          </a:p>
        </p:txBody>
      </p:sp>
      <p:sp>
        <p:nvSpPr>
          <p:cNvPr id="5"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panose="02010600030101010101" pitchFamily="2" charset="-122"/>
              <a:ea typeface="SimSun" panose="02010600030101010101" pitchFamily="2" charset="-122"/>
            </a:endParaRPr>
          </a:p>
        </p:txBody>
      </p:sp>
      <p:sp>
        <p:nvSpPr>
          <p:cNvPr id="6"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panose="02010600030101010101" pitchFamily="2" charset="-122"/>
              <a:ea typeface="SimSun" panose="02010600030101010101" pitchFamily="2" charset="-122"/>
            </a:endParaRPr>
          </a:p>
        </p:txBody>
      </p:sp>
      <p:pic>
        <p:nvPicPr>
          <p:cNvPr id="8"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9" name="公司简介"/>
          <p:cNvSpPr txBox="1"/>
          <p:nvPr/>
        </p:nvSpPr>
        <p:spPr>
          <a:xfrm>
            <a:off x="8036172" y="2031240"/>
            <a:ext cx="2618906" cy="361878"/>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Hans" altLang="en-US" dirty="0">
                <a:latin typeface="Kaiti SC" panose="02010600040101010101" pitchFamily="2" charset="-122"/>
                <a:ea typeface="Kaiti SC" panose="02010600040101010101" pitchFamily="2" charset="-122"/>
              </a:rPr>
              <a:t>智能形态分析产品总结</a:t>
            </a:r>
            <a:endParaRPr dirty="0">
              <a:latin typeface="Kaiti SC" panose="02010600040101010101" pitchFamily="2" charset="-122"/>
              <a:ea typeface="Kaiti SC" panose="02010600040101010101" pitchFamily="2" charset="-122"/>
            </a:endParaRPr>
          </a:p>
        </p:txBody>
      </p:sp>
      <p:sp>
        <p:nvSpPr>
          <p:cNvPr id="10" name="市场机遇"/>
          <p:cNvSpPr txBox="1"/>
          <p:nvPr/>
        </p:nvSpPr>
        <p:spPr>
          <a:xfrm>
            <a:off x="8036173" y="2677697"/>
            <a:ext cx="2105945" cy="361878"/>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latin typeface="Kaiti SC" panose="02010600040101010101" pitchFamily="2" charset="-122"/>
                <a:ea typeface="Kaiti SC" panose="02010600040101010101" pitchFamily="2" charset="-122"/>
              </a:rPr>
              <a:t>智能形态分析规划</a:t>
            </a:r>
          </a:p>
        </p:txBody>
      </p:sp>
      <p:sp>
        <p:nvSpPr>
          <p:cNvPr id="11" name="定位目标"/>
          <p:cNvSpPr txBox="1"/>
          <p:nvPr/>
        </p:nvSpPr>
        <p:spPr>
          <a:xfrm>
            <a:off x="8036173" y="3324154"/>
            <a:ext cx="2105945" cy="361878"/>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latin typeface="Kaiti SC" panose="02010600040101010101" pitchFamily="2" charset="-122"/>
                <a:ea typeface="Kaiti SC" panose="02010600040101010101" pitchFamily="2" charset="-122"/>
              </a:rPr>
              <a:t>智能</a:t>
            </a:r>
            <a:r>
              <a:rPr lang="zh-Hans" altLang="en-US" dirty="0">
                <a:latin typeface="Kaiti SC" panose="02010600040101010101" pitchFamily="2" charset="-122"/>
                <a:ea typeface="Kaiti SC" panose="02010600040101010101" pitchFamily="2" charset="-122"/>
              </a:rPr>
              <a:t>量化投研平台</a:t>
            </a:r>
            <a:endParaRPr dirty="0">
              <a:latin typeface="Kaiti SC" panose="02010600040101010101" pitchFamily="2" charset="-122"/>
              <a:ea typeface="Kaiti SC" panose="02010600040101010101" pitchFamily="2" charset="-122"/>
            </a:endParaRPr>
          </a:p>
        </p:txBody>
      </p:sp>
      <p:sp>
        <p:nvSpPr>
          <p:cNvPr id="17" name="圆形"/>
          <p:cNvSpPr/>
          <p:nvPr/>
        </p:nvSpPr>
        <p:spPr>
          <a:xfrm>
            <a:off x="7717211" y="2176909"/>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latin typeface="Kaiti SC" panose="02010600040101010101" pitchFamily="2" charset="-122"/>
              <a:ea typeface="Kaiti SC" panose="02010600040101010101" pitchFamily="2" charset="-122"/>
            </a:endParaRPr>
          </a:p>
        </p:txBody>
      </p:sp>
      <p:sp>
        <p:nvSpPr>
          <p:cNvPr id="18" name="圆形"/>
          <p:cNvSpPr/>
          <p:nvPr/>
        </p:nvSpPr>
        <p:spPr>
          <a:xfrm>
            <a:off x="7717211" y="2823366"/>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latin typeface="Kaiti SC" panose="02010600040101010101" pitchFamily="2" charset="-122"/>
              <a:ea typeface="Kaiti SC" panose="02010600040101010101" pitchFamily="2" charset="-122"/>
            </a:endParaRPr>
          </a:p>
        </p:txBody>
      </p:sp>
      <p:sp>
        <p:nvSpPr>
          <p:cNvPr id="19" name="圆形"/>
          <p:cNvSpPr/>
          <p:nvPr/>
        </p:nvSpPr>
        <p:spPr>
          <a:xfrm>
            <a:off x="7717211" y="3469823"/>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latin typeface="Kaiti SC" panose="02010600040101010101" pitchFamily="2" charset="-122"/>
              <a:ea typeface="Kaiti SC" panose="02010600040101010101" pitchFamily="2" charset="-122"/>
            </a:endParaRPr>
          </a:p>
        </p:txBody>
      </p:sp>
      <p:sp>
        <p:nvSpPr>
          <p:cNvPr id="25" name="CONTENT"/>
          <p:cNvSpPr txBox="1"/>
          <p:nvPr/>
        </p:nvSpPr>
        <p:spPr>
          <a:xfrm>
            <a:off x="1448288" y="1175063"/>
            <a:ext cx="2397692" cy="638877"/>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lgn="l">
              <a:defRPr sz="3800">
                <a:solidFill>
                  <a:srgbClr val="000000"/>
                </a:solidFill>
              </a:defRPr>
            </a:lvl1pPr>
          </a:lstStyle>
          <a:p>
            <a:r>
              <a:rPr dirty="0">
                <a:latin typeface="PingFang SC" panose="020B0400000000000000" pitchFamily="34" charset="-122"/>
                <a:ea typeface="PingFang SC" panose="020B0400000000000000" pitchFamily="34" charset="-122"/>
              </a:rPr>
              <a:t>CONTENT</a:t>
            </a:r>
          </a:p>
        </p:txBody>
      </p:sp>
      <p:sp>
        <p:nvSpPr>
          <p:cNvPr id="23" name="灯片编号占位符 3">
            <a:extLst>
              <a:ext uri="{FF2B5EF4-FFF2-40B4-BE49-F238E27FC236}">
                <a16:creationId xmlns:a16="http://schemas.microsoft.com/office/drawing/2014/main" id="{991B2EDE-1485-714A-BB66-4FFF981433C8}"/>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a:t>
            </a:fld>
            <a:endParaRPr lang="zh-CN" altLang="en-US" dirty="0"/>
          </a:p>
        </p:txBody>
      </p:sp>
      <p:sp>
        <p:nvSpPr>
          <p:cNvPr id="24" name="市场机遇">
            <a:extLst>
              <a:ext uri="{FF2B5EF4-FFF2-40B4-BE49-F238E27FC236}">
                <a16:creationId xmlns:a16="http://schemas.microsoft.com/office/drawing/2014/main" id="{0B2466F6-EFDB-AB49-81DB-75B7749F7092}"/>
              </a:ext>
            </a:extLst>
          </p:cNvPr>
          <p:cNvSpPr txBox="1"/>
          <p:nvPr/>
        </p:nvSpPr>
        <p:spPr>
          <a:xfrm>
            <a:off x="8074269" y="3958816"/>
            <a:ext cx="2880196" cy="361878"/>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en-US" altLang="zh-Hans" dirty="0">
                <a:latin typeface="Kaiti SC" panose="02010600040101010101" pitchFamily="2" charset="-122"/>
                <a:ea typeface="Kaiti SC" panose="02010600040101010101" pitchFamily="2" charset="-122"/>
              </a:rPr>
              <a:t>FDT</a:t>
            </a:r>
            <a:r>
              <a:rPr lang="zh-CN" altLang="en-US" dirty="0">
                <a:latin typeface="Kaiti SC" panose="02010600040101010101" pitchFamily="2" charset="-122"/>
                <a:ea typeface="Kaiti SC" panose="02010600040101010101" pitchFamily="2" charset="-122"/>
              </a:rPr>
              <a:t>金融</a:t>
            </a:r>
            <a:r>
              <a:rPr lang="en-US" altLang="zh-Hans" dirty="0">
                <a:latin typeface="Kaiti SC" panose="02010600040101010101" pitchFamily="2" charset="-122"/>
                <a:ea typeface="Kaiti SC" panose="02010600040101010101" pitchFamily="2" charset="-122"/>
              </a:rPr>
              <a:t>AI</a:t>
            </a:r>
            <a:r>
              <a:rPr lang="zh-CN" altLang="en-US" dirty="0">
                <a:latin typeface="Kaiti SC" panose="02010600040101010101" pitchFamily="2" charset="-122"/>
                <a:ea typeface="Kaiti SC" panose="02010600040101010101" pitchFamily="2" charset="-122"/>
              </a:rPr>
              <a:t>整体解决方案</a:t>
            </a:r>
          </a:p>
        </p:txBody>
      </p:sp>
      <p:sp>
        <p:nvSpPr>
          <p:cNvPr id="26" name="圆形">
            <a:extLst>
              <a:ext uri="{FF2B5EF4-FFF2-40B4-BE49-F238E27FC236}">
                <a16:creationId xmlns:a16="http://schemas.microsoft.com/office/drawing/2014/main" id="{D6B651DE-5841-0440-82F6-6CFCB768E9F6}"/>
              </a:ext>
            </a:extLst>
          </p:cNvPr>
          <p:cNvSpPr/>
          <p:nvPr/>
        </p:nvSpPr>
        <p:spPr>
          <a:xfrm>
            <a:off x="7726731" y="4118773"/>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123258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816080"/>
            <a:ext cx="7935192" cy="608099"/>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r>
              <a:rPr lang="zh-Hans" altLang="en-US" sz="3600" dirty="0">
                <a:solidFill>
                  <a:schemeClr val="bg1"/>
                </a:solidFill>
              </a:rPr>
              <a:t>智能形态分析总结（一期）</a:t>
            </a:r>
            <a:endParaRPr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灯片编号占位符 3">
            <a:extLst>
              <a:ext uri="{FF2B5EF4-FFF2-40B4-BE49-F238E27FC236}">
                <a16:creationId xmlns:a16="http://schemas.microsoft.com/office/drawing/2014/main" id="{E6B7A032-B646-504D-A685-3E78D18270C2}"/>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3</a:t>
            </a:fld>
            <a:endParaRPr lang="zh-CN" altLang="en-US" dirty="0"/>
          </a:p>
        </p:txBody>
      </p:sp>
    </p:spTree>
    <p:extLst>
      <p:ext uri="{BB962C8B-B14F-4D97-AF65-F5344CB8AC3E}">
        <p14:creationId xmlns:p14="http://schemas.microsoft.com/office/powerpoint/2010/main" val="3530902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p:nvPr/>
        </p:nvSpPr>
        <p:spPr>
          <a:xfrm>
            <a:off x="675358" y="272215"/>
            <a:ext cx="9793766" cy="680248"/>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endParaRPr sz="3600" dirty="0">
              <a:solidFill>
                <a:schemeClr val="tx1"/>
              </a:solidFill>
              <a:latin typeface="KaiTi" charset="-122"/>
              <a:ea typeface="KaiTi" charset="-122"/>
              <a:cs typeface="KaiTi" charset="-122"/>
            </a:endParaRPr>
          </a:p>
        </p:txBody>
      </p:sp>
      <p:sp>
        <p:nvSpPr>
          <p:cNvPr id="21" name="Shape 310">
            <a:extLst>
              <a:ext uri="{FF2B5EF4-FFF2-40B4-BE49-F238E27FC236}">
                <a16:creationId xmlns:a16="http://schemas.microsoft.com/office/drawing/2014/main" id="{6AC50126-9074-1749-9A3D-219DDBA0E16C}"/>
              </a:ext>
            </a:extLst>
          </p:cNvPr>
          <p:cNvSpPr/>
          <p:nvPr/>
        </p:nvSpPr>
        <p:spPr>
          <a:xfrm>
            <a:off x="717638" y="3856826"/>
            <a:ext cx="4725823" cy="2492990"/>
          </a:xfrm>
          <a:prstGeom prst="rect">
            <a:avLst/>
          </a:prstGeom>
          <a:ln w="12700">
            <a:miter lim="400000"/>
          </a:ln>
        </p:spPr>
        <p:txBody>
          <a:bodyPr wrap="square" lIns="0" tIns="0" rIns="0" bIns="0">
            <a:spAutoFit/>
          </a:bodyPr>
          <a:lstStyle/>
          <a:p>
            <a:pPr marL="285750" lvl="0" indent="-285750">
              <a:buFont typeface="Arial" charset="0"/>
              <a:buChar char="•"/>
              <a:defRPr>
                <a:solidFill>
                  <a:srgbClr val="000000"/>
                </a:solidFill>
              </a:defRPr>
            </a:pPr>
            <a:r>
              <a:rPr lang="zh-CN" altLang="en-US" b="1" dirty="0">
                <a:latin typeface="KaiTi" charset="-122"/>
                <a:ea typeface="KaiTi" charset="-122"/>
              </a:rPr>
              <a:t>形态选股：</a:t>
            </a:r>
            <a:r>
              <a:rPr lang="zh-CN" altLang="zh-CN" dirty="0">
                <a:latin typeface="KaiTi" charset="-122"/>
                <a:ea typeface="KaiTi" charset="-122"/>
              </a:rPr>
              <a:t>精准匹配个股形态，</a:t>
            </a:r>
            <a:r>
              <a:rPr lang="zh-Hans" altLang="en-US" dirty="0">
                <a:latin typeface="KaiTi" charset="-122"/>
                <a:ea typeface="KaiTi" charset="-122"/>
              </a:rPr>
              <a:t>根据投资者交易记录</a:t>
            </a:r>
            <a:r>
              <a:rPr lang="zh-CN" altLang="zh-CN" dirty="0">
                <a:latin typeface="KaiTi" charset="-122"/>
                <a:ea typeface="KaiTi" charset="-122"/>
              </a:rPr>
              <a:t>找到相同形态的个股，同时对挑选出的个股根据</a:t>
            </a:r>
            <a:r>
              <a:rPr lang="zh-Hans" altLang="en-US" dirty="0">
                <a:latin typeface="KaiTi" charset="-122"/>
                <a:ea typeface="KaiTi" charset="-122"/>
              </a:rPr>
              <a:t>规模</a:t>
            </a:r>
            <a:r>
              <a:rPr lang="zh-CN" altLang="zh-CN" dirty="0">
                <a:latin typeface="KaiTi" charset="-122"/>
                <a:ea typeface="KaiTi" charset="-122"/>
              </a:rPr>
              <a:t>和</a:t>
            </a:r>
            <a:r>
              <a:rPr lang="zh-Hans" altLang="en-US" dirty="0">
                <a:latin typeface="KaiTi" charset="-122"/>
                <a:ea typeface="KaiTi" charset="-122"/>
              </a:rPr>
              <a:t>估值</a:t>
            </a:r>
            <a:r>
              <a:rPr lang="zh-CN" altLang="zh-CN" dirty="0">
                <a:latin typeface="KaiTi" charset="-122"/>
                <a:ea typeface="KaiTi" charset="-122"/>
              </a:rPr>
              <a:t>相似性进行</a:t>
            </a:r>
            <a:r>
              <a:rPr lang="zh-Hans" altLang="en-US" dirty="0">
                <a:latin typeface="KaiTi" charset="-122"/>
                <a:ea typeface="KaiTi" charset="-122"/>
              </a:rPr>
              <a:t>挑</a:t>
            </a:r>
            <a:r>
              <a:rPr lang="zh-CN" altLang="zh-CN" dirty="0">
                <a:latin typeface="KaiTi" charset="-122"/>
                <a:ea typeface="KaiTi" charset="-122"/>
              </a:rPr>
              <a:t>选</a:t>
            </a:r>
            <a:endParaRPr lang="en-US" altLang="zh-CN" dirty="0">
              <a:latin typeface="KaiTi" charset="-122"/>
              <a:ea typeface="KaiTi" charset="-122"/>
            </a:endParaRPr>
          </a:p>
          <a:p>
            <a:pPr marL="285750" lvl="0" indent="-285750">
              <a:buFont typeface="Arial" charset="0"/>
              <a:buChar char="•"/>
              <a:defRPr>
                <a:solidFill>
                  <a:srgbClr val="000000"/>
                </a:solidFill>
              </a:defRPr>
            </a:pPr>
            <a:r>
              <a:rPr lang="zh-CN" altLang="en-US" b="1" dirty="0">
                <a:latin typeface="KaiTi" charset="-122"/>
                <a:ea typeface="KaiTi" charset="-122"/>
              </a:rPr>
              <a:t>智能盯盘：</a:t>
            </a:r>
            <a:r>
              <a:rPr lang="zh-CN" altLang="en-US" dirty="0">
                <a:latin typeface="KaiTi" charset="-122"/>
                <a:ea typeface="KaiTi" charset="-122"/>
              </a:rPr>
              <a:t>根据形态信号和用户的风险偏好为用户提供盯盘</a:t>
            </a:r>
            <a:r>
              <a:rPr lang="zh-Hans" altLang="en-US" dirty="0">
                <a:latin typeface="KaiTi" charset="-122"/>
                <a:ea typeface="KaiTi" charset="-122"/>
              </a:rPr>
              <a:t>信号</a:t>
            </a:r>
            <a:r>
              <a:rPr lang="zh-CN" altLang="en-US" dirty="0">
                <a:latin typeface="KaiTi" charset="-122"/>
                <a:ea typeface="KaiTi" charset="-122"/>
              </a:rPr>
              <a:t>提醒功能，帮助用户及时止盈止损，实现收益最大化</a:t>
            </a:r>
            <a:endParaRPr lang="en-US" altLang="zh-CN" dirty="0">
              <a:latin typeface="KaiTi" charset="-122"/>
              <a:ea typeface="KaiTi" charset="-122"/>
            </a:endParaRPr>
          </a:p>
          <a:p>
            <a:pPr marL="285750" lvl="0" indent="-285750">
              <a:buFont typeface="Arial" charset="0"/>
              <a:buChar char="•"/>
              <a:defRPr>
                <a:solidFill>
                  <a:srgbClr val="000000"/>
                </a:solidFill>
              </a:defRPr>
            </a:pPr>
            <a:r>
              <a:rPr lang="zh-CN" altLang="zh-CN" b="1" dirty="0">
                <a:latin typeface="KaiTi" charset="-122"/>
                <a:ea typeface="KaiTi" charset="-122"/>
              </a:rPr>
              <a:t>智能画像</a:t>
            </a:r>
            <a:r>
              <a:rPr lang="en-US" altLang="zh-CN" b="1" dirty="0">
                <a:latin typeface="KaiTi" charset="-122"/>
                <a:ea typeface="KaiTi" charset="-122"/>
              </a:rPr>
              <a:t>: </a:t>
            </a:r>
            <a:r>
              <a:rPr lang="zh-CN" altLang="zh-CN" dirty="0">
                <a:latin typeface="KaiTi" charset="-122"/>
                <a:ea typeface="KaiTi" charset="-122"/>
              </a:rPr>
              <a:t>包括个股形态画像和用户形态操作画像</a:t>
            </a:r>
            <a:r>
              <a:rPr lang="zh-Hans" altLang="en-US" dirty="0">
                <a:latin typeface="KaiTi" charset="-122"/>
                <a:ea typeface="KaiTi" charset="-122"/>
              </a:rPr>
              <a:t>，为投资者展示个股形态统计及投资者的</a:t>
            </a:r>
            <a:r>
              <a:rPr lang="zh-CN" altLang="zh-CN" dirty="0">
                <a:latin typeface="KaiTi" charset="-122"/>
                <a:ea typeface="KaiTi" charset="-122"/>
              </a:rPr>
              <a:t>形态操作表现</a:t>
            </a:r>
            <a:endParaRPr lang="en-US" altLang="zh-CN" dirty="0">
              <a:latin typeface="KaiTi" charset="-122"/>
              <a:ea typeface="KaiTi" charset="-122"/>
            </a:endParaRPr>
          </a:p>
        </p:txBody>
      </p:sp>
      <p:sp>
        <p:nvSpPr>
          <p:cNvPr id="22" name="文本框 21">
            <a:extLst>
              <a:ext uri="{FF2B5EF4-FFF2-40B4-BE49-F238E27FC236}">
                <a16:creationId xmlns:a16="http://schemas.microsoft.com/office/drawing/2014/main" id="{B80707B9-5565-CD49-B422-88D22D231D63}"/>
              </a:ext>
            </a:extLst>
          </p:cNvPr>
          <p:cNvSpPr txBox="1"/>
          <p:nvPr/>
        </p:nvSpPr>
        <p:spPr>
          <a:xfrm>
            <a:off x="604196" y="1060744"/>
            <a:ext cx="1114408" cy="380553"/>
          </a:xfrm>
          <a:prstGeom prst="rect">
            <a:avLst/>
          </a:prstGeom>
          <a:noFill/>
        </p:spPr>
        <p:txBody>
          <a:bodyPr wrap="none" rtlCol="0">
            <a:spAutoFit/>
          </a:bodyPr>
          <a:lstStyle/>
          <a:p>
            <a:r>
              <a:rPr kumimoji="1" lang="zh-CN" altLang="en-US" b="1" dirty="0">
                <a:latin typeface="KaiTi" panose="02010609060101010101" pitchFamily="49" charset="-122"/>
                <a:ea typeface="KaiTi" panose="02010609060101010101" pitchFamily="49" charset="-122"/>
                <a:cs typeface="PingFang SC" charset="-122"/>
              </a:rPr>
              <a:t>产品优势</a:t>
            </a:r>
          </a:p>
        </p:txBody>
      </p:sp>
      <p:sp>
        <p:nvSpPr>
          <p:cNvPr id="23" name="文本框 22">
            <a:extLst>
              <a:ext uri="{FF2B5EF4-FFF2-40B4-BE49-F238E27FC236}">
                <a16:creationId xmlns:a16="http://schemas.microsoft.com/office/drawing/2014/main" id="{7109A23E-BAAE-A244-A142-71934744503E}"/>
              </a:ext>
            </a:extLst>
          </p:cNvPr>
          <p:cNvSpPr txBox="1"/>
          <p:nvPr/>
        </p:nvSpPr>
        <p:spPr>
          <a:xfrm>
            <a:off x="627386" y="1422870"/>
            <a:ext cx="4644833" cy="1754326"/>
          </a:xfrm>
          <a:prstGeom prst="rect">
            <a:avLst/>
          </a:prstGeom>
          <a:noFill/>
        </p:spPr>
        <p:txBody>
          <a:bodyPr wrap="square" rtlCol="0">
            <a:spAutoFit/>
          </a:bodyPr>
          <a:lstStyle/>
          <a:p>
            <a:pPr marL="285750" indent="-285750">
              <a:buFont typeface="Arial" charset="0"/>
              <a:buChar char="•"/>
              <a:defRPr>
                <a:solidFill>
                  <a:srgbClr val="000000"/>
                </a:solidFill>
              </a:defRPr>
            </a:pPr>
            <a:r>
              <a:rPr lang="zh-CN" altLang="en-US" b="1" dirty="0">
                <a:latin typeface="KaiTi" charset="-122"/>
                <a:ea typeface="KaiTi" charset="-122"/>
              </a:rPr>
              <a:t>形态</a:t>
            </a:r>
            <a:r>
              <a:rPr lang="zh-Hans" altLang="en-US" b="1" dirty="0">
                <a:latin typeface="KaiTi" charset="-122"/>
                <a:ea typeface="KaiTi" charset="-122"/>
              </a:rPr>
              <a:t>有效性</a:t>
            </a:r>
            <a:r>
              <a:rPr lang="zh-CN" altLang="en-US" b="1" dirty="0">
                <a:latin typeface="KaiTi" charset="-122"/>
                <a:ea typeface="KaiTi" charset="-122"/>
              </a:rPr>
              <a:t>：</a:t>
            </a:r>
            <a:r>
              <a:rPr lang="zh-CN" altLang="en-US" dirty="0">
                <a:latin typeface="KaiTi" charset="-122"/>
                <a:ea typeface="KaiTi" charset="-122"/>
              </a:rPr>
              <a:t>通过大数据的处理对金融交易市场进行历史全景回测，挑选出成功率和收益率最高的形态</a:t>
            </a:r>
            <a:endParaRPr lang="en-US" altLang="zh-CN" dirty="0">
              <a:latin typeface="KaiTi" charset="-122"/>
              <a:ea typeface="KaiTi" charset="-122"/>
            </a:endParaRPr>
          </a:p>
          <a:p>
            <a:pPr marL="285750" indent="-285750">
              <a:buFont typeface="Arial" charset="0"/>
              <a:buChar char="•"/>
              <a:defRPr>
                <a:solidFill>
                  <a:srgbClr val="000000"/>
                </a:solidFill>
              </a:defRPr>
            </a:pPr>
            <a:r>
              <a:rPr lang="zh-CN" altLang="en-US" b="1" dirty="0">
                <a:latin typeface="KaiTi" charset="-122"/>
                <a:ea typeface="KaiTi" charset="-122"/>
              </a:rPr>
              <a:t>个性化智能匹配：</a:t>
            </a:r>
            <a:r>
              <a:rPr lang="zh-CN" altLang="en-US" dirty="0">
                <a:latin typeface="KaiTi" charset="-122"/>
                <a:ea typeface="KaiTi" charset="-122"/>
              </a:rPr>
              <a:t>通过对用户的历史交易记录和行为数据分析用户最擅长和最关注的形态，为用户提供个性化形态推荐</a:t>
            </a:r>
            <a:endParaRPr lang="en-US" altLang="zh-CN" dirty="0">
              <a:latin typeface="KaiTi" charset="-122"/>
              <a:ea typeface="KaiTi" charset="-122"/>
            </a:endParaRPr>
          </a:p>
        </p:txBody>
      </p:sp>
      <p:sp>
        <p:nvSpPr>
          <p:cNvPr id="24" name="文本框 23">
            <a:extLst>
              <a:ext uri="{FF2B5EF4-FFF2-40B4-BE49-F238E27FC236}">
                <a16:creationId xmlns:a16="http://schemas.microsoft.com/office/drawing/2014/main" id="{53E35214-F233-FA4F-9140-4D1AF9802281}"/>
              </a:ext>
            </a:extLst>
          </p:cNvPr>
          <p:cNvSpPr txBox="1"/>
          <p:nvPr/>
        </p:nvSpPr>
        <p:spPr>
          <a:xfrm>
            <a:off x="587867" y="3455697"/>
            <a:ext cx="1114408" cy="380553"/>
          </a:xfrm>
          <a:prstGeom prst="rect">
            <a:avLst/>
          </a:prstGeom>
          <a:noFill/>
        </p:spPr>
        <p:txBody>
          <a:bodyPr wrap="none" rtlCol="0">
            <a:spAutoFit/>
          </a:bodyPr>
          <a:lstStyle/>
          <a:p>
            <a:r>
              <a:rPr kumimoji="1" lang="zh-CN" altLang="en-US" b="1" dirty="0">
                <a:latin typeface="KaiTi" panose="02010609060101010101" pitchFamily="49" charset="-122"/>
                <a:ea typeface="KaiTi" panose="02010609060101010101" pitchFamily="49" charset="-122"/>
                <a:cs typeface="PingFang SC" charset="-122"/>
              </a:rPr>
              <a:t>产品</a:t>
            </a:r>
            <a:r>
              <a:rPr kumimoji="1" lang="zh-Hans" altLang="en-US" b="1" dirty="0">
                <a:latin typeface="KaiTi" panose="02010609060101010101" pitchFamily="49" charset="-122"/>
                <a:ea typeface="KaiTi" panose="02010609060101010101" pitchFamily="49" charset="-122"/>
                <a:cs typeface="PingFang SC" charset="-122"/>
              </a:rPr>
              <a:t>功能</a:t>
            </a:r>
            <a:endParaRPr kumimoji="1" lang="zh-CN" altLang="en-US" b="1" dirty="0">
              <a:latin typeface="KaiTi" panose="02010609060101010101" pitchFamily="49" charset="-122"/>
              <a:ea typeface="KaiTi" panose="02010609060101010101" pitchFamily="49" charset="-122"/>
              <a:cs typeface="PingFang SC" charset="-122"/>
            </a:endParaRPr>
          </a:p>
        </p:txBody>
      </p:sp>
      <p:pic>
        <p:nvPicPr>
          <p:cNvPr id="5" name="图片 4">
            <a:extLst>
              <a:ext uri="{FF2B5EF4-FFF2-40B4-BE49-F238E27FC236}">
                <a16:creationId xmlns:a16="http://schemas.microsoft.com/office/drawing/2014/main" id="{A04CC662-C223-3044-806A-4A1B21395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1275" y="1352528"/>
            <a:ext cx="1933391" cy="1892458"/>
          </a:xfrm>
          <a:prstGeom prst="rect">
            <a:avLst/>
          </a:prstGeom>
        </p:spPr>
      </p:pic>
      <p:pic>
        <p:nvPicPr>
          <p:cNvPr id="7" name="图片 6">
            <a:extLst>
              <a:ext uri="{FF2B5EF4-FFF2-40B4-BE49-F238E27FC236}">
                <a16:creationId xmlns:a16="http://schemas.microsoft.com/office/drawing/2014/main" id="{04D85826-8067-804F-9DC7-874DBBB08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269" y="3048648"/>
            <a:ext cx="2023231" cy="3776696"/>
          </a:xfrm>
          <a:prstGeom prst="rect">
            <a:avLst/>
          </a:prstGeom>
        </p:spPr>
      </p:pic>
      <p:pic>
        <p:nvPicPr>
          <p:cNvPr id="9" name="图片 8">
            <a:extLst>
              <a:ext uri="{FF2B5EF4-FFF2-40B4-BE49-F238E27FC236}">
                <a16:creationId xmlns:a16="http://schemas.microsoft.com/office/drawing/2014/main" id="{55C1217C-FBC7-2C46-BFF5-8A7512DE9E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3836" y="1128197"/>
            <a:ext cx="2031809" cy="3614001"/>
          </a:xfrm>
          <a:prstGeom prst="rect">
            <a:avLst/>
          </a:prstGeom>
        </p:spPr>
      </p:pic>
      <p:pic>
        <p:nvPicPr>
          <p:cNvPr id="11" name="图片 10">
            <a:extLst>
              <a:ext uri="{FF2B5EF4-FFF2-40B4-BE49-F238E27FC236}">
                <a16:creationId xmlns:a16="http://schemas.microsoft.com/office/drawing/2014/main" id="{8BEBB33E-1468-B349-BA7C-ACEFC827BA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3836" y="3209759"/>
            <a:ext cx="2031993" cy="3615585"/>
          </a:xfrm>
          <a:prstGeom prst="rect">
            <a:avLst/>
          </a:prstGeom>
        </p:spPr>
      </p:pic>
      <p:pic>
        <p:nvPicPr>
          <p:cNvPr id="2" name="图片 1">
            <a:extLst>
              <a:ext uri="{FF2B5EF4-FFF2-40B4-BE49-F238E27FC236}">
                <a16:creationId xmlns:a16="http://schemas.microsoft.com/office/drawing/2014/main" id="{9EE3F646-ADA7-3C43-B812-4B0BF95BCC63}"/>
              </a:ext>
            </a:extLst>
          </p:cNvPr>
          <p:cNvPicPr>
            <a:picLocks noChangeAspect="1"/>
          </p:cNvPicPr>
          <p:nvPr/>
        </p:nvPicPr>
        <p:blipFill>
          <a:blip r:embed="rId6"/>
          <a:stretch>
            <a:fillRect/>
          </a:stretch>
        </p:blipFill>
        <p:spPr>
          <a:xfrm>
            <a:off x="5401561" y="1352528"/>
            <a:ext cx="2290372" cy="4523247"/>
          </a:xfrm>
          <a:prstGeom prst="rect">
            <a:avLst/>
          </a:prstGeom>
        </p:spPr>
      </p:pic>
      <p:pic>
        <p:nvPicPr>
          <p:cNvPr id="13" name="图像" descr="图像">
            <a:extLst>
              <a:ext uri="{FF2B5EF4-FFF2-40B4-BE49-F238E27FC236}">
                <a16:creationId xmlns:a16="http://schemas.microsoft.com/office/drawing/2014/main" id="{B6238928-B170-8041-9FE1-3CFAE05C8402}"/>
              </a:ext>
            </a:extLst>
          </p:cNvPr>
          <p:cNvPicPr>
            <a:picLocks noChangeAspect="1"/>
          </p:cNvPicPr>
          <p:nvPr/>
        </p:nvPicPr>
        <p:blipFill>
          <a:blip r:embed="rId7">
            <a:extLst/>
          </a:blip>
          <a:stretch>
            <a:fillRect/>
          </a:stretch>
        </p:blipFill>
        <p:spPr>
          <a:xfrm>
            <a:off x="10484724" y="427048"/>
            <a:ext cx="1253576" cy="332979"/>
          </a:xfrm>
          <a:prstGeom prst="rect">
            <a:avLst/>
          </a:prstGeom>
          <a:ln w="3175">
            <a:miter lim="400000"/>
          </a:ln>
        </p:spPr>
      </p:pic>
      <p:sp>
        <p:nvSpPr>
          <p:cNvPr id="14" name="灯片编号占位符 3">
            <a:extLst>
              <a:ext uri="{FF2B5EF4-FFF2-40B4-BE49-F238E27FC236}">
                <a16:creationId xmlns:a16="http://schemas.microsoft.com/office/drawing/2014/main" id="{B84AF2BB-95C8-3E47-87FF-E16817F1DD5D}"/>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4</a:t>
            </a:fld>
            <a:endParaRPr lang="zh-CN" altLang="en-US" dirty="0"/>
          </a:p>
        </p:txBody>
      </p:sp>
      <p:sp>
        <p:nvSpPr>
          <p:cNvPr id="15" name="矩形 14">
            <a:extLst>
              <a:ext uri="{FF2B5EF4-FFF2-40B4-BE49-F238E27FC236}">
                <a16:creationId xmlns:a16="http://schemas.microsoft.com/office/drawing/2014/main" id="{260B0EB4-8CFB-C342-86AE-05ACB707F06B}"/>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C1206F2A-FEFA-A344-B514-D1DBEDF7B1E0}"/>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4018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12085"/>
            <a:ext cx="12192000" cy="145915"/>
          </a:xfrm>
          <a:prstGeom prst="rect">
            <a:avLst/>
          </a:prstGeom>
          <a:solidFill>
            <a:srgbClr val="515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solidFill>
                <a:schemeClr val="bg1"/>
              </a:solidFill>
              <a:latin typeface="KaiTi" panose="02010609060101010101" pitchFamily="49" charset="-122"/>
              <a:ea typeface="KaiTi" panose="02010609060101010101" pitchFamily="49" charset="-122"/>
            </a:endParaRPr>
          </a:p>
        </p:txBody>
      </p:sp>
      <p:sp>
        <p:nvSpPr>
          <p:cNvPr id="10" name="矩形 9">
            <a:extLst>
              <a:ext uri="{FF2B5EF4-FFF2-40B4-BE49-F238E27FC236}">
                <a16:creationId xmlns:a16="http://schemas.microsoft.com/office/drawing/2014/main" id="{EB4BB567-3A2D-034D-B402-AA4BE2CF5EA4}"/>
              </a:ext>
            </a:extLst>
          </p:cNvPr>
          <p:cNvSpPr/>
          <p:nvPr/>
        </p:nvSpPr>
        <p:spPr>
          <a:xfrm>
            <a:off x="999957" y="2386115"/>
            <a:ext cx="3187244" cy="3026534"/>
          </a:xfrm>
          <a:prstGeom prst="rect">
            <a:avLst/>
          </a:prstGeom>
        </p:spPr>
        <p:txBody>
          <a:bodyPr wrap="square">
            <a:spAutoFit/>
          </a:bodyPr>
          <a:lstStyle/>
          <a:p>
            <a:r>
              <a:rPr lang="zh-Hans" altLang="en-US" sz="1600" dirty="0">
                <a:solidFill>
                  <a:srgbClr val="51597B"/>
                </a:solidFill>
                <a:latin typeface="KaiTi" panose="02010609060101010101" pitchFamily="49" charset="-122"/>
                <a:ea typeface="KaiTi" panose="02010609060101010101" pitchFamily="49" charset="-122"/>
                <a:cs typeface="+mn-ea"/>
              </a:rPr>
              <a:t>面对股市数千只股票还有众多基金产品，</a:t>
            </a:r>
            <a:r>
              <a:rPr lang="zh-CN" altLang="en-US" sz="1600" dirty="0">
                <a:solidFill>
                  <a:srgbClr val="51597B"/>
                </a:solidFill>
                <a:latin typeface="KaiTi" panose="02010609060101010101" pitchFamily="49" charset="-122"/>
                <a:ea typeface="KaiTi" panose="02010609060101010101" pitchFamily="49" charset="-122"/>
                <a:cs typeface="+mn-ea"/>
              </a:rPr>
              <a:t>投资者在海量资讯信息中不知道自己应该投什么，不了解这些金融产品背后有什么风险，同时也对自己的投资表现缺乏正确的认知。</a:t>
            </a:r>
            <a:endParaRPr lang="en-US" altLang="zh-CN" sz="1600" dirty="0">
              <a:solidFill>
                <a:srgbClr val="51597B"/>
              </a:solidFill>
              <a:latin typeface="KaiTi" panose="02010609060101010101" pitchFamily="49" charset="-122"/>
              <a:ea typeface="KaiTi" panose="02010609060101010101" pitchFamily="49" charset="-122"/>
              <a:cs typeface="+mn-ea"/>
            </a:endParaRPr>
          </a:p>
          <a:p>
            <a:endParaRPr lang="en-US" altLang="zh-CN" sz="1600" dirty="0">
              <a:solidFill>
                <a:srgbClr val="51597B"/>
              </a:solidFill>
              <a:latin typeface="KaiTi" panose="02010609060101010101" pitchFamily="49" charset="-122"/>
              <a:ea typeface="KaiTi" panose="02010609060101010101" pitchFamily="49" charset="-122"/>
              <a:cs typeface="+mn-ea"/>
            </a:endParaRPr>
          </a:p>
          <a:p>
            <a:r>
              <a:rPr lang="zh-Hans" altLang="en-US" sz="1600" dirty="0">
                <a:solidFill>
                  <a:srgbClr val="51597B"/>
                </a:solidFill>
                <a:latin typeface="KaiTi" panose="02010609060101010101" pitchFamily="49" charset="-122"/>
                <a:ea typeface="KaiTi" panose="02010609060101010101" pitchFamily="49" charset="-122"/>
                <a:cs typeface="+mn-ea"/>
              </a:rPr>
              <a:t>智能画像主要</a:t>
            </a:r>
            <a:r>
              <a:rPr lang="zh-CN" altLang="zh-CN" sz="1600" dirty="0">
                <a:solidFill>
                  <a:srgbClr val="51597B"/>
                </a:solidFill>
                <a:latin typeface="KaiTi" panose="02010609060101010101" pitchFamily="49" charset="-122"/>
                <a:ea typeface="KaiTi" panose="02010609060101010101" pitchFamily="49" charset="-122"/>
                <a:cs typeface="+mn-ea"/>
              </a:rPr>
              <a:t>包括个股形态画像和用户形态操作画像</a:t>
            </a:r>
            <a:r>
              <a:rPr lang="zh-Hans" altLang="en-US" sz="1600" dirty="0">
                <a:solidFill>
                  <a:srgbClr val="51597B"/>
                </a:solidFill>
                <a:latin typeface="KaiTi" panose="02010609060101010101" pitchFamily="49" charset="-122"/>
                <a:ea typeface="KaiTi" panose="02010609060101010101" pitchFamily="49" charset="-122"/>
                <a:cs typeface="+mn-ea"/>
              </a:rPr>
              <a:t>，为投资者展示个股形态统计及投资者的</a:t>
            </a:r>
            <a:r>
              <a:rPr lang="zh-CN" altLang="zh-CN" sz="1600" dirty="0">
                <a:solidFill>
                  <a:srgbClr val="51597B"/>
                </a:solidFill>
                <a:latin typeface="KaiTi" panose="02010609060101010101" pitchFamily="49" charset="-122"/>
                <a:ea typeface="KaiTi" panose="02010609060101010101" pitchFamily="49" charset="-122"/>
                <a:cs typeface="+mn-ea"/>
              </a:rPr>
              <a:t>形态操作表现</a:t>
            </a:r>
            <a:endParaRPr lang="en-US" altLang="zh-CN" sz="1600" dirty="0">
              <a:solidFill>
                <a:srgbClr val="51597B"/>
              </a:solidFill>
              <a:latin typeface="KaiTi" panose="02010609060101010101" pitchFamily="49" charset="-122"/>
              <a:ea typeface="KaiTi" panose="02010609060101010101" pitchFamily="49" charset="-122"/>
              <a:cs typeface="+mn-ea"/>
            </a:endParaRPr>
          </a:p>
          <a:p>
            <a:endParaRPr lang="zh-SG" altLang="en-US" sz="1467" dirty="0">
              <a:solidFill>
                <a:srgbClr val="51597B"/>
              </a:solidFill>
              <a:latin typeface="KaiTi" panose="02010609060101010101" pitchFamily="49" charset="-122"/>
              <a:ea typeface="KaiTi" panose="02010609060101010101" pitchFamily="49" charset="-122"/>
              <a:cs typeface="+mn-ea"/>
            </a:endParaRPr>
          </a:p>
        </p:txBody>
      </p:sp>
      <p:sp>
        <p:nvSpPr>
          <p:cNvPr id="11" name="TextBox 13">
            <a:extLst>
              <a:ext uri="{FF2B5EF4-FFF2-40B4-BE49-F238E27FC236}">
                <a16:creationId xmlns:a16="http://schemas.microsoft.com/office/drawing/2014/main" id="{2BB8F529-3A98-1F4B-9E0B-F5984E656875}"/>
              </a:ext>
            </a:extLst>
          </p:cNvPr>
          <p:cNvSpPr txBox="1"/>
          <p:nvPr/>
        </p:nvSpPr>
        <p:spPr>
          <a:xfrm>
            <a:off x="999956" y="1723683"/>
            <a:ext cx="1550424" cy="502766"/>
          </a:xfrm>
          <a:prstGeom prst="rect">
            <a:avLst/>
          </a:prstGeom>
          <a:noFill/>
        </p:spPr>
        <p:txBody>
          <a:bodyPr wrap="none" rtlCol="0">
            <a:spAutoFit/>
          </a:bodyPr>
          <a:lstStyle/>
          <a:p>
            <a:r>
              <a:rPr lang="zh-Hans" altLang="en-US" sz="2667" dirty="0">
                <a:solidFill>
                  <a:srgbClr val="51597B"/>
                </a:solidFill>
                <a:latin typeface="KaiTi" panose="02010609060101010101" pitchFamily="49" charset="-122"/>
                <a:ea typeface="KaiTi" panose="02010609060101010101" pitchFamily="49" charset="-122"/>
                <a:cs typeface="+mn-ea"/>
                <a:sym typeface="+mn-lt"/>
              </a:rPr>
              <a:t>智能画像</a:t>
            </a:r>
            <a:endParaRPr lang="zh-CN" altLang="en-US" sz="2667" dirty="0">
              <a:solidFill>
                <a:srgbClr val="51597B"/>
              </a:solidFill>
              <a:latin typeface="KaiTi" panose="02010609060101010101" pitchFamily="49" charset="-122"/>
              <a:ea typeface="KaiTi" panose="02010609060101010101" pitchFamily="49" charset="-122"/>
              <a:cs typeface="+mn-ea"/>
              <a:sym typeface="+mn-lt"/>
            </a:endParaRPr>
          </a:p>
        </p:txBody>
      </p:sp>
      <p:pic>
        <p:nvPicPr>
          <p:cNvPr id="12" name="图片 11">
            <a:extLst>
              <a:ext uri="{FF2B5EF4-FFF2-40B4-BE49-F238E27FC236}">
                <a16:creationId xmlns:a16="http://schemas.microsoft.com/office/drawing/2014/main" id="{2579A5C6-7553-9843-927D-4FAC08D4C81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65471" y="1393252"/>
            <a:ext cx="1749622" cy="4355187"/>
          </a:xfrm>
          <a:prstGeom prst="rect">
            <a:avLst/>
          </a:prstGeom>
          <a:noFill/>
          <a:ln>
            <a:noFill/>
          </a:ln>
        </p:spPr>
      </p:pic>
      <p:pic>
        <p:nvPicPr>
          <p:cNvPr id="13" name="图片 12">
            <a:extLst>
              <a:ext uri="{FF2B5EF4-FFF2-40B4-BE49-F238E27FC236}">
                <a16:creationId xmlns:a16="http://schemas.microsoft.com/office/drawing/2014/main" id="{AE1E528C-BE2D-584E-9F3C-42479AA6DA6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28185" y="1364675"/>
            <a:ext cx="1636500" cy="4355187"/>
          </a:xfrm>
          <a:prstGeom prst="rect">
            <a:avLst/>
          </a:prstGeom>
          <a:noFill/>
          <a:ln>
            <a:noFill/>
          </a:ln>
        </p:spPr>
      </p:pic>
      <p:sp>
        <p:nvSpPr>
          <p:cNvPr id="14" name="Shape 322">
            <a:extLst>
              <a:ext uri="{FF2B5EF4-FFF2-40B4-BE49-F238E27FC236}">
                <a16:creationId xmlns:a16="http://schemas.microsoft.com/office/drawing/2014/main" id="{CFBF412F-610D-C848-BAF9-6DF5DA949787}"/>
              </a:ext>
            </a:extLst>
          </p:cNvPr>
          <p:cNvSpPr/>
          <p:nvPr/>
        </p:nvSpPr>
        <p:spPr>
          <a:xfrm>
            <a:off x="675358" y="228069"/>
            <a:ext cx="9793766" cy="768541"/>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智能画像</a:t>
            </a:r>
            <a:endParaRPr sz="3600" dirty="0">
              <a:solidFill>
                <a:schemeClr val="tx1"/>
              </a:solidFill>
              <a:latin typeface="KaiTi" charset="-122"/>
              <a:ea typeface="KaiTi" charset="-122"/>
              <a:cs typeface="KaiTi" charset="-122"/>
            </a:endParaRPr>
          </a:p>
        </p:txBody>
      </p:sp>
      <p:sp>
        <p:nvSpPr>
          <p:cNvPr id="15" name="矩形 14">
            <a:extLst>
              <a:ext uri="{FF2B5EF4-FFF2-40B4-BE49-F238E27FC236}">
                <a16:creationId xmlns:a16="http://schemas.microsoft.com/office/drawing/2014/main" id="{2499BFFB-62C1-1941-8077-D08608077FC0}"/>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CE59837F-0930-EF40-8B9C-E2E3B3229119}"/>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灯片编号占位符 3">
            <a:extLst>
              <a:ext uri="{FF2B5EF4-FFF2-40B4-BE49-F238E27FC236}">
                <a16:creationId xmlns:a16="http://schemas.microsoft.com/office/drawing/2014/main" id="{1A4432A6-B1E3-0349-83BD-0ACE746C94CC}"/>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5</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222169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12085"/>
            <a:ext cx="12192000" cy="145915"/>
          </a:xfrm>
          <a:prstGeom prst="rect">
            <a:avLst/>
          </a:prstGeom>
          <a:solidFill>
            <a:srgbClr val="515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solidFill>
                <a:schemeClr val="bg1"/>
              </a:solidFill>
              <a:latin typeface="KaiTi" panose="02010609060101010101" pitchFamily="49" charset="-122"/>
              <a:ea typeface="KaiTi" panose="02010609060101010101" pitchFamily="49" charset="-122"/>
            </a:endParaRPr>
          </a:p>
        </p:txBody>
      </p:sp>
      <p:sp>
        <p:nvSpPr>
          <p:cNvPr id="8" name="空心弧 7"/>
          <p:cNvSpPr/>
          <p:nvPr/>
        </p:nvSpPr>
        <p:spPr>
          <a:xfrm rot="5400000" flipH="1" flipV="1">
            <a:off x="927417" y="1357800"/>
            <a:ext cx="4126675" cy="4585192"/>
          </a:xfrm>
          <a:prstGeom prst="blockArc">
            <a:avLst>
              <a:gd name="adj1" fmla="val 10800000"/>
              <a:gd name="adj2" fmla="val 4452591"/>
              <a:gd name="adj3" fmla="val 9698"/>
            </a:avLst>
          </a:prstGeom>
          <a:solidFill>
            <a:srgbClr val="67B2B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9" name="空心弧 8"/>
          <p:cNvSpPr/>
          <p:nvPr/>
        </p:nvSpPr>
        <p:spPr>
          <a:xfrm rot="5400000" flipH="1" flipV="1">
            <a:off x="1463789" y="1953767"/>
            <a:ext cx="3053935" cy="3393259"/>
          </a:xfrm>
          <a:prstGeom prst="blockArc">
            <a:avLst>
              <a:gd name="adj1" fmla="val 10800000"/>
              <a:gd name="adj2" fmla="val 5714783"/>
              <a:gd name="adj3" fmla="val 9453"/>
            </a:avLst>
          </a:prstGeom>
          <a:solidFill>
            <a:srgbClr val="EE4B4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10" name="空心弧 9"/>
          <p:cNvSpPr/>
          <p:nvPr/>
        </p:nvSpPr>
        <p:spPr>
          <a:xfrm rot="5400000" flipH="1" flipV="1">
            <a:off x="1900063" y="2438522"/>
            <a:ext cx="2181381" cy="2423756"/>
          </a:xfrm>
          <a:prstGeom prst="blockArc">
            <a:avLst>
              <a:gd name="adj1" fmla="val 10800000"/>
              <a:gd name="adj2" fmla="val 7335400"/>
              <a:gd name="adj3" fmla="val 10299"/>
            </a:avLst>
          </a:prstGeom>
          <a:solidFill>
            <a:srgbClr val="6BAF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14" name="矩形 13"/>
          <p:cNvSpPr/>
          <p:nvPr/>
        </p:nvSpPr>
        <p:spPr>
          <a:xfrm>
            <a:off x="4054895" y="4889503"/>
            <a:ext cx="135467" cy="121920"/>
          </a:xfrm>
          <a:prstGeom prst="rect">
            <a:avLst/>
          </a:prstGeom>
          <a:solidFill>
            <a:srgbClr val="67B2B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15" name="TextBox 12"/>
          <p:cNvSpPr txBox="1"/>
          <p:nvPr/>
        </p:nvSpPr>
        <p:spPr>
          <a:xfrm>
            <a:off x="4190366" y="4802731"/>
            <a:ext cx="870751"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技术分析</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16" name="矩形 15"/>
          <p:cNvSpPr/>
          <p:nvPr/>
        </p:nvSpPr>
        <p:spPr>
          <a:xfrm>
            <a:off x="4054895" y="5185793"/>
            <a:ext cx="135467" cy="121920"/>
          </a:xfrm>
          <a:prstGeom prst="rect">
            <a:avLst/>
          </a:prstGeom>
          <a:solidFill>
            <a:srgbClr val="EE4B4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17" name="TextBox 14"/>
          <p:cNvSpPr txBox="1"/>
          <p:nvPr/>
        </p:nvSpPr>
        <p:spPr>
          <a:xfrm>
            <a:off x="4190366" y="5099022"/>
            <a:ext cx="1042273"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基本面分析</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18" name="矩形 17"/>
          <p:cNvSpPr/>
          <p:nvPr/>
        </p:nvSpPr>
        <p:spPr>
          <a:xfrm>
            <a:off x="4054895" y="5481257"/>
            <a:ext cx="135467" cy="121920"/>
          </a:xfrm>
          <a:prstGeom prst="rect">
            <a:avLst/>
          </a:prstGeom>
          <a:solidFill>
            <a:srgbClr val="6BAF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51597B"/>
              </a:solidFill>
              <a:latin typeface="KaiTi" panose="02010609060101010101" pitchFamily="49" charset="-122"/>
              <a:ea typeface="KaiTi" panose="02010609060101010101" pitchFamily="49" charset="-122"/>
              <a:cs typeface="+mn-ea"/>
              <a:sym typeface="+mn-lt"/>
            </a:endParaRPr>
          </a:p>
        </p:txBody>
      </p:sp>
      <p:sp>
        <p:nvSpPr>
          <p:cNvPr id="19" name="TextBox 16"/>
          <p:cNvSpPr txBox="1"/>
          <p:nvPr/>
        </p:nvSpPr>
        <p:spPr>
          <a:xfrm>
            <a:off x="4190366" y="5394487"/>
            <a:ext cx="527709"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其他</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20" name="TextBox 17"/>
          <p:cNvSpPr txBox="1"/>
          <p:nvPr/>
        </p:nvSpPr>
        <p:spPr>
          <a:xfrm>
            <a:off x="6398146" y="1211441"/>
            <a:ext cx="1550424" cy="502766"/>
          </a:xfrm>
          <a:prstGeom prst="rect">
            <a:avLst/>
          </a:prstGeom>
          <a:noFill/>
        </p:spPr>
        <p:txBody>
          <a:bodyPr wrap="none" rtlCol="0">
            <a:spAutoFit/>
          </a:bodyPr>
          <a:lstStyle/>
          <a:p>
            <a:r>
              <a:rPr lang="zh-Hans" altLang="en-US" sz="2667" dirty="0">
                <a:solidFill>
                  <a:srgbClr val="51597B"/>
                </a:solidFill>
                <a:latin typeface="KaiTi" panose="02010609060101010101" pitchFamily="49" charset="-122"/>
                <a:ea typeface="KaiTi" panose="02010609060101010101" pitchFamily="49" charset="-122"/>
                <a:cs typeface="+mn-ea"/>
                <a:sym typeface="+mn-lt"/>
              </a:rPr>
              <a:t>股票发现</a:t>
            </a:r>
            <a:endParaRPr lang="zh-CN" altLang="en-US" sz="2667" b="1" dirty="0">
              <a:solidFill>
                <a:srgbClr val="51597B"/>
              </a:solidFill>
              <a:latin typeface="KaiTi" panose="02010609060101010101" pitchFamily="49" charset="-122"/>
              <a:ea typeface="KaiTi" panose="02010609060101010101" pitchFamily="49" charset="-122"/>
              <a:cs typeface="+mn-ea"/>
              <a:sym typeface="+mn-lt"/>
            </a:endParaRPr>
          </a:p>
        </p:txBody>
      </p:sp>
      <p:sp>
        <p:nvSpPr>
          <p:cNvPr id="24" name="矩形 23"/>
          <p:cNvSpPr/>
          <p:nvPr/>
        </p:nvSpPr>
        <p:spPr>
          <a:xfrm>
            <a:off x="8786814" y="1893532"/>
            <a:ext cx="2400300" cy="3613297"/>
          </a:xfrm>
          <a:prstGeom prst="rect">
            <a:avLst/>
          </a:prstGeom>
        </p:spPr>
        <p:txBody>
          <a:bodyPr wrap="square">
            <a:spAutoFit/>
          </a:bodyPr>
          <a:lstStyle/>
          <a:p>
            <a:pPr lvl="0">
              <a:lnSpc>
                <a:spcPct val="130000"/>
              </a:lnSpc>
            </a:pPr>
            <a:r>
              <a:rPr lang="zh-Hans" altLang="en-US" sz="1600" dirty="0">
                <a:solidFill>
                  <a:srgbClr val="51597B"/>
                </a:solidFill>
                <a:latin typeface="KaiTi" panose="02010609060101010101" pitchFamily="49" charset="-122"/>
                <a:ea typeface="KaiTi" panose="02010609060101010101" pitchFamily="49" charset="-122"/>
                <a:cs typeface="+mn-ea"/>
              </a:rPr>
              <a:t>用户通常看到数千只股票无从下手，不知道该如何选择，智能形态分析产品既可以从技术层面上根据形态有效性为用户推荐相同形态的股票；同时可以根据用户的持仓分析用户的股票类型偏好，如行业板块、个股规模、估值因子等，为用户匹配相似个股</a:t>
            </a:r>
            <a:r>
              <a:rPr lang="zh-CN" altLang="en-US" sz="1600" dirty="0">
                <a:solidFill>
                  <a:srgbClr val="51597B"/>
                </a:solidFill>
                <a:latin typeface="KaiTi" panose="02010609060101010101" pitchFamily="49" charset="-122"/>
                <a:ea typeface="KaiTi" panose="02010609060101010101" pitchFamily="49" charset="-122"/>
                <a:cs typeface="+mn-ea"/>
              </a:rPr>
              <a:t>。</a:t>
            </a:r>
          </a:p>
        </p:txBody>
      </p:sp>
      <p:pic>
        <p:nvPicPr>
          <p:cNvPr id="21" name="图片 20">
            <a:extLst>
              <a:ext uri="{FF2B5EF4-FFF2-40B4-BE49-F238E27FC236}">
                <a16:creationId xmlns:a16="http://schemas.microsoft.com/office/drawing/2014/main" id="{471F3465-AFA4-2A42-9571-D0DB4D8C13C6}"/>
              </a:ext>
            </a:extLst>
          </p:cNvPr>
          <p:cNvPicPr>
            <a:picLocks noChangeAspect="1"/>
          </p:cNvPicPr>
          <p:nvPr/>
        </p:nvPicPr>
        <p:blipFill>
          <a:blip r:embed="rId2"/>
          <a:stretch>
            <a:fillRect/>
          </a:stretch>
        </p:blipFill>
        <p:spPr>
          <a:xfrm>
            <a:off x="6326708" y="1945930"/>
            <a:ext cx="2313380" cy="3799943"/>
          </a:xfrm>
          <a:prstGeom prst="rect">
            <a:avLst/>
          </a:prstGeom>
        </p:spPr>
      </p:pic>
      <p:sp>
        <p:nvSpPr>
          <p:cNvPr id="22" name="Shape 322">
            <a:extLst>
              <a:ext uri="{FF2B5EF4-FFF2-40B4-BE49-F238E27FC236}">
                <a16:creationId xmlns:a16="http://schemas.microsoft.com/office/drawing/2014/main" id="{D1F999A5-CFAF-F94C-90DA-67BCE6AA55FF}"/>
              </a:ext>
            </a:extLst>
          </p:cNvPr>
          <p:cNvSpPr/>
          <p:nvPr/>
        </p:nvSpPr>
        <p:spPr>
          <a:xfrm>
            <a:off x="675358" y="228069"/>
            <a:ext cx="9793766" cy="768541"/>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形态选股</a:t>
            </a:r>
            <a:endParaRPr sz="3600" dirty="0">
              <a:solidFill>
                <a:schemeClr val="tx1"/>
              </a:solidFill>
              <a:latin typeface="KaiTi" charset="-122"/>
              <a:ea typeface="KaiTi" charset="-122"/>
              <a:cs typeface="KaiTi" charset="-122"/>
            </a:endParaRPr>
          </a:p>
        </p:txBody>
      </p:sp>
      <p:sp>
        <p:nvSpPr>
          <p:cNvPr id="23" name="矩形 22">
            <a:extLst>
              <a:ext uri="{FF2B5EF4-FFF2-40B4-BE49-F238E27FC236}">
                <a16:creationId xmlns:a16="http://schemas.microsoft.com/office/drawing/2014/main" id="{587D9F1D-749A-3047-8F24-DF825E9CBA89}"/>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582A8206-5F10-A246-BE8C-402DA4CC060E}"/>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3">
            <a:extLst>
              <a:ext uri="{FF2B5EF4-FFF2-40B4-BE49-F238E27FC236}">
                <a16:creationId xmlns:a16="http://schemas.microsoft.com/office/drawing/2014/main" id="{55AEB967-4C35-3343-8674-6D003BB66E08}"/>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6</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82442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12085"/>
            <a:ext cx="12192000" cy="145915"/>
          </a:xfrm>
          <a:prstGeom prst="rect">
            <a:avLst/>
          </a:prstGeom>
          <a:solidFill>
            <a:srgbClr val="515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solidFill>
                <a:schemeClr val="bg1"/>
              </a:solidFill>
              <a:latin typeface="KaiTi" panose="02010609060101010101" pitchFamily="49" charset="-122"/>
              <a:ea typeface="KaiTi" panose="02010609060101010101" pitchFamily="49" charset="-122"/>
            </a:endParaRPr>
          </a:p>
        </p:txBody>
      </p:sp>
      <p:graphicFrame>
        <p:nvGraphicFramePr>
          <p:cNvPr id="8" name="图表 7"/>
          <p:cNvGraphicFramePr>
            <a:graphicFrameLocks/>
          </p:cNvGraphicFramePr>
          <p:nvPr>
            <p:extLst/>
          </p:nvPr>
        </p:nvGraphicFramePr>
        <p:xfrm>
          <a:off x="489252" y="1825074"/>
          <a:ext cx="7488832" cy="3839511"/>
        </p:xfrm>
        <a:graphic>
          <a:graphicData uri="http://schemas.openxmlformats.org/drawingml/2006/chart">
            <c:chart xmlns:c="http://schemas.openxmlformats.org/drawingml/2006/chart" xmlns:r="http://schemas.openxmlformats.org/officeDocument/2006/relationships" r:id="rId2"/>
          </a:graphicData>
        </a:graphic>
      </p:graphicFrame>
      <p:sp>
        <p:nvSpPr>
          <p:cNvPr id="9" name="矩形 8"/>
          <p:cNvSpPr/>
          <p:nvPr/>
        </p:nvSpPr>
        <p:spPr>
          <a:xfrm>
            <a:off x="8208633" y="5151501"/>
            <a:ext cx="135467" cy="121920"/>
          </a:xfrm>
          <a:prstGeom prst="rect">
            <a:avLst/>
          </a:prstGeom>
          <a:solidFill>
            <a:srgbClr val="86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KaiTi" panose="02010609060101010101" pitchFamily="49" charset="-122"/>
              <a:ea typeface="KaiTi" panose="02010609060101010101" pitchFamily="49" charset="-122"/>
              <a:cs typeface="+mn-ea"/>
              <a:sym typeface="+mn-lt"/>
            </a:endParaRPr>
          </a:p>
        </p:txBody>
      </p:sp>
      <p:sp>
        <p:nvSpPr>
          <p:cNvPr id="10" name="TextBox 8"/>
          <p:cNvSpPr txBox="1"/>
          <p:nvPr/>
        </p:nvSpPr>
        <p:spPr>
          <a:xfrm>
            <a:off x="8344102" y="5064730"/>
            <a:ext cx="1212191"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买卖点</a:t>
            </a:r>
            <a:r>
              <a:rPr lang="zh-CN" altLang="en-US" sz="1333" dirty="0">
                <a:solidFill>
                  <a:srgbClr val="51597B"/>
                </a:solidFill>
                <a:latin typeface="KaiTi" panose="02010609060101010101" pitchFamily="49" charset="-122"/>
                <a:ea typeface="KaiTi" panose="02010609060101010101" pitchFamily="49" charset="-122"/>
                <a:cs typeface="+mn-ea"/>
                <a:sym typeface="+mn-lt"/>
              </a:rPr>
              <a:t>发现 </a:t>
            </a:r>
            <a:r>
              <a:rPr lang="en-US" altLang="zh-CN" sz="1333" dirty="0">
                <a:solidFill>
                  <a:srgbClr val="51597B"/>
                </a:solidFill>
                <a:latin typeface="KaiTi" panose="02010609060101010101" pitchFamily="49" charset="-122"/>
                <a:ea typeface="KaiTi" panose="02010609060101010101" pitchFamily="49" charset="-122"/>
                <a:cs typeface="+mn-ea"/>
                <a:sym typeface="+mn-lt"/>
              </a:rPr>
              <a:t>1</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11" name="矩形 10"/>
          <p:cNvSpPr/>
          <p:nvPr/>
        </p:nvSpPr>
        <p:spPr>
          <a:xfrm>
            <a:off x="8208633" y="5447792"/>
            <a:ext cx="135467" cy="121920"/>
          </a:xfrm>
          <a:prstGeom prst="rect">
            <a:avLst/>
          </a:prstGeom>
          <a:solidFill>
            <a:srgbClr val="DD6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KaiTi" panose="02010609060101010101" pitchFamily="49" charset="-122"/>
              <a:ea typeface="KaiTi" panose="02010609060101010101" pitchFamily="49" charset="-122"/>
              <a:cs typeface="+mn-ea"/>
              <a:sym typeface="+mn-lt"/>
            </a:endParaRPr>
          </a:p>
        </p:txBody>
      </p:sp>
      <p:sp>
        <p:nvSpPr>
          <p:cNvPr id="12" name="TextBox 10"/>
          <p:cNvSpPr txBox="1"/>
          <p:nvPr/>
        </p:nvSpPr>
        <p:spPr>
          <a:xfrm>
            <a:off x="8344102" y="5361020"/>
            <a:ext cx="1212191"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买卖点</a:t>
            </a:r>
            <a:r>
              <a:rPr lang="zh-CN" altLang="en-US" sz="1333" dirty="0">
                <a:solidFill>
                  <a:srgbClr val="51597B"/>
                </a:solidFill>
                <a:latin typeface="KaiTi" panose="02010609060101010101" pitchFamily="49" charset="-122"/>
                <a:ea typeface="KaiTi" panose="02010609060101010101" pitchFamily="49" charset="-122"/>
                <a:cs typeface="+mn-ea"/>
                <a:sym typeface="+mn-lt"/>
              </a:rPr>
              <a:t>发现 </a:t>
            </a:r>
            <a:r>
              <a:rPr lang="en-US" altLang="zh-CN" sz="1333" dirty="0">
                <a:solidFill>
                  <a:srgbClr val="51597B"/>
                </a:solidFill>
                <a:latin typeface="KaiTi" panose="02010609060101010101" pitchFamily="49" charset="-122"/>
                <a:ea typeface="KaiTi" panose="02010609060101010101" pitchFamily="49" charset="-122"/>
                <a:cs typeface="+mn-ea"/>
                <a:sym typeface="+mn-lt"/>
              </a:rPr>
              <a:t>2</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13" name="矩形 12"/>
          <p:cNvSpPr/>
          <p:nvPr/>
        </p:nvSpPr>
        <p:spPr>
          <a:xfrm>
            <a:off x="8208633" y="5743257"/>
            <a:ext cx="135467" cy="121920"/>
          </a:xfrm>
          <a:prstGeom prst="rect">
            <a:avLst/>
          </a:prstGeom>
          <a:solidFill>
            <a:srgbClr val="45B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KaiTi" panose="02010609060101010101" pitchFamily="49" charset="-122"/>
              <a:ea typeface="KaiTi" panose="02010609060101010101" pitchFamily="49" charset="-122"/>
              <a:cs typeface="+mn-ea"/>
              <a:sym typeface="+mn-lt"/>
            </a:endParaRPr>
          </a:p>
        </p:txBody>
      </p:sp>
      <p:sp>
        <p:nvSpPr>
          <p:cNvPr id="14" name="TextBox 12"/>
          <p:cNvSpPr txBox="1"/>
          <p:nvPr/>
        </p:nvSpPr>
        <p:spPr>
          <a:xfrm>
            <a:off x="8344102" y="5656486"/>
            <a:ext cx="1212191" cy="297454"/>
          </a:xfrm>
          <a:prstGeom prst="rect">
            <a:avLst/>
          </a:prstGeom>
          <a:noFill/>
        </p:spPr>
        <p:txBody>
          <a:bodyPr wrap="none" rtlCol="0">
            <a:spAutoFit/>
          </a:bodyPr>
          <a:lstStyle/>
          <a:p>
            <a:r>
              <a:rPr lang="zh-Hans" altLang="en-US" sz="1333" dirty="0">
                <a:solidFill>
                  <a:srgbClr val="51597B"/>
                </a:solidFill>
                <a:latin typeface="KaiTi" panose="02010609060101010101" pitchFamily="49" charset="-122"/>
                <a:ea typeface="KaiTi" panose="02010609060101010101" pitchFamily="49" charset="-122"/>
                <a:cs typeface="+mn-ea"/>
                <a:sym typeface="+mn-lt"/>
              </a:rPr>
              <a:t>买卖点</a:t>
            </a:r>
            <a:r>
              <a:rPr lang="zh-CN" altLang="en-US" sz="1333" dirty="0">
                <a:solidFill>
                  <a:srgbClr val="51597B"/>
                </a:solidFill>
                <a:latin typeface="KaiTi" panose="02010609060101010101" pitchFamily="49" charset="-122"/>
                <a:ea typeface="KaiTi" panose="02010609060101010101" pitchFamily="49" charset="-122"/>
                <a:cs typeface="+mn-ea"/>
                <a:sym typeface="+mn-lt"/>
              </a:rPr>
              <a:t>发现 </a:t>
            </a:r>
            <a:r>
              <a:rPr lang="en-US" altLang="zh-CN" sz="1333" dirty="0">
                <a:solidFill>
                  <a:srgbClr val="51597B"/>
                </a:solidFill>
                <a:latin typeface="KaiTi" panose="02010609060101010101" pitchFamily="49" charset="-122"/>
                <a:ea typeface="KaiTi" panose="02010609060101010101" pitchFamily="49" charset="-122"/>
                <a:cs typeface="+mn-ea"/>
                <a:sym typeface="+mn-lt"/>
              </a:rPr>
              <a:t>3</a:t>
            </a:r>
            <a:endParaRPr lang="zh-CN" altLang="en-US" sz="1333" dirty="0">
              <a:solidFill>
                <a:srgbClr val="51597B"/>
              </a:solidFill>
              <a:latin typeface="KaiTi" panose="02010609060101010101" pitchFamily="49" charset="-122"/>
              <a:ea typeface="KaiTi" panose="02010609060101010101" pitchFamily="49" charset="-122"/>
              <a:cs typeface="+mn-ea"/>
              <a:sym typeface="+mn-lt"/>
            </a:endParaRPr>
          </a:p>
        </p:txBody>
      </p:sp>
      <p:sp>
        <p:nvSpPr>
          <p:cNvPr id="15" name="TextBox 13"/>
          <p:cNvSpPr txBox="1"/>
          <p:nvPr/>
        </p:nvSpPr>
        <p:spPr>
          <a:xfrm>
            <a:off x="7978085" y="1683501"/>
            <a:ext cx="1891865" cy="502766"/>
          </a:xfrm>
          <a:prstGeom prst="rect">
            <a:avLst/>
          </a:prstGeom>
          <a:noFill/>
        </p:spPr>
        <p:txBody>
          <a:bodyPr wrap="none" rtlCol="0">
            <a:spAutoFit/>
          </a:bodyPr>
          <a:lstStyle/>
          <a:p>
            <a:r>
              <a:rPr lang="zh-Hans" altLang="en-US" sz="2667" dirty="0">
                <a:solidFill>
                  <a:srgbClr val="51597B"/>
                </a:solidFill>
                <a:latin typeface="KaiTi" panose="02010609060101010101" pitchFamily="49" charset="-122"/>
                <a:ea typeface="KaiTi" panose="02010609060101010101" pitchFamily="49" charset="-122"/>
                <a:cs typeface="+mn-ea"/>
                <a:sym typeface="+mn-lt"/>
              </a:rPr>
              <a:t>买卖点</a:t>
            </a:r>
            <a:r>
              <a:rPr lang="zh-CN" altLang="en-US" sz="2667" dirty="0">
                <a:solidFill>
                  <a:srgbClr val="51597B"/>
                </a:solidFill>
                <a:latin typeface="KaiTi" panose="02010609060101010101" pitchFamily="49" charset="-122"/>
                <a:ea typeface="KaiTi" panose="02010609060101010101" pitchFamily="49" charset="-122"/>
                <a:cs typeface="+mn-ea"/>
                <a:sym typeface="+mn-lt"/>
              </a:rPr>
              <a:t>发现</a:t>
            </a:r>
            <a:endParaRPr lang="zh-CN" altLang="en-US" sz="2667" b="1" dirty="0">
              <a:solidFill>
                <a:srgbClr val="51597B"/>
              </a:solidFill>
              <a:latin typeface="KaiTi" panose="02010609060101010101" pitchFamily="49" charset="-122"/>
              <a:ea typeface="KaiTi" panose="02010609060101010101" pitchFamily="49" charset="-122"/>
              <a:cs typeface="+mn-ea"/>
              <a:sym typeface="+mn-lt"/>
            </a:endParaRPr>
          </a:p>
        </p:txBody>
      </p:sp>
      <p:sp>
        <p:nvSpPr>
          <p:cNvPr id="16" name="TextBox 16"/>
          <p:cNvSpPr txBox="1"/>
          <p:nvPr/>
        </p:nvSpPr>
        <p:spPr>
          <a:xfrm>
            <a:off x="7978084" y="2170413"/>
            <a:ext cx="3587341" cy="2973122"/>
          </a:xfrm>
          <a:prstGeom prst="rect">
            <a:avLst/>
          </a:prstGeom>
          <a:noFill/>
        </p:spPr>
        <p:txBody>
          <a:bodyPr wrap="square" rtlCol="0">
            <a:spAutoFit/>
          </a:bodyPr>
          <a:lstStyle/>
          <a:p>
            <a:pPr lvl="0">
              <a:lnSpc>
                <a:spcPct val="130000"/>
              </a:lnSpc>
              <a:defRPr/>
            </a:pPr>
            <a:r>
              <a:rPr lang="zh-CN" altLang="en-US" sz="1600" dirty="0">
                <a:solidFill>
                  <a:srgbClr val="51597B"/>
                </a:solidFill>
                <a:latin typeface="KaiTi" panose="02010609060101010101" pitchFamily="49" charset="-122"/>
                <a:ea typeface="KaiTi" panose="02010609060101010101" pitchFamily="49" charset="-122"/>
                <a:cs typeface="+mn-ea"/>
                <a:sym typeface="+mn-lt"/>
              </a:rPr>
              <a:t>在一个价格运动当中，如果其包含的波峰和波谷都相应的高于前一个波峰和波谷，那么就称为上涨趋势；相反的，如果其包含的波峰和波谷都低于前一个波峰和波谷，那么就称为下跌趋势；趋势投资者借助我们</a:t>
            </a:r>
            <a:r>
              <a:rPr lang="zh-Hans" altLang="en-US" sz="1600" dirty="0">
                <a:solidFill>
                  <a:srgbClr val="51597B"/>
                </a:solidFill>
                <a:latin typeface="KaiTi" panose="02010609060101010101" pitchFamily="49" charset="-122"/>
                <a:ea typeface="KaiTi" panose="02010609060101010101" pitchFamily="49" charset="-122"/>
                <a:cs typeface="+mn-ea"/>
                <a:sym typeface="+mn-lt"/>
              </a:rPr>
              <a:t>的大数据形态信号的统计</a:t>
            </a:r>
            <a:r>
              <a:rPr lang="zh-CN" altLang="en-US" sz="1600" dirty="0">
                <a:solidFill>
                  <a:srgbClr val="51597B"/>
                </a:solidFill>
                <a:latin typeface="KaiTi" panose="02010609060101010101" pitchFamily="49" charset="-122"/>
                <a:ea typeface="KaiTi" panose="02010609060101010101" pitchFamily="49" charset="-122"/>
                <a:cs typeface="+mn-ea"/>
                <a:sym typeface="+mn-lt"/>
              </a:rPr>
              <a:t>再结合</a:t>
            </a:r>
            <a:r>
              <a:rPr lang="en-US" altLang="zh-CN" sz="1600" dirty="0">
                <a:solidFill>
                  <a:srgbClr val="51597B"/>
                </a:solidFill>
                <a:latin typeface="KaiTi" panose="02010609060101010101" pitchFamily="49" charset="-122"/>
                <a:ea typeface="KaiTi" panose="02010609060101010101" pitchFamily="49" charset="-122"/>
                <a:cs typeface="+mn-ea"/>
                <a:sym typeface="+mn-lt"/>
              </a:rPr>
              <a:t>FDT</a:t>
            </a:r>
            <a:r>
              <a:rPr lang="zh-Hans" altLang="en-US" sz="1600" dirty="0">
                <a:solidFill>
                  <a:srgbClr val="51597B"/>
                </a:solidFill>
                <a:latin typeface="KaiTi" panose="02010609060101010101" pitchFamily="49" charset="-122"/>
                <a:ea typeface="KaiTi" panose="02010609060101010101" pitchFamily="49" charset="-122"/>
                <a:cs typeface="+mn-ea"/>
                <a:sym typeface="+mn-lt"/>
              </a:rPr>
              <a:t>自营交易团队</a:t>
            </a:r>
            <a:r>
              <a:rPr lang="zh-CN" altLang="en-US" sz="1600" dirty="0">
                <a:solidFill>
                  <a:srgbClr val="51597B"/>
                </a:solidFill>
                <a:latin typeface="KaiTi" panose="02010609060101010101" pitchFamily="49" charset="-122"/>
                <a:ea typeface="KaiTi" panose="02010609060101010101" pitchFamily="49" charset="-122"/>
                <a:cs typeface="+mn-ea"/>
                <a:sym typeface="+mn-lt"/>
              </a:rPr>
              <a:t>对买卖盘口的盘感</a:t>
            </a:r>
            <a:r>
              <a:rPr lang="zh-Hans" altLang="en-US" sz="1600" dirty="0">
                <a:solidFill>
                  <a:srgbClr val="51597B"/>
                </a:solidFill>
                <a:latin typeface="KaiTi" panose="02010609060101010101" pitchFamily="49" charset="-122"/>
                <a:ea typeface="KaiTi" panose="02010609060101010101" pitchFamily="49" charset="-122"/>
                <a:cs typeface="+mn-ea"/>
                <a:sym typeface="+mn-lt"/>
              </a:rPr>
              <a:t>经验判断为用户提供有效的</a:t>
            </a:r>
            <a:r>
              <a:rPr lang="zh-CN" altLang="en-US" sz="1600" dirty="0">
                <a:solidFill>
                  <a:srgbClr val="51597B"/>
                </a:solidFill>
                <a:latin typeface="KaiTi" panose="02010609060101010101" pitchFamily="49" charset="-122"/>
                <a:ea typeface="KaiTi" panose="02010609060101010101" pitchFamily="49" charset="-122"/>
                <a:cs typeface="+mn-ea"/>
                <a:sym typeface="+mn-lt"/>
              </a:rPr>
              <a:t>买卖</a:t>
            </a:r>
            <a:r>
              <a:rPr lang="zh-Hans" altLang="en-US" sz="1600" dirty="0">
                <a:solidFill>
                  <a:srgbClr val="51597B"/>
                </a:solidFill>
                <a:latin typeface="KaiTi" panose="02010609060101010101" pitchFamily="49" charset="-122"/>
                <a:ea typeface="KaiTi" panose="02010609060101010101" pitchFamily="49" charset="-122"/>
                <a:cs typeface="+mn-ea"/>
                <a:sym typeface="+mn-lt"/>
              </a:rPr>
              <a:t>点</a:t>
            </a:r>
            <a:endParaRPr lang="zh-CN" altLang="en-US" sz="1600" dirty="0">
              <a:solidFill>
                <a:srgbClr val="51597B"/>
              </a:solidFill>
              <a:latin typeface="KaiTi" panose="02010609060101010101" pitchFamily="49" charset="-122"/>
              <a:ea typeface="KaiTi" panose="02010609060101010101" pitchFamily="49" charset="-122"/>
              <a:cs typeface="+mn-ea"/>
              <a:sym typeface="+mn-lt"/>
            </a:endParaRPr>
          </a:p>
        </p:txBody>
      </p:sp>
      <p:sp>
        <p:nvSpPr>
          <p:cNvPr id="17" name="Shape 322">
            <a:extLst>
              <a:ext uri="{FF2B5EF4-FFF2-40B4-BE49-F238E27FC236}">
                <a16:creationId xmlns:a16="http://schemas.microsoft.com/office/drawing/2014/main" id="{D951887D-80A5-DD49-AE88-0A7A4E094013}"/>
              </a:ext>
            </a:extLst>
          </p:cNvPr>
          <p:cNvSpPr/>
          <p:nvPr/>
        </p:nvSpPr>
        <p:spPr>
          <a:xfrm>
            <a:off x="675358" y="228069"/>
            <a:ext cx="9793766" cy="768541"/>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择时信号</a:t>
            </a:r>
            <a:endParaRPr sz="3600" dirty="0">
              <a:solidFill>
                <a:schemeClr val="tx1"/>
              </a:solidFill>
              <a:latin typeface="KaiTi" charset="-122"/>
              <a:ea typeface="KaiTi" charset="-122"/>
              <a:cs typeface="KaiTi" charset="-122"/>
            </a:endParaRPr>
          </a:p>
        </p:txBody>
      </p:sp>
      <p:sp>
        <p:nvSpPr>
          <p:cNvPr id="22" name="矩形 21">
            <a:extLst>
              <a:ext uri="{FF2B5EF4-FFF2-40B4-BE49-F238E27FC236}">
                <a16:creationId xmlns:a16="http://schemas.microsoft.com/office/drawing/2014/main" id="{7DA88535-1A5D-AC48-9CAA-70A00F6D2CEE}"/>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8848035-7FE5-3544-847A-12B65A29358A}"/>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3">
            <a:extLst>
              <a:ext uri="{FF2B5EF4-FFF2-40B4-BE49-F238E27FC236}">
                <a16:creationId xmlns:a16="http://schemas.microsoft.com/office/drawing/2014/main" id="{DC380ACD-CAA3-5D46-B566-69C0C4F1CC3A}"/>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7</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3323275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12085"/>
            <a:ext cx="12192000" cy="145915"/>
          </a:xfrm>
          <a:prstGeom prst="rect">
            <a:avLst/>
          </a:prstGeom>
          <a:solidFill>
            <a:srgbClr val="515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solidFill>
                <a:schemeClr val="bg1"/>
              </a:solidFill>
              <a:latin typeface="KaiTi" panose="02010609060101010101" pitchFamily="49" charset="-122"/>
              <a:ea typeface="KaiTi" panose="02010609060101010101" pitchFamily="49" charset="-122"/>
            </a:endParaRPr>
          </a:p>
        </p:txBody>
      </p:sp>
      <p:sp>
        <p:nvSpPr>
          <p:cNvPr id="3" name="矩形 2"/>
          <p:cNvSpPr/>
          <p:nvPr/>
        </p:nvSpPr>
        <p:spPr>
          <a:xfrm>
            <a:off x="909645" y="2644760"/>
            <a:ext cx="3187244" cy="2287870"/>
          </a:xfrm>
          <a:prstGeom prst="rect">
            <a:avLst/>
          </a:prstGeom>
        </p:spPr>
        <p:txBody>
          <a:bodyPr wrap="square">
            <a:spAutoFit/>
          </a:bodyPr>
          <a:lstStyle/>
          <a:p>
            <a:endParaRPr lang="en-US" altLang="zh-CN" sz="1467" dirty="0">
              <a:solidFill>
                <a:srgbClr val="535353"/>
              </a:solidFill>
              <a:latin typeface="KaiTi" panose="02010609060101010101" pitchFamily="49" charset="-122"/>
              <a:ea typeface="KaiTi" panose="02010609060101010101" pitchFamily="49" charset="-122"/>
              <a:cs typeface="KaiTi" charset="-122"/>
            </a:endParaRPr>
          </a:p>
          <a:p>
            <a:r>
              <a:rPr lang="zh-CN" altLang="en-US" sz="1600" dirty="0">
                <a:solidFill>
                  <a:srgbClr val="51597B"/>
                </a:solidFill>
                <a:latin typeface="KaiTi" panose="02010609060101010101" pitchFamily="49" charset="-122"/>
                <a:ea typeface="KaiTi" panose="02010609060101010101" pitchFamily="49" charset="-122"/>
                <a:cs typeface="+mn-ea"/>
              </a:rPr>
              <a:t>目前的券商</a:t>
            </a:r>
            <a:r>
              <a:rPr lang="en-US" altLang="zh-CN" sz="1600" dirty="0">
                <a:solidFill>
                  <a:srgbClr val="51597B"/>
                </a:solidFill>
                <a:latin typeface="KaiTi" panose="02010609060101010101" pitchFamily="49" charset="-122"/>
                <a:ea typeface="KaiTi" panose="02010609060101010101" pitchFamily="49" charset="-122"/>
                <a:cs typeface="+mn-ea"/>
              </a:rPr>
              <a:t>APP</a:t>
            </a:r>
            <a:r>
              <a:rPr lang="zh-CN" altLang="en-US" sz="1600" dirty="0">
                <a:solidFill>
                  <a:srgbClr val="51597B"/>
                </a:solidFill>
                <a:latin typeface="KaiTi" panose="02010609060101010101" pitchFamily="49" charset="-122"/>
                <a:ea typeface="KaiTi" panose="02010609060101010101" pitchFamily="49" charset="-122"/>
                <a:cs typeface="+mn-ea"/>
              </a:rPr>
              <a:t>上几乎没有针对投资者投中的投资和风控动态提醒，让投资者能够及时止盈止损。</a:t>
            </a:r>
            <a:r>
              <a:rPr lang="zh-Hans" altLang="en-US" sz="1600" dirty="0">
                <a:solidFill>
                  <a:srgbClr val="51597B"/>
                </a:solidFill>
                <a:latin typeface="KaiTi" panose="02010609060101010101" pitchFamily="49" charset="-122"/>
                <a:ea typeface="KaiTi" panose="02010609060101010101" pitchFamily="49" charset="-122"/>
                <a:cs typeface="+mn-ea"/>
              </a:rPr>
              <a:t>用户在持仓的时候有时候无法发现股价变动过程中的各种因素变化带来的多空方向逆转，需要在股价变化过程中给予信号的提醒，方便用户及时止盈止损</a:t>
            </a:r>
            <a:endParaRPr lang="zh-SG" altLang="en-US" sz="1600" dirty="0">
              <a:solidFill>
                <a:srgbClr val="51597B"/>
              </a:solidFill>
              <a:latin typeface="KaiTi" panose="02010609060101010101" pitchFamily="49" charset="-122"/>
              <a:ea typeface="KaiTi" panose="02010609060101010101" pitchFamily="49" charset="-122"/>
              <a:cs typeface="+mn-ea"/>
            </a:endParaRPr>
          </a:p>
        </p:txBody>
      </p:sp>
      <p:pic>
        <p:nvPicPr>
          <p:cNvPr id="5" name="图片 4">
            <a:extLst>
              <a:ext uri="{FF2B5EF4-FFF2-40B4-BE49-F238E27FC236}">
                <a16:creationId xmlns:a16="http://schemas.microsoft.com/office/drawing/2014/main" id="{DEADD30F-3A58-BC49-9253-A0720D490B43}"/>
              </a:ext>
            </a:extLst>
          </p:cNvPr>
          <p:cNvPicPr>
            <a:picLocks noChangeAspect="1"/>
          </p:cNvPicPr>
          <p:nvPr/>
        </p:nvPicPr>
        <p:blipFill>
          <a:blip r:embed="rId2"/>
          <a:stretch>
            <a:fillRect/>
          </a:stretch>
        </p:blipFill>
        <p:spPr>
          <a:xfrm>
            <a:off x="4087091" y="1474701"/>
            <a:ext cx="7149671" cy="4013200"/>
          </a:xfrm>
          <a:prstGeom prst="rect">
            <a:avLst/>
          </a:prstGeom>
        </p:spPr>
      </p:pic>
      <p:sp>
        <p:nvSpPr>
          <p:cNvPr id="10" name="TextBox 13">
            <a:extLst>
              <a:ext uri="{FF2B5EF4-FFF2-40B4-BE49-F238E27FC236}">
                <a16:creationId xmlns:a16="http://schemas.microsoft.com/office/drawing/2014/main" id="{EF5D1851-7CEF-1647-AF60-DD997D2356EA}"/>
              </a:ext>
            </a:extLst>
          </p:cNvPr>
          <p:cNvSpPr txBox="1"/>
          <p:nvPr/>
        </p:nvSpPr>
        <p:spPr>
          <a:xfrm>
            <a:off x="999956" y="1723683"/>
            <a:ext cx="1550424" cy="502766"/>
          </a:xfrm>
          <a:prstGeom prst="rect">
            <a:avLst/>
          </a:prstGeom>
          <a:noFill/>
        </p:spPr>
        <p:txBody>
          <a:bodyPr wrap="none" rtlCol="0">
            <a:spAutoFit/>
          </a:bodyPr>
          <a:lstStyle/>
          <a:p>
            <a:r>
              <a:rPr lang="zh-Hans" altLang="en-US" sz="2667" dirty="0">
                <a:solidFill>
                  <a:srgbClr val="51597B"/>
                </a:solidFill>
                <a:latin typeface="KaiTi" panose="02010609060101010101" pitchFamily="49" charset="-122"/>
                <a:ea typeface="KaiTi" panose="02010609060101010101" pitchFamily="49" charset="-122"/>
                <a:cs typeface="+mn-ea"/>
                <a:sym typeface="+mn-lt"/>
              </a:rPr>
              <a:t>盯盘提醒</a:t>
            </a:r>
            <a:endParaRPr lang="zh-CN" altLang="en-US" sz="2667" dirty="0">
              <a:solidFill>
                <a:srgbClr val="51597B"/>
              </a:solidFill>
              <a:latin typeface="KaiTi" panose="02010609060101010101" pitchFamily="49" charset="-122"/>
              <a:ea typeface="KaiTi" panose="02010609060101010101" pitchFamily="49" charset="-122"/>
              <a:cs typeface="+mn-ea"/>
              <a:sym typeface="+mn-lt"/>
            </a:endParaRPr>
          </a:p>
        </p:txBody>
      </p:sp>
      <p:sp>
        <p:nvSpPr>
          <p:cNvPr id="11" name="Shape 322">
            <a:extLst>
              <a:ext uri="{FF2B5EF4-FFF2-40B4-BE49-F238E27FC236}">
                <a16:creationId xmlns:a16="http://schemas.microsoft.com/office/drawing/2014/main" id="{0D25D0DC-6AAA-CB44-94CF-D5989F1B1852}"/>
              </a:ext>
            </a:extLst>
          </p:cNvPr>
          <p:cNvSpPr/>
          <p:nvPr/>
        </p:nvSpPr>
        <p:spPr>
          <a:xfrm>
            <a:off x="675358" y="272215"/>
            <a:ext cx="9793766" cy="680248"/>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智能盯盘</a:t>
            </a:r>
            <a:endParaRPr sz="3600" dirty="0">
              <a:solidFill>
                <a:schemeClr val="tx1"/>
              </a:solidFill>
              <a:latin typeface="KaiTi" charset="-122"/>
              <a:ea typeface="KaiTi" charset="-122"/>
              <a:cs typeface="KaiTi" charset="-122"/>
            </a:endParaRPr>
          </a:p>
        </p:txBody>
      </p:sp>
      <p:sp>
        <p:nvSpPr>
          <p:cNvPr id="12" name="矩形 11">
            <a:extLst>
              <a:ext uri="{FF2B5EF4-FFF2-40B4-BE49-F238E27FC236}">
                <a16:creationId xmlns:a16="http://schemas.microsoft.com/office/drawing/2014/main" id="{13F3BD0C-2156-FF47-819E-DE5E1E360A63}"/>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2E4738F-3FDE-EC4D-9929-15434ACD90B6}"/>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灯片编号占位符 3">
            <a:extLst>
              <a:ext uri="{FF2B5EF4-FFF2-40B4-BE49-F238E27FC236}">
                <a16:creationId xmlns:a16="http://schemas.microsoft.com/office/drawing/2014/main" id="{350B6AA1-604C-8749-B5C2-A79186507051}"/>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8</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181103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12085"/>
            <a:ext cx="12192000" cy="145915"/>
          </a:xfrm>
          <a:prstGeom prst="rect">
            <a:avLst/>
          </a:prstGeom>
          <a:solidFill>
            <a:srgbClr val="515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solidFill>
                <a:schemeClr val="bg1"/>
              </a:solidFill>
              <a:latin typeface="KaiTi" panose="02010609060101010101" pitchFamily="49" charset="-122"/>
              <a:ea typeface="KaiTi" panose="02010609060101010101" pitchFamily="49" charset="-122"/>
            </a:endParaRPr>
          </a:p>
        </p:txBody>
      </p:sp>
      <p:sp>
        <p:nvSpPr>
          <p:cNvPr id="15" name="TextBox 13"/>
          <p:cNvSpPr txBox="1"/>
          <p:nvPr/>
        </p:nvSpPr>
        <p:spPr>
          <a:xfrm>
            <a:off x="7978084" y="1683501"/>
            <a:ext cx="1550424" cy="502766"/>
          </a:xfrm>
          <a:prstGeom prst="rect">
            <a:avLst/>
          </a:prstGeom>
          <a:noFill/>
        </p:spPr>
        <p:txBody>
          <a:bodyPr wrap="none" rtlCol="0">
            <a:spAutoFit/>
          </a:bodyPr>
          <a:lstStyle/>
          <a:p>
            <a:r>
              <a:rPr lang="zh-Hans" altLang="en-US" sz="2667" dirty="0">
                <a:solidFill>
                  <a:srgbClr val="51597B"/>
                </a:solidFill>
                <a:latin typeface="KaiTi" panose="02010609060101010101" pitchFamily="49" charset="-122"/>
                <a:ea typeface="KaiTi" panose="02010609060101010101" pitchFamily="49" charset="-122"/>
                <a:cs typeface="+mn-ea"/>
                <a:sym typeface="+mn-lt"/>
              </a:rPr>
              <a:t>复盘分析</a:t>
            </a:r>
            <a:endParaRPr lang="zh-CN" altLang="en-US" sz="2667" b="1" dirty="0">
              <a:solidFill>
                <a:srgbClr val="51597B"/>
              </a:solidFill>
              <a:latin typeface="KaiTi" panose="02010609060101010101" pitchFamily="49" charset="-122"/>
              <a:ea typeface="KaiTi" panose="02010609060101010101" pitchFamily="49" charset="-122"/>
              <a:cs typeface="+mn-ea"/>
              <a:sym typeface="+mn-lt"/>
            </a:endParaRPr>
          </a:p>
        </p:txBody>
      </p:sp>
      <p:sp>
        <p:nvSpPr>
          <p:cNvPr id="16" name="TextBox 16"/>
          <p:cNvSpPr txBox="1"/>
          <p:nvPr/>
        </p:nvSpPr>
        <p:spPr>
          <a:xfrm>
            <a:off x="7978084" y="2305882"/>
            <a:ext cx="3587341" cy="2946512"/>
          </a:xfrm>
          <a:prstGeom prst="rect">
            <a:avLst/>
          </a:prstGeom>
          <a:noFill/>
        </p:spPr>
        <p:txBody>
          <a:bodyPr wrap="square" rtlCol="0">
            <a:spAutoFit/>
          </a:bodyPr>
          <a:lstStyle/>
          <a:p>
            <a:pPr>
              <a:lnSpc>
                <a:spcPct val="130000"/>
              </a:lnSpc>
              <a:defRPr/>
            </a:pPr>
            <a:endParaRPr lang="en-US" altLang="zh-CN" sz="1467" dirty="0">
              <a:solidFill>
                <a:srgbClr val="535353"/>
              </a:solidFill>
              <a:latin typeface="KaiTi" panose="02010609060101010101" pitchFamily="49" charset="-122"/>
              <a:ea typeface="KaiTi" panose="02010609060101010101" pitchFamily="49" charset="-122"/>
              <a:cs typeface="KaiTi" charset="-122"/>
            </a:endParaRPr>
          </a:p>
          <a:p>
            <a:pPr>
              <a:lnSpc>
                <a:spcPct val="130000"/>
              </a:lnSpc>
              <a:defRPr/>
            </a:pPr>
            <a:r>
              <a:rPr lang="zh-CN" altLang="en-US" sz="1600" dirty="0">
                <a:solidFill>
                  <a:srgbClr val="51597B"/>
                </a:solidFill>
                <a:latin typeface="KaiTi" panose="02010609060101010101" pitchFamily="49" charset="-122"/>
                <a:ea typeface="KaiTi" panose="02010609060101010101" pitchFamily="49" charset="-122"/>
                <a:cs typeface="+mn-ea"/>
              </a:rPr>
              <a:t>目前大部分投资者都缺乏专业的投资点评，投资之后也没有进行复盘总结，自己的操作存在哪些问题，有哪些可以改善的地方，应该从哪里提升，这些都没有人给出答案，</a:t>
            </a:r>
            <a:r>
              <a:rPr lang="zh-Hans" altLang="en-US" sz="1600" dirty="0">
                <a:solidFill>
                  <a:srgbClr val="51597B"/>
                </a:solidFill>
                <a:latin typeface="KaiTi" panose="02010609060101010101" pitchFamily="49" charset="-122"/>
                <a:ea typeface="KaiTi" panose="02010609060101010101" pitchFamily="49" charset="-122"/>
                <a:cs typeface="+mn-ea"/>
              </a:rPr>
              <a:t>复盘分析功能可以</a:t>
            </a:r>
            <a:r>
              <a:rPr lang="zh-CN" altLang="zh-CN" sz="1600" dirty="0">
                <a:solidFill>
                  <a:srgbClr val="51597B"/>
                </a:solidFill>
                <a:latin typeface="KaiTi" panose="02010609060101010101" pitchFamily="49" charset="-122"/>
                <a:ea typeface="KaiTi" panose="02010609060101010101" pitchFamily="49" charset="-122"/>
                <a:cs typeface="+mn-ea"/>
              </a:rPr>
              <a:t>根据投资者的历史交易记录生成形态操作画像，并结合形态分析详情为投资者提供</a:t>
            </a:r>
            <a:r>
              <a:rPr lang="zh-Hans" altLang="en-US" sz="1600" dirty="0">
                <a:solidFill>
                  <a:srgbClr val="51597B"/>
                </a:solidFill>
                <a:latin typeface="KaiTi" panose="02010609060101010101" pitchFamily="49" charset="-122"/>
                <a:ea typeface="KaiTi" panose="02010609060101010101" pitchFamily="49" charset="-122"/>
                <a:cs typeface="+mn-ea"/>
              </a:rPr>
              <a:t>及时全面的</a:t>
            </a:r>
            <a:r>
              <a:rPr lang="zh-CN" altLang="zh-CN" sz="1600" dirty="0">
                <a:solidFill>
                  <a:srgbClr val="51597B"/>
                </a:solidFill>
                <a:latin typeface="KaiTi" panose="02010609060101010101" pitchFamily="49" charset="-122"/>
                <a:ea typeface="KaiTi" panose="02010609060101010101" pitchFamily="49" charset="-122"/>
                <a:cs typeface="+mn-ea"/>
              </a:rPr>
              <a:t>复盘分析</a:t>
            </a:r>
            <a:endParaRPr lang="zh-CN" altLang="en-US" sz="1600" dirty="0">
              <a:solidFill>
                <a:srgbClr val="51597B"/>
              </a:solidFill>
              <a:latin typeface="KaiTi" panose="02010609060101010101" pitchFamily="49" charset="-122"/>
              <a:ea typeface="KaiTi" panose="02010609060101010101" pitchFamily="49" charset="-122"/>
              <a:cs typeface="+mn-ea"/>
              <a:sym typeface="+mn-lt"/>
            </a:endParaRPr>
          </a:p>
        </p:txBody>
      </p:sp>
      <p:pic>
        <p:nvPicPr>
          <p:cNvPr id="10" name="图片 9">
            <a:extLst>
              <a:ext uri="{FF2B5EF4-FFF2-40B4-BE49-F238E27FC236}">
                <a16:creationId xmlns:a16="http://schemas.microsoft.com/office/drawing/2014/main" id="{1EA0CE8E-1FB6-FD47-B835-33F5BD589DA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207924" y="2305881"/>
            <a:ext cx="2361243" cy="3451981"/>
          </a:xfrm>
          <a:prstGeom prst="rect">
            <a:avLst/>
          </a:prstGeom>
          <a:noFill/>
          <a:ln>
            <a:noFill/>
          </a:ln>
        </p:spPr>
      </p:pic>
      <p:pic>
        <p:nvPicPr>
          <p:cNvPr id="11" name="图片 10">
            <a:extLst>
              <a:ext uri="{FF2B5EF4-FFF2-40B4-BE49-F238E27FC236}">
                <a16:creationId xmlns:a16="http://schemas.microsoft.com/office/drawing/2014/main" id="{41876035-64CC-DB4D-9F46-36E4148C6FE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061982" y="2305880"/>
            <a:ext cx="2324531" cy="3451982"/>
          </a:xfrm>
          <a:prstGeom prst="rect">
            <a:avLst/>
          </a:prstGeom>
          <a:noFill/>
          <a:ln>
            <a:noFill/>
          </a:ln>
        </p:spPr>
      </p:pic>
      <p:sp>
        <p:nvSpPr>
          <p:cNvPr id="12" name="Shape 322">
            <a:extLst>
              <a:ext uri="{FF2B5EF4-FFF2-40B4-BE49-F238E27FC236}">
                <a16:creationId xmlns:a16="http://schemas.microsoft.com/office/drawing/2014/main" id="{4DE59245-FCF3-EA44-BFD2-49AA17C0A503}"/>
              </a:ext>
            </a:extLst>
          </p:cNvPr>
          <p:cNvSpPr/>
          <p:nvPr/>
        </p:nvSpPr>
        <p:spPr>
          <a:xfrm>
            <a:off x="675358" y="272215"/>
            <a:ext cx="9793766" cy="680248"/>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智能形态分析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复盘分析</a:t>
            </a:r>
            <a:endParaRPr sz="3600" dirty="0">
              <a:solidFill>
                <a:schemeClr val="tx1"/>
              </a:solidFill>
              <a:latin typeface="KaiTi" charset="-122"/>
              <a:ea typeface="KaiTi" charset="-122"/>
              <a:cs typeface="KaiTi" charset="-122"/>
            </a:endParaRPr>
          </a:p>
        </p:txBody>
      </p:sp>
      <p:sp>
        <p:nvSpPr>
          <p:cNvPr id="13" name="矩形 12">
            <a:extLst>
              <a:ext uri="{FF2B5EF4-FFF2-40B4-BE49-F238E27FC236}">
                <a16:creationId xmlns:a16="http://schemas.microsoft.com/office/drawing/2014/main" id="{5FA32013-571E-BF41-99AB-FAEC1559D02E}"/>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85A72A38-ED61-3A4D-B876-6E316D384C11}"/>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灯片编号占位符 3">
            <a:extLst>
              <a:ext uri="{FF2B5EF4-FFF2-40B4-BE49-F238E27FC236}">
                <a16:creationId xmlns:a16="http://schemas.microsoft.com/office/drawing/2014/main" id="{C6EAD6E4-F1E4-D743-A8EA-DB713EAFFAAB}"/>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9</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337132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816080"/>
            <a:ext cx="7935192" cy="608099"/>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Hans" altLang="en-US" sz="3600" dirty="0">
                <a:solidFill>
                  <a:schemeClr val="bg1"/>
                </a:solidFill>
              </a:rPr>
              <a:t>智能形态分析后期规划</a:t>
            </a:r>
            <a:endParaRPr lang="en-US" altLang="zh-CN"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灯片编号占位符 3">
            <a:extLst>
              <a:ext uri="{FF2B5EF4-FFF2-40B4-BE49-F238E27FC236}">
                <a16:creationId xmlns:a16="http://schemas.microsoft.com/office/drawing/2014/main" id="{B391733F-4E3F-2D4A-9C6C-1F6AB2CCED11}"/>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10</a:t>
            </a:fld>
            <a:endParaRPr lang="zh-CN" altLang="en-US" dirty="0"/>
          </a:p>
        </p:txBody>
      </p:sp>
    </p:spTree>
    <p:extLst>
      <p:ext uri="{BB962C8B-B14F-4D97-AF65-F5344CB8AC3E}">
        <p14:creationId xmlns:p14="http://schemas.microsoft.com/office/powerpoint/2010/main" val="398772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657448" y="274314"/>
            <a:ext cx="8057348" cy="646331"/>
          </a:xfrm>
          <a:prstGeom prst="rect">
            <a:avLst/>
          </a:prstGeom>
          <a:noFill/>
        </p:spPr>
        <p:txBody>
          <a:bodyPr wrap="square" rtlCol="0">
            <a:spAutoFit/>
          </a:bodyPr>
          <a:lstStyle/>
          <a:p>
            <a:pPr lvl="0">
              <a:defRPr sz="1800">
                <a:solidFill>
                  <a:srgbClr val="000000"/>
                </a:solidFill>
              </a:defRPr>
            </a:pPr>
            <a:r>
              <a:rPr lang="zh-CN" altLang="en-US" sz="3600" dirty="0">
                <a:solidFill>
                  <a:schemeClr val="tx2">
                    <a:lumMod val="10000"/>
                  </a:schemeClr>
                </a:solidFill>
                <a:latin typeface="KaiTi" panose="02010609060101010101" pitchFamily="49" charset="-122"/>
                <a:ea typeface="KaiTi" panose="02010609060101010101" pitchFamily="49" charset="-122"/>
                <a:cs typeface="PingFang SC" charset="-122"/>
              </a:rPr>
              <a:t>智能形态分析（</a:t>
            </a:r>
            <a:r>
              <a:rPr lang="zh-Hans" altLang="en-US" sz="3600" dirty="0">
                <a:solidFill>
                  <a:schemeClr val="tx2">
                    <a:lumMod val="10000"/>
                  </a:schemeClr>
                </a:solidFill>
                <a:latin typeface="KaiTi" panose="02010609060101010101" pitchFamily="49" charset="-122"/>
                <a:ea typeface="KaiTi" panose="02010609060101010101" pitchFamily="49" charset="-122"/>
                <a:cs typeface="PingFang SC" charset="-122"/>
              </a:rPr>
              <a:t>功能扩展）</a:t>
            </a:r>
            <a:endParaRPr lang="zh-CN" altLang="en-US" sz="3600"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0" name="Shape 323">
            <a:extLst>
              <a:ext uri="{FF2B5EF4-FFF2-40B4-BE49-F238E27FC236}">
                <a16:creationId xmlns:a16="http://schemas.microsoft.com/office/drawing/2014/main" id="{AA254311-B20B-420E-BEF7-507392106781}"/>
              </a:ext>
            </a:extLst>
          </p:cNvPr>
          <p:cNvSpPr/>
          <p:nvPr/>
        </p:nvSpPr>
        <p:spPr>
          <a:xfrm>
            <a:off x="1290519"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1" name="Shape 324">
            <a:extLst>
              <a:ext uri="{FF2B5EF4-FFF2-40B4-BE49-F238E27FC236}">
                <a16:creationId xmlns:a16="http://schemas.microsoft.com/office/drawing/2014/main" id="{03B701C2-465A-4274-8929-FEABD186AF0E}"/>
              </a:ext>
            </a:extLst>
          </p:cNvPr>
          <p:cNvSpPr/>
          <p:nvPr/>
        </p:nvSpPr>
        <p:spPr>
          <a:xfrm>
            <a:off x="1290519"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5D9CE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2" name="Shape 325">
            <a:extLst>
              <a:ext uri="{FF2B5EF4-FFF2-40B4-BE49-F238E27FC236}">
                <a16:creationId xmlns:a16="http://schemas.microsoft.com/office/drawing/2014/main" id="{E4E3B286-BB7F-4FA3-94EE-027822807B59}"/>
              </a:ext>
            </a:extLst>
          </p:cNvPr>
          <p:cNvSpPr/>
          <p:nvPr/>
        </p:nvSpPr>
        <p:spPr>
          <a:xfrm>
            <a:off x="3229741" y="2439394"/>
            <a:ext cx="1603067"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3" name="Shape 326">
            <a:extLst>
              <a:ext uri="{FF2B5EF4-FFF2-40B4-BE49-F238E27FC236}">
                <a16:creationId xmlns:a16="http://schemas.microsoft.com/office/drawing/2014/main" id="{013822AE-603F-453D-8147-D1575E33D763}"/>
              </a:ext>
            </a:extLst>
          </p:cNvPr>
          <p:cNvSpPr/>
          <p:nvPr/>
        </p:nvSpPr>
        <p:spPr>
          <a:xfrm>
            <a:off x="3229741" y="2439394"/>
            <a:ext cx="1603067"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01455C"/>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4" name="Shape 327">
            <a:extLst>
              <a:ext uri="{FF2B5EF4-FFF2-40B4-BE49-F238E27FC236}">
                <a16:creationId xmlns:a16="http://schemas.microsoft.com/office/drawing/2014/main" id="{60856553-C284-469D-9963-C0751FBE1D87}"/>
              </a:ext>
            </a:extLst>
          </p:cNvPr>
          <p:cNvSpPr/>
          <p:nvPr/>
        </p:nvSpPr>
        <p:spPr>
          <a:xfrm>
            <a:off x="5168975" y="2439394"/>
            <a:ext cx="1599158"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26" y="0"/>
                </a:lnTo>
                <a:lnTo>
                  <a:pt x="21600" y="5343"/>
                </a:lnTo>
                <a:lnTo>
                  <a:pt x="21600" y="16166"/>
                </a:lnTo>
                <a:lnTo>
                  <a:pt x="10826"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5" name="Shape 328">
            <a:extLst>
              <a:ext uri="{FF2B5EF4-FFF2-40B4-BE49-F238E27FC236}">
                <a16:creationId xmlns:a16="http://schemas.microsoft.com/office/drawing/2014/main" id="{87C92509-5C99-4C07-A861-A53D1A74D267}"/>
              </a:ext>
            </a:extLst>
          </p:cNvPr>
          <p:cNvSpPr/>
          <p:nvPr/>
        </p:nvSpPr>
        <p:spPr>
          <a:xfrm>
            <a:off x="5168975" y="2439394"/>
            <a:ext cx="1599158"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26" y="0"/>
                </a:lnTo>
                <a:lnTo>
                  <a:pt x="21600" y="5343"/>
                </a:lnTo>
                <a:lnTo>
                  <a:pt x="21600" y="16166"/>
                </a:lnTo>
                <a:lnTo>
                  <a:pt x="10826" y="21600"/>
                </a:lnTo>
                <a:lnTo>
                  <a:pt x="0" y="16166"/>
                </a:lnTo>
                <a:lnTo>
                  <a:pt x="0" y="5343"/>
                </a:lnTo>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6" name="Shape 329">
            <a:extLst>
              <a:ext uri="{FF2B5EF4-FFF2-40B4-BE49-F238E27FC236}">
                <a16:creationId xmlns:a16="http://schemas.microsoft.com/office/drawing/2014/main" id="{4ED038C6-88CB-413D-A9ED-AF985A8068FC}"/>
              </a:ext>
            </a:extLst>
          </p:cNvPr>
          <p:cNvSpPr/>
          <p:nvPr/>
        </p:nvSpPr>
        <p:spPr>
          <a:xfrm>
            <a:off x="7136778"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7" name="Shape 330">
            <a:extLst>
              <a:ext uri="{FF2B5EF4-FFF2-40B4-BE49-F238E27FC236}">
                <a16:creationId xmlns:a16="http://schemas.microsoft.com/office/drawing/2014/main" id="{5C04A502-9494-4137-B4B5-DB6F86D576E3}"/>
              </a:ext>
            </a:extLst>
          </p:cNvPr>
          <p:cNvSpPr/>
          <p:nvPr/>
        </p:nvSpPr>
        <p:spPr>
          <a:xfrm>
            <a:off x="7136778"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F6C400"/>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68" name="Shape 331">
            <a:extLst>
              <a:ext uri="{FF2B5EF4-FFF2-40B4-BE49-F238E27FC236}">
                <a16:creationId xmlns:a16="http://schemas.microsoft.com/office/drawing/2014/main" id="{3E762073-0352-4A53-A04B-31BA63E01338}"/>
              </a:ext>
            </a:extLst>
          </p:cNvPr>
          <p:cNvSpPr/>
          <p:nvPr/>
        </p:nvSpPr>
        <p:spPr>
          <a:xfrm>
            <a:off x="1360947" y="2947387"/>
            <a:ext cx="1462208" cy="745845"/>
          </a:xfrm>
          <a:prstGeom prst="rect">
            <a:avLst/>
          </a:prstGeom>
          <a:ln w="12700">
            <a:miter lim="400000"/>
          </a:ln>
        </p:spPr>
        <p:txBody>
          <a:bodyPr lIns="0" tIns="0" rIns="0" bIns="0">
            <a:spAutoFit/>
          </a:bodyPr>
          <a:lstStyle>
            <a:lvl1pPr algn="ctr">
              <a:lnSpc>
                <a:spcPct val="120000"/>
              </a:lnSpc>
              <a:defRPr sz="2000">
                <a:solidFill>
                  <a:srgbClr val="FFFFFF"/>
                </a:solidFill>
              </a:defRPr>
            </a:lvl1pPr>
          </a:lstStyle>
          <a:p>
            <a:pPr lvl="0">
              <a:defRPr sz="1800">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历史形态</a:t>
            </a:r>
            <a:endParaRPr lang="en-US" altLang="zh-CN" sz="2000" dirty="0">
              <a:solidFill>
                <a:schemeClr val="bg1"/>
              </a:solidFill>
              <a:latin typeface="KaiTi" panose="02010609060101010101" pitchFamily="49" charset="-122"/>
              <a:ea typeface="KaiTi" panose="02010609060101010101" pitchFamily="49" charset="-122"/>
              <a:cs typeface="PingFang SC" charset="-122"/>
            </a:endParaRPr>
          </a:p>
          <a:p>
            <a:pPr lvl="0">
              <a:defRPr sz="1800">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分析</a:t>
            </a:r>
            <a:endParaRPr dirty="0">
              <a:solidFill>
                <a:schemeClr val="bg1"/>
              </a:solidFill>
              <a:latin typeface="KaiTi" panose="02010609060101010101" pitchFamily="49" charset="-122"/>
              <a:ea typeface="KaiTi" panose="02010609060101010101" pitchFamily="49" charset="-122"/>
              <a:cs typeface="PingFang SC" charset="-122"/>
            </a:endParaRPr>
          </a:p>
        </p:txBody>
      </p:sp>
      <p:sp>
        <p:nvSpPr>
          <p:cNvPr id="69" name="Shape 332">
            <a:extLst>
              <a:ext uri="{FF2B5EF4-FFF2-40B4-BE49-F238E27FC236}">
                <a16:creationId xmlns:a16="http://schemas.microsoft.com/office/drawing/2014/main" id="{5781928A-AE77-49A5-B068-80533F63DADF}"/>
              </a:ext>
            </a:extLst>
          </p:cNvPr>
          <p:cNvSpPr/>
          <p:nvPr/>
        </p:nvSpPr>
        <p:spPr>
          <a:xfrm>
            <a:off x="1466593" y="4062198"/>
            <a:ext cx="1462207" cy="2696123"/>
          </a:xfrm>
          <a:prstGeom prst="rect">
            <a:avLst/>
          </a:prstGeom>
          <a:ln w="12700">
            <a:miter lim="400000"/>
          </a:ln>
        </p:spPr>
        <p:txBody>
          <a:bodyPr wrap="square" lIns="0" tIns="0" rIns="0" bIns="0">
            <a:spAutoFit/>
          </a:bodyPr>
          <a:lstStyle/>
          <a:p>
            <a:pPr lvl="0">
              <a:lnSpc>
                <a:spcPct val="120000"/>
              </a:lnSpc>
              <a:defRPr>
                <a:solidFill>
                  <a:srgbClr val="000000"/>
                </a:solidFill>
              </a:defRPr>
            </a:pPr>
            <a:endParaRPr sz="2000"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历史行情数据中的形态分类汇总，</a:t>
            </a:r>
            <a:endParaRPr lang="en-US" altLang="zh-CN"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形态胜率统计，形态平均收益率统计</a:t>
            </a:r>
            <a:endParaRPr lang="en-US" altLang="zh-CN"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70" name="Shape 333">
            <a:extLst>
              <a:ext uri="{FF2B5EF4-FFF2-40B4-BE49-F238E27FC236}">
                <a16:creationId xmlns:a16="http://schemas.microsoft.com/office/drawing/2014/main" id="{1C5D66AB-2154-4CF6-AFBF-1CED1C1D9F31}"/>
              </a:ext>
            </a:extLst>
          </p:cNvPr>
          <p:cNvSpPr/>
          <p:nvPr/>
        </p:nvSpPr>
        <p:spPr>
          <a:xfrm>
            <a:off x="3224980" y="4460223"/>
            <a:ext cx="1612591" cy="1007520"/>
          </a:xfrm>
          <a:prstGeom prst="rect">
            <a:avLst/>
          </a:prstGeom>
          <a:ln w="12700">
            <a:miter lim="400000"/>
          </a:ln>
        </p:spPr>
        <p:txBody>
          <a:bodyPr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相似</a:t>
            </a:r>
            <a:r>
              <a:rPr lang="en-US" altLang="zh-CN" dirty="0">
                <a:solidFill>
                  <a:schemeClr val="tx2">
                    <a:lumMod val="10000"/>
                  </a:schemeClr>
                </a:solidFill>
                <a:latin typeface="KaiTi" panose="02010609060101010101" pitchFamily="49" charset="-122"/>
                <a:ea typeface="KaiTi" panose="02010609060101010101" pitchFamily="49" charset="-122"/>
                <a:cs typeface="PingFang SC" charset="-122"/>
              </a:rPr>
              <a:t>K</a:t>
            </a: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线识别</a:t>
            </a:r>
            <a:r>
              <a:rPr dirty="0">
                <a:solidFill>
                  <a:schemeClr val="tx2">
                    <a:lumMod val="10000"/>
                  </a:schemeClr>
                </a:solidFill>
                <a:latin typeface="KaiTi" panose="02010609060101010101" pitchFamily="49" charset="-122"/>
                <a:ea typeface="KaiTi" panose="02010609060101010101" pitchFamily="49" charset="-122"/>
                <a:cs typeface="PingFang SC" charset="-122"/>
              </a:rPr>
              <a:t>，</a:t>
            </a: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形态识别，</a:t>
            </a:r>
            <a:endParaRPr lang="en-US" altLang="zh-CN"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实时形态提醒</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71" name="Shape 334">
            <a:extLst>
              <a:ext uri="{FF2B5EF4-FFF2-40B4-BE49-F238E27FC236}">
                <a16:creationId xmlns:a16="http://schemas.microsoft.com/office/drawing/2014/main" id="{3259B1EE-255D-429B-977E-C97B536DF922}"/>
              </a:ext>
            </a:extLst>
          </p:cNvPr>
          <p:cNvSpPr/>
          <p:nvPr/>
        </p:nvSpPr>
        <p:spPr>
          <a:xfrm>
            <a:off x="3018151" y="2932147"/>
            <a:ext cx="1951055" cy="745845"/>
          </a:xfrm>
          <a:prstGeom prst="rect">
            <a:avLst/>
          </a:prstGeom>
          <a:ln w="12700">
            <a:miter lim="400000"/>
          </a:ln>
        </p:spPr>
        <p:txBody>
          <a:bodyPr lIns="0" tIns="0" rIns="0" bIns="0">
            <a:spAutoFit/>
          </a:bodyPr>
          <a:lstStyle/>
          <a:p>
            <a:pPr lvl="0" algn="ctr">
              <a:lnSpc>
                <a:spcPct val="120000"/>
              </a:lnSpc>
              <a:defRPr>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实时形态</a:t>
            </a:r>
            <a:endParaRPr lang="en-US" altLang="zh-CN" sz="2000"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识别</a:t>
            </a:r>
            <a:endParaRPr sz="2000" dirty="0">
              <a:solidFill>
                <a:schemeClr val="bg1"/>
              </a:solidFill>
              <a:latin typeface="KaiTi" panose="02010609060101010101" pitchFamily="49" charset="-122"/>
              <a:ea typeface="KaiTi" panose="02010609060101010101" pitchFamily="49" charset="-122"/>
              <a:cs typeface="PingFang SC" charset="-122"/>
            </a:endParaRPr>
          </a:p>
        </p:txBody>
      </p:sp>
      <p:sp>
        <p:nvSpPr>
          <p:cNvPr id="72" name="Shape 335">
            <a:extLst>
              <a:ext uri="{FF2B5EF4-FFF2-40B4-BE49-F238E27FC236}">
                <a16:creationId xmlns:a16="http://schemas.microsoft.com/office/drawing/2014/main" id="{8FD65266-5DF5-458E-9C76-3EAF546188A5}"/>
              </a:ext>
            </a:extLst>
          </p:cNvPr>
          <p:cNvSpPr/>
          <p:nvPr/>
        </p:nvSpPr>
        <p:spPr>
          <a:xfrm>
            <a:off x="5168975" y="4471783"/>
            <a:ext cx="1780739" cy="1329595"/>
          </a:xfrm>
          <a:prstGeom prst="rect">
            <a:avLst/>
          </a:prstGeom>
          <a:ln w="12700">
            <a:miter lim="400000"/>
          </a:ln>
        </p:spPr>
        <p:txBody>
          <a:bodyPr wrap="square"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形态信号提醒</a:t>
            </a:r>
            <a:r>
              <a:rPr dirty="0">
                <a:solidFill>
                  <a:schemeClr val="tx2">
                    <a:lumMod val="10000"/>
                  </a:schemeClr>
                </a:solidFill>
                <a:latin typeface="KaiTi" panose="02010609060101010101" pitchFamily="49" charset="-122"/>
                <a:ea typeface="KaiTi" panose="02010609060101010101" pitchFamily="49" charset="-122"/>
                <a:cs typeface="PingFang SC" charset="-122"/>
              </a:rPr>
              <a:t>，</a:t>
            </a:r>
            <a:endParaRPr lang="en-US"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形态有效性回测，</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形态信号预判</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73" name="Shape 336">
            <a:extLst>
              <a:ext uri="{FF2B5EF4-FFF2-40B4-BE49-F238E27FC236}">
                <a16:creationId xmlns:a16="http://schemas.microsoft.com/office/drawing/2014/main" id="{667808AF-A809-43AF-9869-B7506936E402}"/>
              </a:ext>
            </a:extLst>
          </p:cNvPr>
          <p:cNvSpPr/>
          <p:nvPr/>
        </p:nvSpPr>
        <p:spPr>
          <a:xfrm>
            <a:off x="4998659" y="2954568"/>
            <a:ext cx="1951055" cy="738664"/>
          </a:xfrm>
          <a:prstGeom prst="rect">
            <a:avLst/>
          </a:prstGeom>
          <a:ln w="12700">
            <a:miter lim="400000"/>
          </a:ln>
        </p:spPr>
        <p:txBody>
          <a:bodyPr lIns="0" tIns="0" rIns="0" bIns="0">
            <a:spAutoFit/>
          </a:bodyPr>
          <a:lstStyle>
            <a:lvl1pPr algn="ctr">
              <a:lnSpc>
                <a:spcPct val="120000"/>
              </a:lnSpc>
              <a:defRPr sz="2000">
                <a:solidFill>
                  <a:srgbClr val="FFFFFF"/>
                </a:solidFill>
              </a:defRPr>
            </a:lvl1pPr>
          </a:lstStyle>
          <a:p>
            <a:pPr lvl="0">
              <a:defRPr sz="1800">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形态信号</a:t>
            </a:r>
            <a:endParaRPr lang="en-US" altLang="zh-CN" sz="2000" dirty="0">
              <a:solidFill>
                <a:schemeClr val="bg1"/>
              </a:solidFill>
              <a:latin typeface="KaiTi" panose="02010609060101010101" pitchFamily="49" charset="-122"/>
              <a:ea typeface="KaiTi" panose="02010609060101010101" pitchFamily="49" charset="-122"/>
              <a:cs typeface="PingFang SC" charset="-122"/>
            </a:endParaRPr>
          </a:p>
          <a:p>
            <a:pPr lvl="0">
              <a:defRPr sz="1800">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预判</a:t>
            </a:r>
            <a:endParaRPr sz="2000" dirty="0">
              <a:solidFill>
                <a:schemeClr val="bg1"/>
              </a:solidFill>
              <a:latin typeface="KaiTi" panose="02010609060101010101" pitchFamily="49" charset="-122"/>
              <a:ea typeface="KaiTi" panose="02010609060101010101" pitchFamily="49" charset="-122"/>
              <a:cs typeface="PingFang SC" charset="-122"/>
            </a:endParaRPr>
          </a:p>
        </p:txBody>
      </p:sp>
      <p:sp>
        <p:nvSpPr>
          <p:cNvPr id="74" name="Shape 337">
            <a:extLst>
              <a:ext uri="{FF2B5EF4-FFF2-40B4-BE49-F238E27FC236}">
                <a16:creationId xmlns:a16="http://schemas.microsoft.com/office/drawing/2014/main" id="{AA81E63E-4565-46F6-8F85-960D2E999ABB}"/>
              </a:ext>
            </a:extLst>
          </p:cNvPr>
          <p:cNvSpPr/>
          <p:nvPr/>
        </p:nvSpPr>
        <p:spPr>
          <a:xfrm>
            <a:off x="7132015" y="4486266"/>
            <a:ext cx="1954815" cy="997196"/>
          </a:xfrm>
          <a:prstGeom prst="rect">
            <a:avLst/>
          </a:prstGeom>
          <a:ln w="12700">
            <a:miter lim="400000"/>
          </a:ln>
        </p:spPr>
        <p:txBody>
          <a:bodyPr wrap="square"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波动性预测</a:t>
            </a: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a:t>
            </a:r>
            <a:endParaRPr lang="en-US"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交易量预测，</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近期价格变化预测</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75" name="Shape 338">
            <a:extLst>
              <a:ext uri="{FF2B5EF4-FFF2-40B4-BE49-F238E27FC236}">
                <a16:creationId xmlns:a16="http://schemas.microsoft.com/office/drawing/2014/main" id="{FBAA435D-D4AB-4677-9530-369CD2CCA3DA}"/>
              </a:ext>
            </a:extLst>
          </p:cNvPr>
          <p:cNvSpPr/>
          <p:nvPr/>
        </p:nvSpPr>
        <p:spPr>
          <a:xfrm>
            <a:off x="6426462" y="2214265"/>
            <a:ext cx="3023698" cy="1403461"/>
          </a:xfrm>
          <a:prstGeom prst="rect">
            <a:avLst/>
          </a:prstGeom>
          <a:ln w="12700">
            <a:miter lim="400000"/>
          </a:ln>
        </p:spPr>
        <p:txBody>
          <a:bodyPr lIns="0" tIns="0" rIns="0" bIns="0">
            <a:spAutoFit/>
          </a:bodyPr>
          <a:lstStyle/>
          <a:p>
            <a:pPr lvl="0" algn="ctr">
              <a:lnSpc>
                <a:spcPct val="120000"/>
              </a:lnSpc>
              <a:defRPr>
                <a:solidFill>
                  <a:srgbClr val="000000"/>
                </a:solidFill>
              </a:defRPr>
            </a:pPr>
            <a:endParaRPr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endParaRPr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市场动态</a:t>
            </a:r>
            <a:endParaRPr lang="en-US" altLang="zh-CN" sz="2000"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r>
              <a:rPr lang="zh-CN" altLang="en-US" sz="2000" dirty="0">
                <a:solidFill>
                  <a:schemeClr val="bg1"/>
                </a:solidFill>
                <a:latin typeface="KaiTi" panose="02010609060101010101" pitchFamily="49" charset="-122"/>
                <a:ea typeface="KaiTi" panose="02010609060101010101" pitchFamily="49" charset="-122"/>
                <a:cs typeface="PingFang SC" charset="-122"/>
              </a:rPr>
              <a:t>预测</a:t>
            </a:r>
            <a:endParaRPr sz="2000" dirty="0">
              <a:solidFill>
                <a:schemeClr val="bg1"/>
              </a:solidFill>
              <a:latin typeface="KaiTi" panose="02010609060101010101" pitchFamily="49" charset="-122"/>
              <a:ea typeface="KaiTi" panose="02010609060101010101" pitchFamily="49" charset="-122"/>
              <a:cs typeface="PingFang SC" charset="-122"/>
            </a:endParaRPr>
          </a:p>
        </p:txBody>
      </p:sp>
      <p:sp>
        <p:nvSpPr>
          <p:cNvPr id="76" name="Shape 310">
            <a:extLst>
              <a:ext uri="{FF2B5EF4-FFF2-40B4-BE49-F238E27FC236}">
                <a16:creationId xmlns:a16="http://schemas.microsoft.com/office/drawing/2014/main" id="{73126EC4-0DE2-48F5-909A-152D22BBF7E8}"/>
              </a:ext>
            </a:extLst>
          </p:cNvPr>
          <p:cNvSpPr/>
          <p:nvPr/>
        </p:nvSpPr>
        <p:spPr>
          <a:xfrm>
            <a:off x="1446667" y="1094457"/>
            <a:ext cx="9653724" cy="1107996"/>
          </a:xfrm>
          <a:prstGeom prst="rect">
            <a:avLst/>
          </a:prstGeom>
          <a:ln w="12700">
            <a:miter lim="400000"/>
          </a:ln>
        </p:spPr>
        <p:txBody>
          <a:bodyPr wrap="square" lIns="0" tIns="0" rIns="0" bIns="0">
            <a:spAutoFit/>
          </a:bodyPr>
          <a:lstStyle/>
          <a:p>
            <a:pPr lvl="0">
              <a:defRPr>
                <a:solidFill>
                  <a:srgbClr val="000000"/>
                </a:solidFill>
              </a:defRPr>
            </a:pP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      利用</a:t>
            </a: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深度</a:t>
            </a: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学习和大数据等技术对海量行情数据进行分析，</a:t>
            </a: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首先提供多种信号指标供投资者依不同偏好进行选择，然后</a:t>
            </a: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识别形态信号并且根据</a:t>
            </a: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最有效的量价形态</a:t>
            </a:r>
            <a:r>
              <a:rPr lang="zh-CN" altLang="en-US" dirty="0">
                <a:solidFill>
                  <a:schemeClr val="tx2">
                    <a:lumMod val="10000"/>
                  </a:schemeClr>
                </a:solidFill>
                <a:latin typeface="KaiTi" panose="02010609060101010101" pitchFamily="49" charset="-122"/>
                <a:ea typeface="KaiTi" panose="02010609060101010101" pitchFamily="49" charset="-122"/>
                <a:cs typeface="PingFang SC" charset="-122"/>
              </a:rPr>
              <a:t>特征进行建模，</a:t>
            </a: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让投资者能及时得知所关注的股票中是否有有效形态出现，并且展示此次形态出现的回测数据以不同概率的形式预判未来的行情变动及变动幅度，并为投资者提供信号相关联的最优操作策略</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27" name="Shape 329">
            <a:extLst>
              <a:ext uri="{FF2B5EF4-FFF2-40B4-BE49-F238E27FC236}">
                <a16:creationId xmlns:a16="http://schemas.microsoft.com/office/drawing/2014/main" id="{4CF0CC5A-AA19-0D45-BF7D-6AF35F555F42}"/>
              </a:ext>
            </a:extLst>
          </p:cNvPr>
          <p:cNvSpPr/>
          <p:nvPr/>
        </p:nvSpPr>
        <p:spPr>
          <a:xfrm>
            <a:off x="9132278" y="2491779"/>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28" name="Shape 330">
            <a:extLst>
              <a:ext uri="{FF2B5EF4-FFF2-40B4-BE49-F238E27FC236}">
                <a16:creationId xmlns:a16="http://schemas.microsoft.com/office/drawing/2014/main" id="{1F33C369-D076-A747-8A0C-638DCB0D1F36}"/>
              </a:ext>
            </a:extLst>
          </p:cNvPr>
          <p:cNvSpPr/>
          <p:nvPr/>
        </p:nvSpPr>
        <p:spPr>
          <a:xfrm>
            <a:off x="9132278" y="2491779"/>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991F2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30" name="Shape 337">
            <a:extLst>
              <a:ext uri="{FF2B5EF4-FFF2-40B4-BE49-F238E27FC236}">
                <a16:creationId xmlns:a16="http://schemas.microsoft.com/office/drawing/2014/main" id="{86860A27-C715-8C47-BD9C-9A506A8FE228}"/>
              </a:ext>
            </a:extLst>
          </p:cNvPr>
          <p:cNvSpPr/>
          <p:nvPr/>
        </p:nvSpPr>
        <p:spPr>
          <a:xfrm>
            <a:off x="9127515" y="4538651"/>
            <a:ext cx="1954815" cy="1329595"/>
          </a:xfrm>
          <a:prstGeom prst="rect">
            <a:avLst/>
          </a:prstGeom>
          <a:ln w="12700">
            <a:miter lim="400000"/>
          </a:ln>
        </p:spPr>
        <p:txBody>
          <a:bodyPr wrap="square" lIns="0" tIns="0" rIns="0" bIns="0">
            <a:spAutoFit/>
          </a:bodyPr>
          <a:lstStyle/>
          <a:p>
            <a:pPr lvl="0">
              <a:lnSpc>
                <a:spcPct val="120000"/>
              </a:lnSpc>
              <a:defRPr>
                <a:solidFill>
                  <a:srgbClr val="000000"/>
                </a:solidFill>
              </a:defRPr>
            </a:pP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信号选股策略，</a:t>
            </a:r>
            <a:endParaRPr lang="en-US"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择时策略，</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仓位调整策略，</a:t>
            </a:r>
            <a:endParaRPr lang="en-US" altLang="zh-Hans" dirty="0">
              <a:solidFill>
                <a:schemeClr val="tx2">
                  <a:lumMod val="10000"/>
                </a:schemeClr>
              </a:solidFill>
              <a:latin typeface="KaiTi" panose="02010609060101010101" pitchFamily="49" charset="-122"/>
              <a:ea typeface="KaiTi" panose="02010609060101010101" pitchFamily="49" charset="-122"/>
              <a:cs typeface="PingFang SC" charset="-122"/>
            </a:endParaRPr>
          </a:p>
          <a:p>
            <a:pPr lvl="0">
              <a:lnSpc>
                <a:spcPct val="120000"/>
              </a:lnSpc>
              <a:defRPr>
                <a:solidFill>
                  <a:srgbClr val="000000"/>
                </a:solidFill>
              </a:defRPr>
            </a:pPr>
            <a:r>
              <a:rPr lang="zh-Hans" altLang="en-US" dirty="0">
                <a:solidFill>
                  <a:schemeClr val="tx2">
                    <a:lumMod val="10000"/>
                  </a:schemeClr>
                </a:solidFill>
                <a:latin typeface="KaiTi" panose="02010609060101010101" pitchFamily="49" charset="-122"/>
                <a:ea typeface="KaiTi" panose="02010609060101010101" pitchFamily="49" charset="-122"/>
                <a:cs typeface="PingFang SC" charset="-122"/>
              </a:rPr>
              <a:t>策略表现回测统计</a:t>
            </a:r>
            <a:endParaRPr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31" name="Shape 338">
            <a:extLst>
              <a:ext uri="{FF2B5EF4-FFF2-40B4-BE49-F238E27FC236}">
                <a16:creationId xmlns:a16="http://schemas.microsoft.com/office/drawing/2014/main" id="{C6936BE1-7F53-2842-AC5D-52F29E1DCD7D}"/>
              </a:ext>
            </a:extLst>
          </p:cNvPr>
          <p:cNvSpPr/>
          <p:nvPr/>
        </p:nvSpPr>
        <p:spPr>
          <a:xfrm>
            <a:off x="9127514" y="2266650"/>
            <a:ext cx="1580133" cy="1403461"/>
          </a:xfrm>
          <a:prstGeom prst="rect">
            <a:avLst/>
          </a:prstGeom>
          <a:ln w="12700">
            <a:miter lim="400000"/>
          </a:ln>
        </p:spPr>
        <p:txBody>
          <a:bodyPr wrap="square" lIns="0" tIns="0" rIns="0" bIns="0">
            <a:spAutoFit/>
          </a:bodyPr>
          <a:lstStyle/>
          <a:p>
            <a:pPr lvl="0" algn="ctr">
              <a:lnSpc>
                <a:spcPct val="120000"/>
              </a:lnSpc>
              <a:defRPr>
                <a:solidFill>
                  <a:srgbClr val="000000"/>
                </a:solidFill>
              </a:defRPr>
            </a:pPr>
            <a:endParaRPr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endParaRPr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r>
              <a:rPr lang="zh-Hans" altLang="en-US" sz="2000" dirty="0">
                <a:solidFill>
                  <a:schemeClr val="bg1"/>
                </a:solidFill>
                <a:latin typeface="KaiTi" panose="02010609060101010101" pitchFamily="49" charset="-122"/>
                <a:ea typeface="KaiTi" panose="02010609060101010101" pitchFamily="49" charset="-122"/>
                <a:cs typeface="PingFang SC" charset="-122"/>
              </a:rPr>
              <a:t>最优操作策略</a:t>
            </a:r>
            <a:endParaRPr lang="en-US" altLang="zh-Hans" sz="2000" dirty="0">
              <a:solidFill>
                <a:schemeClr val="bg1"/>
              </a:solidFill>
              <a:latin typeface="KaiTi" panose="02010609060101010101" pitchFamily="49" charset="-122"/>
              <a:ea typeface="KaiTi" panose="02010609060101010101" pitchFamily="49" charset="-122"/>
              <a:cs typeface="PingFang SC" charset="-122"/>
            </a:endParaRPr>
          </a:p>
          <a:p>
            <a:pPr lvl="0" algn="ctr">
              <a:lnSpc>
                <a:spcPct val="120000"/>
              </a:lnSpc>
              <a:defRPr>
                <a:solidFill>
                  <a:srgbClr val="000000"/>
                </a:solidFill>
              </a:defRPr>
            </a:pPr>
            <a:r>
              <a:rPr lang="zh-Hans" altLang="en-US" sz="2000" dirty="0">
                <a:solidFill>
                  <a:schemeClr val="bg1"/>
                </a:solidFill>
                <a:latin typeface="KaiTi" panose="02010609060101010101" pitchFamily="49" charset="-122"/>
                <a:ea typeface="KaiTi" panose="02010609060101010101" pitchFamily="49" charset="-122"/>
                <a:cs typeface="PingFang SC" charset="-122"/>
              </a:rPr>
              <a:t>及策略回测</a:t>
            </a:r>
            <a:endParaRPr sz="2000" dirty="0">
              <a:solidFill>
                <a:schemeClr val="bg1"/>
              </a:solidFill>
              <a:latin typeface="KaiTi" panose="02010609060101010101" pitchFamily="49" charset="-122"/>
              <a:ea typeface="KaiTi" panose="02010609060101010101" pitchFamily="49" charset="-122"/>
              <a:cs typeface="PingFang SC" charset="-122"/>
            </a:endParaRPr>
          </a:p>
        </p:txBody>
      </p:sp>
      <p:sp>
        <p:nvSpPr>
          <p:cNvPr id="35" name="灯片编号占位符 3">
            <a:extLst>
              <a:ext uri="{FF2B5EF4-FFF2-40B4-BE49-F238E27FC236}">
                <a16:creationId xmlns:a16="http://schemas.microsoft.com/office/drawing/2014/main" id="{25360EBE-A58E-A54E-B1A8-C20EA4149FC6}"/>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11</a:t>
            </a:fld>
            <a:endParaRPr lang="zh-CN" altLang="en-US" dirty="0"/>
          </a:p>
        </p:txBody>
      </p:sp>
      <p:sp>
        <p:nvSpPr>
          <p:cNvPr id="36" name="矩形 35">
            <a:extLst>
              <a:ext uri="{FF2B5EF4-FFF2-40B4-BE49-F238E27FC236}">
                <a16:creationId xmlns:a16="http://schemas.microsoft.com/office/drawing/2014/main" id="{37A7B231-EDD2-A846-BC97-B9D3CC7CF924}"/>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4BFC6D7-8918-5845-8EAE-13EB9A210C09}"/>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0380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5DD3DB80-B894-403A-B48E-6FDC1A72010E}" type="slidenum">
              <a:rPr lang="zh-CN" altLang="en-US" smtClean="0"/>
              <a:t>12</a:t>
            </a:fld>
            <a:endParaRPr lang="zh-CN" altLang="en-US"/>
          </a:p>
        </p:txBody>
      </p:sp>
      <p:sp>
        <p:nvSpPr>
          <p:cNvPr id="12" name="文本框 11">
            <a:extLst>
              <a:ext uri="{FF2B5EF4-FFF2-40B4-BE49-F238E27FC236}">
                <a16:creationId xmlns:a16="http://schemas.microsoft.com/office/drawing/2014/main" id="{476A5F0A-8BC9-024A-95DB-6369C5D458FF}"/>
              </a:ext>
            </a:extLst>
          </p:cNvPr>
          <p:cNvSpPr txBox="1"/>
          <p:nvPr/>
        </p:nvSpPr>
        <p:spPr>
          <a:xfrm>
            <a:off x="657448" y="274314"/>
            <a:ext cx="8057348" cy="646331"/>
          </a:xfrm>
          <a:prstGeom prst="rect">
            <a:avLst/>
          </a:prstGeom>
          <a:noFill/>
        </p:spPr>
        <p:txBody>
          <a:bodyPr wrap="square" rtlCol="0">
            <a:spAutoFit/>
          </a:bodyPr>
          <a:lstStyle/>
          <a:p>
            <a:pPr lvl="0">
              <a:defRPr sz="1800">
                <a:solidFill>
                  <a:srgbClr val="000000"/>
                </a:solidFill>
              </a:defRPr>
            </a:pPr>
            <a:r>
              <a:rPr lang="zh-CN" altLang="en-US" sz="3600" dirty="0">
                <a:solidFill>
                  <a:schemeClr val="tx2">
                    <a:lumMod val="10000"/>
                  </a:schemeClr>
                </a:solidFill>
                <a:latin typeface="KaiTi" panose="02010609060101010101" pitchFamily="49" charset="-122"/>
                <a:ea typeface="KaiTi" panose="02010609060101010101" pitchFamily="49" charset="-122"/>
                <a:cs typeface="PingFang SC" charset="-122"/>
              </a:rPr>
              <a:t>智能形态分析（</a:t>
            </a:r>
            <a:r>
              <a:rPr lang="zh-Hans" altLang="en-US" sz="3600" dirty="0">
                <a:solidFill>
                  <a:schemeClr val="tx2">
                    <a:lumMod val="10000"/>
                  </a:schemeClr>
                </a:solidFill>
                <a:latin typeface="KaiTi" panose="02010609060101010101" pitchFamily="49" charset="-122"/>
                <a:ea typeface="KaiTi" panose="02010609060101010101" pitchFamily="49" charset="-122"/>
                <a:cs typeface="PingFang SC" charset="-122"/>
              </a:rPr>
              <a:t>功能扩展）</a:t>
            </a:r>
            <a:endParaRPr lang="zh-CN" altLang="en-US" sz="3600" dirty="0">
              <a:solidFill>
                <a:schemeClr val="tx2">
                  <a:lumMod val="10000"/>
                </a:schemeClr>
              </a:solidFill>
              <a:latin typeface="KaiTi" panose="02010609060101010101" pitchFamily="49" charset="-122"/>
              <a:ea typeface="KaiTi" panose="02010609060101010101" pitchFamily="49" charset="-122"/>
              <a:cs typeface="PingFang SC" charset="-122"/>
            </a:endParaRPr>
          </a:p>
        </p:txBody>
      </p:sp>
      <p:sp>
        <p:nvSpPr>
          <p:cNvPr id="13" name="矩形 12">
            <a:extLst>
              <a:ext uri="{FF2B5EF4-FFF2-40B4-BE49-F238E27FC236}">
                <a16:creationId xmlns:a16="http://schemas.microsoft.com/office/drawing/2014/main" id="{ADFA4CCE-BA0E-154F-9E08-B496FEBB50EC}"/>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A24AF854-6527-A149-A2ED-889673A3B5B4}"/>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9E56EA4C-8829-7644-805A-93E4ED965ECC}"/>
              </a:ext>
            </a:extLst>
          </p:cNvPr>
          <p:cNvPicPr>
            <a:picLocks noChangeAspect="1"/>
          </p:cNvPicPr>
          <p:nvPr/>
        </p:nvPicPr>
        <p:blipFill>
          <a:blip r:embed="rId2"/>
          <a:stretch>
            <a:fillRect/>
          </a:stretch>
        </p:blipFill>
        <p:spPr>
          <a:xfrm>
            <a:off x="684212" y="1159833"/>
            <a:ext cx="4701233" cy="5080630"/>
          </a:xfrm>
          <a:prstGeom prst="rect">
            <a:avLst/>
          </a:prstGeom>
        </p:spPr>
      </p:pic>
      <p:pic>
        <p:nvPicPr>
          <p:cNvPr id="16" name="图片 15">
            <a:extLst>
              <a:ext uri="{FF2B5EF4-FFF2-40B4-BE49-F238E27FC236}">
                <a16:creationId xmlns:a16="http://schemas.microsoft.com/office/drawing/2014/main" id="{968FA44F-13AE-C347-BBCE-32A2DB13DF29}"/>
              </a:ext>
            </a:extLst>
          </p:cNvPr>
          <p:cNvPicPr>
            <a:picLocks noChangeAspect="1"/>
          </p:cNvPicPr>
          <p:nvPr/>
        </p:nvPicPr>
        <p:blipFill>
          <a:blip r:embed="rId3"/>
          <a:stretch>
            <a:fillRect/>
          </a:stretch>
        </p:blipFill>
        <p:spPr>
          <a:xfrm>
            <a:off x="5919008" y="1159832"/>
            <a:ext cx="4510867" cy="5673658"/>
          </a:xfrm>
          <a:prstGeom prst="rect">
            <a:avLst/>
          </a:prstGeom>
        </p:spPr>
      </p:pic>
    </p:spTree>
    <p:extLst>
      <p:ext uri="{BB962C8B-B14F-4D97-AF65-F5344CB8AC3E}">
        <p14:creationId xmlns:p14="http://schemas.microsoft.com/office/powerpoint/2010/main" val="3524841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816080"/>
            <a:ext cx="7935192" cy="608099"/>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Hans" altLang="en-US" sz="3600" dirty="0">
                <a:solidFill>
                  <a:schemeClr val="bg1"/>
                </a:solidFill>
              </a:rPr>
              <a:t>智能量化投研平台</a:t>
            </a:r>
            <a:endParaRPr lang="en-US" altLang="zh-CN"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灯片编号占位符 3">
            <a:extLst>
              <a:ext uri="{FF2B5EF4-FFF2-40B4-BE49-F238E27FC236}">
                <a16:creationId xmlns:a16="http://schemas.microsoft.com/office/drawing/2014/main" id="{B391733F-4E3F-2D4A-9C6C-1F6AB2CCED11}"/>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13</a:t>
            </a:fld>
            <a:endParaRPr lang="zh-CN" altLang="en-US" dirty="0"/>
          </a:p>
        </p:txBody>
      </p:sp>
    </p:spTree>
    <p:extLst>
      <p:ext uri="{BB962C8B-B14F-4D97-AF65-F5344CB8AC3E}">
        <p14:creationId xmlns:p14="http://schemas.microsoft.com/office/powerpoint/2010/main" val="20344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6" name="Group 206"/>
          <p:cNvGrpSpPr/>
          <p:nvPr/>
        </p:nvGrpSpPr>
        <p:grpSpPr>
          <a:xfrm>
            <a:off x="-37900" y="-9030"/>
            <a:ext cx="5596847" cy="6858001"/>
            <a:chOff x="0" y="0"/>
            <a:chExt cx="5596845" cy="6858000"/>
          </a:xfrm>
        </p:grpSpPr>
        <p:sp>
          <p:nvSpPr>
            <p:cNvPr id="204" name="Shape 204"/>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sp>
          <p:nvSpPr>
            <p:cNvPr id="205" name="Shape 205"/>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grpSp>
      <p:sp>
        <p:nvSpPr>
          <p:cNvPr id="207" name="Shape 207"/>
          <p:cNvSpPr/>
          <p:nvPr/>
        </p:nvSpPr>
        <p:spPr>
          <a:xfrm>
            <a:off x="468716" y="1863856"/>
            <a:ext cx="4583615" cy="1569660"/>
          </a:xfrm>
          <a:prstGeom prst="rect">
            <a:avLst/>
          </a:prstGeom>
          <a:ln w="12700">
            <a:miter lim="400000"/>
          </a:ln>
        </p:spPr>
        <p:txBody>
          <a:bodyPr lIns="45719" rIns="45719">
            <a:spAutoFit/>
          </a:bodyPr>
          <a:lstStyle/>
          <a:p>
            <a:pPr lvl="0">
              <a:defRPr>
                <a:solidFill>
                  <a:srgbClr val="000000"/>
                </a:solidFill>
              </a:defRPr>
            </a:pPr>
            <a:r>
              <a:rPr lang="zh-CN" altLang="en-US" sz="1600" dirty="0">
                <a:latin typeface="KaiTi" charset="-122"/>
                <a:ea typeface="KaiTi" charset="-122"/>
                <a:cs typeface="KaiTi" charset="-122"/>
              </a:rPr>
              <a:t>目前</a:t>
            </a:r>
            <a:r>
              <a:rPr lang="en-US" altLang="zh-CN" sz="1600" dirty="0">
                <a:latin typeface="New Peninim MT" pitchFamily="2" charset="-79"/>
                <a:ea typeface="KaiTi" charset="-122"/>
                <a:cs typeface="New Peninim MT" pitchFamily="2" charset="-79"/>
              </a:rPr>
              <a:t>Bloomberg</a:t>
            </a:r>
            <a:r>
              <a:rPr lang="zh-CN" altLang="en-US" sz="1600" dirty="0">
                <a:latin typeface="New Peninim MT" pitchFamily="2" charset="-79"/>
                <a:ea typeface="KaiTi" charset="-122"/>
                <a:cs typeface="New Peninim MT" pitchFamily="2" charset="-79"/>
              </a:rPr>
              <a:t>、</a:t>
            </a:r>
            <a:r>
              <a:rPr lang="en-US" altLang="zh-CN" sz="1600" dirty="0">
                <a:latin typeface="New Peninim MT" pitchFamily="2" charset="-79"/>
                <a:ea typeface="KaiTi" charset="-122"/>
                <a:cs typeface="New Peninim MT" pitchFamily="2" charset="-79"/>
              </a:rPr>
              <a:t>Wind</a:t>
            </a:r>
            <a:r>
              <a:rPr lang="zh-CN" altLang="en-US" sz="1600" dirty="0">
                <a:latin typeface="KaiTi" charset="-122"/>
                <a:ea typeface="KaiTi" charset="-122"/>
                <a:cs typeface="KaiTi" charset="-122"/>
              </a:rPr>
              <a:t>等资讯终端只解决了信息和数据的索引问题，并未进行整合分析，投资者面对大量新闻资讯和公告研报，无法迅速找到自己想要的资讯，在重复无用信息浏览上浪费大量时间，同时非专业交易员基本有条件和精力关注到多种技术指标的即时变动</a:t>
            </a:r>
            <a:endParaRPr lang="en-US" altLang="zh-CN" sz="1600" dirty="0">
              <a:latin typeface="KaiTi" charset="-122"/>
              <a:ea typeface="KaiTi" charset="-122"/>
              <a:cs typeface="KaiTi" charset="-122"/>
            </a:endParaRPr>
          </a:p>
        </p:txBody>
      </p:sp>
      <p:sp>
        <p:nvSpPr>
          <p:cNvPr id="208" name="Shape 208"/>
          <p:cNvSpPr/>
          <p:nvPr/>
        </p:nvSpPr>
        <p:spPr>
          <a:xfrm>
            <a:off x="6092963" y="1964450"/>
            <a:ext cx="4800534" cy="1200329"/>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solidFill>
                  <a:schemeClr val="tx2">
                    <a:lumMod val="50000"/>
                  </a:schemeClr>
                </a:solidFill>
                <a:latin typeface="KaiTi" charset="-122"/>
                <a:ea typeface="KaiTi" charset="-122"/>
                <a:cs typeface="KaiTi" charset="-122"/>
              </a:rPr>
              <a:t>资讯信息处理：</a:t>
            </a:r>
            <a:r>
              <a:rPr lang="zh-CN" altLang="en-US" dirty="0">
                <a:latin typeface="KaiTi" charset="-122"/>
                <a:ea typeface="KaiTi" charset="-122"/>
                <a:cs typeface="KaiTi" charset="-122"/>
              </a:rPr>
              <a:t>对结构化信息和非结构化信息进行分析处理，提取出有价值的信息，并找到其中的相关性（知识图谱、自然语言处理等技术应用）</a:t>
            </a:r>
            <a:endParaRPr dirty="0">
              <a:latin typeface="KaiTi" charset="-122"/>
              <a:ea typeface="KaiTi" charset="-122"/>
              <a:cs typeface="KaiTi" charset="-122"/>
            </a:endParaRPr>
          </a:p>
        </p:txBody>
      </p:sp>
      <p:sp>
        <p:nvSpPr>
          <p:cNvPr id="209" name="Shape 209"/>
          <p:cNvSpPr/>
          <p:nvPr/>
        </p:nvSpPr>
        <p:spPr>
          <a:xfrm>
            <a:off x="6092963" y="4931344"/>
            <a:ext cx="4800534" cy="923330"/>
          </a:xfrm>
          <a:prstGeom prst="rect">
            <a:avLst/>
          </a:prstGeom>
          <a:ln w="12700">
            <a:miter lim="400000"/>
          </a:ln>
        </p:spPr>
        <p:txBody>
          <a:bodyPr lIns="45719" rIns="45719">
            <a:spAutoFit/>
          </a:bodyPr>
          <a:lstStyle/>
          <a:p>
            <a:pPr marL="285750" indent="-285750">
              <a:buFont typeface="Arial" charset="0"/>
              <a:buChar char="•"/>
              <a:defRPr>
                <a:solidFill>
                  <a:srgbClr val="000000"/>
                </a:solidFill>
              </a:defRPr>
            </a:pPr>
            <a:r>
              <a:rPr lang="zh-CN" altLang="en-US" b="1" dirty="0">
                <a:solidFill>
                  <a:schemeClr val="tx2">
                    <a:lumMod val="50000"/>
                  </a:schemeClr>
                </a:solidFill>
                <a:latin typeface="KaiTi" charset="-122"/>
                <a:ea typeface="KaiTi" charset="-122"/>
                <a:cs typeface="KaiTi" charset="-122"/>
              </a:rPr>
              <a:t>个性化智能推荐：</a:t>
            </a:r>
            <a:r>
              <a:rPr lang="zh-CN" altLang="en-US" dirty="0">
                <a:latin typeface="KaiTi" charset="-122"/>
                <a:ea typeface="KaiTi" charset="-122"/>
                <a:cs typeface="KaiTi" charset="-122"/>
              </a:rPr>
              <a:t>基于</a:t>
            </a:r>
            <a:r>
              <a:rPr lang="en-US" altLang="zh-CN" dirty="0" err="1">
                <a:latin typeface="New Peninim MT" pitchFamily="2" charset="-79"/>
                <a:ea typeface="KaiTi" charset="-122"/>
                <a:cs typeface="New Peninim MT" pitchFamily="2" charset="-79"/>
              </a:rPr>
              <a:t>FDTScore</a:t>
            </a:r>
            <a:r>
              <a:rPr lang="zh-CN" altLang="en-US" dirty="0">
                <a:latin typeface="KaiTi" charset="-122"/>
                <a:ea typeface="KaiTi" charset="-122"/>
                <a:cs typeface="KaiTi" charset="-122"/>
              </a:rPr>
              <a:t>的用户画像，结合投资者的持仓记录及历史交易记录等数据进行个性化智能推荐</a:t>
            </a:r>
          </a:p>
        </p:txBody>
      </p:sp>
      <p:sp>
        <p:nvSpPr>
          <p:cNvPr id="210" name="Shape 210"/>
          <p:cNvSpPr/>
          <p:nvPr/>
        </p:nvSpPr>
        <p:spPr>
          <a:xfrm>
            <a:off x="1710817" y="4078416"/>
            <a:ext cx="1177579" cy="2813103"/>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solidFill>
                <a:schemeClr val="tx2">
                  <a:lumMod val="50000"/>
                </a:schemeClr>
              </a:solidFill>
              <a:latin typeface="KaiTi" charset="-122"/>
              <a:ea typeface="KaiTi" charset="-122"/>
              <a:cs typeface="KaiTi" charset="-122"/>
            </a:endParaRPr>
          </a:p>
        </p:txBody>
      </p:sp>
      <p:sp>
        <p:nvSpPr>
          <p:cNvPr id="11" name="文本框 10"/>
          <p:cNvSpPr txBox="1"/>
          <p:nvPr/>
        </p:nvSpPr>
        <p:spPr>
          <a:xfrm>
            <a:off x="503902" y="1039869"/>
            <a:ext cx="4548429" cy="83407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effectLst/>
                <a:uFillTx/>
                <a:latin typeface="KaiTi" charset="-122"/>
                <a:ea typeface="KaiTi" charset="-122"/>
                <a:cs typeface="KaiTi" charset="-122"/>
                <a:sym typeface="微软雅黑" panose="020B0503020204020204" charset="-122"/>
              </a:rPr>
              <a:t>投前：</a:t>
            </a:r>
            <a:endParaRPr kumimoji="0" lang="en-US" altLang="zh-CN" sz="1800" b="1" i="0" u="none" strike="noStrike" cap="none" spc="0" normalizeH="0" baseline="0" dirty="0">
              <a:ln>
                <a:noFill/>
              </a:ln>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      </a:t>
            </a:r>
            <a:r>
              <a:rPr lang="zh-CN" altLang="en-US" sz="1600" b="1" dirty="0">
                <a:solidFill>
                  <a:schemeClr val="tx2">
                    <a:lumMod val="50000"/>
                  </a:schemeClr>
                </a:solidFill>
                <a:latin typeface="KaiTi" charset="-122"/>
                <a:ea typeface="KaiTi" charset="-122"/>
                <a:cs typeface="KaiTi" charset="-122"/>
              </a:rPr>
              <a:t> </a:t>
            </a:r>
            <a:r>
              <a:rPr lang="zh-CN" altLang="en-US" sz="1600" b="1" dirty="0">
                <a:latin typeface="KaiTi" charset="-122"/>
                <a:ea typeface="KaiTi" charset="-122"/>
                <a:cs typeface="KaiTi" charset="-122"/>
              </a:rPr>
              <a:t>投资资讯过载，技术指标无法关注全面</a:t>
            </a:r>
            <a:endParaRPr kumimoji="0" lang="zh-CN" altLang="en-US" sz="1600" b="1" i="0" u="none" strike="noStrike" cap="none" spc="0" normalizeH="0" baseline="0" dirty="0">
              <a:ln>
                <a:noFill/>
              </a:ln>
              <a:effectLst/>
              <a:uFillTx/>
              <a:latin typeface="KaiTi" charset="-122"/>
              <a:ea typeface="KaiTi" charset="-122"/>
              <a:cs typeface="KaiTi" charset="-122"/>
              <a:sym typeface="微软雅黑" panose="020B0503020204020204" charset="-122"/>
            </a:endParaRPr>
          </a:p>
        </p:txBody>
      </p:sp>
      <p:sp>
        <p:nvSpPr>
          <p:cNvPr id="12" name="Shape 209"/>
          <p:cNvSpPr/>
          <p:nvPr/>
        </p:nvSpPr>
        <p:spPr>
          <a:xfrm>
            <a:off x="6092963" y="3419970"/>
            <a:ext cx="4800534" cy="1200329"/>
          </a:xfrm>
          <a:prstGeom prst="rect">
            <a:avLst/>
          </a:prstGeom>
          <a:ln w="12700">
            <a:miter lim="400000"/>
          </a:ln>
        </p:spPr>
        <p:txBody>
          <a:bodyPr lIns="45719" rIns="45719">
            <a:spAutoFit/>
          </a:bodyPr>
          <a:lstStyle/>
          <a:p>
            <a:pPr marL="285750" indent="-285750">
              <a:buFont typeface="Arial" charset="0"/>
              <a:buChar char="•"/>
              <a:defRPr>
                <a:solidFill>
                  <a:srgbClr val="000000"/>
                </a:solidFill>
              </a:defRPr>
            </a:pPr>
            <a:r>
              <a:rPr lang="zh-CN" altLang="en-US" b="1" dirty="0">
                <a:solidFill>
                  <a:schemeClr val="tx2">
                    <a:lumMod val="50000"/>
                  </a:schemeClr>
                </a:solidFill>
                <a:latin typeface="KaiTi" charset="-122"/>
                <a:ea typeface="KaiTi" charset="-122"/>
                <a:cs typeface="KaiTi" charset="-122"/>
              </a:rPr>
              <a:t>形态分析预测：</a:t>
            </a:r>
            <a:r>
              <a:rPr lang="zh-CN" altLang="en-US" dirty="0">
                <a:latin typeface="KaiTi" charset="-122"/>
                <a:ea typeface="KaiTi" charset="-122"/>
                <a:cs typeface="KaiTi" charset="-122"/>
              </a:rPr>
              <a:t>针对不同的量价形态基于深度学习技术提供历史、实时形态进行分析识别，并对未来进行预判（大数据、深度学习等技术应用）</a:t>
            </a:r>
          </a:p>
        </p:txBody>
      </p:sp>
      <p:sp>
        <p:nvSpPr>
          <p:cNvPr id="13"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solidFill>
                  <a:schemeClr val="tx2">
                    <a:lumMod val="50000"/>
                  </a:schemeClr>
                </a:solidFill>
                <a:latin typeface="KaiTi" charset="-122"/>
                <a:ea typeface="KaiTi" charset="-122"/>
                <a:cs typeface="KaiTi" charset="-122"/>
              </a:rPr>
              <a:t>典型用户需求           </a:t>
            </a:r>
            <a:r>
              <a:rPr lang="zh-CN" altLang="en-US" sz="3600" dirty="0">
                <a:solidFill>
                  <a:schemeClr val="tx2">
                    <a:lumMod val="50000"/>
                  </a:schemeClr>
                </a:solidFill>
                <a:latin typeface="+mj-lt"/>
                <a:ea typeface="KaiTi" charset="-122"/>
                <a:cs typeface="KaiTi" charset="-122"/>
              </a:rPr>
              <a:t> </a:t>
            </a:r>
            <a:r>
              <a:rPr lang="en-US" altLang="zh-CN" sz="3600" dirty="0" err="1">
                <a:solidFill>
                  <a:schemeClr val="tx2">
                    <a:lumMod val="50000"/>
                  </a:schemeClr>
                </a:solidFill>
                <a:latin typeface="New Peninim MT" pitchFamily="2" charset="-79"/>
                <a:ea typeface="KaiTi" charset="-122"/>
                <a:cs typeface="New Peninim MT" pitchFamily="2" charset="-79"/>
              </a:rPr>
              <a:t>FDTAI</a:t>
            </a:r>
            <a:r>
              <a:rPr sz="3600" dirty="0" err="1">
                <a:solidFill>
                  <a:schemeClr val="tx2">
                    <a:lumMod val="50000"/>
                  </a:schemeClr>
                </a:solidFill>
                <a:latin typeface="KaiTi" charset="-122"/>
                <a:ea typeface="KaiTi" charset="-122"/>
                <a:cs typeface="KaiTi" charset="-122"/>
              </a:rPr>
              <a:t>对策</a:t>
            </a:r>
            <a:endParaRPr sz="3600" dirty="0">
              <a:solidFill>
                <a:schemeClr val="tx2">
                  <a:lumMod val="50000"/>
                </a:schemeClr>
              </a:solidFill>
              <a:latin typeface="KaiTi" charset="-122"/>
              <a:ea typeface="KaiTi" charset="-122"/>
              <a:cs typeface="KaiTi" charset="-122"/>
            </a:endParaRPr>
          </a:p>
        </p:txBody>
      </p:sp>
      <p:pic>
        <p:nvPicPr>
          <p:cNvPr id="14" name="图像" descr="图像">
            <a:extLst>
              <a:ext uri="{FF2B5EF4-FFF2-40B4-BE49-F238E27FC236}">
                <a16:creationId xmlns:a16="http://schemas.microsoft.com/office/drawing/2014/main" id="{42856B6E-0B9E-6E4E-ABB8-27020F44F5F2}"/>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 name="灯片编号占位符 3">
            <a:extLst>
              <a:ext uri="{FF2B5EF4-FFF2-40B4-BE49-F238E27FC236}">
                <a16:creationId xmlns:a16="http://schemas.microsoft.com/office/drawing/2014/main" id="{06D7C724-047C-884A-924F-2F827034EB9D}"/>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65000"/>
                  </a:schemeClr>
                </a:solidFill>
              </a:rPr>
              <a:pPr algn="r"/>
              <a:t>14</a:t>
            </a:fld>
            <a:endParaRPr lang="zh-CN" altLang="en-US" sz="1200" dirty="0">
              <a:solidFill>
                <a:schemeClr val="bg1">
                  <a:lumMod val="65000"/>
                </a:schemeClr>
              </a:solidFill>
            </a:endParaRPr>
          </a:p>
        </p:txBody>
      </p:sp>
    </p:spTree>
    <p:extLst>
      <p:ext uri="{BB962C8B-B14F-4D97-AF65-F5344CB8AC3E}">
        <p14:creationId xmlns:p14="http://schemas.microsoft.com/office/powerpoint/2010/main" val="58705259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 name="图像" descr="图像"/>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18" name="文本框 17">
            <a:extLst>
              <a:ext uri="{FF2B5EF4-FFF2-40B4-BE49-F238E27FC236}">
                <a16:creationId xmlns:a16="http://schemas.microsoft.com/office/drawing/2014/main" id="{38FEEBC0-4333-4E8A-B75E-94EE1106A33D}"/>
              </a:ext>
            </a:extLst>
          </p:cNvPr>
          <p:cNvSpPr txBox="1"/>
          <p:nvPr/>
        </p:nvSpPr>
        <p:spPr>
          <a:xfrm>
            <a:off x="658692" y="377554"/>
            <a:ext cx="7532137" cy="505700"/>
          </a:xfrm>
          <a:prstGeom prst="rect">
            <a:avLst/>
          </a:prstGeom>
          <a:noFill/>
        </p:spPr>
        <p:txBody>
          <a:bodyPr wrap="square" rtlCol="0">
            <a:spAutoFit/>
          </a:bodyPr>
          <a:lstStyle/>
          <a:p>
            <a:r>
              <a:rPr kumimoji="1" lang="zh-Hans" altLang="en-US" sz="3200" b="1" dirty="0">
                <a:latin typeface="Kaiti SC" panose="02010600040101010101" pitchFamily="2" charset="-122"/>
                <a:ea typeface="Kaiti SC" panose="02010600040101010101" pitchFamily="2" charset="-122"/>
              </a:rPr>
              <a:t>智能量化平台基本流程及功能</a:t>
            </a:r>
            <a:endParaRPr kumimoji="1" lang="zh-CN" altLang="en-US" sz="3200" b="1" dirty="0">
              <a:latin typeface="Kaiti SC" panose="02010600040101010101" pitchFamily="2" charset="-122"/>
              <a:ea typeface="Kaiti SC" panose="02010600040101010101" pitchFamily="2" charset="-122"/>
            </a:endParaRPr>
          </a:p>
        </p:txBody>
      </p:sp>
      <p:sp>
        <p:nvSpPr>
          <p:cNvPr id="22" name="灯片编号占位符 3">
            <a:extLst>
              <a:ext uri="{FF2B5EF4-FFF2-40B4-BE49-F238E27FC236}">
                <a16:creationId xmlns:a16="http://schemas.microsoft.com/office/drawing/2014/main" id="{40A51900-D1F0-1F4C-97FC-BD47A1FF3B0F}"/>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15</a:t>
            </a:fld>
            <a:endParaRPr lang="zh-CN" altLang="en-US" dirty="0"/>
          </a:p>
        </p:txBody>
      </p:sp>
      <p:grpSp>
        <p:nvGrpSpPr>
          <p:cNvPr id="24" name="b365c84f-36db-40d7-b60d-e788bba302b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F745DA2-61BB-4248-8FCB-48F50F71F251}"/>
              </a:ext>
            </a:extLst>
          </p:cNvPr>
          <p:cNvGrpSpPr>
            <a:grpSpLocks noChangeAspect="1"/>
          </p:cNvGrpSpPr>
          <p:nvPr>
            <p:custDataLst>
              <p:tags r:id="rId1"/>
            </p:custDataLst>
          </p:nvPr>
        </p:nvGrpSpPr>
        <p:grpSpPr>
          <a:xfrm>
            <a:off x="871205" y="1434985"/>
            <a:ext cx="10832709" cy="4921123"/>
            <a:chOff x="687779" y="1216152"/>
            <a:chExt cx="10832709" cy="4921123"/>
          </a:xfrm>
        </p:grpSpPr>
        <p:sp>
          <p:nvSpPr>
            <p:cNvPr id="25" name="iś1íḑè">
              <a:extLst>
                <a:ext uri="{FF2B5EF4-FFF2-40B4-BE49-F238E27FC236}">
                  <a16:creationId xmlns:a16="http://schemas.microsoft.com/office/drawing/2014/main" id="{82365824-4355-4040-A0E6-D70C29100514}"/>
                </a:ext>
              </a:extLst>
            </p:cNvPr>
            <p:cNvSpPr/>
            <p:nvPr/>
          </p:nvSpPr>
          <p:spPr>
            <a:xfrm>
              <a:off x="5465064" y="2303220"/>
              <a:ext cx="1261872" cy="126187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6" name="ïṥlîḑè">
              <a:extLst>
                <a:ext uri="{FF2B5EF4-FFF2-40B4-BE49-F238E27FC236}">
                  <a16:creationId xmlns:a16="http://schemas.microsoft.com/office/drawing/2014/main" id="{5ACC52C2-D516-4E40-954E-74CCEDFD5E65}"/>
                </a:ext>
              </a:extLst>
            </p:cNvPr>
            <p:cNvSpPr/>
            <p:nvPr/>
          </p:nvSpPr>
          <p:spPr bwMode="auto">
            <a:xfrm>
              <a:off x="5890239" y="2736210"/>
              <a:ext cx="411522" cy="395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27" name="ïśḷîḑê">
              <a:extLst>
                <a:ext uri="{FF2B5EF4-FFF2-40B4-BE49-F238E27FC236}">
                  <a16:creationId xmlns:a16="http://schemas.microsoft.com/office/drawing/2014/main" id="{8375F746-06FA-3B4E-9032-F966808C73FD}"/>
                </a:ext>
              </a:extLst>
            </p:cNvPr>
            <p:cNvSpPr/>
            <p:nvPr/>
          </p:nvSpPr>
          <p:spPr>
            <a:xfrm>
              <a:off x="4716802" y="3007308"/>
              <a:ext cx="1261872" cy="126187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8" name="îş1ïḋè">
              <a:extLst>
                <a:ext uri="{FF2B5EF4-FFF2-40B4-BE49-F238E27FC236}">
                  <a16:creationId xmlns:a16="http://schemas.microsoft.com/office/drawing/2014/main" id="{B416254C-6433-7A40-AF67-2A859CC47182}"/>
                </a:ext>
              </a:extLst>
            </p:cNvPr>
            <p:cNvSpPr/>
            <p:nvPr/>
          </p:nvSpPr>
          <p:spPr bwMode="auto">
            <a:xfrm>
              <a:off x="5141977" y="3440297"/>
              <a:ext cx="411522" cy="395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29" name="îṡḷiḓé">
              <a:extLst>
                <a:ext uri="{FF2B5EF4-FFF2-40B4-BE49-F238E27FC236}">
                  <a16:creationId xmlns:a16="http://schemas.microsoft.com/office/drawing/2014/main" id="{3A81EB9E-F43D-D443-AB4D-97708304E3B2}"/>
                </a:ext>
              </a:extLst>
            </p:cNvPr>
            <p:cNvSpPr/>
            <p:nvPr/>
          </p:nvSpPr>
          <p:spPr>
            <a:xfrm>
              <a:off x="5465064" y="3711396"/>
              <a:ext cx="1261872" cy="1261872"/>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0" name="îṩļíḍé">
              <a:extLst>
                <a:ext uri="{FF2B5EF4-FFF2-40B4-BE49-F238E27FC236}">
                  <a16:creationId xmlns:a16="http://schemas.microsoft.com/office/drawing/2014/main" id="{EB3F2833-B508-424A-A5FF-DCF4680D6CA8}"/>
                </a:ext>
              </a:extLst>
            </p:cNvPr>
            <p:cNvSpPr/>
            <p:nvPr/>
          </p:nvSpPr>
          <p:spPr bwMode="auto">
            <a:xfrm>
              <a:off x="5890240" y="4144385"/>
              <a:ext cx="411522" cy="395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1" name="îṣḷíďé">
              <a:extLst>
                <a:ext uri="{FF2B5EF4-FFF2-40B4-BE49-F238E27FC236}">
                  <a16:creationId xmlns:a16="http://schemas.microsoft.com/office/drawing/2014/main" id="{D717DAAD-DC9E-DA4C-ABC4-4FDBF4DD900B}"/>
                </a:ext>
              </a:extLst>
            </p:cNvPr>
            <p:cNvSpPr/>
            <p:nvPr/>
          </p:nvSpPr>
          <p:spPr>
            <a:xfrm>
              <a:off x="6213326" y="3007308"/>
              <a:ext cx="1261872" cy="1261872"/>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2" name="ï$ḻiḑé">
              <a:extLst>
                <a:ext uri="{FF2B5EF4-FFF2-40B4-BE49-F238E27FC236}">
                  <a16:creationId xmlns:a16="http://schemas.microsoft.com/office/drawing/2014/main" id="{B05C2C9E-33BF-D74C-8C5A-017F97CD666D}"/>
                </a:ext>
              </a:extLst>
            </p:cNvPr>
            <p:cNvSpPr/>
            <p:nvPr/>
          </p:nvSpPr>
          <p:spPr bwMode="auto">
            <a:xfrm>
              <a:off x="6638502" y="3440297"/>
              <a:ext cx="411522" cy="395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nvGrpSpPr>
            <p:cNvPr id="33" name="îsḻîḍê">
              <a:extLst>
                <a:ext uri="{FF2B5EF4-FFF2-40B4-BE49-F238E27FC236}">
                  <a16:creationId xmlns:a16="http://schemas.microsoft.com/office/drawing/2014/main" id="{DFB62D7B-DE17-B045-8AB8-0D80685E45C6}"/>
                </a:ext>
              </a:extLst>
            </p:cNvPr>
            <p:cNvGrpSpPr/>
            <p:nvPr/>
          </p:nvGrpSpPr>
          <p:grpSpPr>
            <a:xfrm>
              <a:off x="4234217" y="1216152"/>
              <a:ext cx="3713671" cy="988975"/>
              <a:chOff x="4323905" y="1227734"/>
              <a:chExt cx="3713671" cy="988975"/>
            </a:xfrm>
          </p:grpSpPr>
          <p:sp>
            <p:nvSpPr>
              <p:cNvPr id="50" name="îşḷíďe">
                <a:extLst>
                  <a:ext uri="{FF2B5EF4-FFF2-40B4-BE49-F238E27FC236}">
                    <a16:creationId xmlns:a16="http://schemas.microsoft.com/office/drawing/2014/main" id="{F4856D2B-5A0F-D34E-8D22-657428610882}"/>
                  </a:ext>
                </a:extLst>
              </p:cNvPr>
              <p:cNvSpPr/>
              <p:nvPr/>
            </p:nvSpPr>
            <p:spPr bwMode="auto">
              <a:xfrm>
                <a:off x="4333800" y="1640615"/>
                <a:ext cx="3703776" cy="576094"/>
              </a:xfrm>
              <a:prstGeom prst="rect">
                <a:avLst/>
              </a:prstGeom>
              <a:noFill/>
              <a:ln>
                <a:noFill/>
              </a:ln>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Hans" altLang="en-US" sz="1100" dirty="0">
                    <a:solidFill>
                      <a:srgbClr val="000000"/>
                    </a:solidFill>
                  </a:rPr>
                  <a:t>基于</a:t>
                </a:r>
                <a:r>
                  <a:rPr lang="en-US" altLang="zh-Hans" sz="1100" dirty="0">
                    <a:solidFill>
                      <a:srgbClr val="000000"/>
                    </a:solidFill>
                  </a:rPr>
                  <a:t>FDT</a:t>
                </a:r>
                <a:r>
                  <a:rPr lang="zh-Hans" altLang="en-US" sz="1100" dirty="0">
                    <a:solidFill>
                      <a:srgbClr val="000000"/>
                    </a:solidFill>
                  </a:rPr>
                  <a:t>的金融数据云平台，对各种金融数据进行因子提取和预处理，为训练量化策略模型提供数据基础</a:t>
                </a:r>
                <a:endParaRPr lang="zh-CN" altLang="en-US" sz="1100" dirty="0">
                  <a:solidFill>
                    <a:srgbClr val="000000"/>
                  </a:solidFill>
                </a:endParaRPr>
              </a:p>
            </p:txBody>
          </p:sp>
          <p:sp>
            <p:nvSpPr>
              <p:cNvPr id="51" name="ïṡ1îḓe">
                <a:extLst>
                  <a:ext uri="{FF2B5EF4-FFF2-40B4-BE49-F238E27FC236}">
                    <a16:creationId xmlns:a16="http://schemas.microsoft.com/office/drawing/2014/main" id="{C5198E76-22F7-7A45-A52E-641FE7730829}"/>
                  </a:ext>
                </a:extLst>
              </p:cNvPr>
              <p:cNvSpPr txBox="1"/>
              <p:nvPr/>
            </p:nvSpPr>
            <p:spPr bwMode="auto">
              <a:xfrm>
                <a:off x="4323905" y="1227734"/>
                <a:ext cx="3703776" cy="412880"/>
              </a:xfrm>
              <a:prstGeom prst="rect">
                <a:avLst/>
              </a:prstGeom>
              <a:noFill/>
              <a:ln>
                <a:noFill/>
              </a:ln>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buFontTx/>
                  <a:buNone/>
                </a:pPr>
                <a:r>
                  <a:rPr lang="zh-Hans" altLang="en-US" b="1" dirty="0">
                    <a:solidFill>
                      <a:schemeClr val="accent1"/>
                    </a:solidFill>
                  </a:rPr>
                  <a:t>量化因子库建立及数据处理</a:t>
                </a:r>
                <a:endParaRPr lang="en-US" altLang="zh-CN" sz="1800" b="1" dirty="0">
                  <a:solidFill>
                    <a:schemeClr val="accent1"/>
                  </a:solidFill>
                </a:endParaRPr>
              </a:p>
            </p:txBody>
          </p:sp>
        </p:grpSp>
        <p:grpSp>
          <p:nvGrpSpPr>
            <p:cNvPr id="34" name="iṧlïḓé">
              <a:extLst>
                <a:ext uri="{FF2B5EF4-FFF2-40B4-BE49-F238E27FC236}">
                  <a16:creationId xmlns:a16="http://schemas.microsoft.com/office/drawing/2014/main" id="{CC7948B3-DFCB-5B43-805B-31DF80ED2DCD}"/>
                </a:ext>
              </a:extLst>
            </p:cNvPr>
            <p:cNvGrpSpPr/>
            <p:nvPr/>
          </p:nvGrpSpPr>
          <p:grpSpPr>
            <a:xfrm>
              <a:off x="4244112" y="5206740"/>
              <a:ext cx="3703776" cy="930535"/>
              <a:chOff x="4333800" y="1227734"/>
              <a:chExt cx="3703776" cy="930535"/>
            </a:xfrm>
          </p:grpSpPr>
          <p:sp>
            <p:nvSpPr>
              <p:cNvPr id="45" name="îṧḷîde">
                <a:extLst>
                  <a:ext uri="{FF2B5EF4-FFF2-40B4-BE49-F238E27FC236}">
                    <a16:creationId xmlns:a16="http://schemas.microsoft.com/office/drawing/2014/main" id="{72921720-01BD-B543-908D-DD196DD90870}"/>
                  </a:ext>
                </a:extLst>
              </p:cNvPr>
              <p:cNvSpPr/>
              <p:nvPr/>
            </p:nvSpPr>
            <p:spPr bwMode="auto">
              <a:xfrm>
                <a:off x="4333800" y="1640615"/>
                <a:ext cx="3703776" cy="517654"/>
              </a:xfrm>
              <a:prstGeom prst="rect">
                <a:avLst/>
              </a:prstGeom>
              <a:noFill/>
              <a:ln>
                <a:noFill/>
              </a:ln>
              <a:extLst/>
            </p:spPr>
            <p:txBody>
              <a:bodyPr wrap="square" lIns="90000" tIns="46800" rIns="90000" bIns="46800" anchor="t" anchorCtr="0">
                <a:normAutofit fontScale="70000" lnSpcReduction="2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Hans" altLang="en-US" sz="1100" dirty="0">
                    <a:solidFill>
                      <a:srgbClr val="000000"/>
                    </a:solidFill>
                  </a:rPr>
                  <a:t>监控不同指标因子识别发出的择时交易信号，配合客户的投资需求形成操作策略，并通过信号提醒推送至客户端形成“一键下单”功能批量处理操作策略，同时依据客户投资规模可提供算法交易功能降低交易成本</a:t>
                </a:r>
                <a:endParaRPr lang="zh-CN" altLang="en-US" sz="1100" dirty="0">
                  <a:solidFill>
                    <a:srgbClr val="000000"/>
                  </a:solidFill>
                </a:endParaRPr>
              </a:p>
            </p:txBody>
          </p:sp>
          <p:sp>
            <p:nvSpPr>
              <p:cNvPr id="47" name="îṩḷiďê">
                <a:extLst>
                  <a:ext uri="{FF2B5EF4-FFF2-40B4-BE49-F238E27FC236}">
                    <a16:creationId xmlns:a16="http://schemas.microsoft.com/office/drawing/2014/main" id="{1DD779C1-4A7C-AA49-9EED-9E7839F2F682}"/>
                  </a:ext>
                </a:extLst>
              </p:cNvPr>
              <p:cNvSpPr txBox="1"/>
              <p:nvPr/>
            </p:nvSpPr>
            <p:spPr bwMode="auto">
              <a:xfrm>
                <a:off x="4333800" y="1227734"/>
                <a:ext cx="3703776" cy="412880"/>
              </a:xfrm>
              <a:prstGeom prst="rect">
                <a:avLst/>
              </a:prstGeom>
              <a:noFill/>
              <a:ln>
                <a:noFill/>
              </a:ln>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buFontTx/>
                  <a:buNone/>
                </a:pPr>
                <a:r>
                  <a:rPr lang="zh-Hans" altLang="en-US" sz="1800" b="1" dirty="0">
                    <a:solidFill>
                      <a:schemeClr val="accent4"/>
                    </a:solidFill>
                  </a:rPr>
                  <a:t>交易信号监控及交易执行</a:t>
                </a:r>
                <a:endParaRPr lang="en-US" altLang="zh-CN" sz="1800" b="1" dirty="0">
                  <a:solidFill>
                    <a:schemeClr val="accent4"/>
                  </a:solidFill>
                </a:endParaRPr>
              </a:p>
            </p:txBody>
          </p:sp>
        </p:grpSp>
        <p:grpSp>
          <p:nvGrpSpPr>
            <p:cNvPr id="35" name="ïṣḻîḋe">
              <a:extLst>
                <a:ext uri="{FF2B5EF4-FFF2-40B4-BE49-F238E27FC236}">
                  <a16:creationId xmlns:a16="http://schemas.microsoft.com/office/drawing/2014/main" id="{70E32C54-334E-6543-B021-7472BBF5E429}"/>
                </a:ext>
              </a:extLst>
            </p:cNvPr>
            <p:cNvGrpSpPr/>
            <p:nvPr/>
          </p:nvGrpSpPr>
          <p:grpSpPr>
            <a:xfrm>
              <a:off x="687779" y="3143757"/>
              <a:ext cx="3703776" cy="988975"/>
              <a:chOff x="4333800" y="1227734"/>
              <a:chExt cx="3703776" cy="988975"/>
            </a:xfrm>
          </p:grpSpPr>
          <p:sp>
            <p:nvSpPr>
              <p:cNvPr id="43" name="ísḻîďe">
                <a:extLst>
                  <a:ext uri="{FF2B5EF4-FFF2-40B4-BE49-F238E27FC236}">
                    <a16:creationId xmlns:a16="http://schemas.microsoft.com/office/drawing/2014/main" id="{695246BB-7C5B-FC4E-B1EE-535F7C5EACDB}"/>
                  </a:ext>
                </a:extLst>
              </p:cNvPr>
              <p:cNvSpPr/>
              <p:nvPr/>
            </p:nvSpPr>
            <p:spPr bwMode="auto">
              <a:xfrm>
                <a:off x="4333800" y="1640615"/>
                <a:ext cx="3703776" cy="576094"/>
              </a:xfrm>
              <a:prstGeom prst="rect">
                <a:avLst/>
              </a:prstGeom>
              <a:noFill/>
              <a:ln>
                <a:noFill/>
              </a:ln>
              <a:extLst/>
            </p:spPr>
            <p:txBody>
              <a:bodyPr wrap="square" lIns="90000" tIns="46800" rIns="90000" bIns="46800" anchor="t" anchorCtr="0">
                <a:normAutofit fontScale="70000" lnSpcReduction="2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Hans" altLang="en-US" sz="1100" dirty="0">
                    <a:solidFill>
                      <a:srgbClr val="000000"/>
                    </a:solidFill>
                  </a:rPr>
                  <a:t>基于</a:t>
                </a:r>
                <a:r>
                  <a:rPr lang="en-US" altLang="zh-Hans" sz="1100" dirty="0" err="1">
                    <a:solidFill>
                      <a:srgbClr val="000000"/>
                    </a:solidFill>
                  </a:rPr>
                  <a:t>FDTscore</a:t>
                </a:r>
                <a:r>
                  <a:rPr lang="zh-Hans" altLang="en-US" sz="1100" dirty="0">
                    <a:solidFill>
                      <a:srgbClr val="000000"/>
                    </a:solidFill>
                  </a:rPr>
                  <a:t>对投资者及投资标的分析功能，对单因子、多因子及投资策略进行进行归因，对投资收益、风险归因、交易执行、投资者行为进行分解，同时为用户提供账持仓及账户的多维分析，生成完整的投资分析报告</a:t>
                </a:r>
                <a:endParaRPr lang="zh-CN" altLang="en-US" sz="1100" dirty="0">
                  <a:solidFill>
                    <a:srgbClr val="000000"/>
                  </a:solidFill>
                </a:endParaRPr>
              </a:p>
            </p:txBody>
          </p:sp>
          <p:sp>
            <p:nvSpPr>
              <p:cNvPr id="44" name="íśḷiḑê">
                <a:extLst>
                  <a:ext uri="{FF2B5EF4-FFF2-40B4-BE49-F238E27FC236}">
                    <a16:creationId xmlns:a16="http://schemas.microsoft.com/office/drawing/2014/main" id="{561730F8-E727-2246-BA1C-F266FAD8E6E6}"/>
                  </a:ext>
                </a:extLst>
              </p:cNvPr>
              <p:cNvSpPr txBox="1"/>
              <p:nvPr/>
            </p:nvSpPr>
            <p:spPr bwMode="auto">
              <a:xfrm>
                <a:off x="4333800" y="1227734"/>
                <a:ext cx="3703776" cy="412880"/>
              </a:xfrm>
              <a:prstGeom prst="rect">
                <a:avLst/>
              </a:prstGeom>
              <a:noFill/>
              <a:ln>
                <a:noFill/>
              </a:ln>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buFontTx/>
                  <a:buNone/>
                </a:pPr>
                <a:r>
                  <a:rPr lang="zh-Hans" altLang="en-US" sz="1800" b="1" dirty="0">
                    <a:solidFill>
                      <a:schemeClr val="accent2"/>
                    </a:solidFill>
                  </a:rPr>
                  <a:t>交易分析及绩效归因</a:t>
                </a:r>
                <a:endParaRPr lang="en-US" altLang="zh-CN" sz="1800" b="1" dirty="0">
                  <a:solidFill>
                    <a:schemeClr val="accent2"/>
                  </a:solidFill>
                </a:endParaRPr>
              </a:p>
            </p:txBody>
          </p:sp>
        </p:grpSp>
        <p:grpSp>
          <p:nvGrpSpPr>
            <p:cNvPr id="36" name="ïşľîḑè">
              <a:extLst>
                <a:ext uri="{FF2B5EF4-FFF2-40B4-BE49-F238E27FC236}">
                  <a16:creationId xmlns:a16="http://schemas.microsoft.com/office/drawing/2014/main" id="{BAC57294-A44B-8746-A230-53D13CDDC451}"/>
                </a:ext>
              </a:extLst>
            </p:cNvPr>
            <p:cNvGrpSpPr/>
            <p:nvPr/>
          </p:nvGrpSpPr>
          <p:grpSpPr>
            <a:xfrm>
              <a:off x="7816712" y="3143757"/>
              <a:ext cx="3703776" cy="988975"/>
              <a:chOff x="4333800" y="1227734"/>
              <a:chExt cx="3703776" cy="988975"/>
            </a:xfrm>
          </p:grpSpPr>
          <p:sp>
            <p:nvSpPr>
              <p:cNvPr id="41" name="ïṩľîḑe">
                <a:extLst>
                  <a:ext uri="{FF2B5EF4-FFF2-40B4-BE49-F238E27FC236}">
                    <a16:creationId xmlns:a16="http://schemas.microsoft.com/office/drawing/2014/main" id="{619998D4-736D-4D4A-A1DB-D289E9061AC4}"/>
                  </a:ext>
                </a:extLst>
              </p:cNvPr>
              <p:cNvSpPr/>
              <p:nvPr/>
            </p:nvSpPr>
            <p:spPr bwMode="auto">
              <a:xfrm>
                <a:off x="4333800" y="1640615"/>
                <a:ext cx="3703776" cy="576094"/>
              </a:xfrm>
              <a:prstGeom prst="rect">
                <a:avLst/>
              </a:prstGeom>
              <a:noFill/>
              <a:ln>
                <a:noFill/>
              </a:ln>
              <a:extLst/>
            </p:spPr>
            <p:txBody>
              <a:bodyPr wrap="square" lIns="90000" tIns="46800" rIns="90000" bIns="46800" anchor="t" anchorCtr="0">
                <a:normAutofit fontScale="85000"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Hans" altLang="en-US" sz="1100" dirty="0">
                    <a:solidFill>
                      <a:srgbClr val="000000"/>
                    </a:solidFill>
                  </a:rPr>
                  <a:t>多因子选股及回测，同时可根据用户风险承受能力、收益预期及投资偏好筛选不同指标构建一个投资组合模型，计算回验区间内股票组合的绩效指标，并通过对用户需求认知的不断提升进行模型调整优化</a:t>
                </a:r>
                <a:endParaRPr lang="zh-CN" altLang="en-US" sz="1100" dirty="0">
                  <a:solidFill>
                    <a:srgbClr val="000000"/>
                  </a:solidFill>
                </a:endParaRPr>
              </a:p>
            </p:txBody>
          </p:sp>
          <p:sp>
            <p:nvSpPr>
              <p:cNvPr id="42" name="îSḻíďe">
                <a:extLst>
                  <a:ext uri="{FF2B5EF4-FFF2-40B4-BE49-F238E27FC236}">
                    <a16:creationId xmlns:a16="http://schemas.microsoft.com/office/drawing/2014/main" id="{07D3BD4A-161A-564E-98EC-DA4FDD4D983A}"/>
                  </a:ext>
                </a:extLst>
              </p:cNvPr>
              <p:cNvSpPr txBox="1"/>
              <p:nvPr/>
            </p:nvSpPr>
            <p:spPr bwMode="auto">
              <a:xfrm>
                <a:off x="4333800" y="1227734"/>
                <a:ext cx="3703776" cy="412880"/>
              </a:xfrm>
              <a:prstGeom prst="rect">
                <a:avLst/>
              </a:prstGeom>
              <a:noFill/>
              <a:ln>
                <a:noFill/>
              </a:ln>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zh-Hans" altLang="en-US" b="1" dirty="0">
                    <a:solidFill>
                      <a:schemeClr val="accent3"/>
                    </a:solidFill>
                  </a:rPr>
                  <a:t>构建和优化投资组合模型</a:t>
                </a:r>
                <a:endParaRPr lang="en-US" altLang="zh-CN" sz="1800" b="1" dirty="0">
                  <a:solidFill>
                    <a:schemeClr val="accent3"/>
                  </a:solidFill>
                </a:endParaRPr>
              </a:p>
            </p:txBody>
          </p:sp>
        </p:grpSp>
        <p:sp>
          <p:nvSpPr>
            <p:cNvPr id="37" name="ïṡ1ïḍe">
              <a:extLst>
                <a:ext uri="{FF2B5EF4-FFF2-40B4-BE49-F238E27FC236}">
                  <a16:creationId xmlns:a16="http://schemas.microsoft.com/office/drawing/2014/main" id="{7FEFA2C0-BC0D-6F45-A3CE-3F3ED3826DA9}"/>
                </a:ext>
              </a:extLst>
            </p:cNvPr>
            <p:cNvSpPr/>
            <p:nvPr/>
          </p:nvSpPr>
          <p:spPr>
            <a:xfrm>
              <a:off x="5870449" y="2143005"/>
              <a:ext cx="431312" cy="431312"/>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fontScale="77500" lnSpcReduction="20000"/>
            </a:bodyPr>
            <a:lstStyle/>
            <a:p>
              <a:pPr algn="ctr">
                <a:lnSpc>
                  <a:spcPct val="120000"/>
                </a:lnSpc>
              </a:pPr>
              <a:r>
                <a:rPr lang="en-US" altLang="zh-CN" b="1" dirty="0"/>
                <a:t>Q1</a:t>
              </a:r>
              <a:endParaRPr lang="zh-CN" altLang="en-US" b="1" dirty="0"/>
            </a:p>
          </p:txBody>
        </p:sp>
        <p:sp>
          <p:nvSpPr>
            <p:cNvPr id="38" name="ïṩ1ïdê">
              <a:extLst>
                <a:ext uri="{FF2B5EF4-FFF2-40B4-BE49-F238E27FC236}">
                  <a16:creationId xmlns:a16="http://schemas.microsoft.com/office/drawing/2014/main" id="{E6C22CDF-647B-FD4C-BD3C-382CDE304F12}"/>
                </a:ext>
              </a:extLst>
            </p:cNvPr>
            <p:cNvSpPr/>
            <p:nvPr/>
          </p:nvSpPr>
          <p:spPr>
            <a:xfrm>
              <a:off x="4563582" y="3422588"/>
              <a:ext cx="431312" cy="431312"/>
            </a:xfrm>
            <a:prstGeom prst="ellipse">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fontScale="77500" lnSpcReduction="20000"/>
            </a:bodyPr>
            <a:lstStyle/>
            <a:p>
              <a:pPr algn="ctr">
                <a:lnSpc>
                  <a:spcPct val="120000"/>
                </a:lnSpc>
              </a:pPr>
              <a:r>
                <a:rPr lang="en-US" altLang="zh-CN" b="1" dirty="0"/>
                <a:t>Q2</a:t>
              </a:r>
              <a:endParaRPr lang="zh-CN" altLang="en-US" b="1" dirty="0"/>
            </a:p>
          </p:txBody>
        </p:sp>
        <p:sp>
          <p:nvSpPr>
            <p:cNvPr id="39" name="i$ļïḋè">
              <a:extLst>
                <a:ext uri="{FF2B5EF4-FFF2-40B4-BE49-F238E27FC236}">
                  <a16:creationId xmlns:a16="http://schemas.microsoft.com/office/drawing/2014/main" id="{E9DAA666-4107-3545-A1B4-8306955B2E26}"/>
                </a:ext>
              </a:extLst>
            </p:cNvPr>
            <p:cNvSpPr/>
            <p:nvPr/>
          </p:nvSpPr>
          <p:spPr>
            <a:xfrm>
              <a:off x="7256473" y="3422588"/>
              <a:ext cx="431312" cy="431312"/>
            </a:xfrm>
            <a:prstGeom prst="ellipse">
              <a:avLst/>
            </a:pr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fontScale="77500" lnSpcReduction="20000"/>
            </a:bodyPr>
            <a:lstStyle/>
            <a:p>
              <a:pPr algn="ctr">
                <a:lnSpc>
                  <a:spcPct val="120000"/>
                </a:lnSpc>
              </a:pPr>
              <a:r>
                <a:rPr lang="en-US" altLang="zh-CN" b="1" dirty="0"/>
                <a:t>Q2</a:t>
              </a:r>
              <a:endParaRPr lang="zh-CN" altLang="en-US" b="1" dirty="0"/>
            </a:p>
          </p:txBody>
        </p:sp>
        <p:sp>
          <p:nvSpPr>
            <p:cNvPr id="40" name="íṩ1ïḓé">
              <a:extLst>
                <a:ext uri="{FF2B5EF4-FFF2-40B4-BE49-F238E27FC236}">
                  <a16:creationId xmlns:a16="http://schemas.microsoft.com/office/drawing/2014/main" id="{7C11AA3B-F5B8-DE4A-84ED-55EFE492A5FD}"/>
                </a:ext>
              </a:extLst>
            </p:cNvPr>
            <p:cNvSpPr/>
            <p:nvPr/>
          </p:nvSpPr>
          <p:spPr>
            <a:xfrm>
              <a:off x="5870449" y="4702169"/>
              <a:ext cx="431312" cy="431312"/>
            </a:xfrm>
            <a:prstGeom prst="ellips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fontScale="77500" lnSpcReduction="20000"/>
            </a:bodyPr>
            <a:lstStyle/>
            <a:p>
              <a:pPr algn="ctr">
                <a:lnSpc>
                  <a:spcPct val="120000"/>
                </a:lnSpc>
              </a:pPr>
              <a:r>
                <a:rPr lang="en-US" altLang="zh-CN" b="1" dirty="0"/>
                <a:t>Q4</a:t>
              </a:r>
              <a:endParaRPr lang="zh-CN" altLang="en-US" b="1" dirty="0"/>
            </a:p>
          </p:txBody>
        </p:sp>
      </p:grpSp>
      <p:sp>
        <p:nvSpPr>
          <p:cNvPr id="52" name="矩形 51">
            <a:extLst>
              <a:ext uri="{FF2B5EF4-FFF2-40B4-BE49-F238E27FC236}">
                <a16:creationId xmlns:a16="http://schemas.microsoft.com/office/drawing/2014/main" id="{58BD1957-D19E-4341-81B6-AEDE2085CD05}"/>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226BA585-C6C4-DB4E-BB77-98E24F54CDFC}"/>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463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矩形 19"/>
          <p:cNvSpPr>
            <a:spLocks noChangeArrowheads="1"/>
          </p:cNvSpPr>
          <p:nvPr/>
        </p:nvSpPr>
        <p:spPr bwMode="auto">
          <a:xfrm>
            <a:off x="4671286" y="1957411"/>
            <a:ext cx="2816396" cy="54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基本面因子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规模因子、估值因子、成长因子</a:t>
            </a:r>
            <a:r>
              <a:rPr lang="zh-CN" altLang="en-US" sz="1350" dirty="0">
                <a:solidFill>
                  <a:schemeClr val="bg1">
                    <a:lumMod val="50000"/>
                  </a:schemeClr>
                </a:solidFill>
                <a:latin typeface="+mn-ea"/>
                <a:ea typeface="+mn-ea"/>
                <a:cs typeface="Arial" panose="020B0604020202020204" pitchFamily="34" charset="0"/>
              </a:rPr>
              <a:t>）</a:t>
            </a:r>
            <a:endParaRPr lang="en-US" altLang="zh-CN" sz="1350" dirty="0">
              <a:solidFill>
                <a:schemeClr val="bg1">
                  <a:lumMod val="50000"/>
                </a:schemeClr>
              </a:solidFill>
              <a:latin typeface="+mn-ea"/>
              <a:ea typeface="+mn-ea"/>
              <a:cs typeface="Arial" panose="020B0604020202020204" pitchFamily="34" charset="0"/>
            </a:endParaRPr>
          </a:p>
        </p:txBody>
      </p:sp>
      <p:sp>
        <p:nvSpPr>
          <p:cNvPr id="106" name="椭圆 105"/>
          <p:cNvSpPr/>
          <p:nvPr/>
        </p:nvSpPr>
        <p:spPr>
          <a:xfrm>
            <a:off x="4222867" y="2719477"/>
            <a:ext cx="4101417" cy="408905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4087590" y="5185383"/>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p:cNvSpPr/>
          <p:nvPr/>
        </p:nvSpPr>
        <p:spPr>
          <a:xfrm>
            <a:off x="4801519" y="2846796"/>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09" name="椭圆 108"/>
          <p:cNvSpPr/>
          <p:nvPr/>
        </p:nvSpPr>
        <p:spPr>
          <a:xfrm>
            <a:off x="4841303" y="6209971"/>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椭圆 109"/>
          <p:cNvSpPr/>
          <p:nvPr/>
        </p:nvSpPr>
        <p:spPr>
          <a:xfrm>
            <a:off x="7999389" y="3870138"/>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椭圆 111"/>
          <p:cNvSpPr/>
          <p:nvPr/>
        </p:nvSpPr>
        <p:spPr>
          <a:xfrm>
            <a:off x="6037112" y="2489234"/>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椭圆 112"/>
          <p:cNvSpPr/>
          <p:nvPr/>
        </p:nvSpPr>
        <p:spPr>
          <a:xfrm>
            <a:off x="4063748" y="3912664"/>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椭圆 113"/>
          <p:cNvSpPr/>
          <p:nvPr/>
        </p:nvSpPr>
        <p:spPr>
          <a:xfrm>
            <a:off x="7220328" y="2883780"/>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p:cNvSpPr/>
          <p:nvPr/>
        </p:nvSpPr>
        <p:spPr>
          <a:xfrm>
            <a:off x="7999389" y="5143480"/>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椭圆 115"/>
          <p:cNvSpPr/>
          <p:nvPr/>
        </p:nvSpPr>
        <p:spPr>
          <a:xfrm>
            <a:off x="7245675" y="6155581"/>
            <a:ext cx="484014" cy="4811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9" name="组合 118"/>
          <p:cNvGrpSpPr/>
          <p:nvPr/>
        </p:nvGrpSpPr>
        <p:grpSpPr>
          <a:xfrm>
            <a:off x="5448543" y="3457979"/>
            <a:ext cx="1673907" cy="2612055"/>
            <a:chOff x="3705226" y="1524000"/>
            <a:chExt cx="1752639" cy="2750972"/>
          </a:xfrm>
          <a:solidFill>
            <a:schemeClr val="accent2"/>
          </a:solidFill>
        </p:grpSpPr>
        <p:grpSp>
          <p:nvGrpSpPr>
            <p:cNvPr id="120" name="Group 97"/>
            <p:cNvGrpSpPr/>
            <p:nvPr/>
          </p:nvGrpSpPr>
          <p:grpSpPr>
            <a:xfrm>
              <a:off x="3705226" y="1524000"/>
              <a:ext cx="1752639" cy="2750972"/>
              <a:chOff x="4934796" y="1751013"/>
              <a:chExt cx="2935287" cy="4606075"/>
            </a:xfrm>
            <a:grpFill/>
          </p:grpSpPr>
          <p:sp>
            <p:nvSpPr>
              <p:cNvPr id="124" name="Freeform 13"/>
              <p:cNvSpPr>
                <a:spLocks noEditPoints="1"/>
              </p:cNvSpPr>
              <p:nvPr/>
            </p:nvSpPr>
            <p:spPr bwMode="auto">
              <a:xfrm>
                <a:off x="4934796" y="1751013"/>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solidFill>
                  <a:schemeClr val="accent2"/>
                </a:solidFill>
              </a:ln>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dirty="0">
                  <a:ln>
                    <a:noFill/>
                  </a:ln>
                  <a:solidFill>
                    <a:srgbClr val="FFFFFF">
                      <a:lumMod val="50000"/>
                    </a:srgbClr>
                  </a:solidFill>
                  <a:effectLst/>
                  <a:uLnTx/>
                  <a:uFillTx/>
                  <a:latin typeface="Raleway Light"/>
                </a:endParaRPr>
              </a:p>
            </p:txBody>
          </p:sp>
          <p:sp>
            <p:nvSpPr>
              <p:cNvPr id="125" name="Freeform 16"/>
              <p:cNvSpPr>
                <a:spLocks noEditPoints="1"/>
              </p:cNvSpPr>
              <p:nvPr/>
            </p:nvSpPr>
            <p:spPr bwMode="auto">
              <a:xfrm>
                <a:off x="5672983" y="5153763"/>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solidFill>
                  <a:schemeClr val="accent2"/>
                </a:solidFill>
              </a:ln>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dirty="0">
                  <a:ln>
                    <a:noFill/>
                  </a:ln>
                  <a:solidFill>
                    <a:srgbClr val="FFFFFF">
                      <a:lumMod val="50000"/>
                    </a:srgbClr>
                  </a:solidFill>
                  <a:effectLst/>
                  <a:uLnTx/>
                  <a:uFillTx/>
                  <a:latin typeface="Raleway Light"/>
                </a:endParaRPr>
              </a:p>
            </p:txBody>
          </p:sp>
        </p:grpSp>
        <p:grpSp>
          <p:nvGrpSpPr>
            <p:cNvPr id="121" name="Group 100"/>
            <p:cNvGrpSpPr/>
            <p:nvPr/>
          </p:nvGrpSpPr>
          <p:grpSpPr>
            <a:xfrm>
              <a:off x="3847754" y="1705451"/>
              <a:ext cx="1448968" cy="1297232"/>
              <a:chOff x="8169276" y="952501"/>
              <a:chExt cx="3781424" cy="3384550"/>
            </a:xfrm>
            <a:grpFill/>
          </p:grpSpPr>
          <p:sp>
            <p:nvSpPr>
              <p:cNvPr id="122" name="Freeform 10"/>
              <p:cNvSpPr>
                <a:spLocks/>
              </p:cNvSpPr>
              <p:nvPr/>
            </p:nvSpPr>
            <p:spPr bwMode="auto">
              <a:xfrm>
                <a:off x="9297988" y="1533526"/>
                <a:ext cx="1392237" cy="1004888"/>
              </a:xfrm>
              <a:custGeom>
                <a:avLst/>
                <a:gdLst>
                  <a:gd name="T0" fmla="*/ 142 w 370"/>
                  <a:gd name="T1" fmla="*/ 228 h 267"/>
                  <a:gd name="T2" fmla="*/ 241 w 370"/>
                  <a:gd name="T3" fmla="*/ 248 h 267"/>
                  <a:gd name="T4" fmla="*/ 303 w 370"/>
                  <a:gd name="T5" fmla="*/ 226 h 267"/>
                  <a:gd name="T6" fmla="*/ 368 w 370"/>
                  <a:gd name="T7" fmla="*/ 107 h 267"/>
                  <a:gd name="T8" fmla="*/ 278 w 370"/>
                  <a:gd name="T9" fmla="*/ 11 h 267"/>
                  <a:gd name="T10" fmla="*/ 179 w 370"/>
                  <a:gd name="T11" fmla="*/ 58 h 267"/>
                  <a:gd name="T12" fmla="*/ 168 w 370"/>
                  <a:gd name="T13" fmla="*/ 65 h 267"/>
                  <a:gd name="T14" fmla="*/ 155 w 370"/>
                  <a:gd name="T15" fmla="*/ 60 h 267"/>
                  <a:gd name="T16" fmla="*/ 67 w 370"/>
                  <a:gd name="T17" fmla="*/ 47 h 267"/>
                  <a:gd name="T18" fmla="*/ 0 w 370"/>
                  <a:gd name="T19" fmla="*/ 116 h 267"/>
                  <a:gd name="T20" fmla="*/ 9 w 370"/>
                  <a:gd name="T21" fmla="*/ 121 h 267"/>
                  <a:gd name="T22" fmla="*/ 84 w 370"/>
                  <a:gd name="T23" fmla="*/ 267 h 267"/>
                  <a:gd name="T24" fmla="*/ 142 w 370"/>
                  <a:gd name="T25" fmla="*/ 22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0" h="267">
                    <a:moveTo>
                      <a:pt x="142" y="228"/>
                    </a:moveTo>
                    <a:cubicBezTo>
                      <a:pt x="189" y="219"/>
                      <a:pt x="225" y="237"/>
                      <a:pt x="241" y="248"/>
                    </a:cubicBezTo>
                    <a:cubicBezTo>
                      <a:pt x="253" y="241"/>
                      <a:pt x="275" y="230"/>
                      <a:pt x="303" y="226"/>
                    </a:cubicBezTo>
                    <a:cubicBezTo>
                      <a:pt x="304" y="191"/>
                      <a:pt x="319" y="134"/>
                      <a:pt x="368" y="107"/>
                    </a:cubicBezTo>
                    <a:cubicBezTo>
                      <a:pt x="370" y="82"/>
                      <a:pt x="350" y="22"/>
                      <a:pt x="278" y="11"/>
                    </a:cubicBezTo>
                    <a:cubicBezTo>
                      <a:pt x="211" y="0"/>
                      <a:pt x="181" y="56"/>
                      <a:pt x="179" y="58"/>
                    </a:cubicBezTo>
                    <a:cubicBezTo>
                      <a:pt x="177" y="62"/>
                      <a:pt x="173" y="65"/>
                      <a:pt x="168" y="65"/>
                    </a:cubicBezTo>
                    <a:cubicBezTo>
                      <a:pt x="163" y="66"/>
                      <a:pt x="158" y="64"/>
                      <a:pt x="155" y="60"/>
                    </a:cubicBezTo>
                    <a:cubicBezTo>
                      <a:pt x="155" y="59"/>
                      <a:pt x="133" y="32"/>
                      <a:pt x="67" y="47"/>
                    </a:cubicBezTo>
                    <a:cubicBezTo>
                      <a:pt x="14" y="60"/>
                      <a:pt x="2" y="101"/>
                      <a:pt x="0" y="116"/>
                    </a:cubicBezTo>
                    <a:cubicBezTo>
                      <a:pt x="3" y="117"/>
                      <a:pt x="6" y="119"/>
                      <a:pt x="9" y="121"/>
                    </a:cubicBezTo>
                    <a:cubicBezTo>
                      <a:pt x="63" y="161"/>
                      <a:pt x="80" y="224"/>
                      <a:pt x="84" y="267"/>
                    </a:cubicBezTo>
                    <a:cubicBezTo>
                      <a:pt x="96" y="250"/>
                      <a:pt x="114" y="234"/>
                      <a:pt x="142" y="228"/>
                    </a:cubicBezTo>
                    <a:close/>
                  </a:path>
                </a:pathLst>
              </a:custGeom>
              <a:grpFill/>
              <a:ln>
                <a:solidFill>
                  <a:schemeClr val="accent2"/>
                </a:solidFill>
              </a:ln>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dirty="0">
                  <a:ln>
                    <a:noFill/>
                  </a:ln>
                  <a:solidFill>
                    <a:srgbClr val="7E7E7E"/>
                  </a:solidFill>
                  <a:effectLst/>
                  <a:uLnTx/>
                  <a:uFillTx/>
                  <a:latin typeface="Raleway Light"/>
                </a:endParaRPr>
              </a:p>
            </p:txBody>
          </p:sp>
          <p:sp>
            <p:nvSpPr>
              <p:cNvPr id="123" name="Freeform 11"/>
              <p:cNvSpPr>
                <a:spLocks/>
              </p:cNvSpPr>
              <p:nvPr/>
            </p:nvSpPr>
            <p:spPr bwMode="auto">
              <a:xfrm>
                <a:off x="8169276" y="952501"/>
                <a:ext cx="3781424" cy="3384550"/>
              </a:xfrm>
              <a:custGeom>
                <a:avLst/>
                <a:gdLst>
                  <a:gd name="T0" fmla="*/ 932 w 1005"/>
                  <a:gd name="T1" fmla="*/ 313 h 899"/>
                  <a:gd name="T2" fmla="*/ 693 w 1005"/>
                  <a:gd name="T3" fmla="*/ 126 h 899"/>
                  <a:gd name="T4" fmla="*/ 192 w 1005"/>
                  <a:gd name="T5" fmla="*/ 181 h 899"/>
                  <a:gd name="T6" fmla="*/ 261 w 1005"/>
                  <a:gd name="T7" fmla="*/ 549 h 899"/>
                  <a:gd name="T8" fmla="*/ 292 w 1005"/>
                  <a:gd name="T9" fmla="*/ 298 h 899"/>
                  <a:gd name="T10" fmla="*/ 155 w 1005"/>
                  <a:gd name="T11" fmla="*/ 377 h 899"/>
                  <a:gd name="T12" fmla="*/ 244 w 1005"/>
                  <a:gd name="T13" fmla="*/ 409 h 899"/>
                  <a:gd name="T14" fmla="*/ 255 w 1005"/>
                  <a:gd name="T15" fmla="*/ 435 h 899"/>
                  <a:gd name="T16" fmla="*/ 128 w 1005"/>
                  <a:gd name="T17" fmla="*/ 388 h 899"/>
                  <a:gd name="T18" fmla="*/ 274 w 1005"/>
                  <a:gd name="T19" fmla="*/ 257 h 899"/>
                  <a:gd name="T20" fmla="*/ 464 w 1005"/>
                  <a:gd name="T21" fmla="*/ 184 h 899"/>
                  <a:gd name="T22" fmla="*/ 673 w 1005"/>
                  <a:gd name="T23" fmla="*/ 190 h 899"/>
                  <a:gd name="T24" fmla="*/ 851 w 1005"/>
                  <a:gd name="T25" fmla="*/ 291 h 899"/>
                  <a:gd name="T26" fmla="*/ 914 w 1005"/>
                  <a:gd name="T27" fmla="*/ 518 h 899"/>
                  <a:gd name="T28" fmla="*/ 747 w 1005"/>
                  <a:gd name="T29" fmla="*/ 572 h 899"/>
                  <a:gd name="T30" fmla="*/ 474 w 1005"/>
                  <a:gd name="T31" fmla="*/ 615 h 899"/>
                  <a:gd name="T32" fmla="*/ 421 w 1005"/>
                  <a:gd name="T33" fmla="*/ 572 h 899"/>
                  <a:gd name="T34" fmla="*/ 446 w 1005"/>
                  <a:gd name="T35" fmla="*/ 560 h 899"/>
                  <a:gd name="T36" fmla="*/ 553 w 1005"/>
                  <a:gd name="T37" fmla="*/ 547 h 899"/>
                  <a:gd name="T38" fmla="*/ 854 w 1005"/>
                  <a:gd name="T39" fmla="*/ 560 h 899"/>
                  <a:gd name="T40" fmla="*/ 857 w 1005"/>
                  <a:gd name="T41" fmla="*/ 427 h 899"/>
                  <a:gd name="T42" fmla="*/ 831 w 1005"/>
                  <a:gd name="T43" fmla="*/ 311 h 899"/>
                  <a:gd name="T44" fmla="*/ 632 w 1005"/>
                  <a:gd name="T45" fmla="*/ 378 h 899"/>
                  <a:gd name="T46" fmla="*/ 742 w 1005"/>
                  <a:gd name="T47" fmla="*/ 461 h 899"/>
                  <a:gd name="T48" fmla="*/ 549 w 1005"/>
                  <a:gd name="T49" fmla="*/ 430 h 899"/>
                  <a:gd name="T50" fmla="*/ 447 w 1005"/>
                  <a:gd name="T51" fmla="*/ 410 h 899"/>
                  <a:gd name="T52" fmla="*/ 381 w 1005"/>
                  <a:gd name="T53" fmla="*/ 488 h 899"/>
                  <a:gd name="T54" fmla="*/ 300 w 1005"/>
                  <a:gd name="T55" fmla="*/ 535 h 899"/>
                  <a:gd name="T56" fmla="*/ 298 w 1005"/>
                  <a:gd name="T57" fmla="*/ 538 h 899"/>
                  <a:gd name="T58" fmla="*/ 274 w 1005"/>
                  <a:gd name="T59" fmla="*/ 618 h 899"/>
                  <a:gd name="T60" fmla="*/ 288 w 1005"/>
                  <a:gd name="T61" fmla="*/ 665 h 899"/>
                  <a:gd name="T62" fmla="*/ 352 w 1005"/>
                  <a:gd name="T63" fmla="*/ 724 h 899"/>
                  <a:gd name="T64" fmla="*/ 571 w 1005"/>
                  <a:gd name="T65" fmla="*/ 769 h 899"/>
                  <a:gd name="T66" fmla="*/ 570 w 1005"/>
                  <a:gd name="T67" fmla="*/ 769 h 899"/>
                  <a:gd name="T68" fmla="*/ 681 w 1005"/>
                  <a:gd name="T69" fmla="*/ 675 h 899"/>
                  <a:gd name="T70" fmla="*/ 650 w 1005"/>
                  <a:gd name="T71" fmla="*/ 634 h 899"/>
                  <a:gd name="T72" fmla="*/ 708 w 1005"/>
                  <a:gd name="T73" fmla="*/ 665 h 899"/>
                  <a:gd name="T74" fmla="*/ 691 w 1005"/>
                  <a:gd name="T75" fmla="*/ 750 h 899"/>
                  <a:gd name="T76" fmla="*/ 491 w 1005"/>
                  <a:gd name="T77" fmla="*/ 785 h 899"/>
                  <a:gd name="T78" fmla="*/ 787 w 1005"/>
                  <a:gd name="T79" fmla="*/ 830 h 899"/>
                  <a:gd name="T80" fmla="*/ 1001 w 1005"/>
                  <a:gd name="T81" fmla="*/ 474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5" h="899">
                    <a:moveTo>
                      <a:pt x="1001" y="474"/>
                    </a:moveTo>
                    <a:cubicBezTo>
                      <a:pt x="997" y="357"/>
                      <a:pt x="932" y="313"/>
                      <a:pt x="932" y="313"/>
                    </a:cubicBezTo>
                    <a:cubicBezTo>
                      <a:pt x="932" y="313"/>
                      <a:pt x="924" y="257"/>
                      <a:pt x="873" y="197"/>
                    </a:cubicBezTo>
                    <a:cubicBezTo>
                      <a:pt x="794" y="111"/>
                      <a:pt x="693" y="126"/>
                      <a:pt x="693" y="126"/>
                    </a:cubicBezTo>
                    <a:cubicBezTo>
                      <a:pt x="563" y="0"/>
                      <a:pt x="430" y="97"/>
                      <a:pt x="430" y="97"/>
                    </a:cubicBezTo>
                    <a:cubicBezTo>
                      <a:pt x="245" y="36"/>
                      <a:pt x="192" y="181"/>
                      <a:pt x="192" y="181"/>
                    </a:cubicBezTo>
                    <a:cubicBezTo>
                      <a:pt x="86" y="193"/>
                      <a:pt x="0" y="317"/>
                      <a:pt x="77" y="450"/>
                    </a:cubicBezTo>
                    <a:cubicBezTo>
                      <a:pt x="136" y="552"/>
                      <a:pt x="224" y="554"/>
                      <a:pt x="261" y="549"/>
                    </a:cubicBezTo>
                    <a:cubicBezTo>
                      <a:pt x="274" y="517"/>
                      <a:pt x="300" y="481"/>
                      <a:pt x="357" y="465"/>
                    </a:cubicBezTo>
                    <a:cubicBezTo>
                      <a:pt x="358" y="459"/>
                      <a:pt x="365" y="350"/>
                      <a:pt x="292" y="298"/>
                    </a:cubicBezTo>
                    <a:cubicBezTo>
                      <a:pt x="249" y="267"/>
                      <a:pt x="201" y="275"/>
                      <a:pt x="174" y="295"/>
                    </a:cubicBezTo>
                    <a:cubicBezTo>
                      <a:pt x="149" y="315"/>
                      <a:pt x="142" y="345"/>
                      <a:pt x="155" y="377"/>
                    </a:cubicBezTo>
                    <a:cubicBezTo>
                      <a:pt x="161" y="394"/>
                      <a:pt x="171" y="405"/>
                      <a:pt x="185" y="411"/>
                    </a:cubicBezTo>
                    <a:cubicBezTo>
                      <a:pt x="212" y="422"/>
                      <a:pt x="243" y="409"/>
                      <a:pt x="244" y="409"/>
                    </a:cubicBezTo>
                    <a:cubicBezTo>
                      <a:pt x="251" y="406"/>
                      <a:pt x="259" y="410"/>
                      <a:pt x="262" y="417"/>
                    </a:cubicBezTo>
                    <a:cubicBezTo>
                      <a:pt x="265" y="424"/>
                      <a:pt x="262" y="432"/>
                      <a:pt x="255" y="435"/>
                    </a:cubicBezTo>
                    <a:cubicBezTo>
                      <a:pt x="253" y="436"/>
                      <a:pt x="212" y="453"/>
                      <a:pt x="174" y="437"/>
                    </a:cubicBezTo>
                    <a:cubicBezTo>
                      <a:pt x="154" y="429"/>
                      <a:pt x="138" y="412"/>
                      <a:pt x="128" y="388"/>
                    </a:cubicBezTo>
                    <a:cubicBezTo>
                      <a:pt x="111" y="343"/>
                      <a:pt x="122" y="300"/>
                      <a:pt x="157" y="273"/>
                    </a:cubicBezTo>
                    <a:cubicBezTo>
                      <a:pt x="189" y="248"/>
                      <a:pt x="234" y="243"/>
                      <a:pt x="274" y="257"/>
                    </a:cubicBezTo>
                    <a:cubicBezTo>
                      <a:pt x="281" y="227"/>
                      <a:pt x="304" y="187"/>
                      <a:pt x="361" y="174"/>
                    </a:cubicBezTo>
                    <a:cubicBezTo>
                      <a:pt x="415" y="161"/>
                      <a:pt x="447" y="173"/>
                      <a:pt x="464" y="184"/>
                    </a:cubicBezTo>
                    <a:cubicBezTo>
                      <a:pt x="484" y="158"/>
                      <a:pt x="524" y="127"/>
                      <a:pt x="582" y="137"/>
                    </a:cubicBezTo>
                    <a:cubicBezTo>
                      <a:pt x="631" y="145"/>
                      <a:pt x="658" y="170"/>
                      <a:pt x="673" y="190"/>
                    </a:cubicBezTo>
                    <a:cubicBezTo>
                      <a:pt x="686" y="208"/>
                      <a:pt x="694" y="230"/>
                      <a:pt x="696" y="250"/>
                    </a:cubicBezTo>
                    <a:cubicBezTo>
                      <a:pt x="751" y="237"/>
                      <a:pt x="814" y="253"/>
                      <a:pt x="851" y="291"/>
                    </a:cubicBezTo>
                    <a:cubicBezTo>
                      <a:pt x="881" y="322"/>
                      <a:pt x="892" y="365"/>
                      <a:pt x="881" y="411"/>
                    </a:cubicBezTo>
                    <a:cubicBezTo>
                      <a:pt x="895" y="424"/>
                      <a:pt x="922" y="459"/>
                      <a:pt x="914" y="518"/>
                    </a:cubicBezTo>
                    <a:cubicBezTo>
                      <a:pt x="910" y="549"/>
                      <a:pt x="893" y="573"/>
                      <a:pt x="866" y="586"/>
                    </a:cubicBezTo>
                    <a:cubicBezTo>
                      <a:pt x="831" y="602"/>
                      <a:pt x="785" y="596"/>
                      <a:pt x="747" y="572"/>
                    </a:cubicBezTo>
                    <a:cubicBezTo>
                      <a:pt x="693" y="538"/>
                      <a:pt x="609" y="536"/>
                      <a:pt x="571" y="568"/>
                    </a:cubicBezTo>
                    <a:cubicBezTo>
                      <a:pt x="541" y="593"/>
                      <a:pt x="507" y="618"/>
                      <a:pt x="474" y="615"/>
                    </a:cubicBezTo>
                    <a:cubicBezTo>
                      <a:pt x="472" y="615"/>
                      <a:pt x="469" y="615"/>
                      <a:pt x="466" y="614"/>
                    </a:cubicBezTo>
                    <a:cubicBezTo>
                      <a:pt x="447" y="610"/>
                      <a:pt x="432" y="596"/>
                      <a:pt x="421" y="572"/>
                    </a:cubicBezTo>
                    <a:cubicBezTo>
                      <a:pt x="417" y="565"/>
                      <a:pt x="420" y="557"/>
                      <a:pt x="427" y="554"/>
                    </a:cubicBezTo>
                    <a:cubicBezTo>
                      <a:pt x="434" y="550"/>
                      <a:pt x="443" y="553"/>
                      <a:pt x="446" y="560"/>
                    </a:cubicBezTo>
                    <a:cubicBezTo>
                      <a:pt x="453" y="576"/>
                      <a:pt x="462" y="584"/>
                      <a:pt x="473" y="586"/>
                    </a:cubicBezTo>
                    <a:cubicBezTo>
                      <a:pt x="496" y="592"/>
                      <a:pt x="530" y="566"/>
                      <a:pt x="553" y="547"/>
                    </a:cubicBezTo>
                    <a:cubicBezTo>
                      <a:pt x="601" y="506"/>
                      <a:pt x="697" y="507"/>
                      <a:pt x="762" y="548"/>
                    </a:cubicBezTo>
                    <a:cubicBezTo>
                      <a:pt x="792" y="567"/>
                      <a:pt x="828" y="572"/>
                      <a:pt x="854" y="560"/>
                    </a:cubicBezTo>
                    <a:cubicBezTo>
                      <a:pt x="872" y="552"/>
                      <a:pt x="883" y="536"/>
                      <a:pt x="886" y="514"/>
                    </a:cubicBezTo>
                    <a:cubicBezTo>
                      <a:pt x="895" y="455"/>
                      <a:pt x="858" y="427"/>
                      <a:pt x="857" y="427"/>
                    </a:cubicBezTo>
                    <a:cubicBezTo>
                      <a:pt x="852" y="424"/>
                      <a:pt x="850" y="418"/>
                      <a:pt x="852" y="412"/>
                    </a:cubicBezTo>
                    <a:cubicBezTo>
                      <a:pt x="863" y="372"/>
                      <a:pt x="856" y="337"/>
                      <a:pt x="831" y="311"/>
                    </a:cubicBezTo>
                    <a:cubicBezTo>
                      <a:pt x="800" y="280"/>
                      <a:pt x="747" y="266"/>
                      <a:pt x="702" y="278"/>
                    </a:cubicBezTo>
                    <a:cubicBezTo>
                      <a:pt x="642" y="293"/>
                      <a:pt x="633" y="357"/>
                      <a:pt x="632" y="378"/>
                    </a:cubicBezTo>
                    <a:cubicBezTo>
                      <a:pt x="667" y="380"/>
                      <a:pt x="707" y="396"/>
                      <a:pt x="744" y="441"/>
                    </a:cubicBezTo>
                    <a:cubicBezTo>
                      <a:pt x="749" y="447"/>
                      <a:pt x="748" y="456"/>
                      <a:pt x="742" y="461"/>
                    </a:cubicBezTo>
                    <a:cubicBezTo>
                      <a:pt x="736" y="466"/>
                      <a:pt x="727" y="465"/>
                      <a:pt x="722" y="459"/>
                    </a:cubicBezTo>
                    <a:cubicBezTo>
                      <a:pt x="643" y="362"/>
                      <a:pt x="552" y="428"/>
                      <a:pt x="549" y="430"/>
                    </a:cubicBezTo>
                    <a:cubicBezTo>
                      <a:pt x="543" y="434"/>
                      <a:pt x="536" y="434"/>
                      <a:pt x="531" y="430"/>
                    </a:cubicBezTo>
                    <a:cubicBezTo>
                      <a:pt x="529" y="429"/>
                      <a:pt x="496" y="400"/>
                      <a:pt x="447" y="410"/>
                    </a:cubicBezTo>
                    <a:cubicBezTo>
                      <a:pt x="401" y="419"/>
                      <a:pt x="393" y="476"/>
                      <a:pt x="393" y="476"/>
                    </a:cubicBezTo>
                    <a:cubicBezTo>
                      <a:pt x="392" y="482"/>
                      <a:pt x="387" y="487"/>
                      <a:pt x="381" y="488"/>
                    </a:cubicBezTo>
                    <a:cubicBezTo>
                      <a:pt x="339" y="496"/>
                      <a:pt x="315" y="514"/>
                      <a:pt x="300" y="535"/>
                    </a:cubicBezTo>
                    <a:cubicBezTo>
                      <a:pt x="300" y="535"/>
                      <a:pt x="300" y="535"/>
                      <a:pt x="300" y="535"/>
                    </a:cubicBezTo>
                    <a:cubicBezTo>
                      <a:pt x="300" y="535"/>
                      <a:pt x="300" y="535"/>
                      <a:pt x="300" y="535"/>
                    </a:cubicBezTo>
                    <a:cubicBezTo>
                      <a:pt x="299" y="536"/>
                      <a:pt x="299" y="537"/>
                      <a:pt x="298" y="538"/>
                    </a:cubicBezTo>
                    <a:cubicBezTo>
                      <a:pt x="278" y="568"/>
                      <a:pt x="273" y="596"/>
                      <a:pt x="275" y="618"/>
                    </a:cubicBezTo>
                    <a:cubicBezTo>
                      <a:pt x="275" y="618"/>
                      <a:pt x="274" y="618"/>
                      <a:pt x="274" y="618"/>
                    </a:cubicBezTo>
                    <a:cubicBezTo>
                      <a:pt x="275" y="625"/>
                      <a:pt x="276" y="631"/>
                      <a:pt x="278" y="637"/>
                    </a:cubicBezTo>
                    <a:cubicBezTo>
                      <a:pt x="281" y="654"/>
                      <a:pt x="288" y="664"/>
                      <a:pt x="288" y="665"/>
                    </a:cubicBezTo>
                    <a:cubicBezTo>
                      <a:pt x="302" y="693"/>
                      <a:pt x="326" y="711"/>
                      <a:pt x="352" y="724"/>
                    </a:cubicBezTo>
                    <a:cubicBezTo>
                      <a:pt x="352" y="724"/>
                      <a:pt x="352" y="724"/>
                      <a:pt x="352" y="724"/>
                    </a:cubicBezTo>
                    <a:cubicBezTo>
                      <a:pt x="352" y="724"/>
                      <a:pt x="418" y="758"/>
                      <a:pt x="552" y="768"/>
                    </a:cubicBezTo>
                    <a:cubicBezTo>
                      <a:pt x="558" y="768"/>
                      <a:pt x="565" y="769"/>
                      <a:pt x="571" y="769"/>
                    </a:cubicBezTo>
                    <a:cubicBezTo>
                      <a:pt x="571" y="769"/>
                      <a:pt x="570" y="769"/>
                      <a:pt x="570" y="769"/>
                    </a:cubicBezTo>
                    <a:cubicBezTo>
                      <a:pt x="570" y="769"/>
                      <a:pt x="570" y="769"/>
                      <a:pt x="570" y="769"/>
                    </a:cubicBezTo>
                    <a:cubicBezTo>
                      <a:pt x="606" y="770"/>
                      <a:pt x="643" y="762"/>
                      <a:pt x="668" y="733"/>
                    </a:cubicBezTo>
                    <a:cubicBezTo>
                      <a:pt x="682" y="710"/>
                      <a:pt x="687" y="689"/>
                      <a:pt x="681" y="675"/>
                    </a:cubicBezTo>
                    <a:cubicBezTo>
                      <a:pt x="675" y="658"/>
                      <a:pt x="659" y="652"/>
                      <a:pt x="659" y="652"/>
                    </a:cubicBezTo>
                    <a:cubicBezTo>
                      <a:pt x="651" y="649"/>
                      <a:pt x="648" y="641"/>
                      <a:pt x="650" y="634"/>
                    </a:cubicBezTo>
                    <a:cubicBezTo>
                      <a:pt x="653" y="627"/>
                      <a:pt x="661" y="623"/>
                      <a:pt x="668" y="625"/>
                    </a:cubicBezTo>
                    <a:cubicBezTo>
                      <a:pt x="669" y="626"/>
                      <a:pt x="698" y="636"/>
                      <a:pt x="708" y="665"/>
                    </a:cubicBezTo>
                    <a:cubicBezTo>
                      <a:pt x="717" y="689"/>
                      <a:pt x="711" y="717"/>
                      <a:pt x="692" y="749"/>
                    </a:cubicBezTo>
                    <a:cubicBezTo>
                      <a:pt x="691" y="749"/>
                      <a:pt x="691" y="750"/>
                      <a:pt x="691" y="750"/>
                    </a:cubicBezTo>
                    <a:cubicBezTo>
                      <a:pt x="655" y="793"/>
                      <a:pt x="601" y="800"/>
                      <a:pt x="556" y="797"/>
                    </a:cubicBezTo>
                    <a:cubicBezTo>
                      <a:pt x="530" y="795"/>
                      <a:pt x="507" y="789"/>
                      <a:pt x="491" y="785"/>
                    </a:cubicBezTo>
                    <a:cubicBezTo>
                      <a:pt x="524" y="857"/>
                      <a:pt x="598" y="891"/>
                      <a:pt x="677" y="895"/>
                    </a:cubicBezTo>
                    <a:cubicBezTo>
                      <a:pt x="769" y="899"/>
                      <a:pt x="787" y="830"/>
                      <a:pt x="787" y="830"/>
                    </a:cubicBezTo>
                    <a:cubicBezTo>
                      <a:pt x="911" y="781"/>
                      <a:pt x="884" y="656"/>
                      <a:pt x="884" y="656"/>
                    </a:cubicBezTo>
                    <a:cubicBezTo>
                      <a:pt x="936" y="648"/>
                      <a:pt x="1005" y="590"/>
                      <a:pt x="1001" y="474"/>
                    </a:cubicBezTo>
                    <a:close/>
                  </a:path>
                </a:pathLst>
              </a:custGeom>
              <a:grpFill/>
              <a:ln>
                <a:solidFill>
                  <a:schemeClr val="accent2"/>
                </a:solidFill>
              </a:ln>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dirty="0">
                  <a:ln>
                    <a:noFill/>
                  </a:ln>
                  <a:solidFill>
                    <a:srgbClr val="7E7E7E"/>
                  </a:solidFill>
                  <a:effectLst/>
                  <a:uLnTx/>
                  <a:uFillTx/>
                  <a:latin typeface="Raleway Light"/>
                </a:endParaRPr>
              </a:p>
            </p:txBody>
          </p:sp>
        </p:grpSp>
      </p:grpSp>
      <p:sp>
        <p:nvSpPr>
          <p:cNvPr id="126" name="矩形 19"/>
          <p:cNvSpPr>
            <a:spLocks noChangeArrowheads="1"/>
          </p:cNvSpPr>
          <p:nvPr/>
        </p:nvSpPr>
        <p:spPr bwMode="auto">
          <a:xfrm>
            <a:off x="7675966" y="2680516"/>
            <a:ext cx="1932725"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技术因子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形态因子、指标因子、量价因子</a:t>
            </a:r>
            <a:r>
              <a:rPr lang="zh-CN" altLang="en-US" sz="1350" dirty="0">
                <a:solidFill>
                  <a:schemeClr val="bg1">
                    <a:lumMod val="50000"/>
                  </a:schemeClr>
                </a:solidFill>
                <a:latin typeface="+mn-ea"/>
                <a:ea typeface="+mn-ea"/>
                <a:cs typeface="Arial" panose="020B0604020202020204" pitchFamily="34" charset="0"/>
              </a:rPr>
              <a:t>）</a:t>
            </a:r>
          </a:p>
        </p:txBody>
      </p:sp>
      <p:sp>
        <p:nvSpPr>
          <p:cNvPr id="127" name="矩形 19"/>
          <p:cNvSpPr>
            <a:spLocks noChangeArrowheads="1"/>
          </p:cNvSpPr>
          <p:nvPr/>
        </p:nvSpPr>
        <p:spPr bwMode="auto">
          <a:xfrm>
            <a:off x="8488116" y="3841717"/>
            <a:ext cx="1398834"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Hans" altLang="en-US" sz="1600" dirty="0">
                <a:solidFill>
                  <a:schemeClr val="accent2"/>
                </a:solidFill>
                <a:latin typeface="+mn-ea"/>
                <a:ea typeface="+mn-ea"/>
                <a:cs typeface="Arial" panose="020B0604020202020204" pitchFamily="34" charset="0"/>
              </a:rPr>
              <a:t>预期</a:t>
            </a:r>
            <a:r>
              <a:rPr lang="zh-CN" altLang="en-US" sz="1600" dirty="0">
                <a:solidFill>
                  <a:schemeClr val="accent2"/>
                </a:solidFill>
                <a:latin typeface="+mn-ea"/>
                <a:ea typeface="+mn-ea"/>
                <a:cs typeface="Arial" panose="020B0604020202020204" pitchFamily="34" charset="0"/>
              </a:rPr>
              <a:t>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机构评级因子、舆情指数</a:t>
            </a:r>
            <a:r>
              <a:rPr lang="zh-CN" altLang="en-US" sz="1350" dirty="0">
                <a:solidFill>
                  <a:schemeClr val="bg1">
                    <a:lumMod val="50000"/>
                  </a:schemeClr>
                </a:solidFill>
                <a:latin typeface="+mn-ea"/>
                <a:ea typeface="+mn-ea"/>
                <a:cs typeface="Arial" panose="020B0604020202020204" pitchFamily="34" charset="0"/>
              </a:rPr>
              <a:t>）</a:t>
            </a:r>
          </a:p>
        </p:txBody>
      </p:sp>
      <p:sp>
        <p:nvSpPr>
          <p:cNvPr id="128" name="矩形 19"/>
          <p:cNvSpPr>
            <a:spLocks noChangeArrowheads="1"/>
          </p:cNvSpPr>
          <p:nvPr/>
        </p:nvSpPr>
        <p:spPr bwMode="auto">
          <a:xfrm>
            <a:off x="8508365" y="5110922"/>
            <a:ext cx="1249405"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行为因子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换手因子、活跃因子</a:t>
            </a:r>
            <a:r>
              <a:rPr lang="zh-CN" altLang="en-US" sz="1350" dirty="0">
                <a:solidFill>
                  <a:schemeClr val="bg1">
                    <a:lumMod val="50000"/>
                  </a:schemeClr>
                </a:solidFill>
                <a:latin typeface="+mn-ea"/>
                <a:ea typeface="+mn-ea"/>
                <a:cs typeface="Arial" panose="020B0604020202020204" pitchFamily="34" charset="0"/>
              </a:rPr>
              <a:t>）</a:t>
            </a:r>
          </a:p>
        </p:txBody>
      </p:sp>
      <p:sp>
        <p:nvSpPr>
          <p:cNvPr id="129" name="矩形 19"/>
          <p:cNvSpPr>
            <a:spLocks noChangeArrowheads="1"/>
          </p:cNvSpPr>
          <p:nvPr/>
        </p:nvSpPr>
        <p:spPr bwMode="auto">
          <a:xfrm>
            <a:off x="7746983" y="6290654"/>
            <a:ext cx="3353408" cy="54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Hans" altLang="en-US" sz="1600" dirty="0">
                <a:solidFill>
                  <a:schemeClr val="accent2"/>
                </a:solidFill>
                <a:latin typeface="+mn-ea"/>
                <a:ea typeface="+mn-ea"/>
                <a:cs typeface="Arial" panose="020B0604020202020204" pitchFamily="34" charset="0"/>
              </a:rPr>
              <a:t>事件</a:t>
            </a:r>
            <a:r>
              <a:rPr lang="zh-CN" altLang="en-US" sz="1600" dirty="0">
                <a:solidFill>
                  <a:schemeClr val="accent2"/>
                </a:solidFill>
                <a:latin typeface="+mn-ea"/>
                <a:ea typeface="+mn-ea"/>
                <a:cs typeface="Arial" panose="020B0604020202020204" pitchFamily="34" charset="0"/>
              </a:rPr>
              <a:t>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定增预告、业绩预告、高转送、并购</a:t>
            </a:r>
            <a:r>
              <a:rPr lang="zh-CN" altLang="en-US" sz="1350" dirty="0">
                <a:solidFill>
                  <a:schemeClr val="bg1">
                    <a:lumMod val="50000"/>
                  </a:schemeClr>
                </a:solidFill>
                <a:latin typeface="+mn-ea"/>
                <a:ea typeface="+mn-ea"/>
                <a:cs typeface="Arial" panose="020B0604020202020204" pitchFamily="34" charset="0"/>
              </a:rPr>
              <a:t>）</a:t>
            </a:r>
          </a:p>
        </p:txBody>
      </p:sp>
      <p:sp>
        <p:nvSpPr>
          <p:cNvPr id="131" name="矩形 19"/>
          <p:cNvSpPr>
            <a:spLocks noChangeArrowheads="1"/>
          </p:cNvSpPr>
          <p:nvPr/>
        </p:nvSpPr>
        <p:spPr bwMode="auto">
          <a:xfrm>
            <a:off x="2428875" y="6246489"/>
            <a:ext cx="2412428" cy="54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行业因子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行业估值、行业景气度</a:t>
            </a:r>
            <a:r>
              <a:rPr lang="zh-CN" altLang="en-US" sz="1350" dirty="0">
                <a:solidFill>
                  <a:schemeClr val="bg1">
                    <a:lumMod val="50000"/>
                  </a:schemeClr>
                </a:solidFill>
                <a:latin typeface="+mn-ea"/>
                <a:ea typeface="+mn-ea"/>
                <a:cs typeface="Arial" panose="020B0604020202020204" pitchFamily="34" charset="0"/>
              </a:rPr>
              <a:t>）</a:t>
            </a:r>
          </a:p>
        </p:txBody>
      </p:sp>
      <p:sp>
        <p:nvSpPr>
          <p:cNvPr id="132" name="矩形 19"/>
          <p:cNvSpPr>
            <a:spLocks noChangeArrowheads="1"/>
          </p:cNvSpPr>
          <p:nvPr/>
        </p:nvSpPr>
        <p:spPr bwMode="auto">
          <a:xfrm>
            <a:off x="2302509" y="5158432"/>
            <a:ext cx="1789365"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宏观因子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en-US" altLang="zh-CN" sz="1350" dirty="0">
                <a:solidFill>
                  <a:schemeClr val="bg1">
                    <a:lumMod val="50000"/>
                  </a:schemeClr>
                </a:solidFill>
                <a:latin typeface="+mn-ea"/>
                <a:ea typeface="+mn-ea"/>
                <a:cs typeface="Arial" panose="020B0604020202020204" pitchFamily="34" charset="0"/>
              </a:rPr>
              <a:t>GDP</a:t>
            </a:r>
            <a:r>
              <a:rPr lang="zh-Hans" altLang="en-US" sz="1350" dirty="0">
                <a:solidFill>
                  <a:schemeClr val="bg1">
                    <a:lumMod val="50000"/>
                  </a:schemeClr>
                </a:solidFill>
                <a:latin typeface="+mn-ea"/>
                <a:ea typeface="+mn-ea"/>
                <a:cs typeface="Arial" panose="020B0604020202020204" pitchFamily="34" charset="0"/>
              </a:rPr>
              <a:t>、物价指数、经济指标环比</a:t>
            </a:r>
            <a:r>
              <a:rPr lang="zh-CN" altLang="en-US" sz="1350" dirty="0">
                <a:solidFill>
                  <a:schemeClr val="bg1">
                    <a:lumMod val="50000"/>
                  </a:schemeClr>
                </a:solidFill>
                <a:latin typeface="+mn-ea"/>
                <a:ea typeface="+mn-ea"/>
                <a:cs typeface="Arial" panose="020B0604020202020204" pitchFamily="34" charset="0"/>
              </a:rPr>
              <a:t>）</a:t>
            </a:r>
          </a:p>
        </p:txBody>
      </p:sp>
      <p:sp>
        <p:nvSpPr>
          <p:cNvPr id="133" name="矩形 19"/>
          <p:cNvSpPr>
            <a:spLocks noChangeArrowheads="1"/>
          </p:cNvSpPr>
          <p:nvPr/>
        </p:nvSpPr>
        <p:spPr bwMode="auto">
          <a:xfrm>
            <a:off x="2043114" y="3847505"/>
            <a:ext cx="2015922"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CN" altLang="en-US" sz="1600" dirty="0">
                <a:solidFill>
                  <a:schemeClr val="accent2"/>
                </a:solidFill>
                <a:latin typeface="+mn-ea"/>
                <a:ea typeface="+mn-ea"/>
                <a:cs typeface="Arial" panose="020B0604020202020204" pitchFamily="34" charset="0"/>
              </a:rPr>
              <a:t>市场因子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动量因子、反转因子</a:t>
            </a:r>
            <a:endParaRPr lang="en-US" altLang="zh-Hans" sz="1350" dirty="0">
              <a:solidFill>
                <a:schemeClr val="bg1">
                  <a:lumMod val="50000"/>
                </a:schemeClr>
              </a:solidFill>
              <a:latin typeface="+mn-ea"/>
              <a:ea typeface="+mn-ea"/>
              <a:cs typeface="Arial" panose="020B0604020202020204" pitchFamily="34" charset="0"/>
            </a:endParaRPr>
          </a:p>
          <a:p>
            <a:pPr algn="ctr">
              <a:lnSpc>
                <a:spcPct val="100000"/>
              </a:lnSpc>
              <a:spcBef>
                <a:spcPct val="0"/>
              </a:spcBef>
              <a:buNone/>
            </a:pPr>
            <a:r>
              <a:rPr lang="zh-Hans" altLang="en-US" sz="1350" dirty="0">
                <a:solidFill>
                  <a:schemeClr val="bg1">
                    <a:lumMod val="50000"/>
                  </a:schemeClr>
                </a:solidFill>
                <a:latin typeface="+mn-ea"/>
                <a:ea typeface="+mn-ea"/>
                <a:cs typeface="Arial" panose="020B0604020202020204" pitchFamily="34" charset="0"/>
              </a:rPr>
              <a:t>资金流因子</a:t>
            </a:r>
            <a:r>
              <a:rPr lang="zh-CN" altLang="en-US" sz="1350" dirty="0">
                <a:solidFill>
                  <a:schemeClr val="bg1">
                    <a:lumMod val="50000"/>
                  </a:schemeClr>
                </a:solidFill>
                <a:latin typeface="+mn-ea"/>
                <a:ea typeface="+mn-ea"/>
                <a:cs typeface="Arial" panose="020B0604020202020204" pitchFamily="34" charset="0"/>
              </a:rPr>
              <a:t>）</a:t>
            </a:r>
          </a:p>
        </p:txBody>
      </p:sp>
      <p:sp>
        <p:nvSpPr>
          <p:cNvPr id="134" name="矩形 19"/>
          <p:cNvSpPr>
            <a:spLocks noChangeArrowheads="1"/>
          </p:cNvSpPr>
          <p:nvPr/>
        </p:nvSpPr>
        <p:spPr bwMode="auto">
          <a:xfrm>
            <a:off x="2866724" y="2645739"/>
            <a:ext cx="2049531" cy="54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5800">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342900" indent="114300" defTabSz="68580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685800" indent="228600" defTabSz="6858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028700" indent="3429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1371600" indent="457200" defTabSz="6858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18288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2860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27432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200400" indent="457200" defTabSz="6858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zh-Hans" altLang="en-US" sz="1600" dirty="0">
                <a:solidFill>
                  <a:schemeClr val="accent2"/>
                </a:solidFill>
                <a:latin typeface="+mn-ea"/>
                <a:ea typeface="+mn-ea"/>
                <a:cs typeface="Arial" panose="020B0604020202020204" pitchFamily="34" charset="0"/>
              </a:rPr>
              <a:t>风险</a:t>
            </a:r>
            <a:r>
              <a:rPr lang="zh-CN" altLang="en-US" sz="1600" dirty="0">
                <a:solidFill>
                  <a:schemeClr val="accent2"/>
                </a:solidFill>
                <a:latin typeface="+mn-ea"/>
                <a:ea typeface="+mn-ea"/>
                <a:cs typeface="Arial" panose="020B0604020202020204" pitchFamily="34" charset="0"/>
              </a:rPr>
              <a:t>因子</a:t>
            </a:r>
            <a:endParaRPr lang="en-US" altLang="zh-CN" sz="1600" dirty="0">
              <a:solidFill>
                <a:schemeClr val="accent2"/>
              </a:solidFill>
              <a:latin typeface="+mn-ea"/>
              <a:ea typeface="+mn-ea"/>
              <a:cs typeface="Arial" panose="020B0604020202020204" pitchFamily="34" charset="0"/>
            </a:endParaRPr>
          </a:p>
          <a:p>
            <a:pPr algn="ctr">
              <a:lnSpc>
                <a:spcPct val="100000"/>
              </a:lnSpc>
              <a:spcBef>
                <a:spcPct val="0"/>
              </a:spcBef>
              <a:buNone/>
            </a:pPr>
            <a:r>
              <a:rPr lang="zh-CN" altLang="en-US" sz="1350" dirty="0">
                <a:solidFill>
                  <a:schemeClr val="bg1">
                    <a:lumMod val="50000"/>
                  </a:schemeClr>
                </a:solidFill>
                <a:latin typeface="+mn-ea"/>
                <a:ea typeface="+mn-ea"/>
                <a:cs typeface="Arial" panose="020B0604020202020204" pitchFamily="34" charset="0"/>
              </a:rPr>
              <a:t>（</a:t>
            </a:r>
            <a:r>
              <a:rPr lang="zh-Hans" altLang="en-US" sz="1350" dirty="0">
                <a:solidFill>
                  <a:schemeClr val="bg1">
                    <a:lumMod val="50000"/>
                  </a:schemeClr>
                </a:solidFill>
                <a:latin typeface="+mn-ea"/>
                <a:ea typeface="+mn-ea"/>
                <a:cs typeface="Arial" panose="020B0604020202020204" pitchFamily="34" charset="0"/>
              </a:rPr>
              <a:t>行业因子、风格因子</a:t>
            </a:r>
            <a:r>
              <a:rPr lang="zh-CN" altLang="en-US" sz="1350" dirty="0">
                <a:solidFill>
                  <a:schemeClr val="bg1">
                    <a:lumMod val="50000"/>
                  </a:schemeClr>
                </a:solidFill>
                <a:latin typeface="+mn-ea"/>
                <a:ea typeface="+mn-ea"/>
                <a:cs typeface="Arial" panose="020B0604020202020204" pitchFamily="34" charset="0"/>
              </a:rPr>
              <a:t>） </a:t>
            </a:r>
          </a:p>
        </p:txBody>
      </p:sp>
      <p:sp>
        <p:nvSpPr>
          <p:cNvPr id="37" name="Shape 215">
            <a:extLst>
              <a:ext uri="{FF2B5EF4-FFF2-40B4-BE49-F238E27FC236}">
                <a16:creationId xmlns:a16="http://schemas.microsoft.com/office/drawing/2014/main" id="{972E829A-88DE-8C46-B91E-6BEC938C0ED3}"/>
              </a:ext>
            </a:extLst>
          </p:cNvPr>
          <p:cNvSpPr/>
          <p:nvPr/>
        </p:nvSpPr>
        <p:spPr>
          <a:xfrm>
            <a:off x="503902" y="34365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endParaRPr sz="3600" dirty="0">
              <a:solidFill>
                <a:schemeClr val="tx2">
                  <a:lumMod val="50000"/>
                </a:schemeClr>
              </a:solidFill>
              <a:latin typeface="KaiTi" charset="-122"/>
              <a:ea typeface="KaiTi" charset="-122"/>
              <a:cs typeface="KaiTi" charset="-122"/>
            </a:endParaRPr>
          </a:p>
        </p:txBody>
      </p:sp>
      <p:pic>
        <p:nvPicPr>
          <p:cNvPr id="42" name="图像" descr="图像">
            <a:extLst>
              <a:ext uri="{FF2B5EF4-FFF2-40B4-BE49-F238E27FC236}">
                <a16:creationId xmlns:a16="http://schemas.microsoft.com/office/drawing/2014/main" id="{2FD03BFE-5320-4046-9B27-DF0AE8BCA793}"/>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43" name="文本框 42">
            <a:extLst>
              <a:ext uri="{FF2B5EF4-FFF2-40B4-BE49-F238E27FC236}">
                <a16:creationId xmlns:a16="http://schemas.microsoft.com/office/drawing/2014/main" id="{8B0DC5A5-C7FF-1E4A-936F-652ACEB191A6}"/>
              </a:ext>
            </a:extLst>
          </p:cNvPr>
          <p:cNvSpPr txBox="1"/>
          <p:nvPr/>
        </p:nvSpPr>
        <p:spPr>
          <a:xfrm>
            <a:off x="657446" y="274314"/>
            <a:ext cx="8295092" cy="646331"/>
          </a:xfrm>
          <a:prstGeom prst="rect">
            <a:avLst/>
          </a:prstGeom>
          <a:noFill/>
        </p:spPr>
        <p:txBody>
          <a:bodyPr wrap="square" rtlCol="0">
            <a:spAutoFit/>
          </a:bodyPr>
          <a:lstStyle/>
          <a:p>
            <a:pPr lvl="0">
              <a:defRPr sz="1800">
                <a:solidFill>
                  <a:srgbClr val="000000"/>
                </a:solidFill>
              </a:defRPr>
            </a:pPr>
            <a:r>
              <a:rPr lang="zh-CN" altLang="en-US" sz="3600" dirty="0">
                <a:solidFill>
                  <a:schemeClr val="tx2">
                    <a:lumMod val="50000"/>
                  </a:schemeClr>
                </a:solidFill>
                <a:latin typeface="KaiTi" charset="-122"/>
                <a:ea typeface="KaiTi" charset="-122"/>
                <a:cs typeface="KaiTi" charset="-122"/>
              </a:rPr>
              <a:t>量化因子库</a:t>
            </a:r>
          </a:p>
        </p:txBody>
      </p:sp>
      <p:sp>
        <p:nvSpPr>
          <p:cNvPr id="46" name="Shape 310">
            <a:extLst>
              <a:ext uri="{FF2B5EF4-FFF2-40B4-BE49-F238E27FC236}">
                <a16:creationId xmlns:a16="http://schemas.microsoft.com/office/drawing/2014/main" id="{A4C91247-73E0-D04E-A786-7C3FB8D107DB}"/>
              </a:ext>
            </a:extLst>
          </p:cNvPr>
          <p:cNvSpPr/>
          <p:nvPr/>
        </p:nvSpPr>
        <p:spPr>
          <a:xfrm>
            <a:off x="741932" y="1094457"/>
            <a:ext cx="10358460" cy="1107996"/>
          </a:xfrm>
          <a:prstGeom prst="rect">
            <a:avLst/>
          </a:prstGeom>
          <a:ln w="12700">
            <a:miter lim="400000"/>
          </a:ln>
        </p:spPr>
        <p:txBody>
          <a:bodyPr wrap="square" lIns="0" tIns="0" rIns="0" bIns="0">
            <a:spAutoFit/>
          </a:bodyPr>
          <a:lstStyle/>
          <a:p>
            <a:pPr lvl="0">
              <a:defRPr>
                <a:solidFill>
                  <a:srgbClr val="000000"/>
                </a:solidFill>
              </a:defRPr>
            </a:pPr>
            <a:r>
              <a:rPr lang="zh-Hans" altLang="en-US" dirty="0">
                <a:solidFill>
                  <a:schemeClr val="tx2">
                    <a:lumMod val="50000"/>
                  </a:schemeClr>
                </a:solidFill>
                <a:latin typeface="KaiTi" charset="-122"/>
                <a:ea typeface="KaiTi" charset="-122"/>
              </a:rPr>
              <a:t>    </a:t>
            </a:r>
            <a:r>
              <a:rPr lang="zh-CN" altLang="en-US" dirty="0">
                <a:solidFill>
                  <a:schemeClr val="tx2">
                    <a:lumMod val="50000"/>
                  </a:schemeClr>
                </a:solidFill>
                <a:latin typeface="KaiTi" charset="-122"/>
                <a:ea typeface="KaiTi" charset="-122"/>
              </a:rPr>
              <a:t>量化因子库</a:t>
            </a:r>
            <a:r>
              <a:rPr lang="zh-Hans" altLang="en-US" dirty="0">
                <a:solidFill>
                  <a:schemeClr val="tx2">
                    <a:lumMod val="50000"/>
                  </a:schemeClr>
                </a:solidFill>
                <a:latin typeface="KaiTi" charset="-122"/>
                <a:ea typeface="KaiTi" charset="-122"/>
              </a:rPr>
              <a:t>是基于</a:t>
            </a:r>
            <a:r>
              <a:rPr lang="en-US" altLang="zh-Hans" dirty="0">
                <a:solidFill>
                  <a:schemeClr val="tx2">
                    <a:lumMod val="50000"/>
                  </a:schemeClr>
                </a:solidFill>
                <a:latin typeface="KaiTi" charset="-122"/>
                <a:ea typeface="KaiTi" charset="-122"/>
              </a:rPr>
              <a:t>FDT</a:t>
            </a:r>
            <a:r>
              <a:rPr lang="zh-Hans" altLang="en-US" dirty="0">
                <a:solidFill>
                  <a:schemeClr val="tx2">
                    <a:lumMod val="50000"/>
                  </a:schemeClr>
                </a:solidFill>
                <a:latin typeface="KaiTi" charset="-122"/>
                <a:ea typeface="KaiTi" charset="-122"/>
              </a:rPr>
              <a:t>金融云平台对海量金融数据进行因子提取，</a:t>
            </a:r>
            <a:r>
              <a:rPr lang="zh-CN" altLang="zh-CN" dirty="0">
                <a:solidFill>
                  <a:schemeClr val="tx2">
                    <a:lumMod val="50000"/>
                  </a:schemeClr>
                </a:solidFill>
                <a:latin typeface="KaiTi" charset="-122"/>
                <a:ea typeface="KaiTi" charset="-122"/>
              </a:rPr>
              <a:t>通过设定因子和各因子权重，构造单因子或者多因子组合，得到加权后的因子值，再根据所得值排序后，根据选定的多空头的方向和分位点进行</a:t>
            </a:r>
            <a:r>
              <a:rPr lang="zh-Hans" altLang="en-US" dirty="0">
                <a:solidFill>
                  <a:schemeClr val="tx2">
                    <a:lumMod val="50000"/>
                  </a:schemeClr>
                </a:solidFill>
                <a:latin typeface="KaiTi" charset="-122"/>
                <a:ea typeface="KaiTi" charset="-122"/>
              </a:rPr>
              <a:t>进行模型训练构建投资组合</a:t>
            </a:r>
            <a:r>
              <a:rPr lang="zh-CN" altLang="zh-CN" dirty="0">
                <a:solidFill>
                  <a:schemeClr val="tx2">
                    <a:lumMod val="50000"/>
                  </a:schemeClr>
                </a:solidFill>
                <a:latin typeface="KaiTi" charset="-122"/>
                <a:ea typeface="KaiTi" charset="-122"/>
              </a:rPr>
              <a:t>，每日进行调仓，展示出投资组合主要绩效指标</a:t>
            </a:r>
            <a:r>
              <a:rPr lang="zh-Hans" altLang="en-US" dirty="0">
                <a:solidFill>
                  <a:schemeClr val="tx2">
                    <a:lumMod val="50000"/>
                  </a:schemeClr>
                </a:solidFill>
                <a:latin typeface="KaiTi" charset="-122"/>
                <a:ea typeface="KaiTi" charset="-122"/>
              </a:rPr>
              <a:t>及其</a:t>
            </a:r>
            <a:r>
              <a:rPr lang="zh-CN" altLang="zh-CN" dirty="0">
                <a:solidFill>
                  <a:schemeClr val="tx2">
                    <a:lumMod val="50000"/>
                  </a:schemeClr>
                </a:solidFill>
                <a:latin typeface="KaiTi" charset="-122"/>
                <a:ea typeface="KaiTi" charset="-122"/>
              </a:rPr>
              <a:t>变化情况</a:t>
            </a:r>
            <a:r>
              <a:rPr lang="zh-CN" altLang="en-US" dirty="0">
                <a:solidFill>
                  <a:schemeClr val="tx2">
                    <a:lumMod val="50000"/>
                  </a:schemeClr>
                </a:solidFill>
                <a:latin typeface="KaiTi" charset="-122"/>
                <a:ea typeface="KaiTi" charset="-122"/>
              </a:rPr>
              <a:t>，量化因子库的主要目的是</a:t>
            </a:r>
            <a:r>
              <a:rPr lang="zh-Hans" altLang="en-US" dirty="0">
                <a:solidFill>
                  <a:schemeClr val="tx2">
                    <a:lumMod val="50000"/>
                  </a:schemeClr>
                </a:solidFill>
                <a:latin typeface="KaiTi" charset="-122"/>
                <a:ea typeface="KaiTi" charset="-122"/>
              </a:rPr>
              <a:t>为</a:t>
            </a:r>
            <a:r>
              <a:rPr lang="zh-CN" altLang="en-US" dirty="0">
                <a:solidFill>
                  <a:schemeClr val="tx2">
                    <a:lumMod val="50000"/>
                  </a:schemeClr>
                </a:solidFill>
                <a:latin typeface="KaiTi" charset="-122"/>
                <a:ea typeface="KaiTi" charset="-122"/>
              </a:rPr>
              <a:t>投资决策</a:t>
            </a:r>
            <a:r>
              <a:rPr lang="zh-Hans" altLang="en-US" dirty="0">
                <a:solidFill>
                  <a:schemeClr val="tx2">
                    <a:lumMod val="50000"/>
                  </a:schemeClr>
                </a:solidFill>
                <a:latin typeface="KaiTi" charset="-122"/>
                <a:ea typeface="KaiTi" charset="-122"/>
              </a:rPr>
              <a:t>提供数据源泉</a:t>
            </a:r>
            <a:r>
              <a:rPr lang="zh-CN" altLang="en-US" dirty="0">
                <a:solidFill>
                  <a:schemeClr val="tx2">
                    <a:lumMod val="50000"/>
                  </a:schemeClr>
                </a:solidFill>
                <a:latin typeface="KaiTi" charset="-122"/>
                <a:ea typeface="KaiTi" charset="-122"/>
              </a:rPr>
              <a:t>。</a:t>
            </a:r>
            <a:endParaRPr dirty="0">
              <a:latin typeface="KaiTi" panose="02010609060101010101" pitchFamily="49" charset="-122"/>
              <a:ea typeface="KaiTi" panose="02010609060101010101" pitchFamily="49" charset="-122"/>
              <a:cs typeface="PingFang SC" charset="-122"/>
            </a:endParaRPr>
          </a:p>
        </p:txBody>
      </p:sp>
      <p:sp>
        <p:nvSpPr>
          <p:cNvPr id="47" name="灯片编号占位符 3">
            <a:extLst>
              <a:ext uri="{FF2B5EF4-FFF2-40B4-BE49-F238E27FC236}">
                <a16:creationId xmlns:a16="http://schemas.microsoft.com/office/drawing/2014/main" id="{7F779A14-BD13-F041-B45C-FA555A7FC1F9}"/>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16</a:t>
            </a:fld>
            <a:endParaRPr lang="zh-CN" altLang="en-US" dirty="0"/>
          </a:p>
        </p:txBody>
      </p:sp>
      <p:sp>
        <p:nvSpPr>
          <p:cNvPr id="48" name="矩形 47">
            <a:extLst>
              <a:ext uri="{FF2B5EF4-FFF2-40B4-BE49-F238E27FC236}">
                <a16:creationId xmlns:a16="http://schemas.microsoft.com/office/drawing/2014/main" id="{E39CB792-819D-1540-B86F-37BF35DA028F}"/>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26E07A3C-31C7-6041-B12F-7A16D145351C}"/>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9444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243745"/>
            <a:ext cx="10809557" cy="646331"/>
          </a:xfrm>
          <a:prstGeom prst="rect">
            <a:avLst/>
          </a:prstGeom>
          <a:ln w="12700">
            <a:miter lim="400000"/>
          </a:ln>
        </p:spPr>
        <p:txBody>
          <a:bodyPr wrap="square" lIns="45719" rIns="45719">
            <a:spAutoFit/>
          </a:bodyPr>
          <a:lstStyle/>
          <a:p>
            <a:pPr lvl="0">
              <a:defRPr>
                <a:solidFill>
                  <a:srgbClr val="000000"/>
                </a:solidFill>
              </a:defRPr>
            </a:pPr>
            <a:r>
              <a:rPr lang="zh-CN" altLang="en-US" dirty="0">
                <a:solidFill>
                  <a:schemeClr val="tx2">
                    <a:lumMod val="50000"/>
                  </a:schemeClr>
                </a:solidFill>
                <a:latin typeface="KaiTi" charset="-122"/>
                <a:ea typeface="KaiTi" charset="-122"/>
                <a:cs typeface="KaiTi" charset="-122"/>
              </a:rPr>
              <a:t>    </a:t>
            </a:r>
            <a:r>
              <a:rPr lang="zh-Hans" altLang="en-US" dirty="0">
                <a:solidFill>
                  <a:schemeClr val="tx2">
                    <a:lumMod val="50000"/>
                  </a:schemeClr>
                </a:solidFill>
                <a:latin typeface="KaiTi" charset="-122"/>
                <a:ea typeface="KaiTi" charset="-122"/>
                <a:cs typeface="KaiTi" charset="-122"/>
              </a:rPr>
              <a:t>回测平台基于</a:t>
            </a:r>
            <a:r>
              <a:rPr lang="en-US" altLang="zh-Hans" dirty="0">
                <a:solidFill>
                  <a:schemeClr val="tx2">
                    <a:lumMod val="50000"/>
                  </a:schemeClr>
                </a:solidFill>
                <a:latin typeface="KaiTi" charset="-122"/>
                <a:ea typeface="KaiTi" charset="-122"/>
                <a:cs typeface="KaiTi" charset="-122"/>
              </a:rPr>
              <a:t>FDT</a:t>
            </a:r>
            <a:r>
              <a:rPr lang="zh-Hans" altLang="en-US" dirty="0">
                <a:solidFill>
                  <a:schemeClr val="tx2">
                    <a:lumMod val="50000"/>
                  </a:schemeClr>
                </a:solidFill>
                <a:latin typeface="KaiTi" charset="-122"/>
                <a:ea typeface="KaiTi" charset="-122"/>
                <a:cs typeface="KaiTi" charset="-122"/>
              </a:rPr>
              <a:t>海量的金融数据及因子库基础之上，通过人工智能和机器学习为投资者提供模型和算法策略训练平台，并且为投资者提供历史回测功能。</a:t>
            </a:r>
            <a:endParaRPr lang="en-US" altLang="zh-CN" dirty="0">
              <a:solidFill>
                <a:schemeClr val="tx2">
                  <a:lumMod val="50000"/>
                </a:schemeClr>
              </a:solidFill>
              <a:latin typeface="KaiTi" charset="-122"/>
              <a:ea typeface="KaiTi" charset="-122"/>
              <a:cs typeface="KaiTi" charset="-122"/>
            </a:endParaRPr>
          </a:p>
        </p:txBody>
      </p:sp>
      <p:sp>
        <p:nvSpPr>
          <p:cNvPr id="6" name="Shape 215"/>
          <p:cNvSpPr/>
          <p:nvPr/>
        </p:nvSpPr>
        <p:spPr>
          <a:xfrm>
            <a:off x="703934" y="27221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回测工具（</a:t>
            </a:r>
            <a:r>
              <a:rPr lang="en-US" altLang="zh-Hans" sz="3600" dirty="0">
                <a:solidFill>
                  <a:schemeClr val="tx2">
                    <a:lumMod val="50000"/>
                  </a:schemeClr>
                </a:solidFill>
                <a:latin typeface="KaiTi" charset="-122"/>
                <a:ea typeface="KaiTi" charset="-122"/>
                <a:cs typeface="KaiTi" charset="-122"/>
              </a:rPr>
              <a:t>PC</a:t>
            </a:r>
            <a:r>
              <a:rPr lang="zh-Hans" altLang="en-US" sz="3600" dirty="0">
                <a:solidFill>
                  <a:schemeClr val="tx2">
                    <a:lumMod val="50000"/>
                  </a:schemeClr>
                </a:solidFill>
                <a:latin typeface="KaiTi" charset="-122"/>
                <a:ea typeface="KaiTi" charset="-122"/>
                <a:cs typeface="KaiTi" charset="-122"/>
              </a:rPr>
              <a:t>版）</a:t>
            </a:r>
            <a:endParaRPr sz="3600" dirty="0">
              <a:solidFill>
                <a:schemeClr val="tx2">
                  <a:lumMod val="50000"/>
                </a:schemeClr>
              </a:solidFill>
              <a:latin typeface="KaiTi" charset="-122"/>
              <a:ea typeface="KaiTi" charset="-122"/>
              <a:cs typeface="KaiTi" charset="-122"/>
            </a:endParaRPr>
          </a:p>
        </p:txBody>
      </p:sp>
      <p:sp>
        <p:nvSpPr>
          <p:cNvPr id="11" name="Shape 310">
            <a:extLst>
              <a:ext uri="{FF2B5EF4-FFF2-40B4-BE49-F238E27FC236}">
                <a16:creationId xmlns:a16="http://schemas.microsoft.com/office/drawing/2014/main" id="{265B78FC-2EFC-6B4D-8588-F69A16DC1C29}"/>
              </a:ext>
            </a:extLst>
          </p:cNvPr>
          <p:cNvSpPr/>
          <p:nvPr/>
        </p:nvSpPr>
        <p:spPr>
          <a:xfrm>
            <a:off x="717638" y="4788162"/>
            <a:ext cx="5124362" cy="1661993"/>
          </a:xfrm>
          <a:prstGeom prst="rect">
            <a:avLst/>
          </a:prstGeom>
          <a:ln w="12700">
            <a:miter lim="400000"/>
          </a:ln>
        </p:spPr>
        <p:txBody>
          <a:bodyPr wrap="square" lIns="0" tIns="0" rIns="0" bIns="0">
            <a:spAutoFit/>
          </a:bodyPr>
          <a:lstStyle/>
          <a:p>
            <a:pPr marL="285750" lvl="0" indent="-285750">
              <a:buFont typeface="Arial" charset="0"/>
              <a:buChar char="•"/>
              <a:defRPr>
                <a:solidFill>
                  <a:srgbClr val="000000"/>
                </a:solidFill>
              </a:defRPr>
            </a:pPr>
            <a:r>
              <a:rPr lang="zh-Hans" altLang="en-US" b="1" dirty="0">
                <a:solidFill>
                  <a:schemeClr val="tx2">
                    <a:lumMod val="50000"/>
                  </a:schemeClr>
                </a:solidFill>
                <a:latin typeface="KaiTi" charset="-122"/>
                <a:ea typeface="KaiTi" charset="-122"/>
              </a:rPr>
              <a:t>海量数据及因子库</a:t>
            </a:r>
            <a:r>
              <a:rPr lang="zh-CN" altLang="en-US" b="1" dirty="0">
                <a:solidFill>
                  <a:schemeClr val="tx2">
                    <a:lumMod val="50000"/>
                  </a:schemeClr>
                </a:solidFill>
                <a:latin typeface="KaiTi" charset="-122"/>
                <a:ea typeface="KaiTi" charset="-122"/>
              </a:rPr>
              <a:t>：</a:t>
            </a:r>
            <a:r>
              <a:rPr lang="zh-Hans" altLang="en-US" dirty="0">
                <a:solidFill>
                  <a:schemeClr val="tx2">
                    <a:lumMod val="50000"/>
                  </a:schemeClr>
                </a:solidFill>
                <a:latin typeface="KaiTi" charset="-122"/>
                <a:ea typeface="KaiTi" charset="-122"/>
              </a:rPr>
              <a:t>基于</a:t>
            </a:r>
            <a:r>
              <a:rPr lang="en-US" altLang="zh-CN" dirty="0">
                <a:solidFill>
                  <a:schemeClr val="tx2">
                    <a:lumMod val="50000"/>
                  </a:schemeClr>
                </a:solidFill>
                <a:latin typeface="KaiTi" charset="-122"/>
                <a:ea typeface="KaiTi" charset="-122"/>
              </a:rPr>
              <a:t>FDT</a:t>
            </a:r>
            <a:r>
              <a:rPr lang="zh-Hans" altLang="en-US" dirty="0">
                <a:solidFill>
                  <a:schemeClr val="tx2">
                    <a:lumMod val="50000"/>
                  </a:schemeClr>
                </a:solidFill>
                <a:latin typeface="KaiTi" charset="-122"/>
                <a:ea typeface="KaiTi" charset="-122"/>
              </a:rPr>
              <a:t>庞大的金融数据库，并且根据数据提炼并建立因子库，供投资者实现选股、策略开发以及历史回测等功能</a:t>
            </a:r>
            <a:endParaRPr lang="en-US" altLang="zh-Hans" dirty="0">
              <a:solidFill>
                <a:schemeClr val="tx2">
                  <a:lumMod val="50000"/>
                </a:schemeClr>
              </a:solidFill>
              <a:latin typeface="KaiTi" charset="-122"/>
              <a:ea typeface="KaiTi" charset="-122"/>
            </a:endParaRPr>
          </a:p>
          <a:p>
            <a:pPr marL="285750" lvl="0" indent="-285750">
              <a:buFont typeface="Arial" charset="0"/>
              <a:buChar char="•"/>
              <a:defRPr>
                <a:solidFill>
                  <a:srgbClr val="000000"/>
                </a:solidFill>
              </a:defRPr>
            </a:pPr>
            <a:r>
              <a:rPr lang="zh-Hans" altLang="en-US" b="1" dirty="0">
                <a:solidFill>
                  <a:schemeClr val="tx2">
                    <a:lumMod val="50000"/>
                  </a:schemeClr>
                </a:solidFill>
                <a:latin typeface="KaiTi" charset="-122"/>
                <a:ea typeface="KaiTi" charset="-122"/>
              </a:rPr>
              <a:t>极简操作</a:t>
            </a:r>
            <a:r>
              <a:rPr lang="zh-CN" altLang="en-US" b="1" dirty="0">
                <a:solidFill>
                  <a:schemeClr val="tx2">
                    <a:lumMod val="50000"/>
                  </a:schemeClr>
                </a:solidFill>
                <a:latin typeface="KaiTi" charset="-122"/>
                <a:ea typeface="KaiTi" charset="-122"/>
              </a:rPr>
              <a:t>：</a:t>
            </a:r>
            <a:r>
              <a:rPr lang="zh-Hans" altLang="en-US" dirty="0">
                <a:solidFill>
                  <a:schemeClr val="tx2">
                    <a:lumMod val="50000"/>
                  </a:schemeClr>
                </a:solidFill>
                <a:latin typeface="KaiTi" charset="-122"/>
                <a:ea typeface="KaiTi" charset="-122"/>
              </a:rPr>
              <a:t>为入门级投资者提供已开发的策略模型，并且为进阶投资者提供自定义参数修改，让投资者根据需求选择不同因子</a:t>
            </a:r>
            <a:endParaRPr lang="en-US" altLang="zh-Hans" dirty="0">
              <a:solidFill>
                <a:schemeClr val="tx2">
                  <a:lumMod val="50000"/>
                </a:schemeClr>
              </a:solidFill>
              <a:latin typeface="KaiTi" charset="-122"/>
              <a:ea typeface="KaiTi" charset="-122"/>
            </a:endParaRPr>
          </a:p>
        </p:txBody>
      </p:sp>
      <p:sp>
        <p:nvSpPr>
          <p:cNvPr id="12" name="文本框 11">
            <a:extLst>
              <a:ext uri="{FF2B5EF4-FFF2-40B4-BE49-F238E27FC236}">
                <a16:creationId xmlns:a16="http://schemas.microsoft.com/office/drawing/2014/main" id="{C6604431-1EB1-1F40-86D4-51CFC45DD488}"/>
              </a:ext>
            </a:extLst>
          </p:cNvPr>
          <p:cNvSpPr txBox="1"/>
          <p:nvPr/>
        </p:nvSpPr>
        <p:spPr>
          <a:xfrm>
            <a:off x="604196" y="1992080"/>
            <a:ext cx="1114408" cy="380553"/>
          </a:xfrm>
          <a:prstGeom prst="rect">
            <a:avLst/>
          </a:prstGeom>
          <a:noFill/>
        </p:spPr>
        <p:txBody>
          <a:bodyPr wrap="none" rtlCol="0">
            <a:spAutoFit/>
          </a:bodyPr>
          <a:lstStyle/>
          <a:p>
            <a:r>
              <a:rPr kumimoji="1" lang="zh-CN" altLang="en-US" b="1" dirty="0">
                <a:solidFill>
                  <a:schemeClr val="tx2">
                    <a:lumMod val="50000"/>
                  </a:schemeClr>
                </a:solidFill>
                <a:latin typeface="KaiTi" panose="02010609060101010101" pitchFamily="49" charset="-122"/>
                <a:ea typeface="KaiTi" panose="02010609060101010101" pitchFamily="49" charset="-122"/>
                <a:cs typeface="PingFang SC" charset="-122"/>
              </a:rPr>
              <a:t>产品</a:t>
            </a:r>
            <a:r>
              <a:rPr kumimoji="1" lang="zh-Hans" altLang="en-US" b="1" dirty="0">
                <a:solidFill>
                  <a:schemeClr val="tx2">
                    <a:lumMod val="50000"/>
                  </a:schemeClr>
                </a:solidFill>
                <a:latin typeface="KaiTi" panose="02010609060101010101" pitchFamily="49" charset="-122"/>
                <a:ea typeface="KaiTi" panose="02010609060101010101" pitchFamily="49" charset="-122"/>
                <a:cs typeface="PingFang SC" charset="-122"/>
              </a:rPr>
              <a:t>功能</a:t>
            </a:r>
            <a:endParaRPr kumimoji="1" lang="zh-CN" altLang="en-US" b="1" dirty="0">
              <a:solidFill>
                <a:schemeClr val="tx2">
                  <a:lumMod val="50000"/>
                </a:schemeClr>
              </a:solidFill>
              <a:latin typeface="KaiTi" panose="02010609060101010101" pitchFamily="49" charset="-122"/>
              <a:ea typeface="KaiTi" panose="02010609060101010101" pitchFamily="49" charset="-122"/>
              <a:cs typeface="PingFang SC" charset="-122"/>
            </a:endParaRPr>
          </a:p>
        </p:txBody>
      </p:sp>
      <p:sp>
        <p:nvSpPr>
          <p:cNvPr id="13" name="文本框 12">
            <a:extLst>
              <a:ext uri="{FF2B5EF4-FFF2-40B4-BE49-F238E27FC236}">
                <a16:creationId xmlns:a16="http://schemas.microsoft.com/office/drawing/2014/main" id="{B30AC9E3-5AED-CF40-BB8F-52D82C5B6156}"/>
              </a:ext>
            </a:extLst>
          </p:cNvPr>
          <p:cNvSpPr txBox="1"/>
          <p:nvPr/>
        </p:nvSpPr>
        <p:spPr>
          <a:xfrm>
            <a:off x="627386" y="2354206"/>
            <a:ext cx="5350081" cy="1754326"/>
          </a:xfrm>
          <a:prstGeom prst="rect">
            <a:avLst/>
          </a:prstGeom>
          <a:noFill/>
        </p:spPr>
        <p:txBody>
          <a:bodyPr wrap="square" rtlCol="0">
            <a:spAutoFit/>
          </a:bodyPr>
          <a:lstStyle/>
          <a:p>
            <a:pPr marL="285750" indent="-285750">
              <a:buFont typeface="Arial" charset="0"/>
              <a:buChar char="•"/>
              <a:defRPr>
                <a:solidFill>
                  <a:srgbClr val="000000"/>
                </a:solidFill>
              </a:defRPr>
            </a:pPr>
            <a:r>
              <a:rPr lang="zh-Hans" altLang="en-US" b="1" dirty="0">
                <a:solidFill>
                  <a:schemeClr val="tx2">
                    <a:lumMod val="50000"/>
                  </a:schemeClr>
                </a:solidFill>
                <a:latin typeface="KaiTi" charset="-122"/>
                <a:ea typeface="KaiTi" charset="-122"/>
              </a:rPr>
              <a:t>策略开发生成</a:t>
            </a:r>
            <a:r>
              <a:rPr lang="zh-CN" altLang="en-US" b="1" dirty="0">
                <a:solidFill>
                  <a:schemeClr val="tx2">
                    <a:lumMod val="50000"/>
                  </a:schemeClr>
                </a:solidFill>
                <a:latin typeface="KaiTi" charset="-122"/>
                <a:ea typeface="KaiTi" charset="-122"/>
              </a:rPr>
              <a:t>：</a:t>
            </a:r>
            <a:r>
              <a:rPr lang="zh-CN" altLang="en-US" dirty="0">
                <a:solidFill>
                  <a:schemeClr val="tx2">
                    <a:lumMod val="50000"/>
                  </a:schemeClr>
                </a:solidFill>
                <a:latin typeface="KaiTi" charset="-122"/>
                <a:ea typeface="KaiTi" charset="-122"/>
              </a:rPr>
              <a:t>通过</a:t>
            </a:r>
            <a:r>
              <a:rPr lang="zh-Hans" altLang="en-US" dirty="0">
                <a:solidFill>
                  <a:schemeClr val="tx2">
                    <a:lumMod val="50000"/>
                  </a:schemeClr>
                </a:solidFill>
                <a:latin typeface="KaiTi" charset="-122"/>
                <a:ea typeface="KaiTi" charset="-122"/>
              </a:rPr>
              <a:t>机器学习等技术将个股因子进行模型训练，生成不同的交易策略</a:t>
            </a:r>
            <a:endParaRPr lang="en-US" altLang="zh-CN" dirty="0">
              <a:solidFill>
                <a:schemeClr val="tx2">
                  <a:lumMod val="50000"/>
                </a:schemeClr>
              </a:solidFill>
              <a:latin typeface="KaiTi" charset="-122"/>
              <a:ea typeface="KaiTi" charset="-122"/>
            </a:endParaRPr>
          </a:p>
          <a:p>
            <a:pPr marL="285750" indent="-285750">
              <a:buFont typeface="Arial" charset="0"/>
              <a:buChar char="•"/>
              <a:defRPr>
                <a:solidFill>
                  <a:srgbClr val="000000"/>
                </a:solidFill>
              </a:defRPr>
            </a:pPr>
            <a:r>
              <a:rPr lang="zh-Hans" altLang="en-US" b="1" dirty="0">
                <a:solidFill>
                  <a:schemeClr val="tx2">
                    <a:lumMod val="50000"/>
                  </a:schemeClr>
                </a:solidFill>
                <a:latin typeface="KaiTi" charset="-122"/>
                <a:ea typeface="KaiTi" charset="-122"/>
              </a:rPr>
              <a:t>因子组合选股：</a:t>
            </a:r>
            <a:r>
              <a:rPr lang="zh-Hans" altLang="en-US" dirty="0">
                <a:solidFill>
                  <a:schemeClr val="tx2">
                    <a:lumMod val="50000"/>
                  </a:schemeClr>
                </a:solidFill>
                <a:latin typeface="KaiTi" charset="-122"/>
                <a:ea typeface="KaiTi" charset="-122"/>
              </a:rPr>
              <a:t>根据不同的个股因子进行自定义条件组合为用户筛选符合条件的个股</a:t>
            </a:r>
            <a:endParaRPr lang="en-US" altLang="zh-Hans" dirty="0">
              <a:solidFill>
                <a:schemeClr val="tx2">
                  <a:lumMod val="50000"/>
                </a:schemeClr>
              </a:solidFill>
              <a:latin typeface="KaiTi" charset="-122"/>
              <a:ea typeface="KaiTi" charset="-122"/>
            </a:endParaRPr>
          </a:p>
          <a:p>
            <a:pPr marL="285750" indent="-285750">
              <a:buFont typeface="Arial" charset="0"/>
              <a:buChar char="•"/>
              <a:defRPr>
                <a:solidFill>
                  <a:srgbClr val="000000"/>
                </a:solidFill>
              </a:defRPr>
            </a:pPr>
            <a:r>
              <a:rPr lang="zh-Hans" altLang="en-US" b="1" dirty="0">
                <a:solidFill>
                  <a:schemeClr val="tx2">
                    <a:lumMod val="50000"/>
                  </a:schemeClr>
                </a:solidFill>
                <a:latin typeface="KaiTi" charset="-122"/>
                <a:ea typeface="KaiTi" charset="-122"/>
              </a:rPr>
              <a:t>策略回测</a:t>
            </a:r>
            <a:r>
              <a:rPr lang="zh-CN" altLang="en-US" b="1" dirty="0">
                <a:solidFill>
                  <a:schemeClr val="tx2">
                    <a:lumMod val="50000"/>
                  </a:schemeClr>
                </a:solidFill>
                <a:latin typeface="KaiTi" charset="-122"/>
                <a:ea typeface="KaiTi" charset="-122"/>
              </a:rPr>
              <a:t>：</a:t>
            </a:r>
            <a:r>
              <a:rPr lang="zh-Hans" altLang="en-US" dirty="0">
                <a:solidFill>
                  <a:schemeClr val="tx2">
                    <a:lumMod val="50000"/>
                  </a:schemeClr>
                </a:solidFill>
                <a:latin typeface="KaiTi" charset="-122"/>
                <a:ea typeface="KaiTi" charset="-122"/>
              </a:rPr>
              <a:t>对生成的模型及多因子筛选的股票进行收益及风险回测</a:t>
            </a:r>
            <a:endParaRPr lang="en-US" altLang="zh-CN" dirty="0">
              <a:solidFill>
                <a:schemeClr val="tx2">
                  <a:lumMod val="50000"/>
                </a:schemeClr>
              </a:solidFill>
              <a:latin typeface="KaiTi" charset="-122"/>
              <a:ea typeface="KaiTi" charset="-122"/>
            </a:endParaRPr>
          </a:p>
        </p:txBody>
      </p:sp>
      <p:sp>
        <p:nvSpPr>
          <p:cNvPr id="14" name="文本框 13">
            <a:extLst>
              <a:ext uri="{FF2B5EF4-FFF2-40B4-BE49-F238E27FC236}">
                <a16:creationId xmlns:a16="http://schemas.microsoft.com/office/drawing/2014/main" id="{FAF16C67-C057-034E-A87C-F50F37DFF1EF}"/>
              </a:ext>
            </a:extLst>
          </p:cNvPr>
          <p:cNvSpPr txBox="1"/>
          <p:nvPr/>
        </p:nvSpPr>
        <p:spPr>
          <a:xfrm>
            <a:off x="587867" y="4387033"/>
            <a:ext cx="1114408" cy="380553"/>
          </a:xfrm>
          <a:prstGeom prst="rect">
            <a:avLst/>
          </a:prstGeom>
          <a:noFill/>
        </p:spPr>
        <p:txBody>
          <a:bodyPr wrap="none" rtlCol="0">
            <a:spAutoFit/>
          </a:bodyPr>
          <a:lstStyle/>
          <a:p>
            <a:r>
              <a:rPr kumimoji="1" lang="zh-CN" altLang="en-US" b="1" dirty="0">
                <a:solidFill>
                  <a:schemeClr val="tx2">
                    <a:lumMod val="50000"/>
                  </a:schemeClr>
                </a:solidFill>
                <a:latin typeface="KaiTi" panose="02010609060101010101" pitchFamily="49" charset="-122"/>
                <a:ea typeface="KaiTi" panose="02010609060101010101" pitchFamily="49" charset="-122"/>
                <a:cs typeface="PingFang SC" charset="-122"/>
              </a:rPr>
              <a:t>产品</a:t>
            </a:r>
            <a:r>
              <a:rPr kumimoji="1" lang="zh-Hans" altLang="en-US" b="1" dirty="0">
                <a:solidFill>
                  <a:schemeClr val="tx2">
                    <a:lumMod val="50000"/>
                  </a:schemeClr>
                </a:solidFill>
                <a:latin typeface="KaiTi" panose="02010609060101010101" pitchFamily="49" charset="-122"/>
                <a:ea typeface="KaiTi" panose="02010609060101010101" pitchFamily="49" charset="-122"/>
                <a:cs typeface="PingFang SC" charset="-122"/>
              </a:rPr>
              <a:t>优势</a:t>
            </a:r>
            <a:endParaRPr kumimoji="1" lang="zh-CN" altLang="en-US" b="1" dirty="0">
              <a:solidFill>
                <a:schemeClr val="tx2">
                  <a:lumMod val="50000"/>
                </a:schemeClr>
              </a:solidFill>
              <a:latin typeface="KaiTi" panose="02010609060101010101" pitchFamily="49" charset="-122"/>
              <a:ea typeface="KaiTi" panose="02010609060101010101" pitchFamily="49" charset="-122"/>
              <a:cs typeface="PingFang SC" charset="-122"/>
            </a:endParaRPr>
          </a:p>
        </p:txBody>
      </p:sp>
      <p:pic>
        <p:nvPicPr>
          <p:cNvPr id="5" name="图片 4">
            <a:extLst>
              <a:ext uri="{FF2B5EF4-FFF2-40B4-BE49-F238E27FC236}">
                <a16:creationId xmlns:a16="http://schemas.microsoft.com/office/drawing/2014/main" id="{16A1FAC3-12CF-9E43-B8A2-12D7F14C62C7}"/>
              </a:ext>
            </a:extLst>
          </p:cNvPr>
          <p:cNvPicPr>
            <a:picLocks noChangeAspect="1"/>
          </p:cNvPicPr>
          <p:nvPr/>
        </p:nvPicPr>
        <p:blipFill>
          <a:blip r:embed="rId2"/>
          <a:stretch>
            <a:fillRect/>
          </a:stretch>
        </p:blipFill>
        <p:spPr>
          <a:xfrm>
            <a:off x="6119427" y="1619541"/>
            <a:ext cx="5037142" cy="2855299"/>
          </a:xfrm>
          <a:prstGeom prst="rect">
            <a:avLst/>
          </a:prstGeom>
        </p:spPr>
      </p:pic>
      <p:pic>
        <p:nvPicPr>
          <p:cNvPr id="15" name="图片 14">
            <a:extLst>
              <a:ext uri="{FF2B5EF4-FFF2-40B4-BE49-F238E27FC236}">
                <a16:creationId xmlns:a16="http://schemas.microsoft.com/office/drawing/2014/main" id="{8E8871FE-7EF9-2F4C-A105-32EC26878379}"/>
              </a:ext>
            </a:extLst>
          </p:cNvPr>
          <p:cNvPicPr>
            <a:picLocks noChangeAspect="1"/>
          </p:cNvPicPr>
          <p:nvPr/>
        </p:nvPicPr>
        <p:blipFill>
          <a:blip r:embed="rId3"/>
          <a:stretch>
            <a:fillRect/>
          </a:stretch>
        </p:blipFill>
        <p:spPr>
          <a:xfrm>
            <a:off x="5870453" y="4278643"/>
            <a:ext cx="5363633" cy="2436477"/>
          </a:xfrm>
          <a:prstGeom prst="rect">
            <a:avLst/>
          </a:prstGeom>
        </p:spPr>
      </p:pic>
      <p:sp>
        <p:nvSpPr>
          <p:cNvPr id="10" name="灯片编号占位符 3">
            <a:extLst>
              <a:ext uri="{FF2B5EF4-FFF2-40B4-BE49-F238E27FC236}">
                <a16:creationId xmlns:a16="http://schemas.microsoft.com/office/drawing/2014/main" id="{D0D7227D-4455-1E47-87FD-C6505BC7D582}"/>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17</a:t>
            </a:fld>
            <a:endParaRPr lang="zh-CN" altLang="en-US" dirty="0"/>
          </a:p>
        </p:txBody>
      </p:sp>
      <p:pic>
        <p:nvPicPr>
          <p:cNvPr id="16" name="图像" descr="图像">
            <a:extLst>
              <a:ext uri="{FF2B5EF4-FFF2-40B4-BE49-F238E27FC236}">
                <a16:creationId xmlns:a16="http://schemas.microsoft.com/office/drawing/2014/main" id="{76711762-BBB1-FC42-9293-F1612DE7CC5B}"/>
              </a:ext>
            </a:extLst>
          </p:cNvPr>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17" name="矩形 16">
            <a:extLst>
              <a:ext uri="{FF2B5EF4-FFF2-40B4-BE49-F238E27FC236}">
                <a16:creationId xmlns:a16="http://schemas.microsoft.com/office/drawing/2014/main" id="{ADB12D9D-DCBA-7245-8461-91EDC24AAD86}"/>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A730863-D171-2041-8D75-BF549ECF6140}"/>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01125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029969"/>
            <a:ext cx="10809557" cy="712952"/>
          </a:xfrm>
          <a:prstGeom prst="rect">
            <a:avLst/>
          </a:prstGeom>
          <a:ln w="12700">
            <a:miter lim="400000"/>
          </a:ln>
        </p:spPr>
        <p:txBody>
          <a:bodyPr wrap="square" lIns="45719" rIns="45719">
            <a:spAutoFit/>
          </a:bodyPr>
          <a:lstStyle/>
          <a:p>
            <a:pPr lvl="0">
              <a:defRPr>
                <a:solidFill>
                  <a:srgbClr val="000000"/>
                </a:solidFill>
              </a:defRPr>
            </a:pPr>
            <a:r>
              <a:rPr lang="zh-Hans" altLang="en-US" dirty="0">
                <a:solidFill>
                  <a:schemeClr val="tx2">
                    <a:lumMod val="50000"/>
                  </a:schemeClr>
                </a:solidFill>
                <a:latin typeface="KaiTi" charset="-122"/>
                <a:ea typeface="KaiTi" charset="-122"/>
                <a:cs typeface="KaiTi" charset="-122"/>
              </a:rPr>
              <a:t>    提供三个回测策略让投资者对持仓股进行收益回测，根据投资者风险偏好提供自定义止损功能，并且可以让投资者自定义修改回测参数，帮助投资者在交易过程中回测个股收益提供投资决策辅助。</a:t>
            </a:r>
            <a:endParaRPr lang="en-US" altLang="zh-CN" dirty="0">
              <a:solidFill>
                <a:schemeClr val="tx2">
                  <a:lumMod val="50000"/>
                </a:schemeClr>
              </a:solidFill>
              <a:latin typeface="KaiTi" charset="-122"/>
              <a:ea typeface="KaiTi" charset="-122"/>
              <a:cs typeface="KaiTi" charset="-122"/>
            </a:endParaRPr>
          </a:p>
        </p:txBody>
      </p:sp>
      <p:sp>
        <p:nvSpPr>
          <p:cNvPr id="6" name="Shape 215"/>
          <p:cNvSpPr/>
          <p:nvPr/>
        </p:nvSpPr>
        <p:spPr>
          <a:xfrm>
            <a:off x="689646" y="286503"/>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回测工具（</a:t>
            </a:r>
            <a:r>
              <a:rPr lang="en-US" altLang="zh-Hans" sz="3600" dirty="0">
                <a:solidFill>
                  <a:schemeClr val="tx2">
                    <a:lumMod val="50000"/>
                  </a:schemeClr>
                </a:solidFill>
                <a:latin typeface="KaiTi" charset="-122"/>
                <a:ea typeface="KaiTi" charset="-122"/>
                <a:cs typeface="KaiTi" charset="-122"/>
              </a:rPr>
              <a:t>APP</a:t>
            </a:r>
            <a:r>
              <a:rPr lang="zh-Hans" altLang="en-US" sz="3600" dirty="0">
                <a:solidFill>
                  <a:schemeClr val="tx2">
                    <a:lumMod val="50000"/>
                  </a:schemeClr>
                </a:solidFill>
                <a:latin typeface="KaiTi" charset="-122"/>
                <a:ea typeface="KaiTi" charset="-122"/>
                <a:cs typeface="KaiTi" charset="-122"/>
              </a:rPr>
              <a:t>版）</a:t>
            </a:r>
            <a:endParaRPr sz="3600" dirty="0">
              <a:solidFill>
                <a:schemeClr val="tx2">
                  <a:lumMod val="50000"/>
                </a:schemeClr>
              </a:solidFill>
              <a:latin typeface="KaiTi" charset="-122"/>
              <a:ea typeface="KaiTi" charset="-122"/>
              <a:cs typeface="KaiTi" charset="-122"/>
            </a:endParaRPr>
          </a:p>
        </p:txBody>
      </p:sp>
      <p:pic>
        <p:nvPicPr>
          <p:cNvPr id="7" name="图片 6">
            <a:extLst>
              <a:ext uri="{FF2B5EF4-FFF2-40B4-BE49-F238E27FC236}">
                <a16:creationId xmlns:a16="http://schemas.microsoft.com/office/drawing/2014/main" id="{B53D0282-EC82-6443-A186-853966BF0999}"/>
              </a:ext>
            </a:extLst>
          </p:cNvPr>
          <p:cNvPicPr>
            <a:picLocks noChangeAspect="1"/>
          </p:cNvPicPr>
          <p:nvPr/>
        </p:nvPicPr>
        <p:blipFill>
          <a:blip r:embed="rId2"/>
          <a:stretch>
            <a:fillRect/>
          </a:stretch>
        </p:blipFill>
        <p:spPr>
          <a:xfrm>
            <a:off x="552888" y="2087637"/>
            <a:ext cx="2645698" cy="4178300"/>
          </a:xfrm>
          <a:prstGeom prst="rect">
            <a:avLst/>
          </a:prstGeom>
        </p:spPr>
      </p:pic>
      <p:pic>
        <p:nvPicPr>
          <p:cNvPr id="9" name="图片 8">
            <a:extLst>
              <a:ext uri="{FF2B5EF4-FFF2-40B4-BE49-F238E27FC236}">
                <a16:creationId xmlns:a16="http://schemas.microsoft.com/office/drawing/2014/main" id="{95E29748-F48B-F24A-BFD9-495824D41476}"/>
              </a:ext>
            </a:extLst>
          </p:cNvPr>
          <p:cNvPicPr>
            <a:picLocks noChangeAspect="1"/>
          </p:cNvPicPr>
          <p:nvPr/>
        </p:nvPicPr>
        <p:blipFill>
          <a:blip r:embed="rId3"/>
          <a:stretch>
            <a:fillRect/>
          </a:stretch>
        </p:blipFill>
        <p:spPr>
          <a:xfrm>
            <a:off x="6071844" y="2586716"/>
            <a:ext cx="2536148" cy="3479800"/>
          </a:xfrm>
          <a:prstGeom prst="rect">
            <a:avLst/>
          </a:prstGeom>
        </p:spPr>
      </p:pic>
      <p:pic>
        <p:nvPicPr>
          <p:cNvPr id="10" name="图片 9">
            <a:extLst>
              <a:ext uri="{FF2B5EF4-FFF2-40B4-BE49-F238E27FC236}">
                <a16:creationId xmlns:a16="http://schemas.microsoft.com/office/drawing/2014/main" id="{082BD7F7-3361-DB4F-B375-E357B4EDB5AD}"/>
              </a:ext>
            </a:extLst>
          </p:cNvPr>
          <p:cNvPicPr>
            <a:picLocks noChangeAspect="1"/>
          </p:cNvPicPr>
          <p:nvPr/>
        </p:nvPicPr>
        <p:blipFill>
          <a:blip r:embed="rId4"/>
          <a:stretch>
            <a:fillRect/>
          </a:stretch>
        </p:blipFill>
        <p:spPr>
          <a:xfrm>
            <a:off x="8788494" y="1755552"/>
            <a:ext cx="2755900" cy="4813300"/>
          </a:xfrm>
          <a:prstGeom prst="rect">
            <a:avLst/>
          </a:prstGeom>
        </p:spPr>
      </p:pic>
      <p:pic>
        <p:nvPicPr>
          <p:cNvPr id="2" name="图片 1">
            <a:extLst>
              <a:ext uri="{FF2B5EF4-FFF2-40B4-BE49-F238E27FC236}">
                <a16:creationId xmlns:a16="http://schemas.microsoft.com/office/drawing/2014/main" id="{CEEF78DE-8B8C-FF43-8861-B8ABBB646674}"/>
              </a:ext>
            </a:extLst>
          </p:cNvPr>
          <p:cNvPicPr>
            <a:picLocks noChangeAspect="1"/>
          </p:cNvPicPr>
          <p:nvPr/>
        </p:nvPicPr>
        <p:blipFill>
          <a:blip r:embed="rId5"/>
          <a:stretch>
            <a:fillRect/>
          </a:stretch>
        </p:blipFill>
        <p:spPr>
          <a:xfrm>
            <a:off x="3337206" y="1837414"/>
            <a:ext cx="2596018" cy="4749114"/>
          </a:xfrm>
          <a:prstGeom prst="rect">
            <a:avLst/>
          </a:prstGeom>
        </p:spPr>
      </p:pic>
      <p:sp>
        <p:nvSpPr>
          <p:cNvPr id="8" name="灯片编号占位符 3">
            <a:extLst>
              <a:ext uri="{FF2B5EF4-FFF2-40B4-BE49-F238E27FC236}">
                <a16:creationId xmlns:a16="http://schemas.microsoft.com/office/drawing/2014/main" id="{BD87CF26-ED85-8F47-95CC-4E694F6D022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18</a:t>
            </a:fld>
            <a:endParaRPr lang="zh-CN" altLang="en-US" dirty="0"/>
          </a:p>
        </p:txBody>
      </p:sp>
      <p:pic>
        <p:nvPicPr>
          <p:cNvPr id="11" name="图像" descr="图像">
            <a:extLst>
              <a:ext uri="{FF2B5EF4-FFF2-40B4-BE49-F238E27FC236}">
                <a16:creationId xmlns:a16="http://schemas.microsoft.com/office/drawing/2014/main" id="{2A61D033-6F90-6046-AD6E-4D8A0DB92FBC}"/>
              </a:ext>
            </a:extLst>
          </p:cNvPr>
          <p:cNvPicPr>
            <a:picLocks noChangeAspect="1"/>
          </p:cNvPicPr>
          <p:nvPr/>
        </p:nvPicPr>
        <p:blipFill>
          <a:blip r:embed="rId6">
            <a:extLst/>
          </a:blip>
          <a:stretch>
            <a:fillRect/>
          </a:stretch>
        </p:blipFill>
        <p:spPr>
          <a:xfrm>
            <a:off x="10484724" y="427048"/>
            <a:ext cx="1253576" cy="332979"/>
          </a:xfrm>
          <a:prstGeom prst="rect">
            <a:avLst/>
          </a:prstGeom>
          <a:ln w="3175">
            <a:miter lim="400000"/>
          </a:ln>
        </p:spPr>
      </p:pic>
      <p:sp>
        <p:nvSpPr>
          <p:cNvPr id="12" name="矩形 11">
            <a:extLst>
              <a:ext uri="{FF2B5EF4-FFF2-40B4-BE49-F238E27FC236}">
                <a16:creationId xmlns:a16="http://schemas.microsoft.com/office/drawing/2014/main" id="{ABCDD021-8C0F-3E4A-9000-2F06B761A74B}"/>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B95A596-B7EA-F140-A494-FF30807C12F7}"/>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9588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15"/>
          <p:cNvSpPr/>
          <p:nvPr/>
        </p:nvSpPr>
        <p:spPr>
          <a:xfrm>
            <a:off x="689646" y="286503"/>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智能交易</a:t>
            </a:r>
            <a:r>
              <a:rPr lang="en-US" altLang="zh-Hans" sz="3600" dirty="0">
                <a:solidFill>
                  <a:schemeClr val="tx2">
                    <a:lumMod val="50000"/>
                  </a:schemeClr>
                </a:solidFill>
                <a:latin typeface="KaiTi" charset="-122"/>
                <a:ea typeface="KaiTi" charset="-122"/>
                <a:cs typeface="KaiTi" charset="-122"/>
              </a:rPr>
              <a:t>-</a:t>
            </a:r>
            <a:r>
              <a:rPr lang="zh-Hans" altLang="en-US" sz="3600" dirty="0">
                <a:solidFill>
                  <a:schemeClr val="tx2">
                    <a:lumMod val="50000"/>
                  </a:schemeClr>
                </a:solidFill>
                <a:latin typeface="KaiTi" charset="-122"/>
                <a:ea typeface="KaiTi" charset="-122"/>
                <a:cs typeface="KaiTi" charset="-122"/>
              </a:rPr>
              <a:t>功能规划</a:t>
            </a:r>
            <a:endParaRPr sz="3600" dirty="0">
              <a:solidFill>
                <a:schemeClr val="tx2">
                  <a:lumMod val="50000"/>
                </a:schemeClr>
              </a:solidFill>
              <a:latin typeface="KaiTi" charset="-122"/>
              <a:ea typeface="KaiTi" charset="-122"/>
              <a:cs typeface="KaiTi" charset="-122"/>
            </a:endParaRPr>
          </a:p>
        </p:txBody>
      </p:sp>
      <p:sp>
        <p:nvSpPr>
          <p:cNvPr id="8" name="灯片编号占位符 3">
            <a:extLst>
              <a:ext uri="{FF2B5EF4-FFF2-40B4-BE49-F238E27FC236}">
                <a16:creationId xmlns:a16="http://schemas.microsoft.com/office/drawing/2014/main" id="{BD87CF26-ED85-8F47-95CC-4E694F6D022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19</a:t>
            </a:fld>
            <a:endParaRPr lang="zh-CN" altLang="en-US" dirty="0"/>
          </a:p>
        </p:txBody>
      </p:sp>
      <p:pic>
        <p:nvPicPr>
          <p:cNvPr id="11" name="图像" descr="图像">
            <a:extLst>
              <a:ext uri="{FF2B5EF4-FFF2-40B4-BE49-F238E27FC236}">
                <a16:creationId xmlns:a16="http://schemas.microsoft.com/office/drawing/2014/main" id="{2A61D033-6F90-6046-AD6E-4D8A0DB92FBC}"/>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2" name="矩形 11">
            <a:extLst>
              <a:ext uri="{FF2B5EF4-FFF2-40B4-BE49-F238E27FC236}">
                <a16:creationId xmlns:a16="http://schemas.microsoft.com/office/drawing/2014/main" id="{ABCDD021-8C0F-3E4A-9000-2F06B761A74B}"/>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B95A596-B7EA-F140-A494-FF30807C12F7}"/>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9631BC9B-A5F8-8443-82D7-C008E8A4A0F5}"/>
              </a:ext>
            </a:extLst>
          </p:cNvPr>
          <p:cNvPicPr>
            <a:picLocks noChangeAspect="1"/>
          </p:cNvPicPr>
          <p:nvPr/>
        </p:nvPicPr>
        <p:blipFill>
          <a:blip r:embed="rId3"/>
          <a:stretch>
            <a:fillRect/>
          </a:stretch>
        </p:blipFill>
        <p:spPr>
          <a:xfrm>
            <a:off x="664533" y="1463681"/>
            <a:ext cx="3429000" cy="4102100"/>
          </a:xfrm>
          <a:prstGeom prst="rect">
            <a:avLst/>
          </a:prstGeom>
        </p:spPr>
      </p:pic>
      <p:pic>
        <p:nvPicPr>
          <p:cNvPr id="4" name="图片 3">
            <a:extLst>
              <a:ext uri="{FF2B5EF4-FFF2-40B4-BE49-F238E27FC236}">
                <a16:creationId xmlns:a16="http://schemas.microsoft.com/office/drawing/2014/main" id="{BE7A20EA-966B-E647-B4C8-C7159D860E1C}"/>
              </a:ext>
            </a:extLst>
          </p:cNvPr>
          <p:cNvPicPr>
            <a:picLocks noChangeAspect="1"/>
          </p:cNvPicPr>
          <p:nvPr/>
        </p:nvPicPr>
        <p:blipFill>
          <a:blip r:embed="rId4"/>
          <a:stretch>
            <a:fillRect/>
          </a:stretch>
        </p:blipFill>
        <p:spPr>
          <a:xfrm>
            <a:off x="4024309" y="1135062"/>
            <a:ext cx="4335472" cy="5208588"/>
          </a:xfrm>
          <a:prstGeom prst="rect">
            <a:avLst/>
          </a:prstGeom>
        </p:spPr>
      </p:pic>
      <p:pic>
        <p:nvPicPr>
          <p:cNvPr id="5" name="图片 4">
            <a:extLst>
              <a:ext uri="{FF2B5EF4-FFF2-40B4-BE49-F238E27FC236}">
                <a16:creationId xmlns:a16="http://schemas.microsoft.com/office/drawing/2014/main" id="{0D04B149-77CE-CD4F-960A-340FDC934E80}"/>
              </a:ext>
            </a:extLst>
          </p:cNvPr>
          <p:cNvPicPr>
            <a:picLocks noChangeAspect="1"/>
          </p:cNvPicPr>
          <p:nvPr/>
        </p:nvPicPr>
        <p:blipFill>
          <a:blip r:embed="rId5"/>
          <a:stretch>
            <a:fillRect/>
          </a:stretch>
        </p:blipFill>
        <p:spPr>
          <a:xfrm>
            <a:off x="7815382" y="928502"/>
            <a:ext cx="4069963" cy="4270410"/>
          </a:xfrm>
          <a:prstGeom prst="rect">
            <a:avLst/>
          </a:prstGeom>
        </p:spPr>
      </p:pic>
    </p:spTree>
    <p:extLst>
      <p:ext uri="{BB962C8B-B14F-4D97-AF65-F5344CB8AC3E}">
        <p14:creationId xmlns:p14="http://schemas.microsoft.com/office/powerpoint/2010/main" val="234209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15"/>
          <p:cNvSpPr/>
          <p:nvPr/>
        </p:nvSpPr>
        <p:spPr>
          <a:xfrm>
            <a:off x="689646" y="286503"/>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智能交易</a:t>
            </a:r>
            <a:r>
              <a:rPr lang="en-US" altLang="zh-Hans" sz="3600" dirty="0">
                <a:solidFill>
                  <a:schemeClr val="tx2">
                    <a:lumMod val="50000"/>
                  </a:schemeClr>
                </a:solidFill>
                <a:latin typeface="KaiTi" charset="-122"/>
                <a:ea typeface="KaiTi" charset="-122"/>
                <a:cs typeface="KaiTi" charset="-122"/>
              </a:rPr>
              <a:t>-</a:t>
            </a:r>
            <a:r>
              <a:rPr lang="zh-Hans" altLang="en-US" sz="3600" dirty="0">
                <a:solidFill>
                  <a:schemeClr val="tx2">
                    <a:lumMod val="50000"/>
                  </a:schemeClr>
                </a:solidFill>
                <a:latin typeface="KaiTi" charset="-122"/>
                <a:ea typeface="KaiTi" charset="-122"/>
                <a:cs typeface="KaiTi" charset="-122"/>
              </a:rPr>
              <a:t>功能规划</a:t>
            </a:r>
            <a:endParaRPr sz="3600" dirty="0">
              <a:solidFill>
                <a:schemeClr val="tx2">
                  <a:lumMod val="50000"/>
                </a:schemeClr>
              </a:solidFill>
              <a:latin typeface="KaiTi" charset="-122"/>
              <a:ea typeface="KaiTi" charset="-122"/>
              <a:cs typeface="KaiTi" charset="-122"/>
            </a:endParaRPr>
          </a:p>
        </p:txBody>
      </p:sp>
      <p:sp>
        <p:nvSpPr>
          <p:cNvPr id="8" name="灯片编号占位符 3">
            <a:extLst>
              <a:ext uri="{FF2B5EF4-FFF2-40B4-BE49-F238E27FC236}">
                <a16:creationId xmlns:a16="http://schemas.microsoft.com/office/drawing/2014/main" id="{BD87CF26-ED85-8F47-95CC-4E694F6D022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20</a:t>
            </a:fld>
            <a:endParaRPr lang="zh-CN" altLang="en-US" dirty="0"/>
          </a:p>
        </p:txBody>
      </p:sp>
      <p:pic>
        <p:nvPicPr>
          <p:cNvPr id="11" name="图像" descr="图像">
            <a:extLst>
              <a:ext uri="{FF2B5EF4-FFF2-40B4-BE49-F238E27FC236}">
                <a16:creationId xmlns:a16="http://schemas.microsoft.com/office/drawing/2014/main" id="{2A61D033-6F90-6046-AD6E-4D8A0DB92FBC}"/>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2" name="矩形 11">
            <a:extLst>
              <a:ext uri="{FF2B5EF4-FFF2-40B4-BE49-F238E27FC236}">
                <a16:creationId xmlns:a16="http://schemas.microsoft.com/office/drawing/2014/main" id="{ABCDD021-8C0F-3E4A-9000-2F06B761A74B}"/>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B95A596-B7EA-F140-A494-FF30807C12F7}"/>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0FC3B7E7-7A43-C849-957B-08C2E069E6F3}"/>
              </a:ext>
            </a:extLst>
          </p:cNvPr>
          <p:cNvPicPr>
            <a:picLocks noChangeAspect="1"/>
          </p:cNvPicPr>
          <p:nvPr/>
        </p:nvPicPr>
        <p:blipFill>
          <a:blip r:embed="rId3"/>
          <a:stretch>
            <a:fillRect/>
          </a:stretch>
        </p:blipFill>
        <p:spPr>
          <a:xfrm>
            <a:off x="741930" y="1286939"/>
            <a:ext cx="4859554" cy="4685235"/>
          </a:xfrm>
          <a:prstGeom prst="rect">
            <a:avLst/>
          </a:prstGeom>
        </p:spPr>
      </p:pic>
      <p:pic>
        <p:nvPicPr>
          <p:cNvPr id="2" name="图片 1">
            <a:extLst>
              <a:ext uri="{FF2B5EF4-FFF2-40B4-BE49-F238E27FC236}">
                <a16:creationId xmlns:a16="http://schemas.microsoft.com/office/drawing/2014/main" id="{5D56397C-0E8C-B24E-A4EC-F0ADE32AD07E}"/>
              </a:ext>
            </a:extLst>
          </p:cNvPr>
          <p:cNvPicPr>
            <a:picLocks noChangeAspect="1"/>
          </p:cNvPicPr>
          <p:nvPr/>
        </p:nvPicPr>
        <p:blipFill>
          <a:blip r:embed="rId4"/>
          <a:stretch>
            <a:fillRect/>
          </a:stretch>
        </p:blipFill>
        <p:spPr>
          <a:xfrm>
            <a:off x="5519729" y="1382573"/>
            <a:ext cx="3810000" cy="4660900"/>
          </a:xfrm>
          <a:prstGeom prst="rect">
            <a:avLst/>
          </a:prstGeom>
        </p:spPr>
      </p:pic>
      <p:pic>
        <p:nvPicPr>
          <p:cNvPr id="7" name="图片 6">
            <a:extLst>
              <a:ext uri="{FF2B5EF4-FFF2-40B4-BE49-F238E27FC236}">
                <a16:creationId xmlns:a16="http://schemas.microsoft.com/office/drawing/2014/main" id="{93058BB4-6F61-FE42-B5F1-C34FD42B044A}"/>
              </a:ext>
            </a:extLst>
          </p:cNvPr>
          <p:cNvPicPr>
            <a:picLocks noChangeAspect="1"/>
          </p:cNvPicPr>
          <p:nvPr/>
        </p:nvPicPr>
        <p:blipFill>
          <a:blip r:embed="rId5"/>
          <a:stretch>
            <a:fillRect/>
          </a:stretch>
        </p:blipFill>
        <p:spPr>
          <a:xfrm>
            <a:off x="7950200" y="4646377"/>
            <a:ext cx="4241800" cy="2019300"/>
          </a:xfrm>
          <a:prstGeom prst="rect">
            <a:avLst/>
          </a:prstGeom>
        </p:spPr>
      </p:pic>
    </p:spTree>
    <p:extLst>
      <p:ext uri="{BB962C8B-B14F-4D97-AF65-F5344CB8AC3E}">
        <p14:creationId xmlns:p14="http://schemas.microsoft.com/office/powerpoint/2010/main" val="2869218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15"/>
          <p:cNvSpPr/>
          <p:nvPr/>
        </p:nvSpPr>
        <p:spPr>
          <a:xfrm>
            <a:off x="689646" y="286503"/>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智能交易</a:t>
            </a:r>
            <a:r>
              <a:rPr lang="en-US" altLang="zh-Hans" sz="3600" dirty="0">
                <a:solidFill>
                  <a:schemeClr val="tx2">
                    <a:lumMod val="50000"/>
                  </a:schemeClr>
                </a:solidFill>
                <a:latin typeface="KaiTi" charset="-122"/>
                <a:ea typeface="KaiTi" charset="-122"/>
                <a:cs typeface="KaiTi" charset="-122"/>
              </a:rPr>
              <a:t>-</a:t>
            </a:r>
            <a:r>
              <a:rPr lang="zh-Hans" altLang="en-US" sz="3600" dirty="0">
                <a:solidFill>
                  <a:schemeClr val="tx2">
                    <a:lumMod val="50000"/>
                  </a:schemeClr>
                </a:solidFill>
                <a:latin typeface="KaiTi" charset="-122"/>
                <a:ea typeface="KaiTi" charset="-122"/>
                <a:cs typeface="KaiTi" charset="-122"/>
              </a:rPr>
              <a:t>产品原型</a:t>
            </a:r>
            <a:endParaRPr sz="3600" dirty="0">
              <a:solidFill>
                <a:schemeClr val="tx2">
                  <a:lumMod val="50000"/>
                </a:schemeClr>
              </a:solidFill>
              <a:latin typeface="KaiTi" charset="-122"/>
              <a:ea typeface="KaiTi" charset="-122"/>
              <a:cs typeface="KaiTi" charset="-122"/>
            </a:endParaRPr>
          </a:p>
        </p:txBody>
      </p:sp>
      <p:sp>
        <p:nvSpPr>
          <p:cNvPr id="8" name="灯片编号占位符 3">
            <a:extLst>
              <a:ext uri="{FF2B5EF4-FFF2-40B4-BE49-F238E27FC236}">
                <a16:creationId xmlns:a16="http://schemas.microsoft.com/office/drawing/2014/main" id="{BD87CF26-ED85-8F47-95CC-4E694F6D022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21</a:t>
            </a:fld>
            <a:endParaRPr lang="zh-CN" altLang="en-US" dirty="0"/>
          </a:p>
        </p:txBody>
      </p:sp>
      <p:pic>
        <p:nvPicPr>
          <p:cNvPr id="11" name="图像" descr="图像">
            <a:extLst>
              <a:ext uri="{FF2B5EF4-FFF2-40B4-BE49-F238E27FC236}">
                <a16:creationId xmlns:a16="http://schemas.microsoft.com/office/drawing/2014/main" id="{2A61D033-6F90-6046-AD6E-4D8A0DB92FBC}"/>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2" name="矩形 11">
            <a:extLst>
              <a:ext uri="{FF2B5EF4-FFF2-40B4-BE49-F238E27FC236}">
                <a16:creationId xmlns:a16="http://schemas.microsoft.com/office/drawing/2014/main" id="{ABCDD021-8C0F-3E4A-9000-2F06B761A74B}"/>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B95A596-B7EA-F140-A494-FF30807C12F7}"/>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27E53B1-D657-244C-8B30-D43195F7DF28}"/>
              </a:ext>
            </a:extLst>
          </p:cNvPr>
          <p:cNvPicPr>
            <a:picLocks noChangeAspect="1"/>
          </p:cNvPicPr>
          <p:nvPr/>
        </p:nvPicPr>
        <p:blipFill>
          <a:blip r:embed="rId3"/>
          <a:stretch>
            <a:fillRect/>
          </a:stretch>
        </p:blipFill>
        <p:spPr>
          <a:xfrm>
            <a:off x="480397" y="1128713"/>
            <a:ext cx="2237858" cy="5729287"/>
          </a:xfrm>
          <a:prstGeom prst="rect">
            <a:avLst/>
          </a:prstGeom>
        </p:spPr>
      </p:pic>
      <p:pic>
        <p:nvPicPr>
          <p:cNvPr id="16" name="图片 15">
            <a:extLst>
              <a:ext uri="{FF2B5EF4-FFF2-40B4-BE49-F238E27FC236}">
                <a16:creationId xmlns:a16="http://schemas.microsoft.com/office/drawing/2014/main" id="{963868AE-E5CC-CA43-B1BB-B5FD2DFB22F0}"/>
              </a:ext>
            </a:extLst>
          </p:cNvPr>
          <p:cNvPicPr>
            <a:picLocks noChangeAspect="1"/>
          </p:cNvPicPr>
          <p:nvPr/>
        </p:nvPicPr>
        <p:blipFill>
          <a:blip r:embed="rId4"/>
          <a:stretch>
            <a:fillRect/>
          </a:stretch>
        </p:blipFill>
        <p:spPr>
          <a:xfrm>
            <a:off x="2718255" y="1128713"/>
            <a:ext cx="2357438" cy="4422775"/>
          </a:xfrm>
          <a:prstGeom prst="rect">
            <a:avLst/>
          </a:prstGeom>
        </p:spPr>
      </p:pic>
      <p:pic>
        <p:nvPicPr>
          <p:cNvPr id="18" name="图片 17">
            <a:extLst>
              <a:ext uri="{FF2B5EF4-FFF2-40B4-BE49-F238E27FC236}">
                <a16:creationId xmlns:a16="http://schemas.microsoft.com/office/drawing/2014/main" id="{890BF29C-5873-DA43-B527-3E61A2E3FAE8}"/>
              </a:ext>
            </a:extLst>
          </p:cNvPr>
          <p:cNvPicPr>
            <a:picLocks noChangeAspect="1"/>
          </p:cNvPicPr>
          <p:nvPr/>
        </p:nvPicPr>
        <p:blipFill>
          <a:blip r:embed="rId5"/>
          <a:stretch>
            <a:fillRect/>
          </a:stretch>
        </p:blipFill>
        <p:spPr>
          <a:xfrm>
            <a:off x="5089868" y="1128713"/>
            <a:ext cx="2069385" cy="5729287"/>
          </a:xfrm>
          <a:prstGeom prst="rect">
            <a:avLst/>
          </a:prstGeom>
        </p:spPr>
      </p:pic>
      <p:pic>
        <p:nvPicPr>
          <p:cNvPr id="19" name="图片 18">
            <a:extLst>
              <a:ext uri="{FF2B5EF4-FFF2-40B4-BE49-F238E27FC236}">
                <a16:creationId xmlns:a16="http://schemas.microsoft.com/office/drawing/2014/main" id="{B68B0F6F-F647-B94C-9ABB-528211D07196}"/>
              </a:ext>
            </a:extLst>
          </p:cNvPr>
          <p:cNvPicPr>
            <a:picLocks noChangeAspect="1"/>
          </p:cNvPicPr>
          <p:nvPr/>
        </p:nvPicPr>
        <p:blipFill>
          <a:blip r:embed="rId6"/>
          <a:stretch>
            <a:fillRect/>
          </a:stretch>
        </p:blipFill>
        <p:spPr>
          <a:xfrm>
            <a:off x="9630626" y="1124919"/>
            <a:ext cx="2338245" cy="5119339"/>
          </a:xfrm>
          <a:prstGeom prst="rect">
            <a:avLst/>
          </a:prstGeom>
        </p:spPr>
      </p:pic>
      <p:pic>
        <p:nvPicPr>
          <p:cNvPr id="20" name="图片 19">
            <a:extLst>
              <a:ext uri="{FF2B5EF4-FFF2-40B4-BE49-F238E27FC236}">
                <a16:creationId xmlns:a16="http://schemas.microsoft.com/office/drawing/2014/main" id="{62605DDD-6B19-8E48-A11C-371A30D6D5A3}"/>
              </a:ext>
            </a:extLst>
          </p:cNvPr>
          <p:cNvPicPr>
            <a:picLocks noChangeAspect="1"/>
          </p:cNvPicPr>
          <p:nvPr/>
        </p:nvPicPr>
        <p:blipFill>
          <a:blip r:embed="rId7"/>
          <a:stretch>
            <a:fillRect/>
          </a:stretch>
        </p:blipFill>
        <p:spPr>
          <a:xfrm>
            <a:off x="7173428" y="1128713"/>
            <a:ext cx="2457311" cy="5672138"/>
          </a:xfrm>
          <a:prstGeom prst="rect">
            <a:avLst/>
          </a:prstGeom>
        </p:spPr>
      </p:pic>
    </p:spTree>
    <p:extLst>
      <p:ext uri="{BB962C8B-B14F-4D97-AF65-F5344CB8AC3E}">
        <p14:creationId xmlns:p14="http://schemas.microsoft.com/office/powerpoint/2010/main" val="535127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643160" y="274314"/>
            <a:ext cx="8295092" cy="646331"/>
          </a:xfrm>
          <a:prstGeom prst="rect">
            <a:avLst/>
          </a:prstGeom>
          <a:noFill/>
        </p:spPr>
        <p:txBody>
          <a:bodyPr wrap="square" rtlCol="0">
            <a:spAutoFit/>
          </a:bodyPr>
          <a:lstStyle/>
          <a:p>
            <a:pPr lvl="0"/>
            <a:r>
              <a:rPr lang="zh-CN" altLang="en-US" sz="3600" dirty="0">
                <a:solidFill>
                  <a:schemeClr val="tx2">
                    <a:lumMod val="10000"/>
                  </a:schemeClr>
                </a:solidFill>
                <a:latin typeface="KaiTi" panose="02010609060101010101" pitchFamily="49" charset="-122"/>
                <a:ea typeface="KaiTi" panose="02010609060101010101" pitchFamily="49" charset="-122"/>
                <a:cs typeface="PingFang SC" charset="-122"/>
              </a:rPr>
              <a:t>智能资讯投研</a:t>
            </a:r>
            <a:endParaRPr kumimoji="1" lang="zh-CN" altLang="en-US" sz="3600" dirty="0">
              <a:latin typeface="KaiTi" panose="02010609060101010101" pitchFamily="49" charset="-122"/>
              <a:ea typeface="KaiTi" panose="02010609060101010101" pitchFamily="49" charset="-122"/>
              <a:cs typeface="PingFang SC" charset="-122"/>
            </a:endParaRPr>
          </a:p>
        </p:txBody>
      </p:sp>
      <p:sp>
        <p:nvSpPr>
          <p:cNvPr id="18" name="Shape 277">
            <a:extLst>
              <a:ext uri="{FF2B5EF4-FFF2-40B4-BE49-F238E27FC236}">
                <a16:creationId xmlns:a16="http://schemas.microsoft.com/office/drawing/2014/main" id="{8C40FB2A-02DE-4C79-8B95-AD26D3B609DA}"/>
              </a:ext>
            </a:extLst>
          </p:cNvPr>
          <p:cNvSpPr/>
          <p:nvPr/>
        </p:nvSpPr>
        <p:spPr>
          <a:xfrm>
            <a:off x="4367212" y="3945822"/>
            <a:ext cx="523876" cy="481210"/>
          </a:xfrm>
          <a:custGeom>
            <a:avLst/>
            <a:gdLst/>
            <a:ahLst/>
            <a:cxnLst>
              <a:cxn ang="0">
                <a:pos x="wd2" y="hd2"/>
              </a:cxn>
              <a:cxn ang="5400000">
                <a:pos x="wd2" y="hd2"/>
              </a:cxn>
              <a:cxn ang="10800000">
                <a:pos x="wd2" y="hd2"/>
              </a:cxn>
              <a:cxn ang="16200000">
                <a:pos x="wd2" y="hd2"/>
              </a:cxn>
            </a:cxnLst>
            <a:rect l="0" t="0" r="r" b="b"/>
            <a:pathLst>
              <a:path w="21600" h="17140" extrusionOk="0">
                <a:moveTo>
                  <a:pt x="0" y="7883"/>
                </a:moveTo>
                <a:cubicBezTo>
                  <a:pt x="0" y="7883"/>
                  <a:pt x="525" y="13170"/>
                  <a:pt x="2449" y="16719"/>
                </a:cubicBezTo>
                <a:cubicBezTo>
                  <a:pt x="4372" y="20269"/>
                  <a:pt x="21600" y="179"/>
                  <a:pt x="21600" y="179"/>
                </a:cubicBezTo>
                <a:cubicBezTo>
                  <a:pt x="21600" y="179"/>
                  <a:pt x="3236" y="-1331"/>
                  <a:pt x="525" y="4409"/>
                </a:cubicBezTo>
                <a:cubicBezTo>
                  <a:pt x="0" y="7883"/>
                  <a:pt x="0" y="7883"/>
                  <a:pt x="0" y="7883"/>
                </a:cubicBezTo>
              </a:path>
            </a:pathLst>
          </a:custGeom>
          <a:solidFill>
            <a:srgbClr val="3786DD"/>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23" name="Shape 278">
            <a:extLst>
              <a:ext uri="{FF2B5EF4-FFF2-40B4-BE49-F238E27FC236}">
                <a16:creationId xmlns:a16="http://schemas.microsoft.com/office/drawing/2014/main" id="{5E9E64F7-AF85-44BC-842F-FA649B82C0F4}"/>
              </a:ext>
            </a:extLst>
          </p:cNvPr>
          <p:cNvSpPr/>
          <p:nvPr/>
        </p:nvSpPr>
        <p:spPr>
          <a:xfrm>
            <a:off x="5082439" y="5813457"/>
            <a:ext cx="481210" cy="527051"/>
          </a:xfrm>
          <a:custGeom>
            <a:avLst/>
            <a:gdLst/>
            <a:ahLst/>
            <a:cxnLst>
              <a:cxn ang="0">
                <a:pos x="wd2" y="hd2"/>
              </a:cxn>
              <a:cxn ang="5400000">
                <a:pos x="wd2" y="hd2"/>
              </a:cxn>
              <a:cxn ang="10800000">
                <a:pos x="wd2" y="hd2"/>
              </a:cxn>
              <a:cxn ang="16200000">
                <a:pos x="wd2" y="hd2"/>
              </a:cxn>
            </a:cxnLst>
            <a:rect l="0" t="0" r="r" b="b"/>
            <a:pathLst>
              <a:path w="17140" h="21600" extrusionOk="0">
                <a:moveTo>
                  <a:pt x="7883" y="21600"/>
                </a:moveTo>
                <a:cubicBezTo>
                  <a:pt x="7883" y="21600"/>
                  <a:pt x="13170" y="20990"/>
                  <a:pt x="16719" y="19074"/>
                </a:cubicBezTo>
                <a:cubicBezTo>
                  <a:pt x="20269" y="17158"/>
                  <a:pt x="179" y="0"/>
                  <a:pt x="179" y="0"/>
                </a:cubicBezTo>
                <a:cubicBezTo>
                  <a:pt x="179" y="0"/>
                  <a:pt x="-1331" y="18290"/>
                  <a:pt x="4409" y="20990"/>
                </a:cubicBezTo>
                <a:cubicBezTo>
                  <a:pt x="7883" y="21600"/>
                  <a:pt x="7883" y="21600"/>
                  <a:pt x="7883" y="21600"/>
                </a:cubicBezTo>
              </a:path>
            </a:pathLst>
          </a:custGeom>
          <a:solidFill>
            <a:srgbClr val="013041"/>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24" name="Shape 279">
            <a:extLst>
              <a:ext uri="{FF2B5EF4-FFF2-40B4-BE49-F238E27FC236}">
                <a16:creationId xmlns:a16="http://schemas.microsoft.com/office/drawing/2014/main" id="{0C873AA2-0E34-4738-9F92-8C30375A870F}"/>
              </a:ext>
            </a:extLst>
          </p:cNvPr>
          <p:cNvSpPr/>
          <p:nvPr/>
        </p:nvSpPr>
        <p:spPr>
          <a:xfrm>
            <a:off x="6951662" y="5142458"/>
            <a:ext cx="523876" cy="479653"/>
          </a:xfrm>
          <a:custGeom>
            <a:avLst/>
            <a:gdLst/>
            <a:ahLst/>
            <a:cxnLst>
              <a:cxn ang="0">
                <a:pos x="wd2" y="hd2"/>
              </a:cxn>
              <a:cxn ang="5400000">
                <a:pos x="wd2" y="hd2"/>
              </a:cxn>
              <a:cxn ang="10800000">
                <a:pos x="wd2" y="hd2"/>
              </a:cxn>
              <a:cxn ang="16200000">
                <a:pos x="wd2" y="hd2"/>
              </a:cxn>
            </a:cxnLst>
            <a:rect l="0" t="0" r="r" b="b"/>
            <a:pathLst>
              <a:path w="21600" h="17040" extrusionOk="0">
                <a:moveTo>
                  <a:pt x="21600" y="9167"/>
                </a:moveTo>
                <a:cubicBezTo>
                  <a:pt x="21600" y="9167"/>
                  <a:pt x="20990" y="3974"/>
                  <a:pt x="19074" y="437"/>
                </a:cubicBezTo>
                <a:cubicBezTo>
                  <a:pt x="17158" y="-3176"/>
                  <a:pt x="0" y="16844"/>
                  <a:pt x="0" y="16844"/>
                </a:cubicBezTo>
                <a:cubicBezTo>
                  <a:pt x="0" y="16844"/>
                  <a:pt x="18290" y="18424"/>
                  <a:pt x="20990" y="12629"/>
                </a:cubicBezTo>
                <a:cubicBezTo>
                  <a:pt x="21600" y="9167"/>
                  <a:pt x="21600" y="9167"/>
                  <a:pt x="21600" y="9167"/>
                </a:cubicBezTo>
              </a:path>
            </a:pathLst>
          </a:custGeom>
          <a:solidFill>
            <a:srgbClr val="C89D00"/>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25" name="Shape 280">
            <a:extLst>
              <a:ext uri="{FF2B5EF4-FFF2-40B4-BE49-F238E27FC236}">
                <a16:creationId xmlns:a16="http://schemas.microsoft.com/office/drawing/2014/main" id="{5246CC60-1998-4759-B645-ED1BC694BDEC}"/>
              </a:ext>
            </a:extLst>
          </p:cNvPr>
          <p:cNvSpPr/>
          <p:nvPr/>
        </p:nvSpPr>
        <p:spPr>
          <a:xfrm>
            <a:off x="6280458" y="3230595"/>
            <a:ext cx="479865" cy="523875"/>
          </a:xfrm>
          <a:custGeom>
            <a:avLst/>
            <a:gdLst/>
            <a:ahLst/>
            <a:cxnLst>
              <a:cxn ang="0">
                <a:pos x="wd2" y="hd2"/>
              </a:cxn>
              <a:cxn ang="5400000">
                <a:pos x="wd2" y="hd2"/>
              </a:cxn>
              <a:cxn ang="10800000">
                <a:pos x="wd2" y="hd2"/>
              </a:cxn>
              <a:cxn ang="16200000">
                <a:pos x="wd2" y="hd2"/>
              </a:cxn>
            </a:cxnLst>
            <a:rect l="0" t="0" r="r" b="b"/>
            <a:pathLst>
              <a:path w="17137" h="21600" extrusionOk="0">
                <a:moveTo>
                  <a:pt x="9181" y="0"/>
                </a:moveTo>
                <a:cubicBezTo>
                  <a:pt x="9181" y="0"/>
                  <a:pt x="3970" y="525"/>
                  <a:pt x="421" y="2449"/>
                </a:cubicBezTo>
                <a:cubicBezTo>
                  <a:pt x="-3129" y="4372"/>
                  <a:pt x="16961" y="21600"/>
                  <a:pt x="16961" y="21600"/>
                </a:cubicBezTo>
                <a:cubicBezTo>
                  <a:pt x="16961" y="21600"/>
                  <a:pt x="18471" y="3236"/>
                  <a:pt x="12656" y="525"/>
                </a:cubicBezTo>
                <a:cubicBezTo>
                  <a:pt x="9181" y="0"/>
                  <a:pt x="9181" y="0"/>
                  <a:pt x="9181" y="0"/>
                </a:cubicBezTo>
              </a:path>
            </a:pathLst>
          </a:custGeom>
          <a:solidFill>
            <a:srgbClr val="3FC8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26" name="Shape 281">
            <a:extLst>
              <a:ext uri="{FF2B5EF4-FFF2-40B4-BE49-F238E27FC236}">
                <a16:creationId xmlns:a16="http://schemas.microsoft.com/office/drawing/2014/main" id="{CFEBA1CA-571B-4421-B9AE-4BD667AFA3C5}"/>
              </a:ext>
            </a:extLst>
          </p:cNvPr>
          <p:cNvSpPr/>
          <p:nvPr/>
        </p:nvSpPr>
        <p:spPr>
          <a:xfrm rot="2694932">
            <a:off x="4551362" y="3422682"/>
            <a:ext cx="2741613" cy="2741613"/>
          </a:xfrm>
          <a:prstGeom prst="roundRect">
            <a:avLst>
              <a:gd name="adj" fmla="val 1870"/>
            </a:avLst>
          </a:prstGeom>
          <a:solidFill>
            <a:srgbClr val="445469"/>
          </a:solidFill>
          <a:ln w="12700">
            <a:miter lim="400000"/>
          </a:ln>
        </p:spPr>
        <p:txBody>
          <a:bodyPr lIns="0" tIns="0" rIns="0" bIns="0"/>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KaiTi" panose="02010609060101010101" pitchFamily="49" charset="-122"/>
              <a:ea typeface="KaiTi" panose="02010609060101010101" pitchFamily="49" charset="-122"/>
              <a:cs typeface="PingFang SC" charset="-122"/>
            </a:endParaRPr>
          </a:p>
        </p:txBody>
      </p:sp>
      <p:sp>
        <p:nvSpPr>
          <p:cNvPr id="27" name="Shape 282">
            <a:extLst>
              <a:ext uri="{FF2B5EF4-FFF2-40B4-BE49-F238E27FC236}">
                <a16:creationId xmlns:a16="http://schemas.microsoft.com/office/drawing/2014/main" id="{74536190-F973-479A-AE06-D3DB9EA071DA}"/>
              </a:ext>
            </a:extLst>
          </p:cNvPr>
          <p:cNvSpPr/>
          <p:nvPr/>
        </p:nvSpPr>
        <p:spPr>
          <a:xfrm>
            <a:off x="5487987" y="4359307"/>
            <a:ext cx="868363" cy="868363"/>
          </a:xfrm>
          <a:custGeom>
            <a:avLst/>
            <a:gdLst/>
            <a:ahLst/>
            <a:cxnLst>
              <a:cxn ang="0">
                <a:pos x="wd2" y="hd2"/>
              </a:cxn>
              <a:cxn ang="5400000">
                <a:pos x="wd2" y="hd2"/>
              </a:cxn>
              <a:cxn ang="10800000">
                <a:pos x="wd2" y="hd2"/>
              </a:cxn>
              <a:cxn ang="16200000">
                <a:pos x="wd2" y="hd2"/>
              </a:cxn>
            </a:cxnLst>
            <a:rect l="0" t="0" r="r" b="b"/>
            <a:pathLst>
              <a:path w="21600" h="21600" extrusionOk="0">
                <a:moveTo>
                  <a:pt x="10604" y="21600"/>
                </a:moveTo>
                <a:cubicBezTo>
                  <a:pt x="4713" y="21600"/>
                  <a:pt x="0" y="16495"/>
                  <a:pt x="0" y="10604"/>
                </a:cubicBezTo>
                <a:cubicBezTo>
                  <a:pt x="0" y="4713"/>
                  <a:pt x="4713" y="0"/>
                  <a:pt x="10604" y="0"/>
                </a:cubicBezTo>
                <a:cubicBezTo>
                  <a:pt x="16495" y="0"/>
                  <a:pt x="21600" y="4713"/>
                  <a:pt x="21600" y="10604"/>
                </a:cubicBezTo>
                <a:cubicBezTo>
                  <a:pt x="21600" y="16495"/>
                  <a:pt x="16495" y="21600"/>
                  <a:pt x="10604" y="21600"/>
                </a:cubicBezTo>
                <a:close/>
                <a:moveTo>
                  <a:pt x="10604" y="3142"/>
                </a:moveTo>
                <a:cubicBezTo>
                  <a:pt x="6284" y="3142"/>
                  <a:pt x="3142" y="6676"/>
                  <a:pt x="3142" y="10604"/>
                </a:cubicBezTo>
                <a:cubicBezTo>
                  <a:pt x="3142" y="14924"/>
                  <a:pt x="6284" y="18458"/>
                  <a:pt x="10604" y="18458"/>
                </a:cubicBezTo>
                <a:cubicBezTo>
                  <a:pt x="14924" y="18458"/>
                  <a:pt x="18458" y="14924"/>
                  <a:pt x="18458" y="10604"/>
                </a:cubicBezTo>
                <a:cubicBezTo>
                  <a:pt x="18458" y="6676"/>
                  <a:pt x="14924" y="3142"/>
                  <a:pt x="10604" y="3142"/>
                </a:cubicBezTo>
                <a:close/>
                <a:moveTo>
                  <a:pt x="12567" y="12175"/>
                </a:moveTo>
                <a:cubicBezTo>
                  <a:pt x="12567" y="12175"/>
                  <a:pt x="12175" y="12567"/>
                  <a:pt x="12175" y="12567"/>
                </a:cubicBezTo>
                <a:cubicBezTo>
                  <a:pt x="7462" y="12567"/>
                  <a:pt x="7462" y="12567"/>
                  <a:pt x="7462" y="12567"/>
                </a:cubicBezTo>
                <a:cubicBezTo>
                  <a:pt x="7462" y="12567"/>
                  <a:pt x="7069" y="12175"/>
                  <a:pt x="7069" y="12175"/>
                </a:cubicBezTo>
                <a:cubicBezTo>
                  <a:pt x="7069" y="10996"/>
                  <a:pt x="7069" y="10996"/>
                  <a:pt x="7069" y="10996"/>
                </a:cubicBezTo>
                <a:cubicBezTo>
                  <a:pt x="7069" y="10996"/>
                  <a:pt x="7462" y="10604"/>
                  <a:pt x="7462" y="10604"/>
                </a:cubicBezTo>
                <a:cubicBezTo>
                  <a:pt x="10604" y="10604"/>
                  <a:pt x="10604" y="10604"/>
                  <a:pt x="10604" y="10604"/>
                </a:cubicBezTo>
                <a:cubicBezTo>
                  <a:pt x="10604" y="5891"/>
                  <a:pt x="10604" y="5891"/>
                  <a:pt x="10604" y="5891"/>
                </a:cubicBezTo>
                <a:cubicBezTo>
                  <a:pt x="10604" y="5498"/>
                  <a:pt x="10996" y="5498"/>
                  <a:pt x="10996" y="5498"/>
                </a:cubicBezTo>
                <a:cubicBezTo>
                  <a:pt x="12175" y="5498"/>
                  <a:pt x="12175" y="5498"/>
                  <a:pt x="12175" y="5498"/>
                </a:cubicBezTo>
                <a:cubicBezTo>
                  <a:pt x="12175" y="5498"/>
                  <a:pt x="12567" y="5498"/>
                  <a:pt x="12567" y="5891"/>
                </a:cubicBezTo>
                <a:lnTo>
                  <a:pt x="12567" y="12175"/>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28" name="Shape 283">
            <a:extLst>
              <a:ext uri="{FF2B5EF4-FFF2-40B4-BE49-F238E27FC236}">
                <a16:creationId xmlns:a16="http://schemas.microsoft.com/office/drawing/2014/main" id="{351DD392-9C63-48FC-8610-6F254B88A748}"/>
              </a:ext>
            </a:extLst>
          </p:cNvPr>
          <p:cNvSpPr/>
          <p:nvPr/>
        </p:nvSpPr>
        <p:spPr>
          <a:xfrm>
            <a:off x="4359887" y="3000407"/>
            <a:ext cx="2021863" cy="1189038"/>
          </a:xfrm>
          <a:custGeom>
            <a:avLst/>
            <a:gdLst/>
            <a:ahLst/>
            <a:cxnLst>
              <a:cxn ang="0">
                <a:pos x="wd2" y="hd2"/>
              </a:cxn>
              <a:cxn ang="5400000">
                <a:pos x="wd2" y="hd2"/>
              </a:cxn>
              <a:cxn ang="10800000">
                <a:pos x="wd2" y="hd2"/>
              </a:cxn>
              <a:cxn ang="16200000">
                <a:pos x="wd2" y="hd2"/>
              </a:cxn>
            </a:cxnLst>
            <a:rect l="0" t="0" r="r" b="b"/>
            <a:pathLst>
              <a:path w="21409" h="21600" extrusionOk="0">
                <a:moveTo>
                  <a:pt x="78" y="21177"/>
                </a:moveTo>
                <a:cubicBezTo>
                  <a:pt x="78" y="21177"/>
                  <a:pt x="-12" y="19986"/>
                  <a:pt x="437" y="19179"/>
                </a:cubicBezTo>
                <a:cubicBezTo>
                  <a:pt x="908" y="18410"/>
                  <a:pt x="1626" y="17910"/>
                  <a:pt x="2344" y="17872"/>
                </a:cubicBezTo>
                <a:cubicBezTo>
                  <a:pt x="3084" y="17872"/>
                  <a:pt x="14927" y="17872"/>
                  <a:pt x="14927" y="17872"/>
                </a:cubicBezTo>
                <a:cubicBezTo>
                  <a:pt x="14927" y="21600"/>
                  <a:pt x="14927" y="21600"/>
                  <a:pt x="14927" y="21600"/>
                </a:cubicBezTo>
                <a:cubicBezTo>
                  <a:pt x="21409" y="10493"/>
                  <a:pt x="21409" y="10493"/>
                  <a:pt x="21409" y="10493"/>
                </a:cubicBezTo>
                <a:cubicBezTo>
                  <a:pt x="15308" y="0"/>
                  <a:pt x="15308" y="0"/>
                  <a:pt x="15308" y="0"/>
                </a:cubicBezTo>
                <a:cubicBezTo>
                  <a:pt x="15308" y="3651"/>
                  <a:pt x="15308" y="3651"/>
                  <a:pt x="15308" y="3651"/>
                </a:cubicBezTo>
                <a:cubicBezTo>
                  <a:pt x="9544" y="3651"/>
                  <a:pt x="9544" y="3651"/>
                  <a:pt x="9544" y="3651"/>
                </a:cubicBezTo>
                <a:cubicBezTo>
                  <a:pt x="9544" y="3651"/>
                  <a:pt x="9050" y="3574"/>
                  <a:pt x="8557" y="4458"/>
                </a:cubicBezTo>
                <a:cubicBezTo>
                  <a:pt x="8063" y="5304"/>
                  <a:pt x="325" y="18525"/>
                  <a:pt x="325" y="18525"/>
                </a:cubicBezTo>
                <a:cubicBezTo>
                  <a:pt x="325" y="18525"/>
                  <a:pt x="-191" y="19371"/>
                  <a:pt x="78" y="21177"/>
                </a:cubicBezTo>
                <a:close/>
              </a:path>
            </a:pathLst>
          </a:custGeom>
          <a:solidFill>
            <a:srgbClr val="5D9CE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30" name="Shape 284">
            <a:extLst>
              <a:ext uri="{FF2B5EF4-FFF2-40B4-BE49-F238E27FC236}">
                <a16:creationId xmlns:a16="http://schemas.microsoft.com/office/drawing/2014/main" id="{FE82061F-16B6-49AF-9B6A-B98E5559D530}"/>
              </a:ext>
            </a:extLst>
          </p:cNvPr>
          <p:cNvSpPr/>
          <p:nvPr/>
        </p:nvSpPr>
        <p:spPr>
          <a:xfrm>
            <a:off x="4137025" y="4325970"/>
            <a:ext cx="1189038" cy="2021636"/>
          </a:xfrm>
          <a:custGeom>
            <a:avLst/>
            <a:gdLst/>
            <a:ahLst/>
            <a:cxnLst>
              <a:cxn ang="0">
                <a:pos x="wd2" y="hd2"/>
              </a:cxn>
              <a:cxn ang="5400000">
                <a:pos x="wd2" y="hd2"/>
              </a:cxn>
              <a:cxn ang="10800000">
                <a:pos x="wd2" y="hd2"/>
              </a:cxn>
              <a:cxn ang="16200000">
                <a:pos x="wd2" y="hd2"/>
              </a:cxn>
            </a:cxnLst>
            <a:rect l="0" t="0" r="r" b="b"/>
            <a:pathLst>
              <a:path w="21600" h="21406" extrusionOk="0">
                <a:moveTo>
                  <a:pt x="21177" y="21331"/>
                </a:moveTo>
                <a:cubicBezTo>
                  <a:pt x="21177" y="21331"/>
                  <a:pt x="19986" y="21421"/>
                  <a:pt x="19217" y="20950"/>
                </a:cubicBezTo>
                <a:cubicBezTo>
                  <a:pt x="18410" y="20501"/>
                  <a:pt x="17910" y="19761"/>
                  <a:pt x="17910" y="19043"/>
                </a:cubicBezTo>
                <a:cubicBezTo>
                  <a:pt x="17872" y="18325"/>
                  <a:pt x="17910" y="6482"/>
                  <a:pt x="17910" y="6482"/>
                </a:cubicBezTo>
                <a:cubicBezTo>
                  <a:pt x="21600" y="6482"/>
                  <a:pt x="21600" y="6482"/>
                  <a:pt x="21600" y="6482"/>
                </a:cubicBezTo>
                <a:cubicBezTo>
                  <a:pt x="10493" y="0"/>
                  <a:pt x="10493" y="0"/>
                  <a:pt x="10493" y="0"/>
                </a:cubicBezTo>
                <a:cubicBezTo>
                  <a:pt x="0" y="6101"/>
                  <a:pt x="0" y="6101"/>
                  <a:pt x="0" y="6101"/>
                </a:cubicBezTo>
                <a:cubicBezTo>
                  <a:pt x="3651" y="6101"/>
                  <a:pt x="3651" y="6101"/>
                  <a:pt x="3651" y="6101"/>
                </a:cubicBezTo>
                <a:cubicBezTo>
                  <a:pt x="3651" y="11843"/>
                  <a:pt x="3651" y="11843"/>
                  <a:pt x="3651" y="11843"/>
                </a:cubicBezTo>
                <a:cubicBezTo>
                  <a:pt x="3651" y="11843"/>
                  <a:pt x="3574" y="12359"/>
                  <a:pt x="4458" y="12852"/>
                </a:cubicBezTo>
                <a:cubicBezTo>
                  <a:pt x="5304" y="13346"/>
                  <a:pt x="18525" y="21062"/>
                  <a:pt x="18525" y="21062"/>
                </a:cubicBezTo>
                <a:cubicBezTo>
                  <a:pt x="18525" y="21062"/>
                  <a:pt x="19371" y="21600"/>
                  <a:pt x="21177" y="21331"/>
                </a:cubicBezTo>
                <a:close/>
              </a:path>
            </a:pathLst>
          </a:custGeom>
          <a:solidFill>
            <a:srgbClr val="01455C"/>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31" name="Shape 285">
            <a:extLst>
              <a:ext uri="{FF2B5EF4-FFF2-40B4-BE49-F238E27FC236}">
                <a16:creationId xmlns:a16="http://schemas.microsoft.com/office/drawing/2014/main" id="{5943005E-E05B-4599-BF91-5094375ED103}"/>
              </a:ext>
            </a:extLst>
          </p:cNvPr>
          <p:cNvSpPr/>
          <p:nvPr/>
        </p:nvSpPr>
        <p:spPr>
          <a:xfrm>
            <a:off x="5462587" y="5380070"/>
            <a:ext cx="2020063" cy="1187450"/>
          </a:xfrm>
          <a:custGeom>
            <a:avLst/>
            <a:gdLst/>
            <a:ahLst/>
            <a:cxnLst>
              <a:cxn ang="0">
                <a:pos x="wd2" y="hd2"/>
              </a:cxn>
              <a:cxn ang="5400000">
                <a:pos x="wd2" y="hd2"/>
              </a:cxn>
              <a:cxn ang="10800000">
                <a:pos x="wd2" y="hd2"/>
              </a:cxn>
              <a:cxn ang="16200000">
                <a:pos x="wd2" y="hd2"/>
              </a:cxn>
            </a:cxnLst>
            <a:rect l="0" t="0" r="r" b="b"/>
            <a:pathLst>
              <a:path w="21406" h="21600" extrusionOk="0">
                <a:moveTo>
                  <a:pt x="21331" y="385"/>
                </a:moveTo>
                <a:cubicBezTo>
                  <a:pt x="21331" y="385"/>
                  <a:pt x="21421" y="1617"/>
                  <a:pt x="20950" y="2387"/>
                </a:cubicBezTo>
                <a:cubicBezTo>
                  <a:pt x="20501" y="3157"/>
                  <a:pt x="19783" y="3658"/>
                  <a:pt x="19043" y="3696"/>
                </a:cubicBezTo>
                <a:cubicBezTo>
                  <a:pt x="18325" y="3735"/>
                  <a:pt x="6482" y="3696"/>
                  <a:pt x="6482" y="3696"/>
                </a:cubicBezTo>
                <a:cubicBezTo>
                  <a:pt x="6482" y="0"/>
                  <a:pt x="6482" y="0"/>
                  <a:pt x="6482" y="0"/>
                </a:cubicBezTo>
                <a:cubicBezTo>
                  <a:pt x="0" y="11127"/>
                  <a:pt x="0" y="11127"/>
                  <a:pt x="0" y="11127"/>
                </a:cubicBezTo>
                <a:cubicBezTo>
                  <a:pt x="6101" y="21600"/>
                  <a:pt x="6101" y="21600"/>
                  <a:pt x="6101" y="21600"/>
                </a:cubicBezTo>
                <a:cubicBezTo>
                  <a:pt x="6101" y="17942"/>
                  <a:pt x="6101" y="17942"/>
                  <a:pt x="6101" y="17942"/>
                </a:cubicBezTo>
                <a:cubicBezTo>
                  <a:pt x="11843" y="17942"/>
                  <a:pt x="11843" y="17942"/>
                  <a:pt x="11843" y="17942"/>
                </a:cubicBezTo>
                <a:cubicBezTo>
                  <a:pt x="11843" y="17942"/>
                  <a:pt x="12359" y="18019"/>
                  <a:pt x="12852" y="17172"/>
                </a:cubicBezTo>
                <a:cubicBezTo>
                  <a:pt x="13346" y="16325"/>
                  <a:pt x="21062" y="3080"/>
                  <a:pt x="21062" y="3080"/>
                </a:cubicBezTo>
                <a:cubicBezTo>
                  <a:pt x="21062" y="3080"/>
                  <a:pt x="21600" y="2195"/>
                  <a:pt x="21331" y="385"/>
                </a:cubicBezTo>
                <a:close/>
              </a:path>
            </a:pathLst>
          </a:custGeom>
          <a:solidFill>
            <a:srgbClr val="F5C300"/>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35" name="Shape 286">
            <a:extLst>
              <a:ext uri="{FF2B5EF4-FFF2-40B4-BE49-F238E27FC236}">
                <a16:creationId xmlns:a16="http://schemas.microsoft.com/office/drawing/2014/main" id="{90833B3A-A0EB-4878-A8FE-392A2AFD53AB}"/>
              </a:ext>
            </a:extLst>
          </p:cNvPr>
          <p:cNvSpPr/>
          <p:nvPr/>
        </p:nvSpPr>
        <p:spPr>
          <a:xfrm>
            <a:off x="6518275" y="3223269"/>
            <a:ext cx="1185863" cy="2021864"/>
          </a:xfrm>
          <a:custGeom>
            <a:avLst/>
            <a:gdLst/>
            <a:ahLst/>
            <a:cxnLst>
              <a:cxn ang="0">
                <a:pos x="wd2" y="hd2"/>
              </a:cxn>
              <a:cxn ang="5400000">
                <a:pos x="wd2" y="hd2"/>
              </a:cxn>
              <a:cxn ang="10800000">
                <a:pos x="wd2" y="hd2"/>
              </a:cxn>
              <a:cxn ang="16200000">
                <a:pos x="wd2" y="hd2"/>
              </a:cxn>
            </a:cxnLst>
            <a:rect l="0" t="0" r="r" b="b"/>
            <a:pathLst>
              <a:path w="21600" h="21409" extrusionOk="0">
                <a:moveTo>
                  <a:pt x="385" y="78"/>
                </a:moveTo>
                <a:cubicBezTo>
                  <a:pt x="385" y="78"/>
                  <a:pt x="1617" y="-12"/>
                  <a:pt x="2387" y="437"/>
                </a:cubicBezTo>
                <a:cubicBezTo>
                  <a:pt x="3157" y="908"/>
                  <a:pt x="3696" y="1626"/>
                  <a:pt x="3696" y="2344"/>
                </a:cubicBezTo>
                <a:cubicBezTo>
                  <a:pt x="3735" y="3084"/>
                  <a:pt x="3696" y="14927"/>
                  <a:pt x="3696" y="14927"/>
                </a:cubicBezTo>
                <a:cubicBezTo>
                  <a:pt x="0" y="14927"/>
                  <a:pt x="0" y="14927"/>
                  <a:pt x="0" y="14927"/>
                </a:cubicBezTo>
                <a:cubicBezTo>
                  <a:pt x="11127" y="21409"/>
                  <a:pt x="11127" y="21409"/>
                  <a:pt x="11127" y="21409"/>
                </a:cubicBezTo>
                <a:cubicBezTo>
                  <a:pt x="21600" y="15308"/>
                  <a:pt x="21600" y="15308"/>
                  <a:pt x="21600" y="15308"/>
                </a:cubicBezTo>
                <a:cubicBezTo>
                  <a:pt x="17942" y="15308"/>
                  <a:pt x="17942" y="15308"/>
                  <a:pt x="17942" y="15308"/>
                </a:cubicBezTo>
                <a:cubicBezTo>
                  <a:pt x="17942" y="9544"/>
                  <a:pt x="17942" y="9544"/>
                  <a:pt x="17942" y="9544"/>
                </a:cubicBezTo>
                <a:cubicBezTo>
                  <a:pt x="17942" y="9544"/>
                  <a:pt x="18019" y="9050"/>
                  <a:pt x="17172" y="8557"/>
                </a:cubicBezTo>
                <a:cubicBezTo>
                  <a:pt x="16325" y="8041"/>
                  <a:pt x="3080" y="325"/>
                  <a:pt x="3080" y="325"/>
                </a:cubicBezTo>
                <a:cubicBezTo>
                  <a:pt x="3080" y="325"/>
                  <a:pt x="2233" y="-191"/>
                  <a:pt x="385" y="78"/>
                </a:cubicBezTo>
                <a:close/>
              </a:path>
            </a:pathLst>
          </a:custGeom>
          <a:solidFill>
            <a:srgbClr val="95E0FF"/>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36" name="Shape 287">
            <a:extLst>
              <a:ext uri="{FF2B5EF4-FFF2-40B4-BE49-F238E27FC236}">
                <a16:creationId xmlns:a16="http://schemas.microsoft.com/office/drawing/2014/main" id="{8E5B7980-AC8E-48FC-98D6-DC05988D3A5C}"/>
              </a:ext>
            </a:extLst>
          </p:cNvPr>
          <p:cNvSpPr/>
          <p:nvPr/>
        </p:nvSpPr>
        <p:spPr>
          <a:xfrm>
            <a:off x="7705724" y="2951195"/>
            <a:ext cx="1" cy="1165225"/>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37" name="Shape 288">
            <a:extLst>
              <a:ext uri="{FF2B5EF4-FFF2-40B4-BE49-F238E27FC236}">
                <a16:creationId xmlns:a16="http://schemas.microsoft.com/office/drawing/2014/main" id="{D8CD4B07-7326-4A10-8B95-19B937868F68}"/>
              </a:ext>
            </a:extLst>
          </p:cNvPr>
          <p:cNvSpPr/>
          <p:nvPr/>
        </p:nvSpPr>
        <p:spPr>
          <a:xfrm flipH="1">
            <a:off x="7706359" y="3239484"/>
            <a:ext cx="546101"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38" name="Shape 289">
            <a:extLst>
              <a:ext uri="{FF2B5EF4-FFF2-40B4-BE49-F238E27FC236}">
                <a16:creationId xmlns:a16="http://schemas.microsoft.com/office/drawing/2014/main" id="{0D957625-ACE6-4FB0-B5E3-A7DD33115740}"/>
              </a:ext>
            </a:extLst>
          </p:cNvPr>
          <p:cNvSpPr/>
          <p:nvPr/>
        </p:nvSpPr>
        <p:spPr>
          <a:xfrm>
            <a:off x="7756525" y="2879757"/>
            <a:ext cx="246862"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KaiTi" panose="02010609060101010101" pitchFamily="49" charset="-122"/>
                <a:ea typeface="KaiTi" panose="02010609060101010101" pitchFamily="49" charset="-122"/>
                <a:cs typeface="PingFang SC" charset="-122"/>
              </a:rPr>
              <a:t>02</a:t>
            </a:r>
          </a:p>
        </p:txBody>
      </p:sp>
      <p:sp>
        <p:nvSpPr>
          <p:cNvPr id="39" name="Shape 290">
            <a:extLst>
              <a:ext uri="{FF2B5EF4-FFF2-40B4-BE49-F238E27FC236}">
                <a16:creationId xmlns:a16="http://schemas.microsoft.com/office/drawing/2014/main" id="{ACF9A651-B25F-41EC-8A0C-EDC144811FF6}"/>
              </a:ext>
            </a:extLst>
          </p:cNvPr>
          <p:cNvSpPr/>
          <p:nvPr/>
        </p:nvSpPr>
        <p:spPr>
          <a:xfrm>
            <a:off x="4138295" y="2951195"/>
            <a:ext cx="1" cy="1165225"/>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0" name="Shape 291">
            <a:extLst>
              <a:ext uri="{FF2B5EF4-FFF2-40B4-BE49-F238E27FC236}">
                <a16:creationId xmlns:a16="http://schemas.microsoft.com/office/drawing/2014/main" id="{670A91CD-9C2C-4EBB-AAFB-6139486E7D26}"/>
              </a:ext>
            </a:extLst>
          </p:cNvPr>
          <p:cNvSpPr/>
          <p:nvPr/>
        </p:nvSpPr>
        <p:spPr>
          <a:xfrm>
            <a:off x="3589972" y="3239484"/>
            <a:ext cx="547689"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1" name="Shape 292">
            <a:extLst>
              <a:ext uri="{FF2B5EF4-FFF2-40B4-BE49-F238E27FC236}">
                <a16:creationId xmlns:a16="http://schemas.microsoft.com/office/drawing/2014/main" id="{D48FCA83-5E4C-42AC-9CEA-26EE79705A19}"/>
              </a:ext>
            </a:extLst>
          </p:cNvPr>
          <p:cNvSpPr/>
          <p:nvPr/>
        </p:nvSpPr>
        <p:spPr>
          <a:xfrm>
            <a:off x="3641725" y="2879757"/>
            <a:ext cx="246862"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KaiTi" panose="02010609060101010101" pitchFamily="49" charset="-122"/>
                <a:ea typeface="KaiTi" panose="02010609060101010101" pitchFamily="49" charset="-122"/>
                <a:cs typeface="PingFang SC" charset="-122"/>
              </a:rPr>
              <a:t>01</a:t>
            </a:r>
          </a:p>
        </p:txBody>
      </p:sp>
      <p:sp>
        <p:nvSpPr>
          <p:cNvPr id="42" name="Shape 293">
            <a:extLst>
              <a:ext uri="{FF2B5EF4-FFF2-40B4-BE49-F238E27FC236}">
                <a16:creationId xmlns:a16="http://schemas.microsoft.com/office/drawing/2014/main" id="{2D7A9DFD-B1FB-424B-9C4E-AA5E257ECA64}"/>
              </a:ext>
            </a:extLst>
          </p:cNvPr>
          <p:cNvSpPr/>
          <p:nvPr/>
        </p:nvSpPr>
        <p:spPr>
          <a:xfrm>
            <a:off x="7705725" y="5345145"/>
            <a:ext cx="0" cy="1163638"/>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3" name="Shape 294">
            <a:extLst>
              <a:ext uri="{FF2B5EF4-FFF2-40B4-BE49-F238E27FC236}">
                <a16:creationId xmlns:a16="http://schemas.microsoft.com/office/drawing/2014/main" id="{E7885C80-3891-44D8-8FD0-D26A0B8B7414}"/>
              </a:ext>
            </a:extLst>
          </p:cNvPr>
          <p:cNvSpPr/>
          <p:nvPr/>
        </p:nvSpPr>
        <p:spPr>
          <a:xfrm flipH="1">
            <a:off x="7706359" y="5633435"/>
            <a:ext cx="546101"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4" name="Shape 295">
            <a:extLst>
              <a:ext uri="{FF2B5EF4-FFF2-40B4-BE49-F238E27FC236}">
                <a16:creationId xmlns:a16="http://schemas.microsoft.com/office/drawing/2014/main" id="{927E3F54-2FAF-429F-A832-4C231BB12062}"/>
              </a:ext>
            </a:extLst>
          </p:cNvPr>
          <p:cNvSpPr/>
          <p:nvPr/>
        </p:nvSpPr>
        <p:spPr>
          <a:xfrm>
            <a:off x="7756525" y="5272120"/>
            <a:ext cx="246862"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KaiTi" panose="02010609060101010101" pitchFamily="49" charset="-122"/>
                <a:ea typeface="KaiTi" panose="02010609060101010101" pitchFamily="49" charset="-122"/>
                <a:cs typeface="PingFang SC" charset="-122"/>
              </a:rPr>
              <a:t>03</a:t>
            </a:r>
          </a:p>
        </p:txBody>
      </p:sp>
      <p:sp>
        <p:nvSpPr>
          <p:cNvPr id="45" name="Shape 296">
            <a:extLst>
              <a:ext uri="{FF2B5EF4-FFF2-40B4-BE49-F238E27FC236}">
                <a16:creationId xmlns:a16="http://schemas.microsoft.com/office/drawing/2014/main" id="{25FD03A2-FD5F-4CDD-92E9-7A5D4AEE0865}"/>
              </a:ext>
            </a:extLst>
          </p:cNvPr>
          <p:cNvSpPr/>
          <p:nvPr/>
        </p:nvSpPr>
        <p:spPr>
          <a:xfrm>
            <a:off x="4138295" y="5345145"/>
            <a:ext cx="1" cy="1163638"/>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6" name="Shape 297">
            <a:extLst>
              <a:ext uri="{FF2B5EF4-FFF2-40B4-BE49-F238E27FC236}">
                <a16:creationId xmlns:a16="http://schemas.microsoft.com/office/drawing/2014/main" id="{91F77E3A-C064-460F-A0B9-F8D8BCDA36E4}"/>
              </a:ext>
            </a:extLst>
          </p:cNvPr>
          <p:cNvSpPr/>
          <p:nvPr/>
        </p:nvSpPr>
        <p:spPr>
          <a:xfrm>
            <a:off x="3589972" y="5633435"/>
            <a:ext cx="547689"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KaiTi" panose="02010609060101010101" pitchFamily="49" charset="-122"/>
              <a:ea typeface="KaiTi" panose="02010609060101010101" pitchFamily="49" charset="-122"/>
              <a:cs typeface="PingFang SC" charset="-122"/>
            </a:endParaRPr>
          </a:p>
        </p:txBody>
      </p:sp>
      <p:sp>
        <p:nvSpPr>
          <p:cNvPr id="47" name="Shape 298">
            <a:extLst>
              <a:ext uri="{FF2B5EF4-FFF2-40B4-BE49-F238E27FC236}">
                <a16:creationId xmlns:a16="http://schemas.microsoft.com/office/drawing/2014/main" id="{AC120513-F11F-45B1-9DDF-3F46CA4CAE15}"/>
              </a:ext>
            </a:extLst>
          </p:cNvPr>
          <p:cNvSpPr/>
          <p:nvPr/>
        </p:nvSpPr>
        <p:spPr>
          <a:xfrm>
            <a:off x="3641725" y="5272120"/>
            <a:ext cx="246862"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KaiTi" panose="02010609060101010101" pitchFamily="49" charset="-122"/>
                <a:ea typeface="KaiTi" panose="02010609060101010101" pitchFamily="49" charset="-122"/>
                <a:cs typeface="PingFang SC" charset="-122"/>
              </a:rPr>
              <a:t>04</a:t>
            </a:r>
          </a:p>
        </p:txBody>
      </p:sp>
      <p:sp>
        <p:nvSpPr>
          <p:cNvPr id="48" name="Shape 299">
            <a:extLst>
              <a:ext uri="{FF2B5EF4-FFF2-40B4-BE49-F238E27FC236}">
                <a16:creationId xmlns:a16="http://schemas.microsoft.com/office/drawing/2014/main" id="{144D5803-B613-4186-BF2C-0399B3390F9A}"/>
              </a:ext>
            </a:extLst>
          </p:cNvPr>
          <p:cNvSpPr/>
          <p:nvPr/>
        </p:nvSpPr>
        <p:spPr>
          <a:xfrm>
            <a:off x="5592762" y="3733832"/>
            <a:ext cx="53976" cy="14288"/>
          </a:xfrm>
          <a:custGeom>
            <a:avLst/>
            <a:gdLst/>
            <a:ahLst/>
            <a:cxnLst>
              <a:cxn ang="0">
                <a:pos x="wd2" y="hd2"/>
              </a:cxn>
              <a:cxn ang="5400000">
                <a:pos x="wd2" y="hd2"/>
              </a:cxn>
              <a:cxn ang="10800000">
                <a:pos x="wd2" y="hd2"/>
              </a:cxn>
              <a:cxn ang="16200000">
                <a:pos x="wd2" y="hd2"/>
              </a:cxn>
            </a:cxnLst>
            <a:rect l="0" t="0" r="r" b="b"/>
            <a:pathLst>
              <a:path w="21600" h="21600" extrusionOk="0">
                <a:moveTo>
                  <a:pt x="20914" y="12150"/>
                </a:moveTo>
                <a:cubicBezTo>
                  <a:pt x="20914" y="12150"/>
                  <a:pt x="6514" y="5400"/>
                  <a:pt x="686" y="0"/>
                </a:cubicBezTo>
                <a:cubicBezTo>
                  <a:pt x="0" y="6750"/>
                  <a:pt x="0" y="6750"/>
                  <a:pt x="0" y="6750"/>
                </a:cubicBezTo>
                <a:cubicBezTo>
                  <a:pt x="21600" y="21600"/>
                  <a:pt x="21600" y="21600"/>
                  <a:pt x="21600" y="21600"/>
                </a:cubicBezTo>
                <a:cubicBezTo>
                  <a:pt x="21600" y="21600"/>
                  <a:pt x="20229" y="12150"/>
                  <a:pt x="20914" y="12150"/>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pic>
        <p:nvPicPr>
          <p:cNvPr id="49" name="image.png">
            <a:extLst>
              <a:ext uri="{FF2B5EF4-FFF2-40B4-BE49-F238E27FC236}">
                <a16:creationId xmlns:a16="http://schemas.microsoft.com/office/drawing/2014/main" id="{7966C5DD-DD70-4F8F-83AA-00FEF89E7D79}"/>
              </a:ext>
            </a:extLst>
          </p:cNvPr>
          <p:cNvPicPr/>
          <p:nvPr/>
        </p:nvPicPr>
        <p:blipFill>
          <a:blip r:embed="rId4" cstate="print"/>
          <a:stretch>
            <a:fillRect/>
          </a:stretch>
        </p:blipFill>
        <p:spPr>
          <a:xfrm>
            <a:off x="5364162" y="3338545"/>
            <a:ext cx="384176" cy="504825"/>
          </a:xfrm>
          <a:prstGeom prst="rect">
            <a:avLst/>
          </a:prstGeom>
          <a:ln w="12700">
            <a:miter lim="400000"/>
            <a:headEnd/>
            <a:tailEnd/>
          </a:ln>
        </p:spPr>
      </p:pic>
      <p:sp>
        <p:nvSpPr>
          <p:cNvPr id="50" name="Shape 301">
            <a:extLst>
              <a:ext uri="{FF2B5EF4-FFF2-40B4-BE49-F238E27FC236}">
                <a16:creationId xmlns:a16="http://schemas.microsoft.com/office/drawing/2014/main" id="{DA213F75-2B04-4121-A7C9-D5DBD1C5A3C4}"/>
              </a:ext>
            </a:extLst>
          </p:cNvPr>
          <p:cNvSpPr/>
          <p:nvPr/>
        </p:nvSpPr>
        <p:spPr>
          <a:xfrm>
            <a:off x="5451475" y="3760610"/>
            <a:ext cx="214349" cy="67605"/>
          </a:xfrm>
          <a:custGeom>
            <a:avLst/>
            <a:gdLst/>
            <a:ahLst/>
            <a:cxnLst>
              <a:cxn ang="0">
                <a:pos x="wd2" y="hd2"/>
              </a:cxn>
              <a:cxn ang="5400000">
                <a:pos x="wd2" y="hd2"/>
              </a:cxn>
              <a:cxn ang="10800000">
                <a:pos x="wd2" y="hd2"/>
              </a:cxn>
              <a:cxn ang="16200000">
                <a:pos x="wd2" y="hd2"/>
              </a:cxn>
            </a:cxnLst>
            <a:rect l="0" t="0" r="r" b="b"/>
            <a:pathLst>
              <a:path w="19976" h="19571" extrusionOk="0">
                <a:moveTo>
                  <a:pt x="18677" y="18296"/>
                </a:moveTo>
                <a:cubicBezTo>
                  <a:pt x="18677" y="18296"/>
                  <a:pt x="14779" y="14820"/>
                  <a:pt x="12262" y="10848"/>
                </a:cubicBezTo>
                <a:cubicBezTo>
                  <a:pt x="9744" y="6875"/>
                  <a:pt x="7065" y="2903"/>
                  <a:pt x="6659" y="2903"/>
                </a:cubicBezTo>
                <a:cubicBezTo>
                  <a:pt x="6253" y="2903"/>
                  <a:pt x="2030" y="-1318"/>
                  <a:pt x="81" y="420"/>
                </a:cubicBezTo>
                <a:cubicBezTo>
                  <a:pt x="0" y="1165"/>
                  <a:pt x="0" y="1165"/>
                  <a:pt x="0" y="1165"/>
                </a:cubicBezTo>
                <a:cubicBezTo>
                  <a:pt x="0" y="1165"/>
                  <a:pt x="3411" y="-77"/>
                  <a:pt x="6577" y="4144"/>
                </a:cubicBezTo>
                <a:cubicBezTo>
                  <a:pt x="9826" y="8613"/>
                  <a:pt x="15835" y="20282"/>
                  <a:pt x="18677" y="19537"/>
                </a:cubicBezTo>
                <a:cubicBezTo>
                  <a:pt x="21600" y="18792"/>
                  <a:pt x="18677" y="18296"/>
                  <a:pt x="18677" y="18296"/>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51" name="Shape 302">
            <a:extLst>
              <a:ext uri="{FF2B5EF4-FFF2-40B4-BE49-F238E27FC236}">
                <a16:creationId xmlns:a16="http://schemas.microsoft.com/office/drawing/2014/main" id="{090E7FEB-77BD-4873-B325-16F274959C8D}"/>
              </a:ext>
            </a:extLst>
          </p:cNvPr>
          <p:cNvSpPr/>
          <p:nvPr/>
        </p:nvSpPr>
        <p:spPr>
          <a:xfrm>
            <a:off x="5441950" y="3806857"/>
            <a:ext cx="153988" cy="34926"/>
          </a:xfrm>
          <a:custGeom>
            <a:avLst/>
            <a:gdLst/>
            <a:ahLst/>
            <a:cxnLst>
              <a:cxn ang="0">
                <a:pos x="wd2" y="hd2"/>
              </a:cxn>
              <a:cxn ang="5400000">
                <a:pos x="wd2" y="hd2"/>
              </a:cxn>
              <a:cxn ang="10800000">
                <a:pos x="wd2" y="hd2"/>
              </a:cxn>
              <a:cxn ang="16200000">
                <a:pos x="wd2" y="hd2"/>
              </a:cxn>
            </a:cxnLst>
            <a:rect l="0" t="0" r="r" b="b"/>
            <a:pathLst>
              <a:path w="21600" h="21600" extrusionOk="0">
                <a:moveTo>
                  <a:pt x="610" y="17280"/>
                </a:moveTo>
                <a:cubicBezTo>
                  <a:pt x="610" y="17280"/>
                  <a:pt x="7444" y="17820"/>
                  <a:pt x="13058" y="11880"/>
                </a:cubicBezTo>
                <a:cubicBezTo>
                  <a:pt x="18793" y="5400"/>
                  <a:pt x="20624" y="0"/>
                  <a:pt x="20624" y="0"/>
                </a:cubicBezTo>
                <a:cubicBezTo>
                  <a:pt x="21600" y="1620"/>
                  <a:pt x="21600" y="1620"/>
                  <a:pt x="21600" y="1620"/>
                </a:cubicBezTo>
                <a:cubicBezTo>
                  <a:pt x="21600" y="1620"/>
                  <a:pt x="17329" y="11880"/>
                  <a:pt x="12569" y="15660"/>
                </a:cubicBezTo>
                <a:cubicBezTo>
                  <a:pt x="7810" y="19440"/>
                  <a:pt x="0" y="21600"/>
                  <a:pt x="0" y="21600"/>
                </a:cubicBezTo>
                <a:lnTo>
                  <a:pt x="610" y="17280"/>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52" name="Shape 303">
            <a:extLst>
              <a:ext uri="{FF2B5EF4-FFF2-40B4-BE49-F238E27FC236}">
                <a16:creationId xmlns:a16="http://schemas.microsoft.com/office/drawing/2014/main" id="{72F50360-CEBF-4FEB-801C-315B1AD18CE2}"/>
              </a:ext>
            </a:extLst>
          </p:cNvPr>
          <p:cNvSpPr/>
          <p:nvPr/>
        </p:nvSpPr>
        <p:spPr>
          <a:xfrm>
            <a:off x="6964362" y="4191032"/>
            <a:ext cx="330201" cy="485776"/>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53" name="Shape 304">
            <a:extLst>
              <a:ext uri="{FF2B5EF4-FFF2-40B4-BE49-F238E27FC236}">
                <a16:creationId xmlns:a16="http://schemas.microsoft.com/office/drawing/2014/main" id="{78A90BB2-AD56-40E0-9B82-62A5133DFFF6}"/>
              </a:ext>
            </a:extLst>
          </p:cNvPr>
          <p:cNvSpPr/>
          <p:nvPr/>
        </p:nvSpPr>
        <p:spPr>
          <a:xfrm>
            <a:off x="6070600" y="5754720"/>
            <a:ext cx="450850" cy="3365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1286" y="0"/>
                </a:lnTo>
                <a:lnTo>
                  <a:pt x="1286" y="19714"/>
                </a:lnTo>
                <a:lnTo>
                  <a:pt x="21600" y="19714"/>
                </a:lnTo>
                <a:lnTo>
                  <a:pt x="21600" y="21600"/>
                </a:lnTo>
                <a:close/>
                <a:moveTo>
                  <a:pt x="6943" y="17829"/>
                </a:moveTo>
                <a:lnTo>
                  <a:pt x="4114" y="17829"/>
                </a:lnTo>
                <a:lnTo>
                  <a:pt x="4114" y="10800"/>
                </a:lnTo>
                <a:lnTo>
                  <a:pt x="6943" y="10800"/>
                </a:lnTo>
                <a:lnTo>
                  <a:pt x="6943" y="17829"/>
                </a:lnTo>
                <a:close/>
                <a:moveTo>
                  <a:pt x="10800" y="17829"/>
                </a:moveTo>
                <a:lnTo>
                  <a:pt x="8229" y="17829"/>
                </a:lnTo>
                <a:lnTo>
                  <a:pt x="8229" y="3257"/>
                </a:lnTo>
                <a:lnTo>
                  <a:pt x="10800" y="3257"/>
                </a:lnTo>
                <a:lnTo>
                  <a:pt x="10800" y="17829"/>
                </a:lnTo>
                <a:close/>
                <a:moveTo>
                  <a:pt x="14914" y="17829"/>
                </a:moveTo>
                <a:lnTo>
                  <a:pt x="12214" y="17829"/>
                </a:lnTo>
                <a:lnTo>
                  <a:pt x="12214" y="7029"/>
                </a:lnTo>
                <a:lnTo>
                  <a:pt x="14914" y="7029"/>
                </a:lnTo>
                <a:lnTo>
                  <a:pt x="14914" y="17829"/>
                </a:lnTo>
                <a:close/>
                <a:moveTo>
                  <a:pt x="18900" y="17829"/>
                </a:moveTo>
                <a:lnTo>
                  <a:pt x="16329" y="17829"/>
                </a:lnTo>
                <a:lnTo>
                  <a:pt x="16329" y="1543"/>
                </a:lnTo>
                <a:lnTo>
                  <a:pt x="18900" y="1543"/>
                </a:lnTo>
                <a:lnTo>
                  <a:pt x="18900" y="17829"/>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54" name="Shape 305">
            <a:extLst>
              <a:ext uri="{FF2B5EF4-FFF2-40B4-BE49-F238E27FC236}">
                <a16:creationId xmlns:a16="http://schemas.microsoft.com/office/drawing/2014/main" id="{DF718FDA-5C68-4D38-A94F-DA3212190CD0}"/>
              </a:ext>
            </a:extLst>
          </p:cNvPr>
          <p:cNvSpPr/>
          <p:nvPr/>
        </p:nvSpPr>
        <p:spPr>
          <a:xfrm>
            <a:off x="4516437" y="4876832"/>
            <a:ext cx="404813" cy="368301"/>
          </a:xfrm>
          <a:custGeom>
            <a:avLst/>
            <a:gdLst/>
            <a:ahLst/>
            <a:cxnLst>
              <a:cxn ang="0">
                <a:pos x="wd2" y="hd2"/>
              </a:cxn>
              <a:cxn ang="5400000">
                <a:pos x="wd2" y="hd2"/>
              </a:cxn>
              <a:cxn ang="10800000">
                <a:pos x="wd2" y="hd2"/>
              </a:cxn>
              <a:cxn ang="16200000">
                <a:pos x="wd2" y="hd2"/>
              </a:cxn>
            </a:cxnLst>
            <a:rect l="0" t="0" r="r" b="b"/>
            <a:pathLst>
              <a:path w="21600" h="21600" extrusionOk="0">
                <a:moveTo>
                  <a:pt x="14400" y="11865"/>
                </a:moveTo>
                <a:cubicBezTo>
                  <a:pt x="14400" y="12169"/>
                  <a:pt x="14123" y="12169"/>
                  <a:pt x="14123" y="12169"/>
                </a:cubicBezTo>
                <a:cubicBezTo>
                  <a:pt x="12462" y="12473"/>
                  <a:pt x="12462" y="12473"/>
                  <a:pt x="12462" y="12473"/>
                </a:cubicBezTo>
                <a:cubicBezTo>
                  <a:pt x="12185" y="12777"/>
                  <a:pt x="12185" y="13082"/>
                  <a:pt x="11908" y="13386"/>
                </a:cubicBezTo>
                <a:cubicBezTo>
                  <a:pt x="12462" y="13994"/>
                  <a:pt x="12738" y="14299"/>
                  <a:pt x="13015" y="14907"/>
                </a:cubicBezTo>
                <a:cubicBezTo>
                  <a:pt x="13015" y="14907"/>
                  <a:pt x="13015" y="14907"/>
                  <a:pt x="13015" y="15211"/>
                </a:cubicBezTo>
                <a:cubicBezTo>
                  <a:pt x="13015" y="15211"/>
                  <a:pt x="13015" y="15211"/>
                  <a:pt x="13015" y="15211"/>
                </a:cubicBezTo>
                <a:cubicBezTo>
                  <a:pt x="12738" y="15820"/>
                  <a:pt x="11631" y="17037"/>
                  <a:pt x="11354" y="17037"/>
                </a:cubicBezTo>
                <a:cubicBezTo>
                  <a:pt x="11077" y="17037"/>
                  <a:pt x="11077" y="17037"/>
                  <a:pt x="11077" y="17037"/>
                </a:cubicBezTo>
                <a:cubicBezTo>
                  <a:pt x="9692" y="16124"/>
                  <a:pt x="9692" y="16124"/>
                  <a:pt x="9692" y="16124"/>
                </a:cubicBezTo>
                <a:cubicBezTo>
                  <a:pt x="9415" y="16124"/>
                  <a:pt x="9138" y="16124"/>
                  <a:pt x="8862" y="16428"/>
                </a:cubicBezTo>
                <a:cubicBezTo>
                  <a:pt x="8862" y="17037"/>
                  <a:pt x="8862" y="17645"/>
                  <a:pt x="8585" y="18254"/>
                </a:cubicBezTo>
                <a:cubicBezTo>
                  <a:pt x="8585" y="18558"/>
                  <a:pt x="8308" y="18558"/>
                  <a:pt x="8308" y="18558"/>
                </a:cubicBezTo>
                <a:cubicBezTo>
                  <a:pt x="6092" y="18558"/>
                  <a:pt x="6092" y="18558"/>
                  <a:pt x="6092" y="18558"/>
                </a:cubicBezTo>
                <a:cubicBezTo>
                  <a:pt x="6092" y="18558"/>
                  <a:pt x="5815" y="18558"/>
                  <a:pt x="5815" y="18254"/>
                </a:cubicBezTo>
                <a:cubicBezTo>
                  <a:pt x="5538" y="16428"/>
                  <a:pt x="5538" y="16428"/>
                  <a:pt x="5538" y="16428"/>
                </a:cubicBezTo>
                <a:cubicBezTo>
                  <a:pt x="5262" y="16428"/>
                  <a:pt x="4985" y="16124"/>
                  <a:pt x="4708" y="16124"/>
                </a:cubicBezTo>
                <a:cubicBezTo>
                  <a:pt x="3600" y="17037"/>
                  <a:pt x="3600" y="17037"/>
                  <a:pt x="3600" y="17037"/>
                </a:cubicBezTo>
                <a:cubicBezTo>
                  <a:pt x="3323" y="17037"/>
                  <a:pt x="3323" y="17037"/>
                  <a:pt x="3323" y="17037"/>
                </a:cubicBezTo>
                <a:cubicBezTo>
                  <a:pt x="3046" y="17037"/>
                  <a:pt x="3046" y="17037"/>
                  <a:pt x="3046" y="17037"/>
                </a:cubicBezTo>
                <a:cubicBezTo>
                  <a:pt x="2769" y="16732"/>
                  <a:pt x="1385" y="15515"/>
                  <a:pt x="1385" y="15211"/>
                </a:cubicBezTo>
                <a:cubicBezTo>
                  <a:pt x="1385" y="14907"/>
                  <a:pt x="1385" y="14907"/>
                  <a:pt x="1385" y="14907"/>
                </a:cubicBezTo>
                <a:cubicBezTo>
                  <a:pt x="1938" y="14299"/>
                  <a:pt x="2215" y="13994"/>
                  <a:pt x="2492" y="13386"/>
                </a:cubicBezTo>
                <a:cubicBezTo>
                  <a:pt x="2215" y="13082"/>
                  <a:pt x="2215" y="12777"/>
                  <a:pt x="2215" y="12473"/>
                </a:cubicBezTo>
                <a:cubicBezTo>
                  <a:pt x="277" y="12169"/>
                  <a:pt x="277" y="12169"/>
                  <a:pt x="277" y="12169"/>
                </a:cubicBezTo>
                <a:cubicBezTo>
                  <a:pt x="277" y="12169"/>
                  <a:pt x="0" y="12169"/>
                  <a:pt x="0" y="11865"/>
                </a:cubicBezTo>
                <a:cubicBezTo>
                  <a:pt x="0" y="9735"/>
                  <a:pt x="0" y="9735"/>
                  <a:pt x="0" y="9735"/>
                </a:cubicBezTo>
                <a:cubicBezTo>
                  <a:pt x="0" y="9431"/>
                  <a:pt x="277" y="9127"/>
                  <a:pt x="277" y="9127"/>
                </a:cubicBezTo>
                <a:cubicBezTo>
                  <a:pt x="2215" y="8823"/>
                  <a:pt x="2215" y="8823"/>
                  <a:pt x="2215" y="8823"/>
                </a:cubicBezTo>
                <a:cubicBezTo>
                  <a:pt x="2215" y="8518"/>
                  <a:pt x="2215" y="8214"/>
                  <a:pt x="2492" y="7910"/>
                </a:cubicBezTo>
                <a:cubicBezTo>
                  <a:pt x="2215" y="7606"/>
                  <a:pt x="1938" y="6997"/>
                  <a:pt x="1385" y="6693"/>
                </a:cubicBezTo>
                <a:cubicBezTo>
                  <a:pt x="1385" y="6389"/>
                  <a:pt x="1385" y="6389"/>
                  <a:pt x="1385" y="6389"/>
                </a:cubicBezTo>
                <a:cubicBezTo>
                  <a:pt x="1385" y="6389"/>
                  <a:pt x="1385" y="6085"/>
                  <a:pt x="1385" y="6085"/>
                </a:cubicBezTo>
                <a:cubicBezTo>
                  <a:pt x="1662" y="5780"/>
                  <a:pt x="3046" y="4259"/>
                  <a:pt x="3323" y="4259"/>
                </a:cubicBezTo>
                <a:cubicBezTo>
                  <a:pt x="3323" y="4259"/>
                  <a:pt x="3323" y="4259"/>
                  <a:pt x="3600" y="4259"/>
                </a:cubicBezTo>
                <a:cubicBezTo>
                  <a:pt x="4708" y="5476"/>
                  <a:pt x="4708" y="5476"/>
                  <a:pt x="4708" y="5476"/>
                </a:cubicBezTo>
                <a:cubicBezTo>
                  <a:pt x="4985" y="5476"/>
                  <a:pt x="5262" y="5172"/>
                  <a:pt x="5538" y="5172"/>
                </a:cubicBezTo>
                <a:cubicBezTo>
                  <a:pt x="5815" y="4563"/>
                  <a:pt x="5815" y="3955"/>
                  <a:pt x="5815" y="3346"/>
                </a:cubicBezTo>
                <a:cubicBezTo>
                  <a:pt x="5815" y="3042"/>
                  <a:pt x="6092" y="3042"/>
                  <a:pt x="6092" y="3042"/>
                </a:cubicBezTo>
                <a:cubicBezTo>
                  <a:pt x="8308" y="3042"/>
                  <a:pt x="8308" y="3042"/>
                  <a:pt x="8308" y="3042"/>
                </a:cubicBezTo>
                <a:cubicBezTo>
                  <a:pt x="8308" y="3042"/>
                  <a:pt x="8585" y="3042"/>
                  <a:pt x="8585" y="3346"/>
                </a:cubicBezTo>
                <a:cubicBezTo>
                  <a:pt x="8862" y="5172"/>
                  <a:pt x="8862" y="5172"/>
                  <a:pt x="8862" y="5172"/>
                </a:cubicBezTo>
                <a:cubicBezTo>
                  <a:pt x="9138" y="5172"/>
                  <a:pt x="9415" y="5476"/>
                  <a:pt x="9692" y="5476"/>
                </a:cubicBezTo>
                <a:cubicBezTo>
                  <a:pt x="11077" y="4259"/>
                  <a:pt x="11077" y="4259"/>
                  <a:pt x="11077" y="4259"/>
                </a:cubicBezTo>
                <a:cubicBezTo>
                  <a:pt x="11077" y="4259"/>
                  <a:pt x="11077" y="4259"/>
                  <a:pt x="11354" y="4259"/>
                </a:cubicBezTo>
                <a:cubicBezTo>
                  <a:pt x="11354" y="4259"/>
                  <a:pt x="11354" y="4259"/>
                  <a:pt x="11354" y="4259"/>
                </a:cubicBezTo>
                <a:cubicBezTo>
                  <a:pt x="11631" y="4563"/>
                  <a:pt x="13015" y="6085"/>
                  <a:pt x="13015" y="6389"/>
                </a:cubicBezTo>
                <a:cubicBezTo>
                  <a:pt x="13015" y="6389"/>
                  <a:pt x="13015" y="6389"/>
                  <a:pt x="13015" y="6693"/>
                </a:cubicBezTo>
                <a:cubicBezTo>
                  <a:pt x="12738" y="6997"/>
                  <a:pt x="12462" y="7606"/>
                  <a:pt x="11908" y="7910"/>
                </a:cubicBezTo>
                <a:cubicBezTo>
                  <a:pt x="12185" y="8214"/>
                  <a:pt x="12185" y="8518"/>
                  <a:pt x="12462" y="9127"/>
                </a:cubicBezTo>
                <a:cubicBezTo>
                  <a:pt x="14123" y="9127"/>
                  <a:pt x="14123" y="9127"/>
                  <a:pt x="14123" y="9127"/>
                </a:cubicBezTo>
                <a:cubicBezTo>
                  <a:pt x="14123" y="9431"/>
                  <a:pt x="14400" y="9431"/>
                  <a:pt x="14400" y="9735"/>
                </a:cubicBezTo>
                <a:lnTo>
                  <a:pt x="14400" y="11865"/>
                </a:lnTo>
                <a:close/>
                <a:moveTo>
                  <a:pt x="7200" y="7606"/>
                </a:moveTo>
                <a:cubicBezTo>
                  <a:pt x="5815" y="7606"/>
                  <a:pt x="4431" y="9127"/>
                  <a:pt x="4431" y="10648"/>
                </a:cubicBezTo>
                <a:cubicBezTo>
                  <a:pt x="4431" y="12473"/>
                  <a:pt x="5815" y="13994"/>
                  <a:pt x="7200" y="13994"/>
                </a:cubicBezTo>
                <a:cubicBezTo>
                  <a:pt x="8862" y="13994"/>
                  <a:pt x="9969" y="12473"/>
                  <a:pt x="9969" y="10648"/>
                </a:cubicBezTo>
                <a:cubicBezTo>
                  <a:pt x="9969" y="9127"/>
                  <a:pt x="8862" y="7606"/>
                  <a:pt x="7200" y="7606"/>
                </a:cubicBezTo>
                <a:close/>
                <a:moveTo>
                  <a:pt x="21600" y="5476"/>
                </a:moveTo>
                <a:cubicBezTo>
                  <a:pt x="21600" y="5476"/>
                  <a:pt x="19938" y="5780"/>
                  <a:pt x="19938" y="5780"/>
                </a:cubicBezTo>
                <a:cubicBezTo>
                  <a:pt x="19662" y="6085"/>
                  <a:pt x="19662" y="6085"/>
                  <a:pt x="19385" y="6389"/>
                </a:cubicBezTo>
                <a:cubicBezTo>
                  <a:pt x="19662" y="6693"/>
                  <a:pt x="19938" y="7910"/>
                  <a:pt x="19938" y="7910"/>
                </a:cubicBezTo>
                <a:cubicBezTo>
                  <a:pt x="19938" y="8214"/>
                  <a:pt x="19938" y="8214"/>
                  <a:pt x="19938" y="8214"/>
                </a:cubicBezTo>
                <a:cubicBezTo>
                  <a:pt x="19938" y="8214"/>
                  <a:pt x="18831" y="9127"/>
                  <a:pt x="18554" y="9127"/>
                </a:cubicBezTo>
                <a:cubicBezTo>
                  <a:pt x="18554" y="9127"/>
                  <a:pt x="17723" y="7910"/>
                  <a:pt x="17446" y="7606"/>
                </a:cubicBezTo>
                <a:cubicBezTo>
                  <a:pt x="17446" y="7606"/>
                  <a:pt x="17446" y="7606"/>
                  <a:pt x="17169" y="7606"/>
                </a:cubicBezTo>
                <a:cubicBezTo>
                  <a:pt x="17169" y="7606"/>
                  <a:pt x="16892" y="7606"/>
                  <a:pt x="16892" y="7606"/>
                </a:cubicBezTo>
                <a:cubicBezTo>
                  <a:pt x="16892" y="7910"/>
                  <a:pt x="16062" y="9127"/>
                  <a:pt x="15785" y="9127"/>
                </a:cubicBezTo>
                <a:cubicBezTo>
                  <a:pt x="15785" y="9127"/>
                  <a:pt x="14677" y="8214"/>
                  <a:pt x="14400" y="8214"/>
                </a:cubicBezTo>
                <a:cubicBezTo>
                  <a:pt x="14400" y="8214"/>
                  <a:pt x="14400" y="8214"/>
                  <a:pt x="14400" y="7910"/>
                </a:cubicBezTo>
                <a:cubicBezTo>
                  <a:pt x="14400" y="7910"/>
                  <a:pt x="14954" y="6693"/>
                  <a:pt x="14954" y="6389"/>
                </a:cubicBezTo>
                <a:cubicBezTo>
                  <a:pt x="14677" y="6085"/>
                  <a:pt x="14677" y="6085"/>
                  <a:pt x="14677" y="5780"/>
                </a:cubicBezTo>
                <a:cubicBezTo>
                  <a:pt x="14400" y="5780"/>
                  <a:pt x="13015" y="5476"/>
                  <a:pt x="13015" y="5476"/>
                </a:cubicBezTo>
                <a:cubicBezTo>
                  <a:pt x="13015" y="3651"/>
                  <a:pt x="13015" y="3651"/>
                  <a:pt x="13015" y="3651"/>
                </a:cubicBezTo>
                <a:cubicBezTo>
                  <a:pt x="13015" y="3346"/>
                  <a:pt x="14400" y="3346"/>
                  <a:pt x="14677" y="3346"/>
                </a:cubicBezTo>
                <a:cubicBezTo>
                  <a:pt x="14677" y="3042"/>
                  <a:pt x="14677" y="2738"/>
                  <a:pt x="14954" y="2738"/>
                </a:cubicBezTo>
                <a:cubicBezTo>
                  <a:pt x="14954" y="2434"/>
                  <a:pt x="14400" y="1217"/>
                  <a:pt x="14400" y="913"/>
                </a:cubicBezTo>
                <a:cubicBezTo>
                  <a:pt x="14400" y="913"/>
                  <a:pt x="14400" y="913"/>
                  <a:pt x="14400" y="913"/>
                </a:cubicBezTo>
                <a:cubicBezTo>
                  <a:pt x="14677" y="913"/>
                  <a:pt x="15785" y="0"/>
                  <a:pt x="15785" y="0"/>
                </a:cubicBezTo>
                <a:cubicBezTo>
                  <a:pt x="16062" y="0"/>
                  <a:pt x="16892" y="1217"/>
                  <a:pt x="16892" y="1521"/>
                </a:cubicBezTo>
                <a:cubicBezTo>
                  <a:pt x="16892" y="1217"/>
                  <a:pt x="17169" y="1217"/>
                  <a:pt x="17169" y="1217"/>
                </a:cubicBezTo>
                <a:cubicBezTo>
                  <a:pt x="17446" y="1217"/>
                  <a:pt x="17446" y="1217"/>
                  <a:pt x="17446" y="1521"/>
                </a:cubicBezTo>
                <a:cubicBezTo>
                  <a:pt x="17723" y="913"/>
                  <a:pt x="18277" y="304"/>
                  <a:pt x="18554" y="0"/>
                </a:cubicBezTo>
                <a:cubicBezTo>
                  <a:pt x="18554" y="0"/>
                  <a:pt x="18554" y="0"/>
                  <a:pt x="18554" y="0"/>
                </a:cubicBezTo>
                <a:cubicBezTo>
                  <a:pt x="18831" y="0"/>
                  <a:pt x="19938" y="608"/>
                  <a:pt x="19938" y="913"/>
                </a:cubicBezTo>
                <a:cubicBezTo>
                  <a:pt x="19938" y="913"/>
                  <a:pt x="19938" y="913"/>
                  <a:pt x="19938" y="913"/>
                </a:cubicBezTo>
                <a:cubicBezTo>
                  <a:pt x="19938" y="1217"/>
                  <a:pt x="19662" y="2434"/>
                  <a:pt x="19385" y="2738"/>
                </a:cubicBezTo>
                <a:cubicBezTo>
                  <a:pt x="19662" y="2738"/>
                  <a:pt x="19662" y="3042"/>
                  <a:pt x="19938" y="3346"/>
                </a:cubicBezTo>
                <a:cubicBezTo>
                  <a:pt x="19938" y="3346"/>
                  <a:pt x="21600" y="3346"/>
                  <a:pt x="21600" y="3651"/>
                </a:cubicBezTo>
                <a:lnTo>
                  <a:pt x="21600" y="5476"/>
                </a:lnTo>
                <a:close/>
                <a:moveTo>
                  <a:pt x="21600" y="17949"/>
                </a:moveTo>
                <a:cubicBezTo>
                  <a:pt x="21600" y="17949"/>
                  <a:pt x="19938" y="18254"/>
                  <a:pt x="19938" y="18254"/>
                </a:cubicBezTo>
                <a:cubicBezTo>
                  <a:pt x="19662" y="18558"/>
                  <a:pt x="19662" y="18558"/>
                  <a:pt x="19385" y="18862"/>
                </a:cubicBezTo>
                <a:cubicBezTo>
                  <a:pt x="19662" y="19166"/>
                  <a:pt x="19938" y="20383"/>
                  <a:pt x="19938" y="20687"/>
                </a:cubicBezTo>
                <a:cubicBezTo>
                  <a:pt x="19938" y="20687"/>
                  <a:pt x="19938" y="20687"/>
                  <a:pt x="19938" y="20687"/>
                </a:cubicBezTo>
                <a:cubicBezTo>
                  <a:pt x="19938" y="20687"/>
                  <a:pt x="18831" y="21600"/>
                  <a:pt x="18554" y="21600"/>
                </a:cubicBezTo>
                <a:cubicBezTo>
                  <a:pt x="18554" y="21600"/>
                  <a:pt x="17723" y="20383"/>
                  <a:pt x="17446" y="20079"/>
                </a:cubicBezTo>
                <a:cubicBezTo>
                  <a:pt x="17446" y="20079"/>
                  <a:pt x="17446" y="20079"/>
                  <a:pt x="17169" y="20079"/>
                </a:cubicBezTo>
                <a:cubicBezTo>
                  <a:pt x="17169" y="20079"/>
                  <a:pt x="16892" y="20079"/>
                  <a:pt x="16892" y="20079"/>
                </a:cubicBezTo>
                <a:cubicBezTo>
                  <a:pt x="16892" y="20383"/>
                  <a:pt x="16062" y="21600"/>
                  <a:pt x="15785" y="21600"/>
                </a:cubicBezTo>
                <a:cubicBezTo>
                  <a:pt x="15785" y="21600"/>
                  <a:pt x="14677" y="20687"/>
                  <a:pt x="14400" y="20687"/>
                </a:cubicBezTo>
                <a:cubicBezTo>
                  <a:pt x="14400" y="20687"/>
                  <a:pt x="14400" y="20687"/>
                  <a:pt x="14400" y="20687"/>
                </a:cubicBezTo>
                <a:cubicBezTo>
                  <a:pt x="14400" y="20383"/>
                  <a:pt x="14954" y="19166"/>
                  <a:pt x="14954" y="18862"/>
                </a:cubicBezTo>
                <a:cubicBezTo>
                  <a:pt x="14677" y="18558"/>
                  <a:pt x="14677" y="18558"/>
                  <a:pt x="14677" y="18254"/>
                </a:cubicBezTo>
                <a:cubicBezTo>
                  <a:pt x="14400" y="18254"/>
                  <a:pt x="13015" y="17949"/>
                  <a:pt x="13015" y="17949"/>
                </a:cubicBezTo>
                <a:cubicBezTo>
                  <a:pt x="13015" y="16124"/>
                  <a:pt x="13015" y="16124"/>
                  <a:pt x="13015" y="16124"/>
                </a:cubicBezTo>
                <a:cubicBezTo>
                  <a:pt x="13015" y="15820"/>
                  <a:pt x="14400" y="15820"/>
                  <a:pt x="14677" y="15820"/>
                </a:cubicBezTo>
                <a:cubicBezTo>
                  <a:pt x="14677" y="15515"/>
                  <a:pt x="14677" y="15211"/>
                  <a:pt x="14954" y="15211"/>
                </a:cubicBezTo>
                <a:cubicBezTo>
                  <a:pt x="14954" y="14907"/>
                  <a:pt x="14400" y="13690"/>
                  <a:pt x="14400" y="13386"/>
                </a:cubicBezTo>
                <a:cubicBezTo>
                  <a:pt x="14400" y="13386"/>
                  <a:pt x="14400" y="13386"/>
                  <a:pt x="14400" y="13386"/>
                </a:cubicBezTo>
                <a:cubicBezTo>
                  <a:pt x="14677" y="13386"/>
                  <a:pt x="15785" y="12473"/>
                  <a:pt x="15785" y="12473"/>
                </a:cubicBezTo>
                <a:cubicBezTo>
                  <a:pt x="16062" y="12473"/>
                  <a:pt x="16892" y="13690"/>
                  <a:pt x="16892" y="13994"/>
                </a:cubicBezTo>
                <a:cubicBezTo>
                  <a:pt x="16892" y="13994"/>
                  <a:pt x="17169" y="13994"/>
                  <a:pt x="17169" y="13994"/>
                </a:cubicBezTo>
                <a:cubicBezTo>
                  <a:pt x="17446" y="13994"/>
                  <a:pt x="17446" y="13994"/>
                  <a:pt x="17446" y="13994"/>
                </a:cubicBezTo>
                <a:cubicBezTo>
                  <a:pt x="17723" y="13386"/>
                  <a:pt x="18277" y="13082"/>
                  <a:pt x="18554" y="12473"/>
                </a:cubicBezTo>
                <a:cubicBezTo>
                  <a:pt x="18554" y="12473"/>
                  <a:pt x="18554" y="12473"/>
                  <a:pt x="18554" y="12473"/>
                </a:cubicBezTo>
                <a:cubicBezTo>
                  <a:pt x="18831" y="12473"/>
                  <a:pt x="19938" y="13386"/>
                  <a:pt x="19938" y="13386"/>
                </a:cubicBezTo>
                <a:cubicBezTo>
                  <a:pt x="19938" y="13386"/>
                  <a:pt x="19938" y="13386"/>
                  <a:pt x="19938" y="13386"/>
                </a:cubicBezTo>
                <a:cubicBezTo>
                  <a:pt x="19938" y="13690"/>
                  <a:pt x="19662" y="14907"/>
                  <a:pt x="19385" y="15211"/>
                </a:cubicBezTo>
                <a:cubicBezTo>
                  <a:pt x="19662" y="15211"/>
                  <a:pt x="19662" y="15515"/>
                  <a:pt x="19938" y="15820"/>
                </a:cubicBezTo>
                <a:cubicBezTo>
                  <a:pt x="19938" y="15820"/>
                  <a:pt x="21600" y="15820"/>
                  <a:pt x="21600" y="16124"/>
                </a:cubicBezTo>
                <a:lnTo>
                  <a:pt x="21600" y="17949"/>
                </a:lnTo>
                <a:close/>
                <a:moveTo>
                  <a:pt x="17169" y="3042"/>
                </a:moveTo>
                <a:cubicBezTo>
                  <a:pt x="16338" y="3042"/>
                  <a:pt x="15785" y="3651"/>
                  <a:pt x="15785" y="4563"/>
                </a:cubicBezTo>
                <a:cubicBezTo>
                  <a:pt x="15785" y="5476"/>
                  <a:pt x="16338" y="6085"/>
                  <a:pt x="17169" y="6085"/>
                </a:cubicBezTo>
                <a:cubicBezTo>
                  <a:pt x="18000" y="6085"/>
                  <a:pt x="18554" y="5476"/>
                  <a:pt x="18554" y="4563"/>
                </a:cubicBezTo>
                <a:cubicBezTo>
                  <a:pt x="18554" y="3651"/>
                  <a:pt x="18000" y="3042"/>
                  <a:pt x="17169" y="3042"/>
                </a:cubicBezTo>
                <a:close/>
                <a:moveTo>
                  <a:pt x="17169" y="15515"/>
                </a:moveTo>
                <a:cubicBezTo>
                  <a:pt x="16338" y="15515"/>
                  <a:pt x="15785" y="16124"/>
                  <a:pt x="15785" y="17037"/>
                </a:cubicBezTo>
                <a:cubicBezTo>
                  <a:pt x="15785" y="17949"/>
                  <a:pt x="16338" y="18558"/>
                  <a:pt x="17169" y="18558"/>
                </a:cubicBezTo>
                <a:cubicBezTo>
                  <a:pt x="18000" y="18558"/>
                  <a:pt x="18554" y="17949"/>
                  <a:pt x="18554" y="17037"/>
                </a:cubicBezTo>
                <a:cubicBezTo>
                  <a:pt x="18554" y="16124"/>
                  <a:pt x="18000" y="15515"/>
                  <a:pt x="17169" y="15515"/>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panose="02010609060101010101" pitchFamily="49" charset="-122"/>
              <a:ea typeface="KaiTi" panose="02010609060101010101" pitchFamily="49" charset="-122"/>
              <a:cs typeface="PingFang SC" charset="-122"/>
            </a:endParaRPr>
          </a:p>
        </p:txBody>
      </p:sp>
      <p:sp>
        <p:nvSpPr>
          <p:cNvPr id="55" name="Shape 306">
            <a:extLst>
              <a:ext uri="{FF2B5EF4-FFF2-40B4-BE49-F238E27FC236}">
                <a16:creationId xmlns:a16="http://schemas.microsoft.com/office/drawing/2014/main" id="{87E5CB31-FE49-4C13-B593-BD97B187DD43}"/>
              </a:ext>
            </a:extLst>
          </p:cNvPr>
          <p:cNvSpPr/>
          <p:nvPr/>
        </p:nvSpPr>
        <p:spPr>
          <a:xfrm>
            <a:off x="7696200" y="3336957"/>
            <a:ext cx="1635125" cy="276999"/>
          </a:xfrm>
          <a:prstGeom prst="rect">
            <a:avLst/>
          </a:prstGeom>
          <a:ln w="12700">
            <a:miter lim="400000"/>
          </a:ln>
        </p:spPr>
        <p:txBody>
          <a:bodyPr wrap="square"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KaiTi" panose="02010609060101010101" pitchFamily="49" charset="-122"/>
                <a:ea typeface="KaiTi" panose="02010609060101010101" pitchFamily="49" charset="-122"/>
                <a:cs typeface="PingFang SC" charset="-122"/>
              </a:rPr>
              <a:t>变量信息处理</a:t>
            </a:r>
            <a:endParaRPr dirty="0">
              <a:solidFill>
                <a:schemeClr val="tx1"/>
              </a:solidFill>
              <a:latin typeface="KaiTi" panose="02010609060101010101" pitchFamily="49" charset="-122"/>
              <a:ea typeface="KaiTi" panose="02010609060101010101" pitchFamily="49" charset="-122"/>
              <a:cs typeface="PingFang SC" charset="-122"/>
            </a:endParaRPr>
          </a:p>
        </p:txBody>
      </p:sp>
      <p:sp>
        <p:nvSpPr>
          <p:cNvPr id="56" name="Shape 307">
            <a:extLst>
              <a:ext uri="{FF2B5EF4-FFF2-40B4-BE49-F238E27FC236}">
                <a16:creationId xmlns:a16="http://schemas.microsoft.com/office/drawing/2014/main" id="{6367B7E9-B670-4815-AA17-4A049F38B545}"/>
              </a:ext>
            </a:extLst>
          </p:cNvPr>
          <p:cNvSpPr/>
          <p:nvPr/>
        </p:nvSpPr>
        <p:spPr>
          <a:xfrm>
            <a:off x="2870993" y="3330607"/>
            <a:ext cx="1279368" cy="358776"/>
          </a:xfrm>
          <a:prstGeom prst="rect">
            <a:avLst/>
          </a:prstGeom>
          <a:ln w="12700">
            <a:miter lim="400000"/>
          </a:ln>
        </p:spPr>
        <p:txBody>
          <a:bodyPr lIns="0" tIns="0" rIns="0" bIns="0"/>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KaiTi" panose="02010609060101010101" pitchFamily="49" charset="-122"/>
                <a:ea typeface="KaiTi" panose="02010609060101010101" pitchFamily="49" charset="-122"/>
                <a:cs typeface="PingFang SC" charset="-122"/>
              </a:rPr>
              <a:t>用户画像</a:t>
            </a:r>
            <a:endParaRPr dirty="0">
              <a:solidFill>
                <a:schemeClr val="tx1"/>
              </a:solidFill>
              <a:latin typeface="KaiTi" panose="02010609060101010101" pitchFamily="49" charset="-122"/>
              <a:ea typeface="KaiTi" panose="02010609060101010101" pitchFamily="49" charset="-122"/>
              <a:cs typeface="PingFang SC" charset="-122"/>
            </a:endParaRPr>
          </a:p>
        </p:txBody>
      </p:sp>
      <p:sp>
        <p:nvSpPr>
          <p:cNvPr id="57" name="Shape 308">
            <a:extLst>
              <a:ext uri="{FF2B5EF4-FFF2-40B4-BE49-F238E27FC236}">
                <a16:creationId xmlns:a16="http://schemas.microsoft.com/office/drawing/2014/main" id="{853CE443-4999-4358-A0D1-CA43D7F2F5FA}"/>
              </a:ext>
            </a:extLst>
          </p:cNvPr>
          <p:cNvSpPr/>
          <p:nvPr/>
        </p:nvSpPr>
        <p:spPr>
          <a:xfrm>
            <a:off x="7679530" y="5774563"/>
            <a:ext cx="1660279" cy="276999"/>
          </a:xfrm>
          <a:prstGeom prst="rect">
            <a:avLst/>
          </a:prstGeom>
          <a:ln w="12700">
            <a:miter lim="400000"/>
          </a:ln>
        </p:spPr>
        <p:txBody>
          <a:bodyPr wrap="square"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KaiTi" panose="02010609060101010101" pitchFamily="49" charset="-122"/>
                <a:ea typeface="KaiTi" panose="02010609060101010101" pitchFamily="49" charset="-122"/>
                <a:cs typeface="PingFang SC" charset="-122"/>
              </a:rPr>
              <a:t>模型预测</a:t>
            </a:r>
            <a:endParaRPr dirty="0">
              <a:solidFill>
                <a:schemeClr val="tx1"/>
              </a:solidFill>
              <a:latin typeface="KaiTi" panose="02010609060101010101" pitchFamily="49" charset="-122"/>
              <a:ea typeface="KaiTi" panose="02010609060101010101" pitchFamily="49" charset="-122"/>
              <a:cs typeface="PingFang SC" charset="-122"/>
            </a:endParaRPr>
          </a:p>
        </p:txBody>
      </p:sp>
      <p:sp>
        <p:nvSpPr>
          <p:cNvPr id="58" name="Shape 309">
            <a:extLst>
              <a:ext uri="{FF2B5EF4-FFF2-40B4-BE49-F238E27FC236}">
                <a16:creationId xmlns:a16="http://schemas.microsoft.com/office/drawing/2014/main" id="{60B760F8-0B04-4393-B379-992B512822A1}"/>
              </a:ext>
            </a:extLst>
          </p:cNvPr>
          <p:cNvSpPr/>
          <p:nvPr/>
        </p:nvSpPr>
        <p:spPr>
          <a:xfrm>
            <a:off x="2917745" y="5821395"/>
            <a:ext cx="1185864" cy="276999"/>
          </a:xfrm>
          <a:prstGeom prst="rect">
            <a:avLst/>
          </a:prstGeom>
          <a:ln w="12700">
            <a:miter lim="400000"/>
          </a:ln>
        </p:spPr>
        <p:txBody>
          <a:bodyPr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KaiTi" panose="02010609060101010101" pitchFamily="49" charset="-122"/>
                <a:ea typeface="KaiTi" panose="02010609060101010101" pitchFamily="49" charset="-122"/>
                <a:cs typeface="PingFang SC" charset="-122"/>
              </a:rPr>
              <a:t>智能</a:t>
            </a:r>
            <a:r>
              <a:rPr lang="zh-Hans" altLang="en-US" dirty="0">
                <a:solidFill>
                  <a:schemeClr val="tx1"/>
                </a:solidFill>
                <a:latin typeface="KaiTi" panose="02010609060101010101" pitchFamily="49" charset="-122"/>
                <a:ea typeface="KaiTi" panose="02010609060101010101" pitchFamily="49" charset="-122"/>
                <a:cs typeface="PingFang SC" charset="-122"/>
              </a:rPr>
              <a:t>交易</a:t>
            </a:r>
            <a:endParaRPr dirty="0">
              <a:solidFill>
                <a:schemeClr val="tx1"/>
              </a:solidFill>
              <a:latin typeface="KaiTi" panose="02010609060101010101" pitchFamily="49" charset="-122"/>
              <a:ea typeface="KaiTi" panose="02010609060101010101" pitchFamily="49" charset="-122"/>
              <a:cs typeface="PingFang SC" charset="-122"/>
            </a:endParaRPr>
          </a:p>
        </p:txBody>
      </p:sp>
      <p:sp>
        <p:nvSpPr>
          <p:cNvPr id="59" name="Shape 310">
            <a:extLst>
              <a:ext uri="{FF2B5EF4-FFF2-40B4-BE49-F238E27FC236}">
                <a16:creationId xmlns:a16="http://schemas.microsoft.com/office/drawing/2014/main" id="{65366A04-2FAF-4FC5-B16F-621E9B0C7835}"/>
              </a:ext>
            </a:extLst>
          </p:cNvPr>
          <p:cNvSpPr/>
          <p:nvPr/>
        </p:nvSpPr>
        <p:spPr>
          <a:xfrm>
            <a:off x="1327562" y="1094457"/>
            <a:ext cx="9772829" cy="1938992"/>
          </a:xfrm>
          <a:prstGeom prst="rect">
            <a:avLst/>
          </a:prstGeom>
          <a:ln w="12700">
            <a:miter lim="400000"/>
          </a:ln>
        </p:spPr>
        <p:txBody>
          <a:bodyPr wrap="square" lIns="0" tIns="0" rIns="0" bIns="0">
            <a:spAutoFit/>
          </a:bodyPr>
          <a:lstStyle/>
          <a:p>
            <a:pPr lvl="0">
              <a:defRPr>
                <a:solidFill>
                  <a:srgbClr val="000000"/>
                </a:solidFill>
              </a:defRPr>
            </a:pPr>
            <a:r>
              <a:rPr lang="zh-CN" altLang="en-US" dirty="0">
                <a:latin typeface="KaiTi" panose="02010609060101010101" pitchFamily="49" charset="-122"/>
                <a:ea typeface="KaiTi" panose="02010609060101010101" pitchFamily="49" charset="-122"/>
                <a:cs typeface="PingFang SC" charset="-122"/>
              </a:rPr>
              <a:t>     利用机器学习、自然语言处理、</a:t>
            </a:r>
            <a:r>
              <a:rPr lang="zh-Hans" altLang="en-US" dirty="0">
                <a:latin typeface="KaiTi" panose="02010609060101010101" pitchFamily="49" charset="-122"/>
                <a:ea typeface="KaiTi" panose="02010609060101010101" pitchFamily="49" charset="-122"/>
                <a:cs typeface="PingFang SC" charset="-122"/>
              </a:rPr>
              <a:t>知识图谱</a:t>
            </a:r>
            <a:r>
              <a:rPr lang="zh-CN" altLang="en-US" dirty="0">
                <a:latin typeface="KaiTi" panose="02010609060101010101" pitchFamily="49" charset="-122"/>
                <a:ea typeface="KaiTi" panose="02010609060101010101" pitchFamily="49" charset="-122"/>
                <a:cs typeface="PingFang SC" charset="-122"/>
              </a:rPr>
              <a:t>等技术对海量</a:t>
            </a:r>
            <a:r>
              <a:rPr lang="zh-Hans" altLang="en-US" dirty="0">
                <a:latin typeface="KaiTi" panose="02010609060101010101" pitchFamily="49" charset="-122"/>
                <a:ea typeface="KaiTi" panose="02010609060101010101" pitchFamily="49" charset="-122"/>
                <a:cs typeface="PingFang SC" charset="-122"/>
              </a:rPr>
              <a:t>非结构化</a:t>
            </a:r>
            <a:r>
              <a:rPr lang="zh-CN" altLang="en-US" dirty="0">
                <a:latin typeface="KaiTi" panose="02010609060101010101" pitchFamily="49" charset="-122"/>
                <a:ea typeface="KaiTi" panose="02010609060101010101" pitchFamily="49" charset="-122"/>
                <a:cs typeface="PingFang SC" charset="-122"/>
              </a:rPr>
              <a:t>资讯信息进行</a:t>
            </a:r>
            <a:r>
              <a:rPr lang="zh-Hans" altLang="en-US" dirty="0">
                <a:latin typeface="KaiTi" panose="02010609060101010101" pitchFamily="49" charset="-122"/>
                <a:ea typeface="KaiTi" panose="02010609060101010101" pitchFamily="49" charset="-122"/>
                <a:cs typeface="PingFang SC" charset="-122"/>
              </a:rPr>
              <a:t>智能</a:t>
            </a:r>
            <a:r>
              <a:rPr lang="zh-CN" altLang="en-US" dirty="0">
                <a:latin typeface="KaiTi" panose="02010609060101010101" pitchFamily="49" charset="-122"/>
                <a:ea typeface="KaiTi" panose="02010609060101010101" pitchFamily="49" charset="-122"/>
                <a:cs typeface="PingFang SC" charset="-122"/>
              </a:rPr>
              <a:t>分析</a:t>
            </a:r>
            <a:r>
              <a:rPr lang="zh-Hans" altLang="en-US" dirty="0">
                <a:latin typeface="KaiTi" panose="02010609060101010101" pitchFamily="49" charset="-122"/>
                <a:ea typeface="KaiTi" panose="02010609060101010101" pitchFamily="49" charset="-122"/>
                <a:cs typeface="PingFang SC" charset="-122"/>
              </a:rPr>
              <a:t>整合</a:t>
            </a:r>
            <a:r>
              <a:rPr lang="zh-CN" altLang="en-US" dirty="0">
                <a:latin typeface="KaiTi" panose="02010609060101010101" pitchFamily="49" charset="-122"/>
                <a:ea typeface="KaiTi" panose="02010609060101010101" pitchFamily="49" charset="-122"/>
                <a:cs typeface="PingFang SC" charset="-122"/>
              </a:rPr>
              <a:t>，在收到新闻资讯的瞬间将关键词找出，</a:t>
            </a:r>
            <a:r>
              <a:rPr lang="zh-Hans" altLang="en-US" dirty="0">
                <a:latin typeface="KaiTi" panose="02010609060101010101" pitchFamily="49" charset="-122"/>
                <a:ea typeface="KaiTi" panose="02010609060101010101" pitchFamily="49" charset="-122"/>
                <a:cs typeface="PingFang SC" charset="-122"/>
              </a:rPr>
              <a:t>实现数据之间的智能化关联，</a:t>
            </a:r>
            <a:r>
              <a:rPr lang="zh-CN" altLang="en-US" dirty="0">
                <a:latin typeface="KaiTi" panose="02010609060101010101" pitchFamily="49" charset="-122"/>
                <a:ea typeface="KaiTi" panose="02010609060101010101" pitchFamily="49" charset="-122"/>
                <a:cs typeface="PingFang SC" charset="-122"/>
              </a:rPr>
              <a:t>为交易赢得宝贵时间，保证消息的时效性，</a:t>
            </a:r>
            <a:r>
              <a:rPr lang="zh-Hans" altLang="en-US" dirty="0">
                <a:latin typeface="KaiTi" panose="02010609060101010101" pitchFamily="49" charset="-122"/>
                <a:ea typeface="KaiTi" panose="02010609060101010101" pitchFamily="49" charset="-122"/>
                <a:cs typeface="PingFang SC" charset="-122"/>
              </a:rPr>
              <a:t>从而提高投资者工作效率和投资能力</a:t>
            </a:r>
            <a:r>
              <a:rPr lang="zh-CN" altLang="en-US" dirty="0">
                <a:latin typeface="KaiTi" panose="02010609060101010101" pitchFamily="49" charset="-122"/>
                <a:ea typeface="KaiTi" panose="02010609060101010101" pitchFamily="49" charset="-122"/>
                <a:cs typeface="PingFang SC" charset="-122"/>
              </a:rPr>
              <a:t>；</a:t>
            </a:r>
            <a:endParaRPr lang="en-US" altLang="zh-CN" dirty="0">
              <a:latin typeface="KaiTi" panose="02010609060101010101" pitchFamily="49" charset="-122"/>
              <a:ea typeface="KaiTi" panose="02010609060101010101" pitchFamily="49" charset="-122"/>
              <a:cs typeface="PingFang SC" charset="-122"/>
            </a:endParaRPr>
          </a:p>
          <a:p>
            <a:pPr lvl="0">
              <a:defRPr>
                <a:solidFill>
                  <a:srgbClr val="000000"/>
                </a:solidFill>
              </a:defRPr>
            </a:pPr>
            <a:r>
              <a:rPr lang="zh-CN" altLang="en-US" dirty="0">
                <a:latin typeface="KaiTi" panose="02010609060101010101" pitchFamily="49" charset="-122"/>
                <a:ea typeface="KaiTi" panose="02010609060101010101" pitchFamily="49" charset="-122"/>
                <a:cs typeface="PingFang SC" charset="-122"/>
              </a:rPr>
              <a:t>     同时对上千个相关变量（基本面、宏观面、市场舆情等信息）通过降维算法选出具有决定性的少数变量，并选取更加稳固的模型，通过一定时间的模型训练甄选出不同信息展示的多空倾向，再根据用户画像和</a:t>
            </a:r>
            <a:r>
              <a:rPr lang="zh-Hans" altLang="en-US" dirty="0">
                <a:latin typeface="KaiTi" panose="02010609060101010101" pitchFamily="49" charset="-122"/>
                <a:ea typeface="KaiTi" panose="02010609060101010101" pitchFamily="49" charset="-122"/>
                <a:cs typeface="PingFang SC" charset="-122"/>
              </a:rPr>
              <a:t>投资</a:t>
            </a:r>
            <a:r>
              <a:rPr lang="zh-CN" altLang="en-US" dirty="0">
                <a:latin typeface="KaiTi" panose="02010609060101010101" pitchFamily="49" charset="-122"/>
                <a:ea typeface="KaiTi" panose="02010609060101010101" pitchFamily="49" charset="-122"/>
                <a:cs typeface="PingFang SC" charset="-122"/>
              </a:rPr>
              <a:t>需求迅速做出判断，</a:t>
            </a:r>
            <a:r>
              <a:rPr lang="zh-Hans" altLang="en-US" dirty="0">
                <a:latin typeface="KaiTi" panose="02010609060101010101" pitchFamily="49" charset="-122"/>
                <a:ea typeface="KaiTi" panose="02010609060101010101" pitchFamily="49" charset="-122"/>
                <a:cs typeface="PingFang SC" charset="-122"/>
              </a:rPr>
              <a:t>为投资者提供</a:t>
            </a:r>
            <a:r>
              <a:rPr lang="zh-CN" altLang="en-US" dirty="0">
                <a:latin typeface="KaiTi" panose="02010609060101010101" pitchFamily="49" charset="-122"/>
                <a:ea typeface="KaiTi" panose="02010609060101010101" pitchFamily="49" charset="-122"/>
                <a:cs typeface="PingFang SC" charset="-122"/>
              </a:rPr>
              <a:t>个性化</a:t>
            </a:r>
            <a:r>
              <a:rPr lang="zh-Hans" altLang="en-US" dirty="0">
                <a:latin typeface="KaiTi" panose="02010609060101010101" pitchFamily="49" charset="-122"/>
                <a:ea typeface="KaiTi" panose="02010609060101010101" pitchFamily="49" charset="-122"/>
                <a:cs typeface="PingFang SC" charset="-122"/>
              </a:rPr>
              <a:t>投资交易策略并提供用户自动化智能交易功能</a:t>
            </a:r>
            <a:endParaRPr dirty="0">
              <a:latin typeface="KaiTi" panose="02010609060101010101" pitchFamily="49" charset="-122"/>
              <a:ea typeface="KaiTi" panose="02010609060101010101" pitchFamily="49" charset="-122"/>
              <a:cs typeface="PingFang SC" charset="-122"/>
            </a:endParaRPr>
          </a:p>
        </p:txBody>
      </p:sp>
      <p:sp>
        <p:nvSpPr>
          <p:cNvPr id="60" name="灯片编号占位符 3">
            <a:extLst>
              <a:ext uri="{FF2B5EF4-FFF2-40B4-BE49-F238E27FC236}">
                <a16:creationId xmlns:a16="http://schemas.microsoft.com/office/drawing/2014/main" id="{B0D57A83-4351-1B4D-945B-5F056BDF0BB7}"/>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22</a:t>
            </a:fld>
            <a:endParaRPr lang="zh-CN" altLang="en-US" dirty="0"/>
          </a:p>
        </p:txBody>
      </p:sp>
      <p:sp>
        <p:nvSpPr>
          <p:cNvPr id="61" name="矩形 60">
            <a:extLst>
              <a:ext uri="{FF2B5EF4-FFF2-40B4-BE49-F238E27FC236}">
                <a16:creationId xmlns:a16="http://schemas.microsoft.com/office/drawing/2014/main" id="{87C01C40-EC92-0646-871B-3FFDB5B8E244}"/>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C2FD05FF-B3CB-954D-AC36-9D49536A300E}"/>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12836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816080"/>
            <a:ext cx="7935192" cy="608099"/>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en-US" altLang="zh-Hans" sz="3600" dirty="0">
                <a:solidFill>
                  <a:schemeClr val="bg1"/>
                </a:solidFill>
              </a:rPr>
              <a:t>FDT</a:t>
            </a:r>
            <a:r>
              <a:rPr lang="zh-Hans" altLang="en-US" sz="3600" dirty="0">
                <a:solidFill>
                  <a:schemeClr val="bg1"/>
                </a:solidFill>
              </a:rPr>
              <a:t>金融</a:t>
            </a:r>
            <a:r>
              <a:rPr lang="en-US" altLang="zh-Hans" sz="3600" dirty="0">
                <a:solidFill>
                  <a:schemeClr val="bg1"/>
                </a:solidFill>
              </a:rPr>
              <a:t>AI</a:t>
            </a:r>
            <a:r>
              <a:rPr lang="zh-Hans" altLang="en-US" sz="3600" dirty="0">
                <a:solidFill>
                  <a:schemeClr val="bg1"/>
                </a:solidFill>
              </a:rPr>
              <a:t>整体解决方案</a:t>
            </a:r>
            <a:endParaRPr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灯片编号占位符 3">
            <a:extLst>
              <a:ext uri="{FF2B5EF4-FFF2-40B4-BE49-F238E27FC236}">
                <a16:creationId xmlns:a16="http://schemas.microsoft.com/office/drawing/2014/main" id="{90500130-2261-6245-AEB3-C8D0939B31A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23</a:t>
            </a:fld>
            <a:endParaRPr lang="zh-CN" altLang="en-US" dirty="0"/>
          </a:p>
        </p:txBody>
      </p:sp>
    </p:spTree>
    <p:extLst>
      <p:ext uri="{BB962C8B-B14F-4D97-AF65-F5344CB8AC3E}">
        <p14:creationId xmlns:p14="http://schemas.microsoft.com/office/powerpoint/2010/main" val="1201785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Shape 312"/>
          <p:cNvSpPr/>
          <p:nvPr/>
        </p:nvSpPr>
        <p:spPr>
          <a:xfrm>
            <a:off x="712384" y="2275080"/>
            <a:ext cx="2976953" cy="1495009"/>
          </a:xfrm>
          <a:custGeom>
            <a:avLst/>
            <a:gdLst/>
            <a:ahLst/>
            <a:cxnLst>
              <a:cxn ang="0">
                <a:pos x="wd2" y="hd2"/>
              </a:cxn>
              <a:cxn ang="5400000">
                <a:pos x="wd2" y="hd2"/>
              </a:cxn>
              <a:cxn ang="10800000">
                <a:pos x="wd2" y="hd2"/>
              </a:cxn>
              <a:cxn ang="16200000">
                <a:pos x="wd2" y="hd2"/>
              </a:cxn>
            </a:cxnLst>
            <a:rect l="0" t="0" r="r" b="b"/>
            <a:pathLst>
              <a:path w="21600" h="21600" extrusionOk="0">
                <a:moveTo>
                  <a:pt x="10823" y="0"/>
                </a:moveTo>
                <a:cubicBezTo>
                  <a:pt x="4831" y="0"/>
                  <a:pt x="0" y="9641"/>
                  <a:pt x="0" y="21600"/>
                </a:cubicBezTo>
                <a:cubicBezTo>
                  <a:pt x="21600" y="21600"/>
                  <a:pt x="21600" y="21600"/>
                  <a:pt x="21600" y="21600"/>
                </a:cubicBezTo>
                <a:cubicBezTo>
                  <a:pt x="21600" y="9641"/>
                  <a:pt x="16769" y="0"/>
                  <a:pt x="10823" y="0"/>
                </a:cubicBezTo>
                <a:close/>
              </a:path>
            </a:pathLst>
          </a:custGeom>
          <a:solidFill>
            <a:srgbClr val="E5C261"/>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dirty="0">
              <a:latin typeface="KaiTi" charset="-122"/>
              <a:ea typeface="KaiTi" charset="-122"/>
              <a:cs typeface="KaiTi" charset="-122"/>
            </a:endParaRPr>
          </a:p>
        </p:txBody>
      </p:sp>
      <p:sp>
        <p:nvSpPr>
          <p:cNvPr id="313" name="Shape 313"/>
          <p:cNvSpPr/>
          <p:nvPr/>
        </p:nvSpPr>
        <p:spPr>
          <a:xfrm>
            <a:off x="8204162" y="2275080"/>
            <a:ext cx="2971546" cy="149500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1" y="0"/>
                  <a:pt x="0" y="9641"/>
                  <a:pt x="0" y="21600"/>
                </a:cubicBezTo>
                <a:cubicBezTo>
                  <a:pt x="21600" y="21600"/>
                  <a:pt x="21600" y="21600"/>
                  <a:pt x="21600" y="21600"/>
                </a:cubicBezTo>
                <a:cubicBezTo>
                  <a:pt x="21600" y="9641"/>
                  <a:pt x="16759" y="0"/>
                  <a:pt x="10800" y="0"/>
                </a:cubicBezTo>
                <a:close/>
              </a:path>
            </a:pathLst>
          </a:custGeom>
          <a:solidFill>
            <a:srgbClr val="01455C"/>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sp>
        <p:nvSpPr>
          <p:cNvPr id="314" name="Shape 314"/>
          <p:cNvSpPr/>
          <p:nvPr/>
        </p:nvSpPr>
        <p:spPr>
          <a:xfrm>
            <a:off x="4535501" y="3770086"/>
            <a:ext cx="2974249" cy="1489602"/>
          </a:xfrm>
          <a:custGeom>
            <a:avLst/>
            <a:gdLst/>
            <a:ahLst/>
            <a:cxnLst>
              <a:cxn ang="0">
                <a:pos x="wd2" y="hd2"/>
              </a:cxn>
              <a:cxn ang="5400000">
                <a:pos x="wd2" y="hd2"/>
              </a:cxn>
              <a:cxn ang="10800000">
                <a:pos x="wd2" y="hd2"/>
              </a:cxn>
              <a:cxn ang="16200000">
                <a:pos x="wd2" y="hd2"/>
              </a:cxn>
            </a:cxnLst>
            <a:rect l="0" t="0" r="r" b="b"/>
            <a:pathLst>
              <a:path w="21600" h="21600" extrusionOk="0">
                <a:moveTo>
                  <a:pt x="10823" y="21600"/>
                </a:moveTo>
                <a:cubicBezTo>
                  <a:pt x="16769" y="21600"/>
                  <a:pt x="21600" y="11917"/>
                  <a:pt x="21600" y="0"/>
                </a:cubicBezTo>
                <a:cubicBezTo>
                  <a:pt x="0" y="0"/>
                  <a:pt x="0" y="0"/>
                  <a:pt x="0" y="0"/>
                </a:cubicBezTo>
                <a:cubicBezTo>
                  <a:pt x="0" y="11917"/>
                  <a:pt x="4831" y="21600"/>
                  <a:pt x="10823" y="21600"/>
                </a:cubicBezTo>
                <a:close/>
              </a:path>
            </a:pathLst>
          </a:custGeom>
          <a:solidFill>
            <a:srgbClr val="991E2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sp>
        <p:nvSpPr>
          <p:cNvPr id="315" name="Shape 315"/>
          <p:cNvSpPr/>
          <p:nvPr/>
        </p:nvSpPr>
        <p:spPr>
          <a:xfrm>
            <a:off x="1373648" y="2759907"/>
            <a:ext cx="2010025" cy="1359582"/>
          </a:xfrm>
          <a:prstGeom prst="rect">
            <a:avLst/>
          </a:prstGeom>
          <a:ln w="12700">
            <a:miter lim="400000"/>
          </a:ln>
        </p:spPr>
        <p:txBody>
          <a:bodyPr lIns="0" tIns="0" rIns="0" bIns="0"/>
          <a:lstStyle>
            <a:lvl1pPr defTabSz="1176655">
              <a:defRPr sz="3000">
                <a:solidFill>
                  <a:srgbClr val="FFFFFF"/>
                </a:solidFill>
              </a:defRPr>
            </a:lvl1pPr>
          </a:lstStyle>
          <a:p>
            <a:pPr lvl="0">
              <a:defRPr sz="1800">
                <a:solidFill>
                  <a:srgbClr val="000000"/>
                </a:solidFill>
              </a:defRPr>
            </a:pPr>
            <a:r>
              <a:rPr lang="zh-CN" altLang="en-US" sz="3000" dirty="0">
                <a:solidFill>
                  <a:srgbClr val="FFFFFF"/>
                </a:solidFill>
                <a:latin typeface="KaiTi" charset="-122"/>
                <a:ea typeface="KaiTi" charset="-122"/>
                <a:cs typeface="KaiTi" charset="-122"/>
              </a:rPr>
              <a:t>投</a:t>
            </a:r>
            <a:r>
              <a:rPr sz="3000" dirty="0">
                <a:solidFill>
                  <a:srgbClr val="FFFFFF"/>
                </a:solidFill>
                <a:latin typeface="KaiTi" charset="-122"/>
                <a:ea typeface="KaiTi" charset="-122"/>
                <a:cs typeface="KaiTi" charset="-122"/>
              </a:rPr>
              <a:t>前</a:t>
            </a:r>
            <a:r>
              <a:rPr lang="zh-CN" altLang="en-US" sz="3000" dirty="0">
                <a:solidFill>
                  <a:srgbClr val="FFFFFF"/>
                </a:solidFill>
                <a:latin typeface="KaiTi" charset="-122"/>
                <a:ea typeface="KaiTi" charset="-122"/>
                <a:cs typeface="KaiTi" charset="-122"/>
              </a:rPr>
              <a:t>需求</a:t>
            </a:r>
            <a:endParaRPr sz="3000" dirty="0">
              <a:solidFill>
                <a:srgbClr val="FFFFFF"/>
              </a:solidFill>
              <a:latin typeface="KaiTi" charset="-122"/>
              <a:ea typeface="KaiTi" charset="-122"/>
              <a:cs typeface="KaiTi" charset="-122"/>
            </a:endParaRPr>
          </a:p>
        </p:txBody>
      </p:sp>
      <p:sp>
        <p:nvSpPr>
          <p:cNvPr id="316" name="Shape 316"/>
          <p:cNvSpPr/>
          <p:nvPr/>
        </p:nvSpPr>
        <p:spPr>
          <a:xfrm>
            <a:off x="697853" y="3885335"/>
            <a:ext cx="3337576" cy="1487288"/>
          </a:xfrm>
          <a:prstGeom prst="rect">
            <a:avLst/>
          </a:prstGeom>
          <a:ln w="12700">
            <a:miter lim="400000"/>
          </a:ln>
        </p:spPr>
        <p:txBody>
          <a:bodyPr lIns="0" tIns="0" rIns="0" bIns="0"/>
          <a:lstStyle/>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自我认知、金融市场认知</a:t>
            </a:r>
            <a:endParaRPr lang="en-US"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用户</a:t>
            </a:r>
            <a:r>
              <a:rPr lang="en-US" altLang="zh-CN" sz="2000" dirty="0">
                <a:solidFill>
                  <a:srgbClr val="535353"/>
                </a:solidFill>
                <a:latin typeface="KaiTi" charset="-122"/>
                <a:ea typeface="KaiTi" charset="-122"/>
                <a:cs typeface="KaiTi" charset="-122"/>
              </a:rPr>
              <a:t>-</a:t>
            </a:r>
            <a:r>
              <a:rPr lang="zh-CN" altLang="en-US" sz="2000" dirty="0">
                <a:solidFill>
                  <a:srgbClr val="535353"/>
                </a:solidFill>
                <a:latin typeface="KaiTi" charset="-122"/>
                <a:ea typeface="KaiTi" charset="-122"/>
                <a:cs typeface="KaiTi" charset="-122"/>
              </a:rPr>
              <a:t>资产配置</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投资判断辅助</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风控设置</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Hans" altLang="en-US" sz="2000" dirty="0">
                <a:solidFill>
                  <a:srgbClr val="535353"/>
                </a:solidFill>
                <a:latin typeface="KaiTi" charset="-122"/>
                <a:ea typeface="KaiTi" charset="-122"/>
                <a:cs typeface="KaiTi" charset="-122"/>
              </a:rPr>
              <a:t>量化策略生成</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sz="2000" dirty="0">
                <a:solidFill>
                  <a:srgbClr val="535353"/>
                </a:solidFill>
                <a:latin typeface="KaiTi" charset="-122"/>
                <a:ea typeface="KaiTi" charset="-122"/>
                <a:cs typeface="KaiTi" charset="-122"/>
              </a:rPr>
              <a:t>………</a:t>
            </a:r>
          </a:p>
        </p:txBody>
      </p:sp>
      <p:sp>
        <p:nvSpPr>
          <p:cNvPr id="317" name="Shape 317"/>
          <p:cNvSpPr/>
          <p:nvPr/>
        </p:nvSpPr>
        <p:spPr>
          <a:xfrm>
            <a:off x="5145911" y="4120553"/>
            <a:ext cx="2010026" cy="1359582"/>
          </a:xfrm>
          <a:prstGeom prst="rect">
            <a:avLst/>
          </a:prstGeom>
          <a:ln w="12700">
            <a:miter lim="400000"/>
          </a:ln>
        </p:spPr>
        <p:txBody>
          <a:bodyPr lIns="0" tIns="0" rIns="0" bIns="0"/>
          <a:lstStyle>
            <a:lvl1pPr defTabSz="1176655">
              <a:defRPr sz="3000">
                <a:solidFill>
                  <a:srgbClr val="FFFFFF"/>
                </a:solidFill>
              </a:defRPr>
            </a:lvl1pPr>
          </a:lstStyle>
          <a:p>
            <a:pPr lvl="0">
              <a:defRPr sz="1800">
                <a:solidFill>
                  <a:srgbClr val="000000"/>
                </a:solidFill>
              </a:defRPr>
            </a:pPr>
            <a:r>
              <a:rPr lang="zh-CN" altLang="en-US" sz="3000" dirty="0">
                <a:solidFill>
                  <a:srgbClr val="FFFFFF"/>
                </a:solidFill>
                <a:latin typeface="KaiTi" charset="-122"/>
                <a:ea typeface="KaiTi" charset="-122"/>
                <a:cs typeface="KaiTi" charset="-122"/>
              </a:rPr>
              <a:t>投</a:t>
            </a:r>
            <a:r>
              <a:rPr sz="3000" dirty="0">
                <a:solidFill>
                  <a:srgbClr val="FFFFFF"/>
                </a:solidFill>
                <a:latin typeface="KaiTi" charset="-122"/>
                <a:ea typeface="KaiTi" charset="-122"/>
                <a:cs typeface="KaiTi" charset="-122"/>
              </a:rPr>
              <a:t>中</a:t>
            </a:r>
            <a:r>
              <a:rPr lang="zh-CN" altLang="en-US" sz="3000" dirty="0">
                <a:solidFill>
                  <a:srgbClr val="FFFFFF"/>
                </a:solidFill>
                <a:latin typeface="KaiTi" charset="-122"/>
                <a:ea typeface="KaiTi" charset="-122"/>
                <a:cs typeface="KaiTi" charset="-122"/>
              </a:rPr>
              <a:t>需求</a:t>
            </a:r>
            <a:endParaRPr sz="3000" dirty="0">
              <a:solidFill>
                <a:srgbClr val="FFFFFF"/>
              </a:solidFill>
              <a:latin typeface="KaiTi" charset="-122"/>
              <a:ea typeface="KaiTi" charset="-122"/>
              <a:cs typeface="KaiTi" charset="-122"/>
            </a:endParaRPr>
          </a:p>
        </p:txBody>
      </p:sp>
      <p:sp>
        <p:nvSpPr>
          <p:cNvPr id="318" name="Shape 318"/>
          <p:cNvSpPr/>
          <p:nvPr/>
        </p:nvSpPr>
        <p:spPr>
          <a:xfrm>
            <a:off x="8883159" y="2759907"/>
            <a:ext cx="2010025" cy="1359582"/>
          </a:xfrm>
          <a:prstGeom prst="rect">
            <a:avLst/>
          </a:prstGeom>
          <a:ln w="12700">
            <a:miter lim="400000"/>
          </a:ln>
        </p:spPr>
        <p:txBody>
          <a:bodyPr lIns="0" tIns="0" rIns="0" bIns="0"/>
          <a:lstStyle>
            <a:lvl1pPr defTabSz="1176655">
              <a:defRPr sz="3000">
                <a:solidFill>
                  <a:srgbClr val="FFFFFF"/>
                </a:solidFill>
              </a:defRPr>
            </a:lvl1pPr>
          </a:lstStyle>
          <a:p>
            <a:pPr lvl="0">
              <a:defRPr sz="1800">
                <a:solidFill>
                  <a:srgbClr val="000000"/>
                </a:solidFill>
              </a:defRPr>
            </a:pPr>
            <a:r>
              <a:rPr lang="zh-CN" altLang="en-US" sz="3000" dirty="0">
                <a:solidFill>
                  <a:srgbClr val="FFFFFF"/>
                </a:solidFill>
                <a:latin typeface="KaiTi" charset="-122"/>
                <a:ea typeface="KaiTi" charset="-122"/>
                <a:cs typeface="KaiTi" charset="-122"/>
              </a:rPr>
              <a:t>投</a:t>
            </a:r>
            <a:r>
              <a:rPr sz="3000" dirty="0">
                <a:solidFill>
                  <a:srgbClr val="FFFFFF"/>
                </a:solidFill>
                <a:latin typeface="KaiTi" charset="-122"/>
                <a:ea typeface="KaiTi" charset="-122"/>
                <a:cs typeface="KaiTi" charset="-122"/>
              </a:rPr>
              <a:t>后</a:t>
            </a:r>
            <a:r>
              <a:rPr lang="zh-CN" altLang="en-US" sz="3000" dirty="0">
                <a:solidFill>
                  <a:srgbClr val="FFFFFF"/>
                </a:solidFill>
                <a:latin typeface="KaiTi" charset="-122"/>
                <a:ea typeface="KaiTi" charset="-122"/>
                <a:cs typeface="KaiTi" charset="-122"/>
              </a:rPr>
              <a:t>需求</a:t>
            </a:r>
            <a:endParaRPr sz="3000" dirty="0">
              <a:solidFill>
                <a:srgbClr val="FFFFFF"/>
              </a:solidFill>
              <a:latin typeface="KaiTi" charset="-122"/>
              <a:ea typeface="KaiTi" charset="-122"/>
              <a:cs typeface="KaiTi" charset="-122"/>
            </a:endParaRPr>
          </a:p>
        </p:txBody>
      </p:sp>
      <p:sp>
        <p:nvSpPr>
          <p:cNvPr id="319" name="Shape 319"/>
          <p:cNvSpPr/>
          <p:nvPr/>
        </p:nvSpPr>
        <p:spPr>
          <a:xfrm>
            <a:off x="4535501" y="1949776"/>
            <a:ext cx="2869409" cy="1891776"/>
          </a:xfrm>
          <a:prstGeom prst="rect">
            <a:avLst/>
          </a:prstGeom>
          <a:ln w="12700">
            <a:miter lim="400000"/>
          </a:ln>
        </p:spPr>
        <p:txBody>
          <a:bodyPr lIns="0" tIns="0" rIns="0" bIns="0"/>
          <a:lstStyle/>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调仓提示</a:t>
            </a:r>
            <a:endParaRPr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止盈止损提示</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动态风控提醒</a:t>
            </a:r>
            <a:endParaRPr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Hans" altLang="en-US" sz="2000" dirty="0">
                <a:solidFill>
                  <a:srgbClr val="535353"/>
                </a:solidFill>
                <a:latin typeface="KaiTi" charset="-122"/>
                <a:ea typeface="KaiTi" charset="-122"/>
                <a:cs typeface="KaiTi" charset="-122"/>
              </a:rPr>
              <a:t>策略优化调整</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交易信号提醒</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mr-IN" altLang="zh-CN" sz="2000" dirty="0">
                <a:solidFill>
                  <a:srgbClr val="535353"/>
                </a:solidFill>
                <a:latin typeface="KaiTi" charset="-122"/>
                <a:ea typeface="KaiTi" charset="-122"/>
                <a:cs typeface="KaiTi" charset="-122"/>
              </a:rPr>
              <a:t>………</a:t>
            </a:r>
          </a:p>
        </p:txBody>
      </p:sp>
      <p:sp>
        <p:nvSpPr>
          <p:cNvPr id="320" name="Shape 320"/>
          <p:cNvSpPr/>
          <p:nvPr/>
        </p:nvSpPr>
        <p:spPr>
          <a:xfrm>
            <a:off x="8198753" y="3773822"/>
            <a:ext cx="3216967" cy="1598802"/>
          </a:xfrm>
          <a:prstGeom prst="rect">
            <a:avLst/>
          </a:prstGeom>
          <a:ln w="12700">
            <a:miter lim="400000"/>
          </a:ln>
        </p:spPr>
        <p:txBody>
          <a:bodyPr lIns="0" tIns="0" rIns="0" bIns="0"/>
          <a:lstStyle/>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复盘点评分析总结</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针对性交易练习和教学</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投资者分析报告</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lang="zh-CN" altLang="en-US" sz="2000" dirty="0">
                <a:solidFill>
                  <a:srgbClr val="535353"/>
                </a:solidFill>
                <a:latin typeface="KaiTi" charset="-122"/>
                <a:ea typeface="KaiTi" charset="-122"/>
                <a:cs typeface="KaiTi" charset="-122"/>
              </a:rPr>
              <a:t>投资表现、风险控制、</a:t>
            </a:r>
            <a:r>
              <a:rPr lang="zh-Hans" altLang="en-US" sz="2000" dirty="0">
                <a:solidFill>
                  <a:srgbClr val="535353"/>
                </a:solidFill>
                <a:latin typeface="KaiTi" charset="-122"/>
                <a:ea typeface="KaiTi" charset="-122"/>
                <a:cs typeface="KaiTi" charset="-122"/>
              </a:rPr>
              <a:t>投资策略</a:t>
            </a:r>
            <a:r>
              <a:rPr lang="zh-CN" altLang="en-US" sz="2000" dirty="0">
                <a:solidFill>
                  <a:srgbClr val="535353"/>
                </a:solidFill>
                <a:latin typeface="KaiTi" charset="-122"/>
                <a:ea typeface="KaiTi" charset="-122"/>
                <a:cs typeface="KaiTi" charset="-122"/>
              </a:rPr>
              <a:t>回测</a:t>
            </a:r>
            <a:endParaRPr lang="en-US" altLang="zh-CN" sz="2000" dirty="0">
              <a:solidFill>
                <a:srgbClr val="535353"/>
              </a:solidFill>
              <a:latin typeface="KaiTi" charset="-122"/>
              <a:ea typeface="KaiTi" charset="-122"/>
              <a:cs typeface="KaiTi" charset="-122"/>
            </a:endParaRPr>
          </a:p>
          <a:p>
            <a:pPr marL="342900" lvl="0" indent="-342900">
              <a:buFont typeface="Arial" charset="0"/>
              <a:buChar char="•"/>
              <a:defRPr>
                <a:solidFill>
                  <a:srgbClr val="000000"/>
                </a:solidFill>
              </a:defRPr>
            </a:pPr>
            <a:r>
              <a:rPr sz="2000" dirty="0">
                <a:solidFill>
                  <a:srgbClr val="535353"/>
                </a:solidFill>
                <a:latin typeface="KaiTi" charset="-122"/>
                <a:ea typeface="KaiTi" charset="-122"/>
                <a:cs typeface="KaiTi" charset="-122"/>
              </a:rPr>
              <a:t>………</a:t>
            </a:r>
          </a:p>
        </p:txBody>
      </p:sp>
      <p:sp>
        <p:nvSpPr>
          <p:cNvPr id="11" name="Shape 94"/>
          <p:cNvSpPr/>
          <p:nvPr/>
        </p:nvSpPr>
        <p:spPr>
          <a:xfrm>
            <a:off x="503902" y="343655"/>
            <a:ext cx="9793766" cy="680248"/>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用户</a:t>
            </a:r>
            <a:r>
              <a:rPr lang="zh-Hans" altLang="en-US" sz="3600" dirty="0">
                <a:solidFill>
                  <a:schemeClr val="tx1"/>
                </a:solidFill>
                <a:latin typeface="KaiTi" charset="-122"/>
                <a:ea typeface="KaiTi" charset="-122"/>
                <a:cs typeface="KaiTi" charset="-122"/>
              </a:rPr>
              <a:t>个性化</a:t>
            </a:r>
            <a:r>
              <a:rPr lang="zh-CN" altLang="en-US" sz="3600" dirty="0">
                <a:solidFill>
                  <a:schemeClr val="tx1"/>
                </a:solidFill>
                <a:latin typeface="KaiTi" charset="-122"/>
                <a:ea typeface="KaiTi" charset="-122"/>
                <a:cs typeface="KaiTi" charset="-122"/>
              </a:rPr>
              <a:t>需求</a:t>
            </a:r>
            <a:endParaRPr sz="3600" dirty="0">
              <a:solidFill>
                <a:schemeClr val="tx1"/>
              </a:solidFill>
              <a:latin typeface="KaiTi" charset="-122"/>
              <a:ea typeface="KaiTi" charset="-122"/>
              <a:cs typeface="KaiTi" charset="-122"/>
            </a:endParaRPr>
          </a:p>
        </p:txBody>
      </p:sp>
      <p:sp>
        <p:nvSpPr>
          <p:cNvPr id="12" name="灯片编号占位符 3">
            <a:extLst>
              <a:ext uri="{FF2B5EF4-FFF2-40B4-BE49-F238E27FC236}">
                <a16:creationId xmlns:a16="http://schemas.microsoft.com/office/drawing/2014/main" id="{5F1677EC-F7DB-0D47-BB70-76A3EEB92157}"/>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24</a:t>
            </a:fld>
            <a:endParaRPr lang="zh-CN" altLang="en-US" dirty="0"/>
          </a:p>
        </p:txBody>
      </p:sp>
      <p:pic>
        <p:nvPicPr>
          <p:cNvPr id="13" name="图像" descr="图像">
            <a:extLst>
              <a:ext uri="{FF2B5EF4-FFF2-40B4-BE49-F238E27FC236}">
                <a16:creationId xmlns:a16="http://schemas.microsoft.com/office/drawing/2014/main" id="{8F783DD1-1FF0-B146-9671-A7B09DEB3BEC}"/>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 name="矩形 15">
            <a:extLst>
              <a:ext uri="{FF2B5EF4-FFF2-40B4-BE49-F238E27FC236}">
                <a16:creationId xmlns:a16="http://schemas.microsoft.com/office/drawing/2014/main" id="{5C3F519B-35CB-A04F-A61F-7014A9976442}"/>
              </a:ext>
            </a:extLst>
          </p:cNvPr>
          <p:cNvSpPr/>
          <p:nvPr/>
        </p:nvSpPr>
        <p:spPr>
          <a:xfrm>
            <a:off x="503902" y="98767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78930FE-205D-7748-B17B-7E11FA453E9E}"/>
              </a:ext>
            </a:extLst>
          </p:cNvPr>
          <p:cNvSpPr/>
          <p:nvPr/>
        </p:nvSpPr>
        <p:spPr>
          <a:xfrm>
            <a:off x="4577499" y="98767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1335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6" name="Group 206"/>
          <p:cNvGrpSpPr/>
          <p:nvPr/>
        </p:nvGrpSpPr>
        <p:grpSpPr>
          <a:xfrm>
            <a:off x="-37900" y="-9030"/>
            <a:ext cx="5596847" cy="6858001"/>
            <a:chOff x="0" y="0"/>
            <a:chExt cx="5596845" cy="6858000"/>
          </a:xfrm>
        </p:grpSpPr>
        <p:sp>
          <p:nvSpPr>
            <p:cNvPr id="204" name="Shape 204"/>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sp>
          <p:nvSpPr>
            <p:cNvPr id="205" name="Shape 205"/>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grpSp>
      <p:sp>
        <p:nvSpPr>
          <p:cNvPr id="207" name="Shape 207"/>
          <p:cNvSpPr/>
          <p:nvPr/>
        </p:nvSpPr>
        <p:spPr>
          <a:xfrm>
            <a:off x="468716" y="1863856"/>
            <a:ext cx="4583615" cy="2308324"/>
          </a:xfrm>
          <a:prstGeom prst="rect">
            <a:avLst/>
          </a:prstGeom>
          <a:ln w="12700">
            <a:miter lim="400000"/>
          </a:ln>
        </p:spPr>
        <p:txBody>
          <a:bodyPr lIns="45719" rIns="45719">
            <a:spAutoFit/>
          </a:bodyPr>
          <a:lstStyle/>
          <a:p>
            <a:pPr lvl="0">
              <a:defRPr>
                <a:solidFill>
                  <a:srgbClr val="000000"/>
                </a:solidFill>
              </a:defRPr>
            </a:pPr>
            <a:r>
              <a:rPr lang="zh-Hans" altLang="en-US" b="1" dirty="0">
                <a:solidFill>
                  <a:schemeClr val="tx2">
                    <a:lumMod val="50000"/>
                  </a:schemeClr>
                </a:solidFill>
                <a:latin typeface="KaiTi" charset="-122"/>
                <a:ea typeface="KaiTi" charset="-122"/>
                <a:cs typeface="KaiTi" charset="-122"/>
              </a:rPr>
              <a:t>投资者：</a:t>
            </a:r>
            <a:r>
              <a:rPr lang="zh-CN" altLang="en-US" dirty="0">
                <a:solidFill>
                  <a:schemeClr val="tx2">
                    <a:lumMod val="50000"/>
                  </a:schemeClr>
                </a:solidFill>
                <a:latin typeface="KaiTi" charset="-122"/>
                <a:ea typeface="KaiTi" charset="-122"/>
                <a:cs typeface="KaiTi" charset="-122"/>
              </a:rPr>
              <a:t>面对股市</a:t>
            </a:r>
            <a:r>
              <a:rPr lang="zh-Hans" altLang="en-US" dirty="0">
                <a:solidFill>
                  <a:schemeClr val="tx2">
                    <a:lumMod val="50000"/>
                  </a:schemeClr>
                </a:solidFill>
                <a:latin typeface="KaiTi" charset="-122"/>
                <a:ea typeface="KaiTi" charset="-122"/>
                <a:cs typeface="KaiTi" charset="-122"/>
              </a:rPr>
              <a:t>众多</a:t>
            </a:r>
            <a:r>
              <a:rPr lang="zh-CN" altLang="en-US" dirty="0">
                <a:solidFill>
                  <a:schemeClr val="tx2">
                    <a:lumMod val="50000"/>
                  </a:schemeClr>
                </a:solidFill>
                <a:latin typeface="KaiTi" charset="-122"/>
                <a:ea typeface="KaiTi" charset="-122"/>
                <a:cs typeface="KaiTi" charset="-122"/>
              </a:rPr>
              <a:t>股票</a:t>
            </a:r>
            <a:r>
              <a:rPr lang="zh-Hans" altLang="en-US" dirty="0">
                <a:solidFill>
                  <a:schemeClr val="tx2">
                    <a:lumMod val="50000"/>
                  </a:schemeClr>
                </a:solidFill>
                <a:latin typeface="KaiTi" charset="-122"/>
                <a:ea typeface="KaiTi" charset="-122"/>
                <a:cs typeface="KaiTi" charset="-122"/>
              </a:rPr>
              <a:t>和海量</a:t>
            </a:r>
            <a:r>
              <a:rPr lang="zh-CN" altLang="en-US" dirty="0">
                <a:solidFill>
                  <a:schemeClr val="tx2">
                    <a:lumMod val="50000"/>
                  </a:schemeClr>
                </a:solidFill>
                <a:latin typeface="KaiTi" charset="-122"/>
                <a:ea typeface="KaiTi" charset="-122"/>
                <a:cs typeface="KaiTi" charset="-122"/>
              </a:rPr>
              <a:t>基金产品，投资者在海量资讯信息中不知道自己应该投什么，不了解产品背后</a:t>
            </a:r>
            <a:r>
              <a:rPr lang="zh-Hans" altLang="en-US" dirty="0">
                <a:solidFill>
                  <a:schemeClr val="tx2">
                    <a:lumMod val="50000"/>
                  </a:schemeClr>
                </a:solidFill>
                <a:latin typeface="KaiTi" charset="-122"/>
                <a:ea typeface="KaiTi" charset="-122"/>
                <a:cs typeface="KaiTi" charset="-122"/>
              </a:rPr>
              <a:t>的</a:t>
            </a:r>
            <a:r>
              <a:rPr lang="zh-CN" altLang="en-US" dirty="0">
                <a:solidFill>
                  <a:schemeClr val="tx2">
                    <a:lumMod val="50000"/>
                  </a:schemeClr>
                </a:solidFill>
                <a:latin typeface="KaiTi" charset="-122"/>
                <a:ea typeface="KaiTi" charset="-122"/>
                <a:cs typeface="KaiTi" charset="-122"/>
              </a:rPr>
              <a:t>风险，同时也对投资表现缺乏正确的认知，导致</a:t>
            </a:r>
            <a:r>
              <a:rPr lang="zh-Hans" altLang="en-US" dirty="0">
                <a:solidFill>
                  <a:schemeClr val="tx2">
                    <a:lumMod val="50000"/>
                  </a:schemeClr>
                </a:solidFill>
                <a:latin typeface="KaiTi" charset="-122"/>
                <a:ea typeface="KaiTi" charset="-122"/>
                <a:cs typeface="KaiTi" charset="-122"/>
              </a:rPr>
              <a:t>屡屡</a:t>
            </a:r>
            <a:r>
              <a:rPr lang="zh-CN" altLang="en-US" dirty="0">
                <a:solidFill>
                  <a:schemeClr val="tx2">
                    <a:lumMod val="50000"/>
                  </a:schemeClr>
                </a:solidFill>
                <a:latin typeface="KaiTi" charset="-122"/>
                <a:ea typeface="KaiTi" charset="-122"/>
                <a:cs typeface="KaiTi" charset="-122"/>
              </a:rPr>
              <a:t>亏损出局</a:t>
            </a:r>
            <a:endParaRPr lang="en-US" altLang="zh-CN"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b="1" dirty="0">
                <a:solidFill>
                  <a:schemeClr val="tx2">
                    <a:lumMod val="50000"/>
                  </a:schemeClr>
                </a:solidFill>
                <a:latin typeface="KaiTi" charset="-122"/>
                <a:ea typeface="KaiTi" charset="-122"/>
              </a:rPr>
              <a:t>金融机构：</a:t>
            </a:r>
            <a:r>
              <a:rPr lang="zh-CN" altLang="en-US" dirty="0">
                <a:solidFill>
                  <a:schemeClr val="tx2">
                    <a:lumMod val="50000"/>
                  </a:schemeClr>
                </a:solidFill>
                <a:latin typeface="KaiTi" charset="-122"/>
                <a:ea typeface="KaiTi" charset="-122"/>
              </a:rPr>
              <a:t>不知道用户需要什么产品和服务，千人一面的广撒网，导致用户配合度和满意度不高</a:t>
            </a:r>
            <a:endParaRPr lang="en-US" altLang="zh-CN" dirty="0">
              <a:solidFill>
                <a:schemeClr val="tx2">
                  <a:lumMod val="50000"/>
                </a:schemeClr>
              </a:solidFill>
              <a:latin typeface="KaiTi" charset="-122"/>
              <a:ea typeface="KaiTi" charset="-122"/>
            </a:endParaRPr>
          </a:p>
          <a:p>
            <a:pPr lvl="0">
              <a:defRPr>
                <a:solidFill>
                  <a:srgbClr val="000000"/>
                </a:solidFill>
              </a:defRPr>
            </a:pPr>
            <a:endParaRPr lang="en-US" altLang="zh-CN" dirty="0">
              <a:solidFill>
                <a:schemeClr val="tx2">
                  <a:lumMod val="50000"/>
                </a:schemeClr>
              </a:solidFill>
              <a:latin typeface="KaiTi" charset="-122"/>
              <a:ea typeface="KaiTi" charset="-122"/>
              <a:cs typeface="KaiTi" charset="-122"/>
            </a:endParaRPr>
          </a:p>
        </p:txBody>
      </p:sp>
      <p:sp>
        <p:nvSpPr>
          <p:cNvPr id="208" name="Shape 208"/>
          <p:cNvSpPr/>
          <p:nvPr/>
        </p:nvSpPr>
        <p:spPr>
          <a:xfrm>
            <a:off x="6092963" y="1910663"/>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solidFill>
                  <a:schemeClr val="tx2">
                    <a:lumMod val="50000"/>
                  </a:schemeClr>
                </a:solidFill>
                <a:latin typeface="KaiTi" charset="-122"/>
                <a:ea typeface="KaiTi" charset="-122"/>
                <a:cs typeface="KaiTi" charset="-122"/>
              </a:rPr>
              <a:t>投资者画像：</a:t>
            </a:r>
            <a:r>
              <a:rPr lang="en-US" altLang="zh-CN" dirty="0" err="1">
                <a:solidFill>
                  <a:schemeClr val="tx2">
                    <a:lumMod val="50000"/>
                  </a:schemeClr>
                </a:solidFill>
                <a:latin typeface="New Peninim MT" pitchFamily="2" charset="-79"/>
                <a:ea typeface="KaiTi" charset="-122"/>
                <a:cs typeface="New Peninim MT" pitchFamily="2" charset="-79"/>
              </a:rPr>
              <a:t>FDTScore</a:t>
            </a:r>
            <a:r>
              <a:rPr lang="zh-CN" altLang="en-US" dirty="0">
                <a:solidFill>
                  <a:schemeClr val="tx2">
                    <a:lumMod val="50000"/>
                  </a:schemeClr>
                </a:solidFill>
                <a:latin typeface="KaiTi" charset="-122"/>
                <a:ea typeface="KaiTi" charset="-122"/>
                <a:cs typeface="KaiTi" charset="-122"/>
              </a:rPr>
              <a:t>基于投资者的历史数据对用户进行评估和精准画像（人工智能、大数据、行为金融学等技术应用）</a:t>
            </a:r>
            <a:endParaRPr dirty="0">
              <a:solidFill>
                <a:schemeClr val="tx2">
                  <a:lumMod val="50000"/>
                </a:schemeClr>
              </a:solidFill>
              <a:latin typeface="KaiTi" charset="-122"/>
              <a:ea typeface="KaiTi" charset="-122"/>
              <a:cs typeface="KaiTi" charset="-122"/>
            </a:endParaRPr>
          </a:p>
        </p:txBody>
      </p:sp>
      <p:sp>
        <p:nvSpPr>
          <p:cNvPr id="209" name="Shape 209"/>
          <p:cNvSpPr/>
          <p:nvPr/>
        </p:nvSpPr>
        <p:spPr>
          <a:xfrm>
            <a:off x="6092963" y="3537279"/>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solidFill>
                  <a:schemeClr val="tx2">
                    <a:lumMod val="50000"/>
                  </a:schemeClr>
                </a:solidFill>
                <a:latin typeface="KaiTi" charset="-122"/>
                <a:ea typeface="KaiTi" charset="-122"/>
                <a:cs typeface="KaiTi" charset="-122"/>
              </a:rPr>
              <a:t>产品画像：</a:t>
            </a:r>
            <a:r>
              <a:rPr lang="en-US" altLang="zh-CN" dirty="0" err="1">
                <a:solidFill>
                  <a:schemeClr val="tx2">
                    <a:lumMod val="50000"/>
                  </a:schemeClr>
                </a:solidFill>
                <a:latin typeface="New Peninim MT" pitchFamily="2" charset="-79"/>
                <a:ea typeface="KaiTi" charset="-122"/>
                <a:cs typeface="New Peninim MT" pitchFamily="2" charset="-79"/>
              </a:rPr>
              <a:t>FDTScore</a:t>
            </a:r>
            <a:r>
              <a:rPr lang="zh-CN" altLang="en-US" dirty="0">
                <a:solidFill>
                  <a:schemeClr val="tx2">
                    <a:lumMod val="50000"/>
                  </a:schemeClr>
                </a:solidFill>
                <a:latin typeface="KaiTi" charset="-122"/>
                <a:ea typeface="KaiTi" charset="-122"/>
                <a:cs typeface="KaiTi" charset="-122"/>
              </a:rPr>
              <a:t>对金融产品的画像（深度学习、知识图谱、自然语言处理等技术应用）</a:t>
            </a:r>
            <a:endParaRPr dirty="0">
              <a:solidFill>
                <a:schemeClr val="tx2">
                  <a:lumMod val="50000"/>
                </a:schemeClr>
              </a:solidFill>
              <a:latin typeface="KaiTi" charset="-122"/>
              <a:ea typeface="KaiTi" charset="-122"/>
              <a:cs typeface="KaiTi" charset="-122"/>
            </a:endParaRPr>
          </a:p>
        </p:txBody>
      </p:sp>
      <p:sp>
        <p:nvSpPr>
          <p:cNvPr id="210" name="Shape 210"/>
          <p:cNvSpPr/>
          <p:nvPr/>
        </p:nvSpPr>
        <p:spPr>
          <a:xfrm>
            <a:off x="1710817" y="4078416"/>
            <a:ext cx="1177579" cy="2813103"/>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solidFill>
                <a:schemeClr val="tx2">
                  <a:lumMod val="50000"/>
                </a:schemeClr>
              </a:solidFill>
              <a:latin typeface="KaiTi" charset="-122"/>
              <a:ea typeface="KaiTi" charset="-122"/>
              <a:cs typeface="KaiTi" charset="-122"/>
            </a:endParaRPr>
          </a:p>
        </p:txBody>
      </p:sp>
      <p:sp>
        <p:nvSpPr>
          <p:cNvPr id="10"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solidFill>
                  <a:schemeClr val="tx2">
                    <a:lumMod val="50000"/>
                  </a:schemeClr>
                </a:solidFill>
                <a:latin typeface="KaiTi" charset="-122"/>
                <a:ea typeface="KaiTi" charset="-122"/>
                <a:cs typeface="KaiTi" charset="-122"/>
              </a:rPr>
              <a:t>典型用户需求           </a:t>
            </a:r>
            <a:r>
              <a:rPr lang="zh-CN" altLang="en-US" sz="3600" dirty="0">
                <a:solidFill>
                  <a:schemeClr val="tx2">
                    <a:lumMod val="50000"/>
                  </a:schemeClr>
                </a:solidFill>
                <a:latin typeface="+mj-lt"/>
                <a:ea typeface="KaiTi" charset="-122"/>
                <a:cs typeface="KaiTi" charset="-122"/>
              </a:rPr>
              <a:t> </a:t>
            </a:r>
            <a:r>
              <a:rPr lang="en-US" altLang="zh-CN" sz="3600" dirty="0" err="1">
                <a:solidFill>
                  <a:schemeClr val="tx2">
                    <a:lumMod val="50000"/>
                  </a:schemeClr>
                </a:solidFill>
                <a:latin typeface="New Peninim MT" pitchFamily="2" charset="-79"/>
                <a:ea typeface="KaiTi" charset="-122"/>
                <a:cs typeface="New Peninim MT" pitchFamily="2" charset="-79"/>
              </a:rPr>
              <a:t>FDTAI</a:t>
            </a:r>
            <a:r>
              <a:rPr sz="3600" dirty="0" err="1">
                <a:solidFill>
                  <a:schemeClr val="tx2">
                    <a:lumMod val="50000"/>
                  </a:schemeClr>
                </a:solidFill>
                <a:latin typeface="KaiTi" charset="-122"/>
                <a:ea typeface="KaiTi" charset="-122"/>
                <a:cs typeface="KaiTi" charset="-122"/>
              </a:rPr>
              <a:t>对策</a:t>
            </a:r>
            <a:endParaRPr sz="3600" dirty="0">
              <a:solidFill>
                <a:schemeClr val="tx2">
                  <a:lumMod val="50000"/>
                </a:schemeClr>
              </a:solidFill>
              <a:latin typeface="KaiTi" charset="-122"/>
              <a:ea typeface="KaiTi" charset="-122"/>
              <a:cs typeface="KaiTi" charset="-122"/>
            </a:endParaRPr>
          </a:p>
        </p:txBody>
      </p:sp>
      <p:sp>
        <p:nvSpPr>
          <p:cNvPr id="3" name="文本框 2"/>
          <p:cNvSpPr txBox="1"/>
          <p:nvPr/>
        </p:nvSpPr>
        <p:spPr>
          <a:xfrm>
            <a:off x="503902" y="1039869"/>
            <a:ext cx="4548429" cy="83407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投前：</a:t>
            </a:r>
            <a:endParaRPr kumimoji="0" lang="en-US" altLang="zh-CN" sz="18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    </a:t>
            </a:r>
            <a:r>
              <a:rPr lang="zh-CN" altLang="en-US" sz="1600" b="1" dirty="0">
                <a:solidFill>
                  <a:schemeClr val="tx2">
                    <a:lumMod val="50000"/>
                  </a:schemeClr>
                </a:solidFill>
                <a:latin typeface="KaiTi" charset="-122"/>
                <a:ea typeface="KaiTi" charset="-122"/>
                <a:cs typeface="KaiTi" charset="-122"/>
              </a:rPr>
              <a:t>对自己的投资表现和金融市场缺乏认知</a:t>
            </a:r>
            <a:endParaRPr kumimoji="0" lang="zh-CN" altLang="en-US" sz="16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pic>
        <p:nvPicPr>
          <p:cNvPr id="11" name="图像" descr="图像">
            <a:extLst>
              <a:ext uri="{FF2B5EF4-FFF2-40B4-BE49-F238E27FC236}">
                <a16:creationId xmlns:a16="http://schemas.microsoft.com/office/drawing/2014/main" id="{C75AC337-74F8-1648-B404-3FBC94E3B53E}"/>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2" name="灯片编号占位符 3">
            <a:extLst>
              <a:ext uri="{FF2B5EF4-FFF2-40B4-BE49-F238E27FC236}">
                <a16:creationId xmlns:a16="http://schemas.microsoft.com/office/drawing/2014/main" id="{753EC47D-8C1C-E74F-868A-A274A40379AA}"/>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25</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384421789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58"/>
          <p:cNvSpPr/>
          <p:nvPr/>
        </p:nvSpPr>
        <p:spPr>
          <a:xfrm>
            <a:off x="4063275" y="2767957"/>
            <a:ext cx="1343268" cy="2792584"/>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KaiTi" charset="-122"/>
              <a:ea typeface="KaiTi" charset="-122"/>
              <a:cs typeface="KaiTi" charset="-122"/>
            </a:endParaRPr>
          </a:p>
        </p:txBody>
      </p:sp>
      <p:sp>
        <p:nvSpPr>
          <p:cNvPr id="8" name="椭圆 7"/>
          <p:cNvSpPr/>
          <p:nvPr/>
        </p:nvSpPr>
        <p:spPr>
          <a:xfrm>
            <a:off x="439262" y="1419630"/>
            <a:ext cx="8367259" cy="4853408"/>
          </a:xfrm>
          <a:prstGeom prst="ellipse">
            <a:avLst/>
          </a:prstGeom>
          <a:noFill/>
          <a:ln w="25400" cap="flat" cmpd="thickThin">
            <a:gradFill flip="none" rotWithShape="1">
              <a:gsLst>
                <a:gs pos="100000">
                  <a:srgbClr val="CEE1F2"/>
                </a:gs>
                <a:gs pos="98937">
                  <a:srgbClr val="CDE1F2"/>
                </a:gs>
                <a:gs pos="97875">
                  <a:srgbClr val="CBE0F2"/>
                </a:gs>
                <a:gs pos="95750">
                  <a:srgbClr val="C8DEF1"/>
                </a:gs>
                <a:gs pos="13000">
                  <a:srgbClr val="C2DAEF"/>
                </a:gs>
                <a:gs pos="83000">
                  <a:schemeClr val="accent1">
                    <a:lumMod val="45000"/>
                    <a:lumOff val="55000"/>
                  </a:schemeClr>
                </a:gs>
                <a:gs pos="100000">
                  <a:schemeClr val="accent1">
                    <a:lumMod val="30000"/>
                    <a:lumOff val="70000"/>
                  </a:schemeClr>
                </a:gs>
              </a:gsLst>
              <a:path path="circle">
                <a:fillToRect t="100000" r="100000"/>
              </a:path>
              <a:tileRect l="-100000" b="-100000"/>
            </a:gradFill>
            <a:prstDash val="lgDashDot"/>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KaiTi" charset="-122"/>
              <a:ea typeface="KaiTi" charset="-122"/>
              <a:cs typeface="KaiTi" charset="-122"/>
              <a:sym typeface="Calibri" panose="020F0502020204030204"/>
            </a:endParaRPr>
          </a:p>
        </p:txBody>
      </p:sp>
      <p:sp>
        <p:nvSpPr>
          <p:cNvPr id="12" name="文本框 11"/>
          <p:cNvSpPr txBox="1"/>
          <p:nvPr/>
        </p:nvSpPr>
        <p:spPr>
          <a:xfrm>
            <a:off x="2362615" y="1038030"/>
            <a:ext cx="669132"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资产</a:t>
            </a:r>
            <a:endParaRPr kumimoji="0" lang="zh-CN" altLang="en-US" sz="1800" b="0" i="0" u="none" strike="noStrike" cap="none" spc="0" normalizeH="0" baseline="0" dirty="0">
              <a:ln>
                <a:noFill/>
              </a:ln>
              <a:solidFill>
                <a:srgbClr val="00B050"/>
              </a:solidFill>
              <a:effectLst/>
              <a:uFillTx/>
              <a:latin typeface="KaiTi" charset="-122"/>
              <a:ea typeface="KaiTi" charset="-122"/>
              <a:cs typeface="KaiTi" charset="-122"/>
              <a:sym typeface="微软雅黑" panose="020B0503020204020204" charset="-122"/>
            </a:endParaRPr>
          </a:p>
        </p:txBody>
      </p:sp>
      <p:cxnSp>
        <p:nvCxnSpPr>
          <p:cNvPr id="16" name="直线连接符 15"/>
          <p:cNvCxnSpPr>
            <a:cxnSpLocks/>
            <a:endCxn id="17" idx="2"/>
          </p:cNvCxnSpPr>
          <p:nvPr/>
        </p:nvCxnSpPr>
        <p:spPr>
          <a:xfrm flipV="1">
            <a:off x="5195632" y="1774265"/>
            <a:ext cx="2567131" cy="1691007"/>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17" name="文本框 16"/>
          <p:cNvSpPr txBox="1"/>
          <p:nvPr/>
        </p:nvSpPr>
        <p:spPr>
          <a:xfrm>
            <a:off x="6971122" y="1311063"/>
            <a:ext cx="1583281"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交易活跃程度</a:t>
            </a:r>
            <a:endParaRPr kumimoji="0" lang="zh-CN" altLang="en-US" sz="1800" b="0" i="0" u="none" strike="noStrike" cap="none" spc="0" normalizeH="0" baseline="0" dirty="0">
              <a:ln>
                <a:noFill/>
              </a:ln>
              <a:solidFill>
                <a:srgbClr val="FF0000"/>
              </a:solidFill>
              <a:effectLst/>
              <a:uFillTx/>
              <a:latin typeface="KaiTi" charset="-122"/>
              <a:ea typeface="KaiTi" charset="-122"/>
              <a:cs typeface="KaiTi" charset="-122"/>
              <a:sym typeface="微软雅黑" panose="020B0503020204020204" charset="-122"/>
            </a:endParaRPr>
          </a:p>
        </p:txBody>
      </p:sp>
      <p:cxnSp>
        <p:nvCxnSpPr>
          <p:cNvPr id="27" name="直线连接符 26"/>
          <p:cNvCxnSpPr>
            <a:cxnSpLocks/>
            <a:endCxn id="12" idx="3"/>
          </p:cNvCxnSpPr>
          <p:nvPr/>
        </p:nvCxnSpPr>
        <p:spPr>
          <a:xfrm flipH="1" flipV="1">
            <a:off x="3031747" y="1269631"/>
            <a:ext cx="1458696" cy="1568382"/>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30" name="直线连接符 29"/>
          <p:cNvCxnSpPr/>
          <p:nvPr/>
        </p:nvCxnSpPr>
        <p:spPr>
          <a:xfrm flipH="1" flipV="1">
            <a:off x="1468665" y="1946825"/>
            <a:ext cx="2801114" cy="1541180"/>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32" name="文本框 31"/>
          <p:cNvSpPr txBox="1"/>
          <p:nvPr/>
        </p:nvSpPr>
        <p:spPr>
          <a:xfrm>
            <a:off x="659573" y="1590997"/>
            <a:ext cx="72278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 年龄 </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41" name="文本框 40"/>
          <p:cNvSpPr txBox="1"/>
          <p:nvPr/>
        </p:nvSpPr>
        <p:spPr>
          <a:xfrm>
            <a:off x="401796" y="2517401"/>
            <a:ext cx="72278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性别</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42" name="文本框 41"/>
          <p:cNvSpPr txBox="1"/>
          <p:nvPr/>
        </p:nvSpPr>
        <p:spPr>
          <a:xfrm>
            <a:off x="586223" y="3155216"/>
            <a:ext cx="1044390"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a:solidFill>
                  <a:schemeClr val="tx2">
                    <a:lumMod val="50000"/>
                  </a:schemeClr>
                </a:solidFill>
                <a:latin typeface="KaiTi" charset="-122"/>
                <a:ea typeface="KaiTi" charset="-122"/>
                <a:cs typeface="KaiTi" charset="-122"/>
              </a:rPr>
              <a:t>教育程度</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44" name="文本框 43"/>
          <p:cNvSpPr txBox="1"/>
          <p:nvPr/>
        </p:nvSpPr>
        <p:spPr>
          <a:xfrm>
            <a:off x="356362" y="3974624"/>
            <a:ext cx="1076943"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a:ln>
                  <a:noFill/>
                </a:ln>
                <a:solidFill>
                  <a:schemeClr val="tx2">
                    <a:lumMod val="50000"/>
                  </a:schemeClr>
                </a:solidFill>
                <a:effectLst/>
                <a:uFillTx/>
                <a:latin typeface="KaiTi" charset="-122"/>
                <a:ea typeface="KaiTi" charset="-122"/>
                <a:cs typeface="KaiTi" charset="-122"/>
                <a:sym typeface="微软雅黑" panose="020B0503020204020204" charset="-122"/>
              </a:rPr>
              <a:t>收入状况</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45" name="文本框 44"/>
          <p:cNvSpPr txBox="1"/>
          <p:nvPr/>
        </p:nvSpPr>
        <p:spPr>
          <a:xfrm>
            <a:off x="4531225" y="905709"/>
            <a:ext cx="153110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风险承受等级</a:t>
            </a:r>
          </a:p>
        </p:txBody>
      </p:sp>
      <p:cxnSp>
        <p:nvCxnSpPr>
          <p:cNvPr id="48" name="直线连接符 47"/>
          <p:cNvCxnSpPr>
            <a:cxnSpLocks/>
            <a:endCxn id="45" idx="2"/>
          </p:cNvCxnSpPr>
          <p:nvPr/>
        </p:nvCxnSpPr>
        <p:spPr>
          <a:xfrm flipV="1">
            <a:off x="4927422" y="1368911"/>
            <a:ext cx="369357" cy="1468374"/>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51" name="直线连接符 50"/>
          <p:cNvCxnSpPr>
            <a:endCxn id="55" idx="1"/>
          </p:cNvCxnSpPr>
          <p:nvPr/>
        </p:nvCxnSpPr>
        <p:spPr>
          <a:xfrm flipV="1">
            <a:off x="5404918" y="2678103"/>
            <a:ext cx="2137766" cy="1207270"/>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55" name="文本框 54"/>
          <p:cNvSpPr txBox="1"/>
          <p:nvPr/>
        </p:nvSpPr>
        <p:spPr>
          <a:xfrm>
            <a:off x="7542684" y="2446502"/>
            <a:ext cx="1072519"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交易记录</a:t>
            </a:r>
          </a:p>
        </p:txBody>
      </p:sp>
      <p:cxnSp>
        <p:nvCxnSpPr>
          <p:cNvPr id="59" name="直线连接符 58"/>
          <p:cNvCxnSpPr/>
          <p:nvPr/>
        </p:nvCxnSpPr>
        <p:spPr>
          <a:xfrm flipH="1" flipV="1">
            <a:off x="1266938" y="2838012"/>
            <a:ext cx="2860487" cy="881594"/>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62" name="直线连接符 61"/>
          <p:cNvCxnSpPr>
            <a:endCxn id="42" idx="3"/>
          </p:cNvCxnSpPr>
          <p:nvPr/>
        </p:nvCxnSpPr>
        <p:spPr>
          <a:xfrm flipH="1" flipV="1">
            <a:off x="1630613" y="3386817"/>
            <a:ext cx="2496812" cy="526093"/>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65" name="直线连接符 64"/>
          <p:cNvCxnSpPr>
            <a:endCxn id="44" idx="3"/>
          </p:cNvCxnSpPr>
          <p:nvPr/>
        </p:nvCxnSpPr>
        <p:spPr>
          <a:xfrm flipH="1">
            <a:off x="1433305" y="4144511"/>
            <a:ext cx="2629970" cy="61714"/>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68" name="文本框 67"/>
          <p:cNvSpPr txBox="1"/>
          <p:nvPr/>
        </p:nvSpPr>
        <p:spPr>
          <a:xfrm>
            <a:off x="646367" y="4833867"/>
            <a:ext cx="72278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地域</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cxnSp>
        <p:nvCxnSpPr>
          <p:cNvPr id="69" name="直线连接符 68"/>
          <p:cNvCxnSpPr>
            <a:endCxn id="68" idx="3"/>
          </p:cNvCxnSpPr>
          <p:nvPr/>
        </p:nvCxnSpPr>
        <p:spPr>
          <a:xfrm flipH="1">
            <a:off x="1369155" y="4410437"/>
            <a:ext cx="2973122" cy="655031"/>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72" name="直线连接符 71"/>
          <p:cNvCxnSpPr>
            <a:endCxn id="74" idx="3"/>
          </p:cNvCxnSpPr>
          <p:nvPr/>
        </p:nvCxnSpPr>
        <p:spPr>
          <a:xfrm flipH="1">
            <a:off x="1847372" y="4895343"/>
            <a:ext cx="2443712" cy="1008915"/>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74" name="文本框 73"/>
          <p:cNvSpPr txBox="1"/>
          <p:nvPr/>
        </p:nvSpPr>
        <p:spPr>
          <a:xfrm>
            <a:off x="1124584" y="5672657"/>
            <a:ext cx="72278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婚姻</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79" name="文本框 78"/>
          <p:cNvSpPr txBox="1"/>
          <p:nvPr/>
        </p:nvSpPr>
        <p:spPr>
          <a:xfrm>
            <a:off x="7870204" y="3256404"/>
            <a:ext cx="1083278"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持仓偏好</a:t>
            </a:r>
          </a:p>
        </p:txBody>
      </p:sp>
      <p:cxnSp>
        <p:nvCxnSpPr>
          <p:cNvPr id="84" name="直线连接符 83"/>
          <p:cNvCxnSpPr>
            <a:endCxn id="79" idx="1"/>
          </p:cNvCxnSpPr>
          <p:nvPr/>
        </p:nvCxnSpPr>
        <p:spPr>
          <a:xfrm flipV="1">
            <a:off x="5400879" y="3488005"/>
            <a:ext cx="2469325" cy="537971"/>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89" name="文本框 88"/>
          <p:cNvSpPr txBox="1"/>
          <p:nvPr/>
        </p:nvSpPr>
        <p:spPr>
          <a:xfrm>
            <a:off x="7514085" y="3912910"/>
            <a:ext cx="1657942"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开通业务种类</a:t>
            </a:r>
          </a:p>
        </p:txBody>
      </p:sp>
      <p:cxnSp>
        <p:nvCxnSpPr>
          <p:cNvPr id="91" name="直线连接符 90"/>
          <p:cNvCxnSpPr>
            <a:endCxn id="89" idx="1"/>
          </p:cNvCxnSpPr>
          <p:nvPr/>
        </p:nvCxnSpPr>
        <p:spPr>
          <a:xfrm flipV="1">
            <a:off x="5400879" y="4144511"/>
            <a:ext cx="2113206" cy="71593"/>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cxnSp>
        <p:nvCxnSpPr>
          <p:cNvPr id="94" name="直线连接符 93"/>
          <p:cNvCxnSpPr>
            <a:endCxn id="96" idx="1"/>
          </p:cNvCxnSpPr>
          <p:nvPr/>
        </p:nvCxnSpPr>
        <p:spPr>
          <a:xfrm>
            <a:off x="5358002" y="4213746"/>
            <a:ext cx="2304464" cy="681597"/>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96" name="文本框 95"/>
          <p:cNvSpPr txBox="1"/>
          <p:nvPr/>
        </p:nvSpPr>
        <p:spPr>
          <a:xfrm>
            <a:off x="7662466" y="4663742"/>
            <a:ext cx="1068162"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a:ln>
                  <a:noFill/>
                </a:ln>
                <a:solidFill>
                  <a:schemeClr val="tx2">
                    <a:lumMod val="50000"/>
                  </a:schemeClr>
                </a:solidFill>
                <a:effectLst/>
                <a:uFillTx/>
                <a:latin typeface="KaiTi" charset="-122"/>
                <a:ea typeface="KaiTi" charset="-122"/>
                <a:cs typeface="KaiTi" charset="-122"/>
                <a:sym typeface="微软雅黑" panose="020B0503020204020204" charset="-122"/>
              </a:rPr>
              <a:t>行业偏好</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cxnSp>
        <p:nvCxnSpPr>
          <p:cNvPr id="97" name="直线连接符 96"/>
          <p:cNvCxnSpPr/>
          <p:nvPr/>
        </p:nvCxnSpPr>
        <p:spPr>
          <a:xfrm>
            <a:off x="5188231" y="4604277"/>
            <a:ext cx="2106207" cy="882956"/>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100" name="文本框 99"/>
          <p:cNvSpPr txBox="1"/>
          <p:nvPr/>
        </p:nvSpPr>
        <p:spPr>
          <a:xfrm>
            <a:off x="7357865" y="5346503"/>
            <a:ext cx="1657942"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产品购买记录</a:t>
            </a:r>
          </a:p>
        </p:txBody>
      </p:sp>
      <p:cxnSp>
        <p:nvCxnSpPr>
          <p:cNvPr id="101" name="直线连接符 100"/>
          <p:cNvCxnSpPr>
            <a:endCxn id="106" idx="0"/>
          </p:cNvCxnSpPr>
          <p:nvPr/>
        </p:nvCxnSpPr>
        <p:spPr>
          <a:xfrm>
            <a:off x="5219451" y="5065468"/>
            <a:ext cx="1626921" cy="969709"/>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106" name="文本框 105"/>
          <p:cNvSpPr txBox="1"/>
          <p:nvPr/>
        </p:nvSpPr>
        <p:spPr>
          <a:xfrm>
            <a:off x="6324228" y="6035177"/>
            <a:ext cx="1044287"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行为</a:t>
            </a: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偏好</a:t>
            </a:r>
          </a:p>
        </p:txBody>
      </p:sp>
      <p:sp>
        <p:nvSpPr>
          <p:cNvPr id="108" name="文本框 107"/>
          <p:cNvSpPr txBox="1"/>
          <p:nvPr/>
        </p:nvSpPr>
        <p:spPr>
          <a:xfrm>
            <a:off x="2710620" y="6233081"/>
            <a:ext cx="1631657"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客服咨询</a:t>
            </a:r>
            <a:r>
              <a:rPr lang="zh-CN" altLang="en-US" dirty="0">
                <a:solidFill>
                  <a:schemeClr val="tx2">
                    <a:lumMod val="50000"/>
                  </a:schemeClr>
                </a:solidFill>
                <a:latin typeface="KaiTi" charset="-122"/>
                <a:ea typeface="KaiTi" charset="-122"/>
                <a:cs typeface="KaiTi" charset="-122"/>
              </a:rPr>
              <a:t>数据</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cxnSp>
        <p:nvCxnSpPr>
          <p:cNvPr id="109" name="直线连接符 108"/>
          <p:cNvCxnSpPr>
            <a:endCxn id="108" idx="0"/>
          </p:cNvCxnSpPr>
          <p:nvPr/>
        </p:nvCxnSpPr>
        <p:spPr>
          <a:xfrm flipH="1">
            <a:off x="3526449" y="5560541"/>
            <a:ext cx="901840" cy="672540"/>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112" name="文本框 111"/>
          <p:cNvSpPr txBox="1"/>
          <p:nvPr/>
        </p:nvSpPr>
        <p:spPr>
          <a:xfrm>
            <a:off x="5009046" y="6367195"/>
            <a:ext cx="1065371" cy="463202"/>
          </a:xfrm>
          <a:prstGeom prst="rect">
            <a:avLst/>
          </a:prstGeom>
          <a:noFill/>
          <a:ln w="12700" cap="flat">
            <a:solidFill>
              <a:schemeClr val="tx2">
                <a:lumMod val="50000"/>
              </a:schemeClr>
            </a:solidFill>
            <a:prstDash val="sysDot"/>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a:solidFill>
                  <a:schemeClr val="tx2">
                    <a:lumMod val="50000"/>
                  </a:schemeClr>
                </a:solidFill>
                <a:latin typeface="KaiTi" charset="-122"/>
                <a:ea typeface="KaiTi" charset="-122"/>
                <a:cs typeface="KaiTi" charset="-122"/>
              </a:rPr>
              <a:t>其他数据</a:t>
            </a:r>
            <a:endParaRPr kumimoji="0" lang="zh-CN" altLang="en-US" sz="1800" b="0"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cxnSp>
        <p:nvCxnSpPr>
          <p:cNvPr id="114" name="直线连接符 113"/>
          <p:cNvCxnSpPr>
            <a:endCxn id="112" idx="0"/>
          </p:cNvCxnSpPr>
          <p:nvPr/>
        </p:nvCxnSpPr>
        <p:spPr>
          <a:xfrm>
            <a:off x="5188231" y="5560541"/>
            <a:ext cx="353501" cy="806654"/>
          </a:xfrm>
          <a:prstGeom prst="line">
            <a:avLst/>
          </a:prstGeom>
          <a:noFill/>
          <a:ln w="12700" cap="flat">
            <a:solidFill>
              <a:schemeClr val="tx2">
                <a:lumMod val="50000"/>
              </a:schemeClr>
            </a:solidFill>
            <a:prstDash val="sysDot"/>
            <a:miter lim="800000"/>
            <a:headEnd type="none"/>
            <a:tailEnd type="oval"/>
          </a:ln>
        </p:spPr>
        <p:style>
          <a:lnRef idx="0">
            <a:scrgbClr r="0" g="0" b="0"/>
          </a:lnRef>
          <a:fillRef idx="0">
            <a:scrgbClr r="0" g="0" b="0"/>
          </a:fillRef>
          <a:effectRef idx="0">
            <a:scrgbClr r="0" g="0" b="0"/>
          </a:effectRef>
          <a:fontRef idx="none"/>
        </p:style>
      </p:cxnSp>
      <p:sp>
        <p:nvSpPr>
          <p:cNvPr id="155" name="矩形 154"/>
          <p:cNvSpPr/>
          <p:nvPr/>
        </p:nvSpPr>
        <p:spPr>
          <a:xfrm>
            <a:off x="9587942" y="994344"/>
            <a:ext cx="2015985" cy="1843668"/>
          </a:xfrm>
          <a:prstGeom prst="rect">
            <a:avLst/>
          </a:prstGeom>
          <a:solidFill>
            <a:schemeClr val="tx2">
              <a:lumMod val="60000"/>
              <a:lumOff val="40000"/>
            </a:schemeClr>
          </a:solidFill>
          <a:ln w="12700" cap="flat">
            <a:solidFill>
              <a:schemeClr val="tx2">
                <a:lumMod val="60000"/>
                <a:lumOff val="40000"/>
              </a:schemeClr>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56" name="笑脸 155"/>
          <p:cNvSpPr/>
          <p:nvPr/>
        </p:nvSpPr>
        <p:spPr>
          <a:xfrm>
            <a:off x="9600567" y="1092114"/>
            <a:ext cx="327207" cy="327516"/>
          </a:xfrm>
          <a:prstGeom prst="smileyFace">
            <a:avLst/>
          </a:prstGeom>
          <a:solidFill>
            <a:schemeClr val="bg1"/>
          </a:solidFill>
          <a:ln w="12700" cap="flat">
            <a:solidFill>
              <a:srgbClr val="5B9BD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57" name="文本框 156"/>
          <p:cNvSpPr txBox="1"/>
          <p:nvPr/>
        </p:nvSpPr>
        <p:spPr>
          <a:xfrm>
            <a:off x="9972790" y="1024271"/>
            <a:ext cx="1381476" cy="4632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bg1"/>
                </a:solidFill>
                <a:latin typeface="KaiTi" charset="-122"/>
                <a:ea typeface="KaiTi" charset="-122"/>
                <a:cs typeface="KaiTi" charset="-122"/>
              </a:rPr>
              <a:t>基本属性</a:t>
            </a:r>
            <a:endParaRPr kumimoji="0" lang="zh-CN" altLang="en-US" sz="18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59" name="文本框 158"/>
          <p:cNvSpPr txBox="1"/>
          <p:nvPr/>
        </p:nvSpPr>
        <p:spPr>
          <a:xfrm>
            <a:off x="9797280" y="1520658"/>
            <a:ext cx="1556985" cy="13542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914400" rtl="0" fontAlgn="auto" latinLnBrk="1" hangingPunct="0">
              <a:lnSpc>
                <a:spcPct val="120000"/>
              </a:lnSpc>
              <a:spcBef>
                <a:spcPts val="300"/>
              </a:spcBef>
              <a:spcAft>
                <a:spcPts val="0"/>
              </a:spcAft>
              <a:buClrTx/>
              <a:buSzTx/>
              <a:buFont typeface="Wingdings" charset="2"/>
              <a:buChar char="l"/>
            </a:pPr>
            <a:r>
              <a:rPr kumimoji="0" lang="zh-CN" altLang="en-US"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rPr>
              <a:t>年龄</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zh-CN" altLang="en-US" sz="1500" dirty="0">
                <a:solidFill>
                  <a:schemeClr val="bg1"/>
                </a:solidFill>
                <a:latin typeface="KaiTi" charset="-122"/>
                <a:ea typeface="KaiTi" charset="-122"/>
                <a:cs typeface="KaiTi" charset="-122"/>
              </a:rPr>
              <a:t>性别</a:t>
            </a:r>
            <a:endParaRPr lang="en-US" altLang="zh-CN" sz="1500" dirty="0">
              <a:solidFill>
                <a:schemeClr val="bg1"/>
              </a:solidFill>
              <a:latin typeface="KaiTi" charset="-122"/>
              <a:ea typeface="KaiTi" charset="-122"/>
              <a:cs typeface="KaiTi"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kumimoji="0" lang="zh-CN" altLang="en-US"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rPr>
              <a:t>教育情况</a:t>
            </a:r>
            <a:endParaRPr lang="en-US" altLang="zh-CN" sz="1500" dirty="0">
              <a:solidFill>
                <a:schemeClr val="bg1"/>
              </a:solidFill>
              <a:latin typeface="KaiTi" charset="-122"/>
              <a:ea typeface="KaiTi" charset="-122"/>
              <a:cs typeface="KaiTi"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mr-IN" altLang="zh-CN" sz="1500" dirty="0">
                <a:solidFill>
                  <a:schemeClr val="bg1"/>
                </a:solidFill>
                <a:latin typeface="KaiTi" charset="-122"/>
                <a:ea typeface="KaiTi" charset="-122"/>
                <a:cs typeface="KaiTi" charset="-122"/>
              </a:rPr>
              <a:t>…</a:t>
            </a:r>
            <a:r>
              <a:rPr lang="en-US" altLang="zh-CN" sz="1500" dirty="0">
                <a:solidFill>
                  <a:schemeClr val="bg1"/>
                </a:solidFill>
                <a:latin typeface="KaiTi" charset="-122"/>
                <a:ea typeface="KaiTi" charset="-122"/>
                <a:cs typeface="KaiTi" charset="-122"/>
              </a:rPr>
              <a:t>.</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60" name="矩形 159"/>
          <p:cNvSpPr/>
          <p:nvPr/>
        </p:nvSpPr>
        <p:spPr>
          <a:xfrm>
            <a:off x="9587942" y="2976202"/>
            <a:ext cx="2015985" cy="1880530"/>
          </a:xfrm>
          <a:prstGeom prst="rect">
            <a:avLst/>
          </a:prstGeom>
          <a:solidFill>
            <a:schemeClr val="tx2">
              <a:lumMod val="60000"/>
              <a:lumOff val="40000"/>
            </a:schemeClr>
          </a:solidFill>
          <a:ln w="12700" cap="flat">
            <a:solidFill>
              <a:schemeClr val="tx2">
                <a:lumMod val="60000"/>
                <a:lumOff val="40000"/>
              </a:schemeClr>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61" name="笑脸 160"/>
          <p:cNvSpPr/>
          <p:nvPr/>
        </p:nvSpPr>
        <p:spPr>
          <a:xfrm>
            <a:off x="9640697" y="3091558"/>
            <a:ext cx="334982" cy="327516"/>
          </a:xfrm>
          <a:prstGeom prst="smileyFace">
            <a:avLst/>
          </a:prstGeom>
          <a:solidFill>
            <a:schemeClr val="bg1"/>
          </a:solidFill>
          <a:ln w="12700" cap="flat">
            <a:solidFill>
              <a:srgbClr val="5B9BD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62" name="文本框 161"/>
          <p:cNvSpPr txBox="1"/>
          <p:nvPr/>
        </p:nvSpPr>
        <p:spPr>
          <a:xfrm>
            <a:off x="9987867" y="3023715"/>
            <a:ext cx="1414303" cy="4632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bg1"/>
                </a:solidFill>
                <a:latin typeface="KaiTi" charset="-122"/>
                <a:ea typeface="KaiTi" charset="-122"/>
                <a:cs typeface="KaiTi" charset="-122"/>
              </a:rPr>
              <a:t>投资属性</a:t>
            </a:r>
            <a:endParaRPr kumimoji="0" lang="zh-CN" altLang="en-US" sz="18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63" name="文本框 162"/>
          <p:cNvSpPr txBox="1"/>
          <p:nvPr/>
        </p:nvSpPr>
        <p:spPr>
          <a:xfrm>
            <a:off x="9808188" y="3520102"/>
            <a:ext cx="1593982" cy="13542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914400" rtl="0" fontAlgn="auto" latinLnBrk="1" hangingPunct="0">
              <a:lnSpc>
                <a:spcPct val="120000"/>
              </a:lnSpc>
              <a:spcBef>
                <a:spcPts val="300"/>
              </a:spcBef>
              <a:spcAft>
                <a:spcPts val="0"/>
              </a:spcAft>
              <a:buClrTx/>
              <a:buSzTx/>
              <a:buFont typeface="Wingdings" charset="2"/>
              <a:buChar char="l"/>
            </a:pPr>
            <a:r>
              <a:rPr lang="zh-CN" altLang="en-US" sz="1500" dirty="0">
                <a:solidFill>
                  <a:schemeClr val="bg1"/>
                </a:solidFill>
                <a:latin typeface="KaiTi" charset="-122"/>
                <a:ea typeface="KaiTi" charset="-122"/>
                <a:cs typeface="KaiTi" charset="-122"/>
              </a:rPr>
              <a:t>风险承受等级</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zh-CN" altLang="en-US" sz="1500" dirty="0">
                <a:solidFill>
                  <a:schemeClr val="bg1"/>
                </a:solidFill>
                <a:latin typeface="KaiTi" charset="-122"/>
                <a:ea typeface="KaiTi" charset="-122"/>
                <a:cs typeface="KaiTi" charset="-122"/>
              </a:rPr>
              <a:t>交易活跃程度</a:t>
            </a:r>
            <a:endParaRPr lang="en-US" altLang="zh-CN" sz="1500" dirty="0">
              <a:solidFill>
                <a:schemeClr val="bg1"/>
              </a:solidFill>
              <a:latin typeface="KaiTi" charset="-122"/>
              <a:ea typeface="KaiTi" charset="-122"/>
              <a:cs typeface="KaiTi"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kumimoji="0" lang="zh-CN" altLang="en-US"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rPr>
              <a:t>持仓偏好</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mr-IN" altLang="zh-CN" sz="1500" dirty="0">
                <a:solidFill>
                  <a:schemeClr val="bg1"/>
                </a:solidFill>
                <a:latin typeface="KaiTi" charset="-122"/>
                <a:ea typeface="KaiTi" charset="-122"/>
                <a:cs typeface="KaiTi" charset="-122"/>
              </a:rPr>
              <a:t>…</a:t>
            </a:r>
            <a:r>
              <a:rPr lang="en-US" altLang="zh-CN" sz="1500" dirty="0">
                <a:solidFill>
                  <a:schemeClr val="bg1"/>
                </a:solidFill>
                <a:latin typeface="KaiTi" charset="-122"/>
                <a:ea typeface="KaiTi" charset="-122"/>
                <a:cs typeface="KaiTi" charset="-122"/>
              </a:rPr>
              <a:t>.</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64" name="矩形 163"/>
          <p:cNvSpPr/>
          <p:nvPr/>
        </p:nvSpPr>
        <p:spPr>
          <a:xfrm>
            <a:off x="9601270" y="4970037"/>
            <a:ext cx="2002657" cy="1860359"/>
          </a:xfrm>
          <a:prstGeom prst="rect">
            <a:avLst/>
          </a:prstGeom>
          <a:solidFill>
            <a:schemeClr val="tx2">
              <a:lumMod val="60000"/>
              <a:lumOff val="40000"/>
            </a:schemeClr>
          </a:solidFill>
          <a:ln w="12700" cap="flat">
            <a:solidFill>
              <a:schemeClr val="tx2">
                <a:lumMod val="60000"/>
                <a:lumOff val="40000"/>
              </a:schemeClr>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65" name="笑脸 164"/>
          <p:cNvSpPr/>
          <p:nvPr/>
        </p:nvSpPr>
        <p:spPr>
          <a:xfrm>
            <a:off x="9654025" y="5067809"/>
            <a:ext cx="334982" cy="327516"/>
          </a:xfrm>
          <a:prstGeom prst="smileyFace">
            <a:avLst/>
          </a:prstGeom>
          <a:solidFill>
            <a:schemeClr val="bg1"/>
          </a:solidFill>
          <a:ln w="12700" cap="flat">
            <a:solidFill>
              <a:srgbClr val="5B9BD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166" name="文本框 165"/>
          <p:cNvSpPr txBox="1"/>
          <p:nvPr/>
        </p:nvSpPr>
        <p:spPr>
          <a:xfrm>
            <a:off x="10001195" y="4999966"/>
            <a:ext cx="1414303" cy="4632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bg1"/>
                </a:solidFill>
                <a:latin typeface="KaiTi" charset="-122"/>
                <a:ea typeface="KaiTi" charset="-122"/>
                <a:cs typeface="KaiTi" charset="-122"/>
              </a:rPr>
              <a:t>行为属性</a:t>
            </a:r>
            <a:endParaRPr kumimoji="0" lang="zh-CN" altLang="en-US" sz="18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67" name="文本框 166"/>
          <p:cNvSpPr txBox="1"/>
          <p:nvPr/>
        </p:nvSpPr>
        <p:spPr>
          <a:xfrm>
            <a:off x="9821516" y="5496353"/>
            <a:ext cx="1593982" cy="13542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914400" rtl="0" fontAlgn="auto" latinLnBrk="1" hangingPunct="0">
              <a:lnSpc>
                <a:spcPct val="120000"/>
              </a:lnSpc>
              <a:spcBef>
                <a:spcPts val="300"/>
              </a:spcBef>
              <a:spcAft>
                <a:spcPts val="0"/>
              </a:spcAft>
              <a:buClrTx/>
              <a:buSzTx/>
              <a:buFont typeface="Wingdings" charset="2"/>
              <a:buChar char="l"/>
            </a:pPr>
            <a:r>
              <a:rPr lang="zh-CN" altLang="en-US" sz="1500" dirty="0">
                <a:solidFill>
                  <a:schemeClr val="bg1"/>
                </a:solidFill>
                <a:latin typeface="KaiTi" charset="-122"/>
                <a:ea typeface="KaiTi" charset="-122"/>
                <a:cs typeface="KaiTi" charset="-122"/>
              </a:rPr>
              <a:t>产品购买记录</a:t>
            </a:r>
            <a:endParaRPr lang="en-US" altLang="zh-CN" sz="1500" dirty="0">
              <a:solidFill>
                <a:schemeClr val="bg1"/>
              </a:solidFill>
              <a:latin typeface="KaiTi" charset="-122"/>
              <a:ea typeface="KaiTi" charset="-122"/>
              <a:cs typeface="KaiTi"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zh-CN" altLang="en-US" sz="1500" dirty="0">
                <a:solidFill>
                  <a:schemeClr val="bg1"/>
                </a:solidFill>
                <a:latin typeface="KaiTi" charset="-122"/>
                <a:ea typeface="KaiTi" charset="-122"/>
                <a:cs typeface="KaiTi" charset="-122"/>
              </a:rPr>
              <a:t>行为偏好</a:t>
            </a:r>
            <a:endParaRPr lang="en-US" altLang="zh-CN" sz="1500" dirty="0">
              <a:solidFill>
                <a:schemeClr val="bg1"/>
              </a:solidFill>
              <a:latin typeface="KaiTi" charset="-122"/>
              <a:ea typeface="KaiTi" charset="-122"/>
              <a:cs typeface="KaiTi"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kumimoji="0" lang="zh-CN" altLang="en-US"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rPr>
              <a:t>客服咨询数据</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a:p>
            <a:pPr marL="285750" marR="0" indent="-285750" algn="l" defTabSz="914400" rtl="0" fontAlgn="auto" latinLnBrk="1" hangingPunct="0">
              <a:lnSpc>
                <a:spcPct val="120000"/>
              </a:lnSpc>
              <a:spcBef>
                <a:spcPts val="300"/>
              </a:spcBef>
              <a:spcAft>
                <a:spcPts val="0"/>
              </a:spcAft>
              <a:buClrTx/>
              <a:buSzTx/>
              <a:buFont typeface="Wingdings" charset="2"/>
              <a:buChar char="l"/>
            </a:pPr>
            <a:r>
              <a:rPr lang="mr-IN" altLang="zh-CN" sz="1500" dirty="0">
                <a:solidFill>
                  <a:schemeClr val="bg1"/>
                </a:solidFill>
                <a:latin typeface="KaiTi" charset="-122"/>
                <a:ea typeface="KaiTi" charset="-122"/>
                <a:cs typeface="KaiTi" charset="-122"/>
              </a:rPr>
              <a:t>…</a:t>
            </a:r>
            <a:r>
              <a:rPr lang="en-US" altLang="zh-CN" sz="1500" dirty="0">
                <a:solidFill>
                  <a:schemeClr val="bg1"/>
                </a:solidFill>
                <a:latin typeface="KaiTi" charset="-122"/>
                <a:ea typeface="KaiTi" charset="-122"/>
                <a:cs typeface="KaiTi" charset="-122"/>
              </a:rPr>
              <a:t>.</a:t>
            </a:r>
            <a:endParaRPr kumimoji="0" lang="en-US" altLang="zh-CN" sz="1500" b="0" i="0" u="none" strike="noStrike" cap="none" spc="0" normalizeH="0" baseline="0" dirty="0">
              <a:ln>
                <a:noFill/>
              </a:ln>
              <a:solidFill>
                <a:schemeClr val="bg1"/>
              </a:solidFill>
              <a:effectLst/>
              <a:uFillTx/>
              <a:latin typeface="KaiTi" charset="-122"/>
              <a:ea typeface="KaiTi" charset="-122"/>
              <a:cs typeface="KaiTi" charset="-122"/>
              <a:sym typeface="微软雅黑" panose="020B0503020204020204" charset="-122"/>
            </a:endParaRPr>
          </a:p>
        </p:txBody>
      </p:sp>
      <p:sp>
        <p:nvSpPr>
          <p:cNvPr id="169" name="Shape 94"/>
          <p:cNvSpPr/>
          <p:nvPr/>
        </p:nvSpPr>
        <p:spPr>
          <a:xfrm>
            <a:off x="475326" y="129335"/>
            <a:ext cx="9793766" cy="680248"/>
          </a:xfrm>
          <a:prstGeom prst="rect">
            <a:avLst/>
          </a:prstGeom>
          <a:ln w="12700">
            <a:miter lim="400000"/>
          </a:ln>
        </p:spPr>
        <p:txBody>
          <a:bodyPr lIns="51370" tIns="51370" rIns="51370" bIns="51370" anchor="ctr">
            <a:spAutoFit/>
          </a:bodyPr>
          <a:lstStyle>
            <a:lvl1pPr defTabSz="513080">
              <a:lnSpc>
                <a:spcPct val="120000"/>
              </a:lnSpc>
              <a:defRPr sz="3600">
                <a:solidFill>
                  <a:srgbClr val="4472C4"/>
                </a:solidFill>
              </a:defRPr>
            </a:lvl1pPr>
          </a:lstStyle>
          <a:p>
            <a:pPr lvl="0">
              <a:defRPr sz="1800">
                <a:solidFill>
                  <a:srgbClr val="000000"/>
                </a:solidFill>
              </a:defRPr>
            </a:pPr>
            <a:r>
              <a:rPr lang="zh-CN" altLang="en-US" sz="3600" dirty="0">
                <a:solidFill>
                  <a:schemeClr val="tx2">
                    <a:lumMod val="50000"/>
                  </a:schemeClr>
                </a:solidFill>
                <a:latin typeface="KaiTi" charset="-122"/>
                <a:ea typeface="KaiTi" charset="-122"/>
                <a:cs typeface="KaiTi" charset="-122"/>
              </a:rPr>
              <a:t>用户基本特征</a:t>
            </a:r>
            <a:endParaRPr sz="3600" dirty="0">
              <a:solidFill>
                <a:schemeClr val="tx2">
                  <a:lumMod val="50000"/>
                </a:schemeClr>
              </a:solidFill>
              <a:latin typeface="KaiTi" charset="-122"/>
              <a:ea typeface="KaiTi" charset="-122"/>
              <a:cs typeface="KaiTi" charset="-122"/>
            </a:endParaRPr>
          </a:p>
        </p:txBody>
      </p:sp>
      <p:pic>
        <p:nvPicPr>
          <p:cNvPr id="52" name="图像" descr="图像">
            <a:extLst>
              <a:ext uri="{FF2B5EF4-FFF2-40B4-BE49-F238E27FC236}">
                <a16:creationId xmlns:a16="http://schemas.microsoft.com/office/drawing/2014/main" id="{F3F3E6C1-D7C8-9249-A7E2-4230BBB2AC13}"/>
              </a:ext>
            </a:extLst>
          </p:cNvPr>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56" name="矩形 55">
            <a:extLst>
              <a:ext uri="{FF2B5EF4-FFF2-40B4-BE49-F238E27FC236}">
                <a16:creationId xmlns:a16="http://schemas.microsoft.com/office/drawing/2014/main" id="{97A70D5C-7307-9B43-BB5B-F58DFEE2313E}"/>
              </a:ext>
            </a:extLst>
          </p:cNvPr>
          <p:cNvSpPr/>
          <p:nvPr/>
        </p:nvSpPr>
        <p:spPr>
          <a:xfrm>
            <a:off x="503902" y="744782"/>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D7EAE049-030B-1B47-A4ED-180A5A707CCC}"/>
              </a:ext>
            </a:extLst>
          </p:cNvPr>
          <p:cNvSpPr/>
          <p:nvPr/>
        </p:nvSpPr>
        <p:spPr>
          <a:xfrm>
            <a:off x="4577499" y="744782"/>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灯片编号占位符 3">
            <a:extLst>
              <a:ext uri="{FF2B5EF4-FFF2-40B4-BE49-F238E27FC236}">
                <a16:creationId xmlns:a16="http://schemas.microsoft.com/office/drawing/2014/main" id="{E6A72072-E5B4-A94F-80A1-840F0C1965F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26</a:t>
            </a:fld>
            <a:endParaRPr lang="zh-CN" altLang="en-US" dirty="0"/>
          </a:p>
        </p:txBody>
      </p:sp>
    </p:spTree>
    <p:extLst>
      <p:ext uri="{BB962C8B-B14F-4D97-AF65-F5344CB8AC3E}">
        <p14:creationId xmlns:p14="http://schemas.microsoft.com/office/powerpoint/2010/main" val="3829213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16589" y="1025083"/>
            <a:ext cx="10306085" cy="646331"/>
          </a:xfrm>
          <a:prstGeom prst="rect">
            <a:avLst/>
          </a:prstGeom>
          <a:ln w="12700">
            <a:miter lim="400000"/>
          </a:ln>
        </p:spPr>
        <p:txBody>
          <a:bodyPr wrap="square" lIns="45719" rIns="45719">
            <a:spAutoFit/>
          </a:bodyPr>
          <a:lstStyle/>
          <a:p>
            <a:pPr lvl="0">
              <a:defRPr>
                <a:solidFill>
                  <a:srgbClr val="000000"/>
                </a:solidFill>
              </a:defRPr>
            </a:pPr>
            <a:r>
              <a:rPr lang="zh-CN" altLang="en-US" sz="1600" dirty="0">
                <a:solidFill>
                  <a:schemeClr val="tx2">
                    <a:lumMod val="50000"/>
                  </a:schemeClr>
                </a:solidFill>
                <a:latin typeface="KaiTi" charset="-122"/>
                <a:ea typeface="KaiTi" charset="-122"/>
                <a:cs typeface="KaiTi" charset="-122"/>
              </a:rPr>
              <a:t>    </a:t>
            </a:r>
            <a:r>
              <a:rPr lang="zh-Hans" altLang="en-US" sz="1600" dirty="0">
                <a:solidFill>
                  <a:schemeClr val="tx2">
                    <a:lumMod val="50000"/>
                  </a:schemeClr>
                </a:solidFill>
                <a:latin typeface="KaiTi" charset="-122"/>
                <a:ea typeface="KaiTi" charset="-122"/>
                <a:cs typeface="KaiTi" charset="-122"/>
              </a:rPr>
              <a:t> </a:t>
            </a:r>
            <a:r>
              <a:rPr lang="zh-CN" altLang="en-US" dirty="0">
                <a:solidFill>
                  <a:schemeClr val="tx2">
                    <a:lumMod val="50000"/>
                  </a:schemeClr>
                </a:solidFill>
                <a:latin typeface="KaiTi" charset="-122"/>
                <a:ea typeface="KaiTi" charset="-122"/>
                <a:cs typeface="KaiTi" charset="-122"/>
              </a:rPr>
              <a:t>基于覆盖全球的海量模拟交易数据</a:t>
            </a:r>
            <a:r>
              <a:rPr lang="en-US" altLang="zh-CN" dirty="0">
                <a:solidFill>
                  <a:schemeClr val="tx2">
                    <a:lumMod val="50000"/>
                  </a:schemeClr>
                </a:solidFill>
                <a:latin typeface="KaiTi" charset="-122"/>
                <a:ea typeface="KaiTi" charset="-122"/>
                <a:cs typeface="KaiTi" charset="-122"/>
              </a:rPr>
              <a:t>+</a:t>
            </a:r>
            <a:r>
              <a:rPr lang="zh-CN" altLang="en-US" dirty="0">
                <a:solidFill>
                  <a:schemeClr val="tx2">
                    <a:lumMod val="50000"/>
                  </a:schemeClr>
                </a:solidFill>
                <a:latin typeface="KaiTi" charset="-122"/>
                <a:ea typeface="KaiTi" charset="-122"/>
                <a:cs typeface="KaiTi" charset="-122"/>
              </a:rPr>
              <a:t>职业交易员的实盘数据，对投资者交易行为进行深入研究，有效的反馈投资者的行为特征和心理偏差</a:t>
            </a:r>
            <a:r>
              <a:rPr lang="zh-Hans" altLang="en-US" dirty="0">
                <a:solidFill>
                  <a:schemeClr val="tx2">
                    <a:lumMod val="50000"/>
                  </a:schemeClr>
                </a:solidFill>
                <a:latin typeface="KaiTi" charset="-122"/>
                <a:ea typeface="KaiTi" charset="-122"/>
                <a:cs typeface="KaiTi" charset="-122"/>
              </a:rPr>
              <a:t>以及</a:t>
            </a:r>
            <a:r>
              <a:rPr lang="zh-CN" altLang="en-US" dirty="0">
                <a:solidFill>
                  <a:schemeClr val="tx2">
                    <a:lumMod val="50000"/>
                  </a:schemeClr>
                </a:solidFill>
                <a:latin typeface="KaiTi" charset="-122"/>
                <a:ea typeface="KaiTi" charset="-122"/>
                <a:cs typeface="KaiTi" charset="-122"/>
              </a:rPr>
              <a:t>金融交易市场特征</a:t>
            </a:r>
            <a:endParaRPr dirty="0">
              <a:solidFill>
                <a:schemeClr val="tx2">
                  <a:lumMod val="50000"/>
                </a:schemeClr>
              </a:solidFill>
              <a:latin typeface="KaiTi" charset="-122"/>
              <a:ea typeface="KaiTi" charset="-122"/>
              <a:cs typeface="KaiTi" charset="-122"/>
            </a:endParaRPr>
          </a:p>
        </p:txBody>
      </p:sp>
      <p:sp>
        <p:nvSpPr>
          <p:cNvPr id="215" name="Shape 215"/>
          <p:cNvSpPr/>
          <p:nvPr/>
        </p:nvSpPr>
        <p:spPr>
          <a:xfrm>
            <a:off x="503902" y="354909"/>
            <a:ext cx="9793766" cy="657741"/>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en-US" altLang="zh-CN" sz="3600" dirty="0" err="1">
                <a:solidFill>
                  <a:schemeClr val="tx2">
                    <a:lumMod val="50000"/>
                  </a:schemeClr>
                </a:solidFill>
                <a:latin typeface="New Peninim MT" pitchFamily="2" charset="-79"/>
                <a:ea typeface="KaiTi" charset="-122"/>
                <a:cs typeface="New Peninim MT" pitchFamily="2" charset="-79"/>
              </a:rPr>
              <a:t>FDTScore</a:t>
            </a:r>
            <a:endParaRPr sz="3600" dirty="0">
              <a:solidFill>
                <a:schemeClr val="tx2">
                  <a:lumMod val="50000"/>
                </a:schemeClr>
              </a:solidFill>
              <a:latin typeface="New Peninim MT" pitchFamily="2" charset="-79"/>
              <a:ea typeface="KaiTi" charset="-122"/>
              <a:cs typeface="New Peninim MT" pitchFamily="2" charset="-79"/>
            </a:endParaRPr>
          </a:p>
        </p:txBody>
      </p:sp>
      <p:sp>
        <p:nvSpPr>
          <p:cNvPr id="5" name="Shape 213"/>
          <p:cNvSpPr/>
          <p:nvPr/>
        </p:nvSpPr>
        <p:spPr>
          <a:xfrm>
            <a:off x="627150" y="5519168"/>
            <a:ext cx="10591857" cy="1200329"/>
          </a:xfrm>
          <a:prstGeom prst="rect">
            <a:avLst/>
          </a:prstGeom>
          <a:ln w="12700">
            <a:miter lim="400000"/>
          </a:ln>
        </p:spPr>
        <p:txBody>
          <a:bodyPr wrap="square" lIns="45719" rIns="45719">
            <a:spAutoFit/>
          </a:bodyPr>
          <a:lstStyle/>
          <a:p>
            <a:pPr lvl="0">
              <a:defRPr>
                <a:solidFill>
                  <a:srgbClr val="000000"/>
                </a:solidFill>
              </a:defRPr>
            </a:pPr>
            <a:r>
              <a:rPr lang="zh-CN" altLang="en-US" dirty="0">
                <a:solidFill>
                  <a:schemeClr val="tx2">
                    <a:lumMod val="50000"/>
                  </a:schemeClr>
                </a:solidFill>
                <a:latin typeface="KaiTi" charset="-122"/>
                <a:ea typeface="KaiTi" charset="-122"/>
                <a:cs typeface="KaiTi" charset="-122"/>
              </a:rPr>
              <a:t>    </a:t>
            </a:r>
            <a:r>
              <a:rPr lang="zh-Hans" altLang="en-US" dirty="0">
                <a:solidFill>
                  <a:schemeClr val="tx2">
                    <a:lumMod val="50000"/>
                  </a:schemeClr>
                </a:solidFill>
                <a:latin typeface="KaiTi" charset="-122"/>
                <a:ea typeface="KaiTi" charset="-122"/>
                <a:cs typeface="KaiTi" charset="-122"/>
              </a:rPr>
              <a:t> </a:t>
            </a:r>
            <a:r>
              <a:rPr lang="en-US" altLang="zh-CN" dirty="0" err="1">
                <a:solidFill>
                  <a:schemeClr val="tx2">
                    <a:lumMod val="50000"/>
                  </a:schemeClr>
                </a:solidFill>
                <a:latin typeface="New Peninim MT" pitchFamily="2" charset="-79"/>
                <a:ea typeface="KaiTi" charset="-122"/>
                <a:cs typeface="New Peninim MT" pitchFamily="2" charset="-79"/>
              </a:rPr>
              <a:t>FDTScore</a:t>
            </a:r>
            <a:r>
              <a:rPr lang="zh-CN" altLang="en-US" dirty="0">
                <a:solidFill>
                  <a:schemeClr val="tx2">
                    <a:lumMod val="50000"/>
                  </a:schemeClr>
                </a:solidFill>
                <a:latin typeface="KaiTi" charset="-122"/>
                <a:ea typeface="KaiTi" charset="-122"/>
                <a:cs typeface="KaiTi" charset="-122"/>
              </a:rPr>
              <a:t>对投资者特征、交易行为及服务需求进行全面采集和刻画，并进行特征值计算、行为建模，</a:t>
            </a:r>
            <a:r>
              <a:rPr lang="zh-Hans" altLang="en-US" dirty="0">
                <a:solidFill>
                  <a:schemeClr val="tx2">
                    <a:lumMod val="50000"/>
                  </a:schemeClr>
                </a:solidFill>
                <a:latin typeface="KaiTi" charset="-122"/>
                <a:ea typeface="KaiTi" charset="-122"/>
                <a:cs typeface="KaiTi" charset="-122"/>
              </a:rPr>
              <a:t>对投资者的投资偏好、风险偏好、风控能力、盈利能力、心理偏差等特征综合评估，</a:t>
            </a:r>
            <a:r>
              <a:rPr lang="zh-CN" altLang="en-US" dirty="0">
                <a:solidFill>
                  <a:schemeClr val="tx2">
                    <a:lumMod val="50000"/>
                  </a:schemeClr>
                </a:solidFill>
                <a:latin typeface="KaiTi" charset="-122"/>
                <a:ea typeface="KaiTi" charset="-122"/>
                <a:cs typeface="KaiTi" charset="-122"/>
              </a:rPr>
              <a:t>形成投资者精准画像；同时深入理解金融产品的收益和风险，对其维度特征进行采集分析并由机器学习</a:t>
            </a:r>
            <a:r>
              <a:rPr lang="zh-Hans" altLang="en-US" dirty="0">
                <a:solidFill>
                  <a:schemeClr val="tx2">
                    <a:lumMod val="50000"/>
                  </a:schemeClr>
                </a:solidFill>
                <a:latin typeface="KaiTi" charset="-122"/>
                <a:ea typeface="KaiTi" charset="-122"/>
                <a:cs typeface="KaiTi" charset="-122"/>
              </a:rPr>
              <a:t>技术</a:t>
            </a:r>
            <a:r>
              <a:rPr lang="zh-CN" altLang="en-US" dirty="0">
                <a:solidFill>
                  <a:schemeClr val="tx2">
                    <a:lumMod val="50000"/>
                  </a:schemeClr>
                </a:solidFill>
                <a:latin typeface="KaiTi" charset="-122"/>
                <a:ea typeface="KaiTi" charset="-122"/>
                <a:cs typeface="KaiTi" charset="-122"/>
              </a:rPr>
              <a:t>训练出评估模型，对金融产品的历史表现和未来进行</a:t>
            </a:r>
            <a:r>
              <a:rPr lang="zh-Hans" altLang="en-US" dirty="0">
                <a:solidFill>
                  <a:schemeClr val="tx2">
                    <a:lumMod val="50000"/>
                  </a:schemeClr>
                </a:solidFill>
                <a:latin typeface="KaiTi" charset="-122"/>
                <a:ea typeface="KaiTi" charset="-122"/>
                <a:cs typeface="KaiTi" charset="-122"/>
              </a:rPr>
              <a:t>评估预测</a:t>
            </a:r>
            <a:r>
              <a:rPr lang="zh-CN" altLang="en-US" dirty="0">
                <a:solidFill>
                  <a:schemeClr val="tx2">
                    <a:lumMod val="50000"/>
                  </a:schemeClr>
                </a:solidFill>
                <a:latin typeface="KaiTi" charset="-122"/>
                <a:ea typeface="KaiTi" charset="-122"/>
                <a:cs typeface="KaiTi" charset="-122"/>
              </a:rPr>
              <a:t>，形成金融产品画像。帮助投资者了解自己和金融产品</a:t>
            </a:r>
            <a:endParaRPr lang="en-US" altLang="zh-CN" dirty="0">
              <a:solidFill>
                <a:schemeClr val="tx2">
                  <a:lumMod val="50000"/>
                </a:schemeClr>
              </a:solidFill>
              <a:latin typeface="KaiTi" charset="-122"/>
              <a:ea typeface="KaiTi" charset="-122"/>
              <a:cs typeface="KaiTi" charset="-122"/>
            </a:endParaRPr>
          </a:p>
        </p:txBody>
      </p:sp>
      <p:grpSp>
        <p:nvGrpSpPr>
          <p:cNvPr id="7" name="组合 74"/>
          <p:cNvGrpSpPr/>
          <p:nvPr/>
        </p:nvGrpSpPr>
        <p:grpSpPr>
          <a:xfrm>
            <a:off x="1261808" y="1610436"/>
            <a:ext cx="7361555" cy="3285490"/>
            <a:chOff x="2393" y="2061"/>
            <a:chExt cx="11593" cy="5174"/>
          </a:xfrm>
        </p:grpSpPr>
        <p:grpSp>
          <p:nvGrpSpPr>
            <p:cNvPr id="8" name="组合 71"/>
            <p:cNvGrpSpPr/>
            <p:nvPr/>
          </p:nvGrpSpPr>
          <p:grpSpPr>
            <a:xfrm>
              <a:off x="2393" y="2061"/>
              <a:ext cx="11593" cy="5174"/>
              <a:chOff x="2393" y="2061"/>
              <a:chExt cx="11593" cy="5174"/>
            </a:xfrm>
          </p:grpSpPr>
          <p:grpSp>
            <p:nvGrpSpPr>
              <p:cNvPr id="10" name="组合 70"/>
              <p:cNvGrpSpPr/>
              <p:nvPr/>
            </p:nvGrpSpPr>
            <p:grpSpPr>
              <a:xfrm>
                <a:off x="2393" y="2061"/>
                <a:ext cx="11593" cy="5174"/>
                <a:chOff x="2393" y="2061"/>
                <a:chExt cx="11593" cy="5174"/>
              </a:xfrm>
            </p:grpSpPr>
            <p:grpSp>
              <p:nvGrpSpPr>
                <p:cNvPr id="12" name="组合 69"/>
                <p:cNvGrpSpPr/>
                <p:nvPr/>
              </p:nvGrpSpPr>
              <p:grpSpPr>
                <a:xfrm>
                  <a:off x="2393" y="2061"/>
                  <a:ext cx="11592" cy="5068"/>
                  <a:chOff x="2393" y="2061"/>
                  <a:chExt cx="11592" cy="5068"/>
                </a:xfrm>
              </p:grpSpPr>
              <p:grpSp>
                <p:nvGrpSpPr>
                  <p:cNvPr id="14" name="组合 68"/>
                  <p:cNvGrpSpPr/>
                  <p:nvPr/>
                </p:nvGrpSpPr>
                <p:grpSpPr>
                  <a:xfrm>
                    <a:off x="2393" y="2061"/>
                    <a:ext cx="11592" cy="5068"/>
                    <a:chOff x="2393" y="2061"/>
                    <a:chExt cx="11592" cy="5068"/>
                  </a:xfrm>
                </p:grpSpPr>
                <p:grpSp>
                  <p:nvGrpSpPr>
                    <p:cNvPr id="16" name="组合 67"/>
                    <p:cNvGrpSpPr/>
                    <p:nvPr/>
                  </p:nvGrpSpPr>
                  <p:grpSpPr>
                    <a:xfrm>
                      <a:off x="2393" y="2061"/>
                      <a:ext cx="11592" cy="5068"/>
                      <a:chOff x="2393" y="2061"/>
                      <a:chExt cx="11592" cy="5068"/>
                    </a:xfrm>
                  </p:grpSpPr>
                  <p:sp>
                    <p:nvSpPr>
                      <p:cNvPr id="18" name="矩形 17"/>
                      <p:cNvSpPr/>
                      <p:nvPr/>
                    </p:nvSpPr>
                    <p:spPr>
                      <a:xfrm>
                        <a:off x="9533" y="2430"/>
                        <a:ext cx="4230" cy="822"/>
                      </a:xfrm>
                      <a:prstGeom prst="rect">
                        <a:avLst/>
                      </a:prstGeom>
                      <a:solidFill>
                        <a:srgbClr val="93001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grpSp>
                    <p:nvGrpSpPr>
                      <p:cNvPr id="19" name="组合 66"/>
                      <p:cNvGrpSpPr/>
                      <p:nvPr/>
                    </p:nvGrpSpPr>
                    <p:grpSpPr>
                      <a:xfrm>
                        <a:off x="2393" y="2061"/>
                        <a:ext cx="11592" cy="5068"/>
                        <a:chOff x="2393" y="2061"/>
                        <a:chExt cx="11592" cy="5068"/>
                      </a:xfrm>
                    </p:grpSpPr>
                    <p:grpSp>
                      <p:nvGrpSpPr>
                        <p:cNvPr id="20" name="组合 65"/>
                        <p:cNvGrpSpPr/>
                        <p:nvPr/>
                      </p:nvGrpSpPr>
                      <p:grpSpPr>
                        <a:xfrm>
                          <a:off x="2393" y="2061"/>
                          <a:ext cx="11592" cy="5068"/>
                          <a:chOff x="2393" y="2061"/>
                          <a:chExt cx="11592" cy="5068"/>
                        </a:xfrm>
                      </p:grpSpPr>
                      <p:grpSp>
                        <p:nvGrpSpPr>
                          <p:cNvPr id="22" name="组合 64"/>
                          <p:cNvGrpSpPr/>
                          <p:nvPr/>
                        </p:nvGrpSpPr>
                        <p:grpSpPr>
                          <a:xfrm>
                            <a:off x="2393" y="2061"/>
                            <a:ext cx="11593" cy="5068"/>
                            <a:chOff x="2393" y="2061"/>
                            <a:chExt cx="11593" cy="5068"/>
                          </a:xfrm>
                        </p:grpSpPr>
                        <p:grpSp>
                          <p:nvGrpSpPr>
                            <p:cNvPr id="24" name="组合 15"/>
                            <p:cNvGrpSpPr/>
                            <p:nvPr/>
                          </p:nvGrpSpPr>
                          <p:grpSpPr>
                            <a:xfrm>
                              <a:off x="2393" y="2337"/>
                              <a:ext cx="6008" cy="4649"/>
                              <a:chOff x="2252" y="1255"/>
                              <a:chExt cx="6687" cy="5174"/>
                            </a:xfrm>
                          </p:grpSpPr>
                          <p:grpSp>
                            <p:nvGrpSpPr>
                              <p:cNvPr id="34" name="组合 13"/>
                              <p:cNvGrpSpPr/>
                              <p:nvPr/>
                            </p:nvGrpSpPr>
                            <p:grpSpPr>
                              <a:xfrm>
                                <a:off x="2252" y="1255"/>
                                <a:ext cx="6560" cy="5036"/>
                                <a:chOff x="2252" y="1255"/>
                                <a:chExt cx="6560" cy="5036"/>
                              </a:xfrm>
                            </p:grpSpPr>
                            <p:pic>
                              <p:nvPicPr>
                                <p:cNvPr id="38" name="Picture 3"/>
                                <p:cNvPicPr>
                                  <a:picLocks noChangeAspect="1" noChangeArrowheads="1"/>
                                </p:cNvPicPr>
                                <p:nvPr/>
                              </p:nvPicPr>
                              <p:blipFill>
                                <a:blip r:embed="rId3" cstate="print"/>
                                <a:srcRect/>
                                <a:stretch>
                                  <a:fillRect/>
                                </a:stretch>
                              </p:blipFill>
                              <p:spPr bwMode="auto">
                                <a:xfrm>
                                  <a:off x="2417" y="1461"/>
                                  <a:ext cx="6143" cy="3616"/>
                                </a:xfrm>
                                <a:prstGeom prst="rect">
                                  <a:avLst/>
                                </a:prstGeom>
                                <a:ln>
                                  <a:noFill/>
                                </a:ln>
                                <a:effectLst/>
                              </p:spPr>
                            </p:pic>
                            <p:pic>
                              <p:nvPicPr>
                                <p:cNvPr id="39" name="图片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52" y="1255"/>
                                  <a:ext cx="6560" cy="5037"/>
                                </a:xfrm>
                                <a:custGeom>
                                  <a:avLst/>
                                  <a:gdLst>
                                    <a:gd name="connsiteX0" fmla="*/ 3333734 w 3796894"/>
                                    <a:gd name="connsiteY0" fmla="*/ 158827 h 2914704"/>
                                    <a:gd name="connsiteX1" fmla="*/ 3333734 w 3796894"/>
                                    <a:gd name="connsiteY1" fmla="*/ 159782 h 2914704"/>
                                    <a:gd name="connsiteX2" fmla="*/ 154601 w 3796894"/>
                                    <a:gd name="connsiteY2" fmla="*/ 159782 h 2914704"/>
                                    <a:gd name="connsiteX3" fmla="*/ 154601 w 3796894"/>
                                    <a:gd name="connsiteY3" fmla="*/ 2128067 h 2914704"/>
                                    <a:gd name="connsiteX4" fmla="*/ 3626221 w 3796894"/>
                                    <a:gd name="connsiteY4" fmla="*/ 2128067 h 2914704"/>
                                    <a:gd name="connsiteX5" fmla="*/ 3626221 w 3796894"/>
                                    <a:gd name="connsiteY5" fmla="*/ 2118575 h 2914704"/>
                                    <a:gd name="connsiteX6" fmla="*/ 3640861 w 3796894"/>
                                    <a:gd name="connsiteY6" fmla="*/ 2118575 h 2914704"/>
                                    <a:gd name="connsiteX7" fmla="*/ 3640861 w 3796894"/>
                                    <a:gd name="connsiteY7" fmla="*/ 158827 h 2914704"/>
                                    <a:gd name="connsiteX8" fmla="*/ 0 w 3796894"/>
                                    <a:gd name="connsiteY8" fmla="*/ 0 h 2914704"/>
                                    <a:gd name="connsiteX9" fmla="*/ 3796894 w 3796894"/>
                                    <a:gd name="connsiteY9" fmla="*/ 0 h 2914704"/>
                                    <a:gd name="connsiteX10" fmla="*/ 3796894 w 3796894"/>
                                    <a:gd name="connsiteY10" fmla="*/ 2914704 h 2914704"/>
                                    <a:gd name="connsiteX11" fmla="*/ 0 w 3796894"/>
                                    <a:gd name="connsiteY11" fmla="*/ 2914704 h 291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96894" h="2914704">
                                      <a:moveTo>
                                        <a:pt x="3333734" y="158827"/>
                                      </a:moveTo>
                                      <a:lnTo>
                                        <a:pt x="3333734" y="159782"/>
                                      </a:lnTo>
                                      <a:lnTo>
                                        <a:pt x="154601" y="159782"/>
                                      </a:lnTo>
                                      <a:lnTo>
                                        <a:pt x="154601" y="2128067"/>
                                      </a:lnTo>
                                      <a:lnTo>
                                        <a:pt x="3626221" y="2128067"/>
                                      </a:lnTo>
                                      <a:lnTo>
                                        <a:pt x="3626221" y="2118575"/>
                                      </a:lnTo>
                                      <a:lnTo>
                                        <a:pt x="3640861" y="2118575"/>
                                      </a:lnTo>
                                      <a:lnTo>
                                        <a:pt x="3640861" y="158827"/>
                                      </a:lnTo>
                                      <a:close/>
                                      <a:moveTo>
                                        <a:pt x="0" y="0"/>
                                      </a:moveTo>
                                      <a:lnTo>
                                        <a:pt x="3796894" y="0"/>
                                      </a:lnTo>
                                      <a:lnTo>
                                        <a:pt x="3796894" y="2914704"/>
                                      </a:lnTo>
                                      <a:lnTo>
                                        <a:pt x="0" y="2914704"/>
                                      </a:lnTo>
                                      <a:close/>
                                    </a:path>
                                  </a:pathLst>
                                </a:custGeom>
                                <a:effectLst>
                                  <a:outerShdw blurRad="50800" dist="38100" dir="2700000" algn="tl" rotWithShape="0">
                                    <a:prstClr val="black">
                                      <a:alpha val="40000"/>
                                    </a:prstClr>
                                  </a:outerShdw>
                                  <a:reflection blurRad="6350" stA="52000" endA="300" endPos="35000" dir="5400000" sy="-100000" algn="bl" rotWithShape="0"/>
                                </a:effectLst>
                              </p:spPr>
                            </p:pic>
                          </p:grpSp>
                          <p:grpSp>
                            <p:nvGrpSpPr>
                              <p:cNvPr id="35" name="组合 1"/>
                              <p:cNvGrpSpPr/>
                              <p:nvPr/>
                            </p:nvGrpSpPr>
                            <p:grpSpPr>
                              <a:xfrm>
                                <a:off x="6663" y="1671"/>
                                <a:ext cx="2276" cy="4758"/>
                                <a:chOff x="4826" y="1681"/>
                                <a:chExt cx="2276" cy="4758"/>
                              </a:xfrm>
                            </p:grpSpPr>
                            <p:pic>
                              <p:nvPicPr>
                                <p:cNvPr id="36" name="图片 35" descr="亮黑色"/>
                                <p:cNvPicPr preferRelativeResize="0">
                                  <a:picLocks noChangeAspect="1"/>
                                </p:cNvPicPr>
                                <p:nvPr/>
                              </p:nvPicPr>
                              <p:blipFill>
                                <a:blip r:embed="rId5">
                                  <a:extLst>
                                    <a:ext uri="{28A0092B-C50C-407E-A947-70E740481C1C}">
                                      <a14:useLocalDpi xmlns:a14="http://schemas.microsoft.com/office/drawing/2010/main"/>
                                    </a:ext>
                                  </a:extLst>
                                </a:blip>
                                <a:srcRect l="7146" t="11909" r="7056" b="13527"/>
                                <a:stretch>
                                  <a:fillRect/>
                                </a:stretch>
                              </p:blipFill>
                              <p:spPr>
                                <a:xfrm rot="5400000">
                                  <a:off x="3585" y="2922"/>
                                  <a:ext cx="4759" cy="2276"/>
                                </a:xfrm>
                                <a:prstGeom prst="roundRect">
                                  <a:avLst/>
                                </a:prstGeom>
                                <a:blipFill rotWithShape="1">
                                  <a:blip r:embed="rId6"/>
                                  <a:stretch>
                                    <a:fillRect/>
                                  </a:stretch>
                                </a:blipFill>
                                <a:effectLst>
                                  <a:outerShdw blurRad="50800" dist="38100" dir="2700000" algn="tl" rotWithShape="0">
                                    <a:prstClr val="black">
                                      <a:alpha val="40000"/>
                                    </a:prstClr>
                                  </a:outerShdw>
                                  <a:reflection blurRad="6350" stA="52000" endA="300" endPos="35000" dir="5400000" sy="-100000" algn="bl" rotWithShape="0"/>
                                </a:effectLst>
                              </p:spPr>
                            </p:pic>
                            <p:sp>
                              <p:nvSpPr>
                                <p:cNvPr id="37" name="矩形 36"/>
                                <p:cNvSpPr/>
                                <p:nvPr/>
                              </p:nvSpPr>
                              <p:spPr>
                                <a:xfrm>
                                  <a:off x="4981" y="2330"/>
                                  <a:ext cx="1994" cy="3575"/>
                                </a:xfrm>
                                <a:prstGeom prst="rect">
                                  <a:avLst/>
                                </a:prstGeom>
                                <a:blipFill rotWithShape="1">
                                  <a:blip r:embed="rId7"/>
                                  <a:stretch>
                                    <a:fillRect/>
                                  </a:stretch>
                                </a:bli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grpSp>
                        </p:grpSp>
                        <p:grpSp>
                          <p:nvGrpSpPr>
                            <p:cNvPr id="25" name="组合 39"/>
                            <p:cNvGrpSpPr/>
                            <p:nvPr/>
                          </p:nvGrpSpPr>
                          <p:grpSpPr>
                            <a:xfrm>
                              <a:off x="9308" y="2061"/>
                              <a:ext cx="4679" cy="5068"/>
                              <a:chOff x="9175" y="1595"/>
                              <a:chExt cx="4679" cy="5068"/>
                            </a:xfrm>
                          </p:grpSpPr>
                          <p:sp>
                            <p:nvSpPr>
                              <p:cNvPr id="26" name="矩形 25"/>
                              <p:cNvSpPr/>
                              <p:nvPr/>
                            </p:nvSpPr>
                            <p:spPr>
                              <a:xfrm>
                                <a:off x="9270" y="1690"/>
                                <a:ext cx="4489" cy="4879"/>
                              </a:xfrm>
                              <a:prstGeom prst="rect">
                                <a:avLst/>
                              </a:prstGeom>
                              <a:noFill/>
                              <a:ln w="12700">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gradFill flip="none" rotWithShape="1">
                                      <a:gsLst>
                                        <a:gs pos="0">
                                          <a:schemeClr val="bg1"/>
                                        </a:gs>
                                        <a:gs pos="100000">
                                          <a:srgbClr val="DDDEDD"/>
                                        </a:gs>
                                      </a:gsLst>
                                      <a:lin ang="6000000" scaled="0"/>
                                      <a:tileRect/>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grpSp>
                            <p:nvGrpSpPr>
                              <p:cNvPr id="27" name="组合 38"/>
                              <p:cNvGrpSpPr/>
                              <p:nvPr/>
                            </p:nvGrpSpPr>
                            <p:grpSpPr>
                              <a:xfrm>
                                <a:off x="9175" y="1595"/>
                                <a:ext cx="4679" cy="5068"/>
                                <a:chOff x="9175" y="1595"/>
                                <a:chExt cx="4679" cy="5068"/>
                              </a:xfrm>
                            </p:grpSpPr>
                            <p:grpSp>
                              <p:nvGrpSpPr>
                                <p:cNvPr id="28" name="组合 58"/>
                                <p:cNvGrpSpPr/>
                                <p:nvPr/>
                              </p:nvGrpSpPr>
                              <p:grpSpPr>
                                <a:xfrm>
                                  <a:off x="9175" y="1595"/>
                                  <a:ext cx="556" cy="461"/>
                                  <a:chOff x="7695" y="1604"/>
                                  <a:chExt cx="556" cy="461"/>
                                </a:xfrm>
                              </p:grpSpPr>
                              <p:sp>
                                <p:nvSpPr>
                                  <p:cNvPr id="32" name="矩形 31"/>
                                  <p:cNvSpPr/>
                                  <p:nvPr/>
                                </p:nvSpPr>
                                <p:spPr>
                                  <a:xfrm rot="10800000">
                                    <a:off x="7790" y="1604"/>
                                    <a:ext cx="461" cy="95"/>
                                  </a:xfrm>
                                  <a:prstGeom prst="rect">
                                    <a:avLst/>
                                  </a:prstGeom>
                                  <a:solidFill>
                                    <a:schemeClr val="tx1"/>
                                  </a:solidFill>
                                  <a:ln w="9525">
                                    <a:solidFill>
                                      <a:schemeClr val="tx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sp>
                                <p:nvSpPr>
                                  <p:cNvPr id="33" name="矩形 32"/>
                                  <p:cNvSpPr/>
                                  <p:nvPr/>
                                </p:nvSpPr>
                                <p:spPr>
                                  <a:xfrm rot="27000000">
                                    <a:off x="7512" y="1787"/>
                                    <a:ext cx="461" cy="95"/>
                                  </a:xfrm>
                                  <a:prstGeom prst="rect">
                                    <a:avLst/>
                                  </a:prstGeom>
                                  <a:solidFill>
                                    <a:schemeClr val="tx1"/>
                                  </a:solidFill>
                                  <a:ln w="9525">
                                    <a:solidFill>
                                      <a:schemeClr val="tx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grpSp>
                            <p:grpSp>
                              <p:nvGrpSpPr>
                                <p:cNvPr id="29" name="组合 28"/>
                                <p:cNvGrpSpPr/>
                                <p:nvPr/>
                              </p:nvGrpSpPr>
                              <p:grpSpPr>
                                <a:xfrm>
                                  <a:off x="13298" y="6202"/>
                                  <a:ext cx="556" cy="461"/>
                                  <a:chOff x="11818" y="6211"/>
                                  <a:chExt cx="556" cy="461"/>
                                </a:xfrm>
                              </p:grpSpPr>
                              <p:sp>
                                <p:nvSpPr>
                                  <p:cNvPr id="30" name="矩形 29"/>
                                  <p:cNvSpPr/>
                                  <p:nvPr/>
                                </p:nvSpPr>
                                <p:spPr>
                                  <a:xfrm>
                                    <a:off x="11818" y="6577"/>
                                    <a:ext cx="461" cy="95"/>
                                  </a:xfrm>
                                  <a:prstGeom prst="rect">
                                    <a:avLst/>
                                  </a:prstGeom>
                                  <a:solidFill>
                                    <a:schemeClr val="tx1"/>
                                  </a:solidFill>
                                  <a:ln w="9525">
                                    <a:solidFill>
                                      <a:schemeClr val="tx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sp>
                                <p:nvSpPr>
                                  <p:cNvPr id="31" name="矩形 30"/>
                                  <p:cNvSpPr/>
                                  <p:nvPr/>
                                </p:nvSpPr>
                                <p:spPr>
                                  <a:xfrm rot="16200000">
                                    <a:off x="12096" y="6394"/>
                                    <a:ext cx="461" cy="95"/>
                                  </a:xfrm>
                                  <a:prstGeom prst="rect">
                                    <a:avLst/>
                                  </a:prstGeom>
                                  <a:solidFill>
                                    <a:schemeClr val="tx1"/>
                                  </a:solidFill>
                                  <a:ln w="9525">
                                    <a:solidFill>
                                      <a:schemeClr val="tx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latin typeface="KaiTi" charset="-122"/>
                                      <a:ea typeface="KaiTi" charset="-122"/>
                                      <a:cs typeface="KaiTi" charset="-122"/>
                                    </a:endParaRPr>
                                  </a:p>
                                </p:txBody>
                              </p:sp>
                            </p:grpSp>
                          </p:grpSp>
                        </p:grpSp>
                      </p:grpSp>
                      <p:pic>
                        <p:nvPicPr>
                          <p:cNvPr id="23" name="Picture 3" descr="Screen Shot 2015-06-24 at 2.29.13 pm.png"/>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bwMode="auto">
                          <a:xfrm>
                            <a:off x="10470" y="2616"/>
                            <a:ext cx="964" cy="450"/>
                          </a:xfrm>
                          <a:prstGeom prst="rect">
                            <a:avLst/>
                          </a:prstGeom>
                          <a:noFill/>
                          <a:ln>
                            <a:noFill/>
                          </a:ln>
                          <a:effectLst/>
                        </p:spPr>
                      </p:pic>
                    </p:grpSp>
                    <p:sp>
                      <p:nvSpPr>
                        <p:cNvPr id="21" name="文本框 20"/>
                        <p:cNvSpPr txBox="1"/>
                        <p:nvPr/>
                      </p:nvSpPr>
                      <p:spPr>
                        <a:xfrm>
                          <a:off x="11191" y="2429"/>
                          <a:ext cx="2135" cy="824"/>
                        </a:xfrm>
                        <a:prstGeom prst="rect">
                          <a:avLst/>
                        </a:prstGeom>
                        <a:noFill/>
                      </p:spPr>
                      <p:txBody>
                        <a:bodyPr wrap="square" rtlCol="0">
                          <a:spAutoFit/>
                        </a:bodyPr>
                        <a:lstStyle/>
                        <a:p>
                          <a:pPr algn="ctr" defTabSz="685165"/>
                          <a:r>
                            <a:rPr lang="en-US" altLang="zh-CN" sz="2800" b="1" dirty="0">
                              <a:solidFill>
                                <a:schemeClr val="tx2">
                                  <a:lumMod val="50000"/>
                                </a:schemeClr>
                              </a:solidFill>
                              <a:effectLst>
                                <a:outerShdw blurRad="50800" dist="38100" dir="2700000" algn="tl" rotWithShape="0">
                                  <a:prstClr val="black">
                                    <a:alpha val="40000"/>
                                  </a:prstClr>
                                </a:outerShdw>
                              </a:effectLst>
                              <a:latin typeface="New Peninim MT" pitchFamily="2" charset="-79"/>
                              <a:ea typeface="KaiTi" charset="-122"/>
                              <a:cs typeface="New Peninim MT" pitchFamily="2" charset="-79"/>
                            </a:rPr>
                            <a:t>Score</a:t>
                          </a:r>
                        </a:p>
                      </p:txBody>
                    </p:sp>
                  </p:grpSp>
                </p:grpSp>
                <p:sp>
                  <p:nvSpPr>
                    <p:cNvPr id="17" name="文本框 16"/>
                    <p:cNvSpPr txBox="1"/>
                    <p:nvPr/>
                  </p:nvSpPr>
                  <p:spPr>
                    <a:xfrm>
                      <a:off x="9436" y="3294"/>
                      <a:ext cx="4424" cy="2266"/>
                    </a:xfrm>
                    <a:prstGeom prst="rect">
                      <a:avLst/>
                    </a:prstGeom>
                    <a:noFill/>
                  </p:spPr>
                  <p:txBody>
                    <a:bodyPr wrap="square" rtlCol="0">
                      <a:spAutoFit/>
                    </a:bodyPr>
                    <a:lstStyle/>
                    <a:p>
                      <a:pPr algn="ctr" fontAlgn="auto">
                        <a:lnSpc>
                          <a:spcPts val="2140"/>
                        </a:lnSpc>
                        <a:spcBef>
                          <a:spcPct val="0"/>
                        </a:spcBef>
                        <a:defRPr/>
                      </a:pPr>
                      <a:r>
                        <a:rPr lang="en-US" altLang="zh-CN" sz="900" b="1" spc="80" dirty="0" err="1">
                          <a:solidFill>
                            <a:schemeClr val="tx2">
                              <a:lumMod val="50000"/>
                            </a:schemeClr>
                          </a:solidFill>
                          <a:uFillTx/>
                          <a:latin typeface="New Peninim MT" pitchFamily="2" charset="-79"/>
                          <a:ea typeface="KaiTi" charset="-122"/>
                          <a:cs typeface="New Peninim MT" pitchFamily="2" charset="-79"/>
                          <a:sym typeface="+mn-ea"/>
                        </a:rPr>
                        <a:t>FDTScore</a:t>
                      </a:r>
                      <a:r>
                        <a:rPr lang="zh-CN" altLang="zh-CN" sz="900" spc="80" dirty="0">
                          <a:solidFill>
                            <a:schemeClr val="tx2">
                              <a:lumMod val="50000"/>
                            </a:schemeClr>
                          </a:solidFill>
                          <a:uFillTx/>
                          <a:latin typeface="KaiTi" charset="-122"/>
                          <a:ea typeface="KaiTi" charset="-122"/>
                          <a:cs typeface="KaiTi" charset="-122"/>
                          <a:sym typeface="+mn-ea"/>
                        </a:rPr>
                        <a:t>基于牛津大学</a:t>
                      </a:r>
                      <a:r>
                        <a:rPr lang="en-US" altLang="zh-CN" sz="900" spc="80" dirty="0">
                          <a:solidFill>
                            <a:schemeClr val="tx2">
                              <a:lumMod val="50000"/>
                            </a:schemeClr>
                          </a:solidFill>
                          <a:uFillTx/>
                          <a:latin typeface="KaiTi" charset="-122"/>
                          <a:ea typeface="KaiTi" charset="-122"/>
                          <a:cs typeface="KaiTi" charset="-122"/>
                          <a:sym typeface="+mn-ea"/>
                        </a:rPr>
                        <a:t>-NIE</a:t>
                      </a:r>
                      <a:r>
                        <a:rPr lang="zh-CN" altLang="zh-CN" sz="900" spc="80" dirty="0">
                          <a:solidFill>
                            <a:schemeClr val="tx2">
                              <a:lumMod val="50000"/>
                            </a:schemeClr>
                          </a:solidFill>
                          <a:uFillTx/>
                          <a:latin typeface="KaiTi" charset="-122"/>
                          <a:ea typeface="KaiTi" charset="-122"/>
                          <a:cs typeface="KaiTi" charset="-122"/>
                          <a:sym typeface="+mn-ea"/>
                        </a:rPr>
                        <a:t>金融大数据实验室研究的胜任力模型</a:t>
                      </a:r>
                      <a:endParaRPr lang="zh-CN" altLang="zh-CN" sz="800" spc="80" dirty="0">
                        <a:solidFill>
                          <a:schemeClr val="tx2">
                            <a:lumMod val="50000"/>
                          </a:schemeClr>
                        </a:solidFill>
                        <a:uFillTx/>
                        <a:latin typeface="KaiTi" charset="-122"/>
                        <a:ea typeface="KaiTi" charset="-122"/>
                        <a:cs typeface="KaiTi" charset="-122"/>
                        <a:sym typeface="+mn-ea"/>
                      </a:endParaRPr>
                    </a:p>
                    <a:p>
                      <a:pPr algn="ctr" fontAlgn="auto">
                        <a:lnSpc>
                          <a:spcPts val="2140"/>
                        </a:lnSpc>
                        <a:spcBef>
                          <a:spcPct val="0"/>
                        </a:spcBef>
                        <a:defRPr/>
                      </a:pPr>
                      <a:r>
                        <a:rPr lang="zh-CN" altLang="en-US" sz="900" spc="80" dirty="0">
                          <a:solidFill>
                            <a:schemeClr val="tx2">
                              <a:lumMod val="50000"/>
                            </a:schemeClr>
                          </a:solidFill>
                          <a:uFillTx/>
                          <a:latin typeface="KaiTi" charset="-122"/>
                          <a:ea typeface="KaiTi" charset="-122"/>
                          <a:cs typeface="KaiTi" charset="-122"/>
                          <a:sym typeface="+mn-ea"/>
                        </a:rPr>
                        <a:t>模型基于人工智能</a:t>
                      </a:r>
                      <a:r>
                        <a:rPr lang="en-US" altLang="zh-CN" sz="900" spc="80" dirty="0">
                          <a:solidFill>
                            <a:schemeClr val="tx2">
                              <a:lumMod val="50000"/>
                            </a:schemeClr>
                          </a:solidFill>
                          <a:uFillTx/>
                          <a:latin typeface="KaiTi" charset="-122"/>
                          <a:ea typeface="KaiTi" charset="-122"/>
                          <a:cs typeface="KaiTi" charset="-122"/>
                          <a:sym typeface="+mn-ea"/>
                        </a:rPr>
                        <a:t>(AI)</a:t>
                      </a:r>
                      <a:r>
                        <a:rPr lang="zh-CN" altLang="en-US" sz="900" spc="80" dirty="0">
                          <a:solidFill>
                            <a:schemeClr val="tx2">
                              <a:lumMod val="50000"/>
                            </a:schemeClr>
                          </a:solidFill>
                          <a:uFillTx/>
                          <a:latin typeface="KaiTi" charset="-122"/>
                          <a:ea typeface="KaiTi" charset="-122"/>
                          <a:cs typeface="KaiTi" charset="-122"/>
                          <a:sym typeface="+mn-ea"/>
                        </a:rPr>
                        <a:t>➕大数据➕行为金融学</a:t>
                      </a:r>
                    </a:p>
                    <a:p>
                      <a:pPr algn="ctr" fontAlgn="auto">
                        <a:lnSpc>
                          <a:spcPts val="2140"/>
                        </a:lnSpc>
                        <a:spcBef>
                          <a:spcPct val="0"/>
                        </a:spcBef>
                        <a:defRPr/>
                      </a:pPr>
                      <a:r>
                        <a:rPr lang="zh-CN" altLang="en-US" sz="900" spc="80" dirty="0">
                          <a:solidFill>
                            <a:schemeClr val="tx2">
                              <a:lumMod val="50000"/>
                            </a:schemeClr>
                          </a:solidFill>
                          <a:uFillTx/>
                          <a:latin typeface="KaiTi" charset="-122"/>
                          <a:ea typeface="KaiTi" charset="-122"/>
                          <a:cs typeface="KaiTi" charset="-122"/>
                          <a:sym typeface="+mn-ea"/>
                        </a:rPr>
                        <a:t>可应用于专业交易员、普通投资者与基金产品的判定评价</a:t>
                      </a:r>
                    </a:p>
                  </p:txBody>
                </p:sp>
              </p:grpSp>
              <p:cxnSp>
                <p:nvCxnSpPr>
                  <p:cNvPr id="15" name="直接连接符 55"/>
                  <p:cNvCxnSpPr/>
                  <p:nvPr/>
                </p:nvCxnSpPr>
                <p:spPr>
                  <a:xfrm flipH="1">
                    <a:off x="10046" y="5469"/>
                    <a:ext cx="3204" cy="0"/>
                  </a:xfrm>
                  <a:prstGeom prst="line">
                    <a:avLst/>
                  </a:prstGeom>
                  <a:ln>
                    <a:solidFill>
                      <a:schemeClr val="bg2"/>
                    </a:solidFill>
                    <a:prstDash val="sysDash"/>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9530" y="5393"/>
                  <a:ext cx="4456" cy="1842"/>
                </a:xfrm>
                <a:prstGeom prst="rect">
                  <a:avLst/>
                </a:prstGeom>
                <a:noFill/>
              </p:spPr>
              <p:txBody>
                <a:bodyPr wrap="square" rtlCol="0">
                  <a:spAutoFit/>
                </a:bodyPr>
                <a:lstStyle/>
                <a:p>
                  <a:pPr algn="ctr" fontAlgn="auto">
                    <a:lnSpc>
                      <a:spcPts val="2140"/>
                    </a:lnSpc>
                    <a:spcBef>
                      <a:spcPct val="0"/>
                    </a:spcBef>
                    <a:defRPr/>
                  </a:pPr>
                  <a:r>
                    <a:rPr lang="en-US" altLang="zh-CN" sz="1000" b="1" spc="80" dirty="0">
                      <a:solidFill>
                        <a:schemeClr val="tx2">
                          <a:lumMod val="50000"/>
                        </a:schemeClr>
                      </a:solidFill>
                      <a:uFillTx/>
                      <a:latin typeface="New Peninim MT" pitchFamily="2" charset="-79"/>
                      <a:ea typeface="KaiTi" charset="-122"/>
                      <a:cs typeface="New Peninim MT" pitchFamily="2" charset="-79"/>
                      <a:sym typeface="+mn-ea"/>
                    </a:rPr>
                    <a:t>FDT-NIE</a:t>
                  </a:r>
                  <a:r>
                    <a:rPr lang="zh-CN" altLang="en-US" sz="1000" b="1" spc="80" dirty="0">
                      <a:solidFill>
                        <a:schemeClr val="tx2">
                          <a:lumMod val="50000"/>
                        </a:schemeClr>
                      </a:solidFill>
                      <a:uFillTx/>
                      <a:latin typeface="KaiTi" charset="-122"/>
                      <a:ea typeface="KaiTi" charset="-122"/>
                      <a:cs typeface="KaiTi" charset="-122"/>
                      <a:sym typeface="+mn-ea"/>
                    </a:rPr>
                    <a:t>牛津大学交易行为报告</a:t>
                  </a:r>
                </a:p>
                <a:p>
                  <a:pPr algn="ctr" fontAlgn="auto">
                    <a:lnSpc>
                      <a:spcPts val="2140"/>
                    </a:lnSpc>
                    <a:spcBef>
                      <a:spcPct val="0"/>
                    </a:spcBef>
                    <a:defRPr/>
                  </a:pPr>
                  <a:r>
                    <a:rPr lang="zh-CN" altLang="en-US" sz="1000" spc="80" dirty="0">
                      <a:solidFill>
                        <a:schemeClr val="tx2">
                          <a:lumMod val="50000"/>
                        </a:schemeClr>
                      </a:solidFill>
                      <a:uFillTx/>
                      <a:latin typeface="KaiTi" charset="-122"/>
                      <a:ea typeface="KaiTi" charset="-122"/>
                      <a:cs typeface="KaiTi" charset="-122"/>
                      <a:sym typeface="+mn-ea"/>
                    </a:rPr>
                    <a:t>基于</a:t>
                  </a:r>
                  <a:r>
                    <a:rPr lang="en-US" altLang="zh-CN" sz="1000" spc="80" dirty="0">
                      <a:solidFill>
                        <a:schemeClr val="tx2">
                          <a:lumMod val="50000"/>
                        </a:schemeClr>
                      </a:solidFill>
                      <a:uFillTx/>
                      <a:latin typeface="KaiTi" charset="-122"/>
                      <a:ea typeface="KaiTi" charset="-122"/>
                      <a:cs typeface="KaiTi" charset="-122"/>
                      <a:sym typeface="+mn-ea"/>
                    </a:rPr>
                    <a:t>NIE</a:t>
                  </a:r>
                  <a:r>
                    <a:rPr lang="zh-CN" altLang="zh-CN" sz="1000" spc="80" dirty="0">
                      <a:solidFill>
                        <a:schemeClr val="tx2">
                          <a:lumMod val="50000"/>
                        </a:schemeClr>
                      </a:solidFill>
                      <a:uFillTx/>
                      <a:latin typeface="KaiTi" charset="-122"/>
                      <a:ea typeface="KaiTi" charset="-122"/>
                      <a:cs typeface="KaiTi" charset="-122"/>
                      <a:sym typeface="+mn-ea"/>
                    </a:rPr>
                    <a:t>金融大数据实验室的胜任力模型</a:t>
                  </a:r>
                </a:p>
                <a:p>
                  <a:pPr algn="ctr" fontAlgn="auto">
                    <a:lnSpc>
                      <a:spcPts val="2140"/>
                    </a:lnSpc>
                    <a:spcBef>
                      <a:spcPct val="0"/>
                    </a:spcBef>
                    <a:defRPr/>
                  </a:pPr>
                  <a:r>
                    <a:rPr lang="zh-CN" altLang="zh-CN" sz="1000" spc="80" dirty="0">
                      <a:solidFill>
                        <a:schemeClr val="tx2">
                          <a:lumMod val="50000"/>
                        </a:schemeClr>
                      </a:solidFill>
                      <a:uFillTx/>
                      <a:latin typeface="KaiTi" charset="-122"/>
                      <a:ea typeface="KaiTi" charset="-122"/>
                      <a:cs typeface="KaiTi" charset="-122"/>
                      <a:sym typeface="+mn-ea"/>
                    </a:rPr>
                    <a:t>对</a:t>
                  </a:r>
                  <a:r>
                    <a:rPr lang="en-US" altLang="zh-CN" sz="1000" spc="80" dirty="0">
                      <a:solidFill>
                        <a:schemeClr val="tx2">
                          <a:lumMod val="50000"/>
                        </a:schemeClr>
                      </a:solidFill>
                      <a:uFillTx/>
                      <a:latin typeface="KaiTi" charset="-122"/>
                      <a:ea typeface="KaiTi" charset="-122"/>
                      <a:cs typeface="KaiTi" charset="-122"/>
                      <a:sym typeface="+mn-ea"/>
                    </a:rPr>
                    <a:t>APP</a:t>
                  </a:r>
                  <a:r>
                    <a:rPr lang="zh-CN" altLang="en-US" sz="1000" spc="80" dirty="0">
                      <a:solidFill>
                        <a:schemeClr val="tx2">
                          <a:lumMod val="50000"/>
                        </a:schemeClr>
                      </a:solidFill>
                      <a:uFillTx/>
                      <a:latin typeface="KaiTi" charset="-122"/>
                      <a:ea typeface="KaiTi" charset="-122"/>
                      <a:cs typeface="KaiTi" charset="-122"/>
                      <a:sym typeface="+mn-ea"/>
                    </a:rPr>
                    <a:t>内的交易员行为能力进行专业分析</a:t>
                  </a:r>
                  <a:endParaRPr lang="zh-CN" altLang="en-US" sz="900" spc="80" dirty="0">
                    <a:solidFill>
                      <a:schemeClr val="tx2">
                        <a:lumMod val="50000"/>
                      </a:schemeClr>
                    </a:solidFill>
                    <a:uFillTx/>
                    <a:latin typeface="KaiTi" charset="-122"/>
                    <a:ea typeface="KaiTi" charset="-122"/>
                    <a:cs typeface="KaiTi" charset="-122"/>
                    <a:sym typeface="+mn-ea"/>
                  </a:endParaRPr>
                </a:p>
                <a:p>
                  <a:pPr algn="ctr" fontAlgn="auto">
                    <a:lnSpc>
                      <a:spcPts val="2140"/>
                    </a:lnSpc>
                    <a:spcBef>
                      <a:spcPct val="0"/>
                    </a:spcBef>
                    <a:defRPr/>
                  </a:pPr>
                  <a:endParaRPr lang="zh-CN" altLang="en-US" sz="900" spc="80" dirty="0">
                    <a:solidFill>
                      <a:schemeClr val="tx2">
                        <a:lumMod val="50000"/>
                      </a:schemeClr>
                    </a:solidFill>
                    <a:uFillTx/>
                    <a:latin typeface="KaiTi" charset="-122"/>
                    <a:ea typeface="KaiTi" charset="-122"/>
                    <a:cs typeface="KaiTi" charset="-122"/>
                    <a:sym typeface="+mn-ea"/>
                  </a:endParaRPr>
                </a:p>
              </p:txBody>
            </p:sp>
          </p:grpSp>
          <p:sp>
            <p:nvSpPr>
              <p:cNvPr id="11" name="任意多边形 9"/>
              <p:cNvSpPr/>
              <p:nvPr/>
            </p:nvSpPr>
            <p:spPr>
              <a:xfrm flipV="1">
                <a:off x="6089" y="6075"/>
                <a:ext cx="3219" cy="509"/>
              </a:xfrm>
              <a:custGeom>
                <a:avLst/>
                <a:gdLst>
                  <a:gd name="connsiteX0" fmla="*/ 0 w 1720312"/>
                  <a:gd name="connsiteY0" fmla="*/ 278970 h 278970"/>
                  <a:gd name="connsiteX1" fmla="*/ 278970 w 1720312"/>
                  <a:gd name="connsiteY1" fmla="*/ 0 h 278970"/>
                  <a:gd name="connsiteX2" fmla="*/ 1720312 w 1720312"/>
                  <a:gd name="connsiteY2" fmla="*/ 0 h 278970"/>
                </a:gdLst>
                <a:ahLst/>
                <a:cxnLst>
                  <a:cxn ang="0">
                    <a:pos x="connsiteX0" y="connsiteY0"/>
                  </a:cxn>
                  <a:cxn ang="0">
                    <a:pos x="connsiteX1" y="connsiteY1"/>
                  </a:cxn>
                  <a:cxn ang="0">
                    <a:pos x="connsiteX2" y="connsiteY2"/>
                  </a:cxn>
                </a:cxnLst>
                <a:rect l="l" t="t" r="r" b="b"/>
                <a:pathLst>
                  <a:path w="1720312" h="278970">
                    <a:moveTo>
                      <a:pt x="0" y="278970"/>
                    </a:moveTo>
                    <a:lnTo>
                      <a:pt x="278970" y="0"/>
                    </a:lnTo>
                    <a:lnTo>
                      <a:pt x="1720312" y="0"/>
                    </a:lnTo>
                  </a:path>
                </a:pathLst>
              </a:custGeom>
              <a:noFill/>
              <a:ln w="22225">
                <a:solidFill>
                  <a:srgbClr val="C00000"/>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165"/>
                <a:endParaRPr lang="zh-CN" altLang="en-US" sz="1400" b="1">
                  <a:solidFill>
                    <a:schemeClr val="tx2">
                      <a:lumMod val="50000"/>
                    </a:schemeClr>
                  </a:solidFill>
                  <a:latin typeface="KaiTi" charset="-122"/>
                  <a:ea typeface="KaiTi" charset="-122"/>
                  <a:cs typeface="KaiTi" charset="-122"/>
                </a:endParaRPr>
              </a:p>
            </p:txBody>
          </p:sp>
        </p:grpSp>
        <p:sp>
          <p:nvSpPr>
            <p:cNvPr id="9" name="任意多边形 9"/>
            <p:cNvSpPr/>
            <p:nvPr/>
          </p:nvSpPr>
          <p:spPr>
            <a:xfrm>
              <a:off x="7787" y="3745"/>
              <a:ext cx="1484" cy="305"/>
            </a:xfrm>
            <a:custGeom>
              <a:avLst/>
              <a:gdLst>
                <a:gd name="connsiteX0" fmla="*/ 0 w 1720312"/>
                <a:gd name="connsiteY0" fmla="*/ 278970 h 278970"/>
                <a:gd name="connsiteX1" fmla="*/ 278970 w 1720312"/>
                <a:gd name="connsiteY1" fmla="*/ 0 h 278970"/>
                <a:gd name="connsiteX2" fmla="*/ 1720312 w 1720312"/>
                <a:gd name="connsiteY2" fmla="*/ 0 h 278970"/>
              </a:gdLst>
              <a:ahLst/>
              <a:cxnLst>
                <a:cxn ang="0">
                  <a:pos x="connsiteX0" y="connsiteY0"/>
                </a:cxn>
                <a:cxn ang="0">
                  <a:pos x="connsiteX1" y="connsiteY1"/>
                </a:cxn>
                <a:cxn ang="0">
                  <a:pos x="connsiteX2" y="connsiteY2"/>
                </a:cxn>
              </a:cxnLst>
              <a:rect l="l" t="t" r="r" b="b"/>
              <a:pathLst>
                <a:path w="1720312" h="278970">
                  <a:moveTo>
                    <a:pt x="0" y="278970"/>
                  </a:moveTo>
                  <a:lnTo>
                    <a:pt x="278970" y="0"/>
                  </a:lnTo>
                  <a:lnTo>
                    <a:pt x="1720312" y="0"/>
                  </a:lnTo>
                </a:path>
              </a:pathLst>
            </a:custGeom>
            <a:noFill/>
            <a:ln w="22225">
              <a:solidFill>
                <a:schemeClr val="bg2"/>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165"/>
              <a:endParaRPr lang="zh-CN" altLang="en-US" sz="1400" b="1">
                <a:solidFill>
                  <a:schemeClr val="tx2">
                    <a:lumMod val="50000"/>
                  </a:schemeClr>
                </a:solidFill>
                <a:latin typeface="KaiTi" charset="-122"/>
                <a:ea typeface="KaiTi" charset="-122"/>
                <a:cs typeface="KaiTi" charset="-122"/>
              </a:endParaRPr>
            </a:p>
          </p:txBody>
        </p:sp>
      </p:grpSp>
      <p:pic>
        <p:nvPicPr>
          <p:cNvPr id="40" name="图像" descr="图像">
            <a:extLst>
              <a:ext uri="{FF2B5EF4-FFF2-40B4-BE49-F238E27FC236}">
                <a16:creationId xmlns:a16="http://schemas.microsoft.com/office/drawing/2014/main" id="{79FE9C3F-DE05-1648-AA5A-17AD32928170}"/>
              </a:ext>
            </a:extLst>
          </p:cNvPr>
          <p:cNvPicPr>
            <a:picLocks noChangeAspect="1"/>
          </p:cNvPicPr>
          <p:nvPr/>
        </p:nvPicPr>
        <p:blipFill>
          <a:blip r:embed="rId9">
            <a:extLst/>
          </a:blip>
          <a:stretch>
            <a:fillRect/>
          </a:stretch>
        </p:blipFill>
        <p:spPr>
          <a:xfrm>
            <a:off x="10484724" y="427048"/>
            <a:ext cx="1253576" cy="332979"/>
          </a:xfrm>
          <a:prstGeom prst="rect">
            <a:avLst/>
          </a:prstGeom>
          <a:ln w="3175">
            <a:miter lim="400000"/>
          </a:ln>
        </p:spPr>
      </p:pic>
      <p:sp>
        <p:nvSpPr>
          <p:cNvPr id="43" name="矩形 42">
            <a:extLst>
              <a:ext uri="{FF2B5EF4-FFF2-40B4-BE49-F238E27FC236}">
                <a16:creationId xmlns:a16="http://schemas.microsoft.com/office/drawing/2014/main" id="{D0B621DA-9F92-324E-AAAB-6657B9BCC822}"/>
              </a:ext>
            </a:extLst>
          </p:cNvPr>
          <p:cNvSpPr/>
          <p:nvPr/>
        </p:nvSpPr>
        <p:spPr>
          <a:xfrm>
            <a:off x="503902" y="959102"/>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9A80ECD5-865E-5041-B6EB-F77B3B89B37F}"/>
              </a:ext>
            </a:extLst>
          </p:cNvPr>
          <p:cNvSpPr/>
          <p:nvPr/>
        </p:nvSpPr>
        <p:spPr>
          <a:xfrm>
            <a:off x="4577499" y="959102"/>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灯片编号占位符 3">
            <a:extLst>
              <a:ext uri="{FF2B5EF4-FFF2-40B4-BE49-F238E27FC236}">
                <a16:creationId xmlns:a16="http://schemas.microsoft.com/office/drawing/2014/main" id="{A67B24CD-4CC9-E441-8771-9968C1C54F23}"/>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27</a:t>
            </a:fld>
            <a:endParaRPr lang="zh-CN" altLang="en-US" dirty="0"/>
          </a:p>
        </p:txBody>
      </p:sp>
    </p:spTree>
    <p:extLst>
      <p:ext uri="{BB962C8B-B14F-4D97-AF65-F5344CB8AC3E}">
        <p14:creationId xmlns:p14="http://schemas.microsoft.com/office/powerpoint/2010/main" val="1204735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 name="Group 166"/>
          <p:cNvGrpSpPr/>
          <p:nvPr/>
        </p:nvGrpSpPr>
        <p:grpSpPr>
          <a:xfrm>
            <a:off x="-37900" y="-9030"/>
            <a:ext cx="5596847" cy="6858001"/>
            <a:chOff x="0" y="0"/>
            <a:chExt cx="5596845" cy="6858000"/>
          </a:xfrm>
        </p:grpSpPr>
        <p:sp>
          <p:nvSpPr>
            <p:cNvPr id="164" name="Shape 164"/>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sp>
          <p:nvSpPr>
            <p:cNvPr id="165" name="Shape 165"/>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50000"/>
                  </a:schemeClr>
                </a:solidFill>
                <a:latin typeface="KaiTi" charset="-122"/>
                <a:ea typeface="KaiTi" charset="-122"/>
                <a:cs typeface="KaiTi" charset="-122"/>
              </a:endParaRPr>
            </a:p>
          </p:txBody>
        </p:sp>
      </p:grpSp>
      <p:sp>
        <p:nvSpPr>
          <p:cNvPr id="167" name="Shape 167"/>
          <p:cNvSpPr/>
          <p:nvPr/>
        </p:nvSpPr>
        <p:spPr>
          <a:xfrm>
            <a:off x="503902" y="2202953"/>
            <a:ext cx="4313580" cy="1754326"/>
          </a:xfrm>
          <a:prstGeom prst="rect">
            <a:avLst/>
          </a:prstGeom>
          <a:ln w="12700">
            <a:miter lim="400000"/>
          </a:ln>
        </p:spPr>
        <p:txBody>
          <a:bodyPr lIns="45719" rIns="45719">
            <a:spAutoFit/>
          </a:bodyPr>
          <a:lstStyle/>
          <a:p>
            <a:pPr>
              <a:defRPr>
                <a:solidFill>
                  <a:srgbClr val="000000"/>
                </a:solidFill>
              </a:defRPr>
            </a:pPr>
            <a:r>
              <a:rPr lang="zh-CN" altLang="en-US" dirty="0">
                <a:solidFill>
                  <a:schemeClr val="tx2">
                    <a:lumMod val="50000"/>
                  </a:schemeClr>
                </a:solidFill>
                <a:latin typeface="KaiTi" charset="-122"/>
                <a:ea typeface="KaiTi" charset="-122"/>
                <a:cs typeface="KaiTi" charset="-122"/>
              </a:rPr>
              <a:t>目前金融产品销售界面的排序基本是千篇一律的风格，投资者面对海量的产品列表，除了关注产品收益率之外，大多还是以评级机构给的星级作为参考依据，然而却并不知道其中的风险差别，资产组合更是缺少认知</a:t>
            </a:r>
            <a:endParaRPr lang="en-US" altLang="zh-CN" dirty="0">
              <a:solidFill>
                <a:schemeClr val="tx2">
                  <a:lumMod val="50000"/>
                </a:schemeClr>
              </a:solidFill>
              <a:latin typeface="KaiTi" charset="-122"/>
              <a:ea typeface="KaiTi" charset="-122"/>
              <a:cs typeface="KaiTi" charset="-122"/>
            </a:endParaRPr>
          </a:p>
        </p:txBody>
      </p:sp>
      <p:sp>
        <p:nvSpPr>
          <p:cNvPr id="168" name="Shape 168"/>
          <p:cNvSpPr/>
          <p:nvPr/>
        </p:nvSpPr>
        <p:spPr>
          <a:xfrm>
            <a:off x="6220237" y="2233527"/>
            <a:ext cx="4800534" cy="380553"/>
          </a:xfrm>
          <a:prstGeom prst="rect">
            <a:avLst/>
          </a:prstGeom>
          <a:ln w="12700">
            <a:miter lim="400000"/>
          </a:ln>
        </p:spPr>
        <p:txBody>
          <a:bodyPr lIns="45719" rIns="45719">
            <a:spAutoFit/>
          </a:bodyPr>
          <a:lstStyle>
            <a:lvl1pPr>
              <a:defRPr sz="1600"/>
            </a:lvl1pPr>
          </a:lstStyle>
          <a:p>
            <a:pPr marL="285750" lvl="0" indent="-285750">
              <a:buFont typeface="Arial" charset="0"/>
              <a:buChar char="•"/>
              <a:defRPr sz="1800">
                <a:solidFill>
                  <a:srgbClr val="000000"/>
                </a:solidFill>
              </a:defRPr>
            </a:pPr>
            <a:r>
              <a:rPr lang="zh-CN" altLang="en-US" sz="1800" dirty="0">
                <a:solidFill>
                  <a:schemeClr val="tx2">
                    <a:lumMod val="50000"/>
                  </a:schemeClr>
                </a:solidFill>
                <a:latin typeface="KaiTi" charset="-122"/>
                <a:ea typeface="KaiTi" charset="-122"/>
                <a:cs typeface="KaiTi" charset="-122"/>
              </a:rPr>
              <a:t>用户画像</a:t>
            </a:r>
            <a:endParaRPr sz="1800" dirty="0">
              <a:solidFill>
                <a:schemeClr val="tx2">
                  <a:lumMod val="50000"/>
                </a:schemeClr>
              </a:solidFill>
              <a:latin typeface="KaiTi" charset="-122"/>
              <a:ea typeface="KaiTi" charset="-122"/>
              <a:cs typeface="KaiTi" charset="-122"/>
            </a:endParaRPr>
          </a:p>
        </p:txBody>
      </p:sp>
      <p:sp>
        <p:nvSpPr>
          <p:cNvPr id="169" name="Shape 169"/>
          <p:cNvSpPr/>
          <p:nvPr/>
        </p:nvSpPr>
        <p:spPr>
          <a:xfrm>
            <a:off x="6220237" y="2872023"/>
            <a:ext cx="3198794" cy="380553"/>
          </a:xfrm>
          <a:prstGeom prst="rect">
            <a:avLst/>
          </a:prstGeom>
          <a:ln w="12700">
            <a:miter lim="400000"/>
          </a:ln>
        </p:spPr>
        <p:txBody>
          <a:bodyPr lIns="45719" rIns="45719">
            <a:spAutoFit/>
          </a:bodyPr>
          <a:lstStyle>
            <a:lvl1pPr>
              <a:defRPr sz="1600"/>
            </a:lvl1pPr>
          </a:lstStyle>
          <a:p>
            <a:pPr marL="285750" lvl="0" indent="-285750">
              <a:buFont typeface="Arial" charset="0"/>
              <a:buChar char="•"/>
              <a:defRPr sz="1800">
                <a:solidFill>
                  <a:srgbClr val="000000"/>
                </a:solidFill>
              </a:defRPr>
            </a:pPr>
            <a:r>
              <a:rPr lang="zh-CN" altLang="en-US" sz="1800" dirty="0">
                <a:solidFill>
                  <a:schemeClr val="tx2">
                    <a:lumMod val="50000"/>
                  </a:schemeClr>
                </a:solidFill>
                <a:latin typeface="KaiTi" charset="-122"/>
                <a:ea typeface="KaiTi" charset="-122"/>
                <a:cs typeface="KaiTi" charset="-122"/>
              </a:rPr>
              <a:t>产品评估</a:t>
            </a:r>
            <a:endParaRPr sz="1800" dirty="0">
              <a:solidFill>
                <a:schemeClr val="tx2">
                  <a:lumMod val="50000"/>
                </a:schemeClr>
              </a:solidFill>
              <a:latin typeface="KaiTi" charset="-122"/>
              <a:ea typeface="KaiTi" charset="-122"/>
              <a:cs typeface="KaiTi" charset="-122"/>
            </a:endParaRPr>
          </a:p>
        </p:txBody>
      </p:sp>
      <p:sp>
        <p:nvSpPr>
          <p:cNvPr id="170" name="Shape 170"/>
          <p:cNvSpPr/>
          <p:nvPr/>
        </p:nvSpPr>
        <p:spPr>
          <a:xfrm>
            <a:off x="6220237" y="3494210"/>
            <a:ext cx="4254912" cy="380553"/>
          </a:xfrm>
          <a:prstGeom prst="rect">
            <a:avLst/>
          </a:prstGeom>
          <a:ln w="12700">
            <a:miter lim="400000"/>
          </a:ln>
        </p:spPr>
        <p:txBody>
          <a:bodyPr lIns="45719" rIns="45719">
            <a:spAutoFit/>
          </a:bodyPr>
          <a:lstStyle>
            <a:lvl1pPr>
              <a:defRPr sz="1600"/>
            </a:lvl1pPr>
          </a:lstStyle>
          <a:p>
            <a:pPr marL="285750" lvl="0" indent="-285750">
              <a:buFont typeface="Arial" charset="0"/>
              <a:buChar char="•"/>
              <a:defRPr sz="1800">
                <a:solidFill>
                  <a:srgbClr val="000000"/>
                </a:solidFill>
              </a:defRPr>
            </a:pPr>
            <a:r>
              <a:rPr lang="zh-CN" altLang="en-US" sz="1800" dirty="0">
                <a:solidFill>
                  <a:schemeClr val="tx2">
                    <a:lumMod val="50000"/>
                  </a:schemeClr>
                </a:solidFill>
                <a:latin typeface="KaiTi" charset="-122"/>
                <a:ea typeface="KaiTi" charset="-122"/>
                <a:cs typeface="KaiTi" charset="-122"/>
              </a:rPr>
              <a:t>产品个性化排序</a:t>
            </a:r>
            <a:endParaRPr sz="1800" dirty="0">
              <a:solidFill>
                <a:schemeClr val="tx2">
                  <a:lumMod val="50000"/>
                </a:schemeClr>
              </a:solidFill>
              <a:latin typeface="KaiTi" charset="-122"/>
              <a:ea typeface="KaiTi" charset="-122"/>
              <a:cs typeface="KaiTi" charset="-122"/>
            </a:endParaRPr>
          </a:p>
        </p:txBody>
      </p:sp>
      <p:sp>
        <p:nvSpPr>
          <p:cNvPr id="171" name="Shape 171"/>
          <p:cNvSpPr/>
          <p:nvPr/>
        </p:nvSpPr>
        <p:spPr>
          <a:xfrm>
            <a:off x="6220237" y="4157530"/>
            <a:ext cx="4926183" cy="380553"/>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dirty="0">
                <a:solidFill>
                  <a:schemeClr val="tx2">
                    <a:lumMod val="50000"/>
                  </a:schemeClr>
                </a:solidFill>
                <a:latin typeface="KaiTi" charset="-122"/>
                <a:ea typeface="KaiTi" charset="-122"/>
                <a:cs typeface="KaiTi" charset="-122"/>
              </a:rPr>
              <a:t>个性化智能金融产品推荐</a:t>
            </a:r>
            <a:endParaRPr dirty="0">
              <a:solidFill>
                <a:schemeClr val="tx2">
                  <a:lumMod val="50000"/>
                </a:schemeClr>
              </a:solidFill>
              <a:latin typeface="KaiTi" charset="-122"/>
              <a:ea typeface="KaiTi" charset="-122"/>
              <a:cs typeface="KaiTi" charset="-122"/>
            </a:endParaRPr>
          </a:p>
        </p:txBody>
      </p:sp>
      <p:sp>
        <p:nvSpPr>
          <p:cNvPr id="173" name="Shape 173"/>
          <p:cNvSpPr/>
          <p:nvPr/>
        </p:nvSpPr>
        <p:spPr>
          <a:xfrm>
            <a:off x="1710817" y="4078417"/>
            <a:ext cx="1177579" cy="2813102"/>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solidFill>
                <a:schemeClr val="tx2">
                  <a:lumMod val="50000"/>
                </a:schemeClr>
              </a:solidFill>
              <a:latin typeface="KaiTi" charset="-122"/>
              <a:ea typeface="KaiTi" charset="-122"/>
              <a:cs typeface="KaiTi" charset="-122"/>
            </a:endParaRPr>
          </a:p>
        </p:txBody>
      </p:sp>
      <p:sp>
        <p:nvSpPr>
          <p:cNvPr id="14" name="文本框 13"/>
          <p:cNvSpPr txBox="1"/>
          <p:nvPr/>
        </p:nvSpPr>
        <p:spPr>
          <a:xfrm>
            <a:off x="503902" y="1039869"/>
            <a:ext cx="4548429" cy="112953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rPr>
              <a:t>投前：</a:t>
            </a:r>
            <a:endParaRPr kumimoji="0" lang="en-US" altLang="zh-CN" sz="18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solidFill>
                  <a:schemeClr val="tx2">
                    <a:lumMod val="50000"/>
                  </a:schemeClr>
                </a:solidFill>
                <a:latin typeface="KaiTi" charset="-122"/>
                <a:ea typeface="KaiTi" charset="-122"/>
                <a:cs typeface="KaiTi" charset="-122"/>
              </a:rPr>
              <a:t>      </a:t>
            </a:r>
            <a:r>
              <a:rPr lang="zh-CN" altLang="en-US" sz="1600" b="1" dirty="0">
                <a:solidFill>
                  <a:schemeClr val="tx2">
                    <a:lumMod val="50000"/>
                  </a:schemeClr>
                </a:solidFill>
                <a:latin typeface="KaiTi" charset="-122"/>
                <a:ea typeface="KaiTi" charset="-122"/>
                <a:cs typeface="KaiTi" charset="-122"/>
              </a:rPr>
              <a:t> 如何挑选出适合自己的金融产品</a:t>
            </a:r>
            <a:r>
              <a:rPr lang="en-US" altLang="zh-CN" sz="1600" b="1" dirty="0">
                <a:solidFill>
                  <a:schemeClr val="tx2">
                    <a:lumMod val="50000"/>
                  </a:schemeClr>
                </a:solidFill>
                <a:latin typeface="KaiTi" charset="-122"/>
                <a:ea typeface="KaiTi" charset="-122"/>
                <a:cs typeface="KaiTi" charset="-122"/>
              </a:rPr>
              <a:t>,</a:t>
            </a:r>
            <a:r>
              <a:rPr lang="zh-CN" altLang="en-US" sz="1600" b="1" dirty="0">
                <a:solidFill>
                  <a:schemeClr val="tx2">
                    <a:lumMod val="50000"/>
                  </a:schemeClr>
                </a:solidFill>
                <a:latin typeface="KaiTi" charset="-122"/>
                <a:ea typeface="KaiTi" charset="-122"/>
                <a:cs typeface="KaiTi" charset="-122"/>
              </a:rPr>
              <a:t>进行多元化资产配置</a:t>
            </a:r>
            <a:endParaRPr kumimoji="0" lang="zh-CN" altLang="en-US" sz="1600" b="1" i="0" u="none" strike="noStrike" cap="none" spc="0" normalizeH="0" baseline="0" dirty="0">
              <a:ln>
                <a:noFill/>
              </a:ln>
              <a:solidFill>
                <a:schemeClr val="tx2">
                  <a:lumMod val="50000"/>
                </a:schemeClr>
              </a:solidFill>
              <a:effectLst/>
              <a:uFillTx/>
              <a:latin typeface="KaiTi" charset="-122"/>
              <a:ea typeface="KaiTi" charset="-122"/>
              <a:cs typeface="KaiTi" charset="-122"/>
              <a:sym typeface="微软雅黑" panose="020B0503020204020204" charset="-122"/>
            </a:endParaRPr>
          </a:p>
        </p:txBody>
      </p:sp>
      <p:sp>
        <p:nvSpPr>
          <p:cNvPr id="16" name="Shape 171"/>
          <p:cNvSpPr/>
          <p:nvPr/>
        </p:nvSpPr>
        <p:spPr>
          <a:xfrm>
            <a:off x="6220237" y="4820850"/>
            <a:ext cx="4926183" cy="380553"/>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dirty="0">
                <a:solidFill>
                  <a:schemeClr val="tx2">
                    <a:lumMod val="50000"/>
                  </a:schemeClr>
                </a:solidFill>
                <a:latin typeface="KaiTi" charset="-122"/>
                <a:ea typeface="KaiTi" charset="-122"/>
                <a:cs typeface="KaiTi" charset="-122"/>
              </a:rPr>
              <a:t>资产组合配置</a:t>
            </a:r>
            <a:endParaRPr dirty="0">
              <a:solidFill>
                <a:schemeClr val="tx2">
                  <a:lumMod val="50000"/>
                </a:schemeClr>
              </a:solidFill>
              <a:latin typeface="KaiTi" charset="-122"/>
              <a:ea typeface="KaiTi" charset="-122"/>
              <a:cs typeface="KaiTi" charset="-122"/>
            </a:endParaRPr>
          </a:p>
        </p:txBody>
      </p:sp>
      <p:sp>
        <p:nvSpPr>
          <p:cNvPr id="15"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solidFill>
                  <a:schemeClr val="tx2">
                    <a:lumMod val="50000"/>
                  </a:schemeClr>
                </a:solidFill>
                <a:latin typeface="KaiTi" charset="-122"/>
                <a:ea typeface="KaiTi" charset="-122"/>
                <a:cs typeface="KaiTi" charset="-122"/>
              </a:rPr>
              <a:t>典型用户需求           </a:t>
            </a:r>
            <a:r>
              <a:rPr lang="zh-CN" altLang="en-US" sz="3600" dirty="0">
                <a:solidFill>
                  <a:schemeClr val="tx2">
                    <a:lumMod val="50000"/>
                  </a:schemeClr>
                </a:solidFill>
                <a:latin typeface="+mj-lt"/>
                <a:ea typeface="KaiTi" charset="-122"/>
                <a:cs typeface="KaiTi" charset="-122"/>
              </a:rPr>
              <a:t> </a:t>
            </a:r>
            <a:r>
              <a:rPr lang="en-US" altLang="zh-CN" sz="3600" dirty="0" err="1">
                <a:solidFill>
                  <a:schemeClr val="tx2">
                    <a:lumMod val="50000"/>
                  </a:schemeClr>
                </a:solidFill>
                <a:latin typeface="New Peninim MT" pitchFamily="2" charset="-79"/>
                <a:ea typeface="KaiTi" charset="-122"/>
                <a:cs typeface="New Peninim MT" pitchFamily="2" charset="-79"/>
              </a:rPr>
              <a:t>FDTAI</a:t>
            </a:r>
            <a:r>
              <a:rPr sz="3600" dirty="0" err="1">
                <a:solidFill>
                  <a:schemeClr val="tx2">
                    <a:lumMod val="50000"/>
                  </a:schemeClr>
                </a:solidFill>
                <a:latin typeface="KaiTi" charset="-122"/>
                <a:ea typeface="KaiTi" charset="-122"/>
                <a:cs typeface="KaiTi" charset="-122"/>
              </a:rPr>
              <a:t>对策</a:t>
            </a:r>
            <a:endParaRPr sz="3600" dirty="0">
              <a:solidFill>
                <a:schemeClr val="tx2">
                  <a:lumMod val="50000"/>
                </a:schemeClr>
              </a:solidFill>
              <a:latin typeface="KaiTi" charset="-122"/>
              <a:ea typeface="KaiTi" charset="-122"/>
              <a:cs typeface="KaiTi" charset="-122"/>
            </a:endParaRPr>
          </a:p>
        </p:txBody>
      </p:sp>
      <p:pic>
        <p:nvPicPr>
          <p:cNvPr id="17" name="图像" descr="图像">
            <a:extLst>
              <a:ext uri="{FF2B5EF4-FFF2-40B4-BE49-F238E27FC236}">
                <a16:creationId xmlns:a16="http://schemas.microsoft.com/office/drawing/2014/main" id="{39D946A6-0600-604B-BDA6-36AC06EE8783}"/>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8" name="灯片编号占位符 3">
            <a:extLst>
              <a:ext uri="{FF2B5EF4-FFF2-40B4-BE49-F238E27FC236}">
                <a16:creationId xmlns:a16="http://schemas.microsoft.com/office/drawing/2014/main" id="{B4273C9B-D0D1-0543-B925-FB293CDA4BA2}"/>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28</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175887418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Shape 215"/>
          <p:cNvSpPr/>
          <p:nvPr/>
        </p:nvSpPr>
        <p:spPr>
          <a:xfrm>
            <a:off x="503902" y="34365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endParaRPr sz="3600" dirty="0">
              <a:solidFill>
                <a:schemeClr val="tx2">
                  <a:lumMod val="50000"/>
                </a:schemeClr>
              </a:solidFill>
              <a:latin typeface="KaiTi" charset="-122"/>
              <a:ea typeface="KaiTi" charset="-122"/>
              <a:cs typeface="KaiTi" charset="-122"/>
            </a:endParaRPr>
          </a:p>
        </p:txBody>
      </p:sp>
      <p:sp>
        <p:nvSpPr>
          <p:cNvPr id="40" name="矩形 39"/>
          <p:cNvSpPr/>
          <p:nvPr/>
        </p:nvSpPr>
        <p:spPr>
          <a:xfrm>
            <a:off x="2022110" y="2307628"/>
            <a:ext cx="7746554" cy="4466144"/>
          </a:xfrm>
          <a:prstGeom prst="rect">
            <a:avLst/>
          </a:prstGeom>
          <a:noFill/>
          <a:ln w="12700" cmpd="thinThick">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solidFill>
                <a:srgbClr val="00B0F0"/>
              </a:solidFill>
              <a:latin typeface="KaiTi" charset="-122"/>
              <a:ea typeface="KaiTi" charset="-122"/>
              <a:cs typeface="KaiTi" charset="-122"/>
            </a:endParaRPr>
          </a:p>
        </p:txBody>
      </p:sp>
      <p:sp>
        <p:nvSpPr>
          <p:cNvPr id="41" name="文本框 40"/>
          <p:cNvSpPr txBox="1"/>
          <p:nvPr/>
        </p:nvSpPr>
        <p:spPr>
          <a:xfrm>
            <a:off x="2187786" y="2882944"/>
            <a:ext cx="1466848" cy="348557"/>
          </a:xfrm>
          <a:prstGeom prst="rect">
            <a:avLst/>
          </a:prstGeom>
          <a:noFill/>
          <a:ln>
            <a:solidFill>
              <a:schemeClr val="tx1"/>
            </a:solidFill>
          </a:ln>
        </p:spPr>
        <p:txBody>
          <a:bodyPr wrap="square" rtlCol="0">
            <a:spAutoFit/>
          </a:bodyPr>
          <a:lstStyle/>
          <a:p>
            <a:r>
              <a:rPr kumimoji="1" lang="zh-CN" altLang="en-US" sz="1600" dirty="0">
                <a:latin typeface="KaiTi" charset="-122"/>
                <a:ea typeface="KaiTi" charset="-122"/>
                <a:cs typeface="KaiTi" charset="-122"/>
              </a:rPr>
              <a:t>用户全景画像</a:t>
            </a:r>
          </a:p>
        </p:txBody>
      </p:sp>
      <p:sp>
        <p:nvSpPr>
          <p:cNvPr id="42" name="矩形 41"/>
          <p:cNvSpPr/>
          <p:nvPr/>
        </p:nvSpPr>
        <p:spPr>
          <a:xfrm>
            <a:off x="3644522" y="2844228"/>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投资偏好</a:t>
            </a:r>
          </a:p>
        </p:txBody>
      </p:sp>
      <p:sp>
        <p:nvSpPr>
          <p:cNvPr id="43" name="矩形 42"/>
          <p:cNvSpPr/>
          <p:nvPr/>
        </p:nvSpPr>
        <p:spPr>
          <a:xfrm>
            <a:off x="4854846" y="2839742"/>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风险偏好</a:t>
            </a:r>
          </a:p>
        </p:txBody>
      </p:sp>
      <p:sp>
        <p:nvSpPr>
          <p:cNvPr id="44" name="矩形 43"/>
          <p:cNvSpPr/>
          <p:nvPr/>
        </p:nvSpPr>
        <p:spPr>
          <a:xfrm>
            <a:off x="6060280" y="2867569"/>
            <a:ext cx="1072566" cy="40613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行为偏好</a:t>
            </a:r>
          </a:p>
        </p:txBody>
      </p:sp>
      <p:sp>
        <p:nvSpPr>
          <p:cNvPr id="45" name="矩形 44"/>
          <p:cNvSpPr/>
          <p:nvPr/>
        </p:nvSpPr>
        <p:spPr>
          <a:xfrm>
            <a:off x="7297433" y="2858121"/>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周期偏好</a:t>
            </a:r>
          </a:p>
        </p:txBody>
      </p:sp>
      <p:sp>
        <p:nvSpPr>
          <p:cNvPr id="46" name="矩形 45"/>
          <p:cNvSpPr/>
          <p:nvPr/>
        </p:nvSpPr>
        <p:spPr>
          <a:xfrm>
            <a:off x="8467738" y="2858121"/>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47" name="矩形 46"/>
          <p:cNvSpPr/>
          <p:nvPr/>
        </p:nvSpPr>
        <p:spPr>
          <a:xfrm>
            <a:off x="3644522" y="3696267"/>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用户价值</a:t>
            </a:r>
          </a:p>
        </p:txBody>
      </p:sp>
      <p:sp>
        <p:nvSpPr>
          <p:cNvPr id="48" name="矩形 47"/>
          <p:cNvSpPr/>
          <p:nvPr/>
        </p:nvSpPr>
        <p:spPr>
          <a:xfrm>
            <a:off x="4830829" y="3704995"/>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活跃度</a:t>
            </a:r>
          </a:p>
        </p:txBody>
      </p:sp>
      <p:sp>
        <p:nvSpPr>
          <p:cNvPr id="49" name="矩形 48"/>
          <p:cNvSpPr/>
          <p:nvPr/>
        </p:nvSpPr>
        <p:spPr>
          <a:xfrm>
            <a:off x="6051434" y="3705871"/>
            <a:ext cx="1072566" cy="40613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忠诚度</a:t>
            </a:r>
          </a:p>
        </p:txBody>
      </p:sp>
      <p:sp>
        <p:nvSpPr>
          <p:cNvPr id="50" name="矩形 49"/>
          <p:cNvSpPr/>
          <p:nvPr/>
        </p:nvSpPr>
        <p:spPr>
          <a:xfrm>
            <a:off x="7260262" y="3696267"/>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投资需求</a:t>
            </a:r>
          </a:p>
        </p:txBody>
      </p:sp>
      <p:sp>
        <p:nvSpPr>
          <p:cNvPr id="51" name="矩形 50"/>
          <p:cNvSpPr/>
          <p:nvPr/>
        </p:nvSpPr>
        <p:spPr>
          <a:xfrm>
            <a:off x="8467738" y="3696023"/>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2" name="矩形 51"/>
          <p:cNvSpPr/>
          <p:nvPr/>
        </p:nvSpPr>
        <p:spPr>
          <a:xfrm>
            <a:off x="3644523" y="4568629"/>
            <a:ext cx="1408389" cy="436555"/>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线性层次模型</a:t>
            </a:r>
          </a:p>
        </p:txBody>
      </p:sp>
      <p:sp>
        <p:nvSpPr>
          <p:cNvPr id="53" name="矩形 52"/>
          <p:cNvSpPr/>
          <p:nvPr/>
        </p:nvSpPr>
        <p:spPr>
          <a:xfrm>
            <a:off x="5342992" y="4576676"/>
            <a:ext cx="1319079" cy="44260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集成树模型</a:t>
            </a:r>
          </a:p>
        </p:txBody>
      </p:sp>
      <p:sp>
        <p:nvSpPr>
          <p:cNvPr id="54" name="矩形 53"/>
          <p:cNvSpPr/>
          <p:nvPr/>
        </p:nvSpPr>
        <p:spPr>
          <a:xfrm>
            <a:off x="6939226" y="4569055"/>
            <a:ext cx="1238432" cy="453673"/>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贝叶斯算法</a:t>
            </a:r>
          </a:p>
        </p:txBody>
      </p:sp>
      <p:sp>
        <p:nvSpPr>
          <p:cNvPr id="55" name="矩形 54"/>
          <p:cNvSpPr/>
          <p:nvPr/>
        </p:nvSpPr>
        <p:spPr>
          <a:xfrm>
            <a:off x="3644522" y="5451773"/>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特征抽取</a:t>
            </a:r>
          </a:p>
        </p:txBody>
      </p:sp>
      <p:sp>
        <p:nvSpPr>
          <p:cNvPr id="56" name="矩形 55"/>
          <p:cNvSpPr/>
          <p:nvPr/>
        </p:nvSpPr>
        <p:spPr>
          <a:xfrm>
            <a:off x="4852006" y="5460407"/>
            <a:ext cx="1631806" cy="40613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归一化及标准化</a:t>
            </a:r>
          </a:p>
        </p:txBody>
      </p:sp>
      <p:sp>
        <p:nvSpPr>
          <p:cNvPr id="57" name="矩形 56"/>
          <p:cNvSpPr/>
          <p:nvPr/>
        </p:nvSpPr>
        <p:spPr>
          <a:xfrm>
            <a:off x="6618730" y="5460407"/>
            <a:ext cx="1744002" cy="40524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特征选取及组合</a:t>
            </a:r>
          </a:p>
        </p:txBody>
      </p:sp>
      <p:sp>
        <p:nvSpPr>
          <p:cNvPr id="58" name="矩形 57"/>
          <p:cNvSpPr/>
          <p:nvPr/>
        </p:nvSpPr>
        <p:spPr>
          <a:xfrm>
            <a:off x="8467738" y="5450207"/>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9" name="矩形 58"/>
          <p:cNvSpPr/>
          <p:nvPr/>
        </p:nvSpPr>
        <p:spPr>
          <a:xfrm>
            <a:off x="3644522" y="6297054"/>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行为数据</a:t>
            </a:r>
          </a:p>
        </p:txBody>
      </p:sp>
      <p:sp>
        <p:nvSpPr>
          <p:cNvPr id="60" name="矩形 59"/>
          <p:cNvSpPr/>
          <p:nvPr/>
        </p:nvSpPr>
        <p:spPr>
          <a:xfrm>
            <a:off x="4854846" y="6305867"/>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交易数据</a:t>
            </a:r>
          </a:p>
        </p:txBody>
      </p:sp>
      <p:sp>
        <p:nvSpPr>
          <p:cNvPr id="61" name="矩形 60"/>
          <p:cNvSpPr/>
          <p:nvPr/>
        </p:nvSpPr>
        <p:spPr>
          <a:xfrm>
            <a:off x="6064138" y="6305868"/>
            <a:ext cx="1072566" cy="40613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基础数据</a:t>
            </a:r>
          </a:p>
        </p:txBody>
      </p:sp>
      <p:sp>
        <p:nvSpPr>
          <p:cNvPr id="62" name="矩形 61"/>
          <p:cNvSpPr/>
          <p:nvPr/>
        </p:nvSpPr>
        <p:spPr>
          <a:xfrm>
            <a:off x="7288424" y="6297053"/>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客服数据</a:t>
            </a:r>
          </a:p>
        </p:txBody>
      </p:sp>
      <p:sp>
        <p:nvSpPr>
          <p:cNvPr id="63" name="矩形 62"/>
          <p:cNvSpPr/>
          <p:nvPr/>
        </p:nvSpPr>
        <p:spPr>
          <a:xfrm>
            <a:off x="8467738" y="6297053"/>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64" name="文本框 63"/>
          <p:cNvSpPr txBox="1"/>
          <p:nvPr/>
        </p:nvSpPr>
        <p:spPr>
          <a:xfrm>
            <a:off x="2382948" y="3685668"/>
            <a:ext cx="1055661" cy="348557"/>
          </a:xfrm>
          <a:prstGeom prst="rect">
            <a:avLst/>
          </a:prstGeom>
          <a:noFill/>
          <a:ln>
            <a:solidFill>
              <a:schemeClr val="tx1"/>
            </a:solidFill>
          </a:ln>
        </p:spPr>
        <p:txBody>
          <a:bodyPr wrap="square" rtlCol="0">
            <a:spAutoFit/>
          </a:bodyPr>
          <a:lstStyle/>
          <a:p>
            <a:r>
              <a:rPr kumimoji="1" lang="zh-CN" altLang="en-US" sz="1600" dirty="0">
                <a:latin typeface="KaiTi" charset="-122"/>
                <a:ea typeface="KaiTi" charset="-122"/>
                <a:cs typeface="KaiTi" charset="-122"/>
              </a:rPr>
              <a:t>模型预测</a:t>
            </a:r>
          </a:p>
        </p:txBody>
      </p:sp>
      <p:sp>
        <p:nvSpPr>
          <p:cNvPr id="65" name="文本框 64"/>
          <p:cNvSpPr txBox="1"/>
          <p:nvPr/>
        </p:nvSpPr>
        <p:spPr>
          <a:xfrm>
            <a:off x="2381738" y="4573239"/>
            <a:ext cx="1000870" cy="348557"/>
          </a:xfrm>
          <a:prstGeom prst="rect">
            <a:avLst/>
          </a:prstGeom>
          <a:noFill/>
          <a:ln>
            <a:solidFill>
              <a:schemeClr val="tx1"/>
            </a:solidFill>
          </a:ln>
        </p:spPr>
        <p:txBody>
          <a:bodyPr wrap="square" rtlCol="0">
            <a:spAutoFit/>
          </a:bodyPr>
          <a:lstStyle/>
          <a:p>
            <a:r>
              <a:rPr kumimoji="1" lang="zh-CN" altLang="en-US" sz="1600" dirty="0">
                <a:latin typeface="KaiTi" charset="-122"/>
                <a:ea typeface="KaiTi" charset="-122"/>
                <a:cs typeface="KaiTi" charset="-122"/>
              </a:rPr>
              <a:t>机器学习</a:t>
            </a:r>
          </a:p>
        </p:txBody>
      </p:sp>
      <p:sp>
        <p:nvSpPr>
          <p:cNvPr id="66" name="文本框 65"/>
          <p:cNvSpPr txBox="1"/>
          <p:nvPr/>
        </p:nvSpPr>
        <p:spPr>
          <a:xfrm>
            <a:off x="2326945" y="5460810"/>
            <a:ext cx="1167669" cy="348557"/>
          </a:xfrm>
          <a:prstGeom prst="rect">
            <a:avLst/>
          </a:prstGeom>
          <a:noFill/>
          <a:ln>
            <a:solidFill>
              <a:schemeClr val="tx1"/>
            </a:solidFill>
          </a:ln>
        </p:spPr>
        <p:txBody>
          <a:bodyPr wrap="square" rtlCol="0">
            <a:spAutoFit/>
          </a:bodyPr>
          <a:lstStyle/>
          <a:p>
            <a:r>
              <a:rPr kumimoji="1" lang="zh-CN" altLang="en-US" sz="1600" dirty="0">
                <a:latin typeface="KaiTi" charset="-122"/>
                <a:ea typeface="KaiTi" charset="-122"/>
                <a:cs typeface="KaiTi" charset="-122"/>
              </a:rPr>
              <a:t>特征计算</a:t>
            </a:r>
          </a:p>
        </p:txBody>
      </p:sp>
      <p:sp>
        <p:nvSpPr>
          <p:cNvPr id="67" name="文本框 66"/>
          <p:cNvSpPr txBox="1"/>
          <p:nvPr/>
        </p:nvSpPr>
        <p:spPr>
          <a:xfrm>
            <a:off x="2347805" y="6334451"/>
            <a:ext cx="1146810" cy="348557"/>
          </a:xfrm>
          <a:prstGeom prst="rect">
            <a:avLst/>
          </a:prstGeom>
          <a:noFill/>
          <a:ln>
            <a:solidFill>
              <a:schemeClr val="tx1"/>
            </a:solidFill>
          </a:ln>
        </p:spPr>
        <p:txBody>
          <a:bodyPr wrap="square" rtlCol="0">
            <a:spAutoFit/>
          </a:bodyPr>
          <a:lstStyle/>
          <a:p>
            <a:r>
              <a:rPr kumimoji="1" lang="zh-CN" altLang="en-US" sz="1600" dirty="0">
                <a:latin typeface="KaiTi" charset="-122"/>
                <a:ea typeface="KaiTi" charset="-122"/>
                <a:cs typeface="KaiTi" charset="-122"/>
              </a:rPr>
              <a:t>数据录入</a:t>
            </a:r>
          </a:p>
        </p:txBody>
      </p:sp>
      <p:sp>
        <p:nvSpPr>
          <p:cNvPr id="68" name="矩形 67"/>
          <p:cNvSpPr/>
          <p:nvPr/>
        </p:nvSpPr>
        <p:spPr>
          <a:xfrm>
            <a:off x="3644523" y="3258815"/>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标签</a:t>
            </a:r>
            <a:r>
              <a:rPr kumimoji="1" lang="en-US" altLang="zh-CN" sz="1600" b="1" dirty="0">
                <a:solidFill>
                  <a:schemeClr val="tx1"/>
                </a:solidFill>
                <a:latin typeface="KaiTi" charset="-122"/>
                <a:ea typeface="KaiTi" charset="-122"/>
                <a:cs typeface="KaiTi" charset="-122"/>
              </a:rPr>
              <a:t>+</a:t>
            </a:r>
            <a:r>
              <a:rPr kumimoji="1" lang="zh-CN" altLang="en-US" sz="1600" b="1" dirty="0">
                <a:solidFill>
                  <a:schemeClr val="tx1"/>
                </a:solidFill>
                <a:latin typeface="KaiTi" charset="-122"/>
                <a:ea typeface="KaiTi" charset="-122"/>
                <a:cs typeface="KaiTi" charset="-122"/>
              </a:rPr>
              <a:t>营销模型建模</a:t>
            </a:r>
          </a:p>
        </p:txBody>
      </p:sp>
      <p:sp>
        <p:nvSpPr>
          <p:cNvPr id="69" name="矩形 68"/>
          <p:cNvSpPr/>
          <p:nvPr/>
        </p:nvSpPr>
        <p:spPr>
          <a:xfrm>
            <a:off x="3644523" y="4121865"/>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机器学习建模</a:t>
            </a:r>
          </a:p>
        </p:txBody>
      </p:sp>
      <p:sp>
        <p:nvSpPr>
          <p:cNvPr id="70" name="矩形 69"/>
          <p:cNvSpPr/>
          <p:nvPr/>
        </p:nvSpPr>
        <p:spPr>
          <a:xfrm>
            <a:off x="3644523" y="5005915"/>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特征及标签生成</a:t>
            </a:r>
          </a:p>
        </p:txBody>
      </p:sp>
      <p:sp>
        <p:nvSpPr>
          <p:cNvPr id="71" name="矩形 70"/>
          <p:cNvSpPr/>
          <p:nvPr/>
        </p:nvSpPr>
        <p:spPr>
          <a:xfrm>
            <a:off x="3644523" y="5859218"/>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lumMod val="95000"/>
                    <a:lumOff val="5000"/>
                  </a:schemeClr>
                </a:solidFill>
                <a:latin typeface="KaiTi" charset="-122"/>
                <a:ea typeface="KaiTi" charset="-122"/>
                <a:cs typeface="KaiTi" charset="-122"/>
              </a:rPr>
              <a:t>清洗、结构化、统计建模</a:t>
            </a:r>
          </a:p>
        </p:txBody>
      </p:sp>
      <p:sp>
        <p:nvSpPr>
          <p:cNvPr id="72" name="文本框 71"/>
          <p:cNvSpPr txBox="1"/>
          <p:nvPr/>
        </p:nvSpPr>
        <p:spPr>
          <a:xfrm>
            <a:off x="4347991" y="2399285"/>
            <a:ext cx="3467616" cy="348557"/>
          </a:xfrm>
          <a:prstGeom prst="rect">
            <a:avLst/>
          </a:prstGeom>
          <a:noFill/>
          <a:ln>
            <a:solidFill>
              <a:schemeClr val="tx1"/>
            </a:solidFill>
          </a:ln>
        </p:spPr>
        <p:txBody>
          <a:bodyPr wrap="none" rtlCol="0">
            <a:spAutoFit/>
          </a:bodyPr>
          <a:lstStyle/>
          <a:p>
            <a:r>
              <a:rPr kumimoji="1" lang="zh-CN" altLang="en-US" sz="1600" b="1" dirty="0">
                <a:latin typeface="KaiTi" charset="-122"/>
                <a:ea typeface="KaiTi" charset="-122"/>
                <a:cs typeface="KaiTi" charset="-122"/>
              </a:rPr>
              <a:t>基于数据规则和算法模型的用户画像</a:t>
            </a:r>
          </a:p>
        </p:txBody>
      </p:sp>
      <p:sp>
        <p:nvSpPr>
          <p:cNvPr id="73" name="矩形 72"/>
          <p:cNvSpPr/>
          <p:nvPr/>
        </p:nvSpPr>
        <p:spPr>
          <a:xfrm>
            <a:off x="8467738" y="4576801"/>
            <a:ext cx="1072566" cy="40939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37" name="Shape 310"/>
          <p:cNvSpPr/>
          <p:nvPr/>
        </p:nvSpPr>
        <p:spPr>
          <a:xfrm>
            <a:off x="741931" y="1087814"/>
            <a:ext cx="10358460" cy="1107996"/>
          </a:xfrm>
          <a:prstGeom prst="rect">
            <a:avLst/>
          </a:prstGeom>
          <a:ln w="12700">
            <a:miter lim="400000"/>
          </a:ln>
        </p:spPr>
        <p:txBody>
          <a:bodyPr wrap="square" lIns="0" tIns="0" rIns="0" bIns="0">
            <a:spAutoFit/>
          </a:bodyPr>
          <a:lstStyle/>
          <a:p>
            <a:pPr lvl="0">
              <a:defRPr>
                <a:solidFill>
                  <a:srgbClr val="000000"/>
                </a:solidFill>
              </a:defRPr>
            </a:pPr>
            <a:r>
              <a:rPr lang="zh-CN" altLang="en-US" sz="1600" dirty="0">
                <a:solidFill>
                  <a:schemeClr val="tx2">
                    <a:lumMod val="50000"/>
                  </a:schemeClr>
                </a:solidFill>
                <a:latin typeface="KaiTi" charset="-122"/>
                <a:ea typeface="KaiTi" charset="-122"/>
                <a:cs typeface="KaiTi" charset="-122"/>
              </a:rPr>
              <a:t>     </a:t>
            </a:r>
            <a:r>
              <a:rPr lang="en-US" altLang="zh-CN" dirty="0" err="1">
                <a:solidFill>
                  <a:schemeClr val="tx2">
                    <a:lumMod val="50000"/>
                  </a:schemeClr>
                </a:solidFill>
                <a:latin typeface="New Peninim MT" pitchFamily="2" charset="-79"/>
                <a:ea typeface="KaiTi" charset="-122"/>
                <a:cs typeface="New Peninim MT" pitchFamily="2" charset="-79"/>
              </a:rPr>
              <a:t>FDTScore</a:t>
            </a:r>
            <a:r>
              <a:rPr lang="zh-CN" altLang="en-US" dirty="0">
                <a:solidFill>
                  <a:schemeClr val="tx2">
                    <a:lumMod val="50000"/>
                  </a:schemeClr>
                </a:solidFill>
                <a:latin typeface="KaiTi" charset="-122"/>
                <a:ea typeface="KaiTi" charset="-122"/>
                <a:cs typeface="KaiTi" charset="-122"/>
              </a:rPr>
              <a:t>通过对用户和产品的深刻理解，结合大数据技术获取和分析用户群体的行为特征，</a:t>
            </a:r>
            <a:r>
              <a:rPr lang="zh-CN" altLang="en-US" dirty="0">
                <a:solidFill>
                  <a:schemeClr val="tx2">
                    <a:lumMod val="50000"/>
                  </a:schemeClr>
                </a:solidFill>
                <a:latin typeface="New Peninim MT" pitchFamily="2" charset="-79"/>
                <a:ea typeface="KaiTi" charset="-122"/>
                <a:cs typeface="New Peninim MT" pitchFamily="2" charset="-79"/>
              </a:rPr>
              <a:t>对投资者的投资偏好、风控偏好、风控能力、盈利能力、心理偏差等投资特征做综合评价</a:t>
            </a:r>
            <a:r>
              <a:rPr lang="zh-CN" altLang="en-US" dirty="0">
                <a:solidFill>
                  <a:schemeClr val="tx2">
                    <a:lumMod val="50000"/>
                  </a:schemeClr>
                </a:solidFill>
                <a:latin typeface="KaiTi" charset="-122"/>
                <a:ea typeface="KaiTi" charset="-122"/>
                <a:cs typeface="KaiTi" charset="-122"/>
              </a:rPr>
              <a:t>生成投资者画像标签</a:t>
            </a:r>
            <a:r>
              <a:rPr lang="zh-CN" altLang="en-US" dirty="0">
                <a:solidFill>
                  <a:schemeClr val="tx2">
                    <a:lumMod val="50000"/>
                  </a:schemeClr>
                </a:solidFill>
                <a:latin typeface="New Peninim MT" pitchFamily="2" charset="-79"/>
                <a:ea typeface="KaiTi" charset="-122"/>
                <a:cs typeface="New Peninim MT" pitchFamily="2" charset="-79"/>
              </a:rPr>
              <a:t>，</a:t>
            </a:r>
            <a:r>
              <a:rPr lang="zh-CN" altLang="en-US" dirty="0">
                <a:solidFill>
                  <a:schemeClr val="tx2">
                    <a:lumMod val="50000"/>
                  </a:schemeClr>
                </a:solidFill>
                <a:latin typeface="KaiTi" charset="-122"/>
                <a:ea typeface="KaiTi" charset="-122"/>
                <a:cs typeface="KaiTi" charset="-122"/>
              </a:rPr>
              <a:t>之后根据用户标签进行分类，协助券商构建和完善分级分类的客户营销体系，针对分类客户进行资源聚焦，</a:t>
            </a:r>
            <a:r>
              <a:rPr lang="zh-Hans" altLang="en-US" dirty="0">
                <a:solidFill>
                  <a:schemeClr val="tx2">
                    <a:lumMod val="50000"/>
                  </a:schemeClr>
                </a:solidFill>
                <a:latin typeface="KaiTi" charset="-122"/>
                <a:ea typeface="KaiTi" charset="-122"/>
                <a:cs typeface="KaiTi" charset="-122"/>
              </a:rPr>
              <a:t>为用户提供个性化投资服务</a:t>
            </a:r>
            <a:r>
              <a:rPr lang="zh-CN" altLang="en-US" dirty="0">
                <a:solidFill>
                  <a:schemeClr val="tx2">
                    <a:lumMod val="50000"/>
                  </a:schemeClr>
                </a:solidFill>
                <a:latin typeface="KaiTi" charset="-122"/>
                <a:ea typeface="KaiTi" charset="-122"/>
                <a:cs typeface="KaiTi" charset="-122"/>
              </a:rPr>
              <a:t>，改善客户体验，从而提升用户的活跃度</a:t>
            </a:r>
            <a:endParaRPr dirty="0">
              <a:solidFill>
                <a:schemeClr val="tx2">
                  <a:lumMod val="50000"/>
                </a:schemeClr>
              </a:solidFill>
              <a:latin typeface="KaiTi" charset="-122"/>
              <a:ea typeface="KaiTi" charset="-122"/>
              <a:cs typeface="KaiTi" charset="-122"/>
            </a:endParaRPr>
          </a:p>
        </p:txBody>
      </p:sp>
      <p:pic>
        <p:nvPicPr>
          <p:cNvPr id="74" name="图像" descr="图像">
            <a:extLst>
              <a:ext uri="{FF2B5EF4-FFF2-40B4-BE49-F238E27FC236}">
                <a16:creationId xmlns:a16="http://schemas.microsoft.com/office/drawing/2014/main" id="{185C6EB2-6D85-3A45-A440-21EEEB7D88CB}"/>
              </a:ext>
            </a:extLst>
          </p:cNvPr>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75" name="文本框 74">
            <a:extLst>
              <a:ext uri="{FF2B5EF4-FFF2-40B4-BE49-F238E27FC236}">
                <a16:creationId xmlns:a16="http://schemas.microsoft.com/office/drawing/2014/main" id="{0A799B43-E1A5-0443-B057-B1485E133B93}"/>
              </a:ext>
            </a:extLst>
          </p:cNvPr>
          <p:cNvSpPr txBox="1"/>
          <p:nvPr/>
        </p:nvSpPr>
        <p:spPr>
          <a:xfrm>
            <a:off x="643160" y="274314"/>
            <a:ext cx="7010400" cy="646331"/>
          </a:xfrm>
          <a:prstGeom prst="rect">
            <a:avLst/>
          </a:prstGeom>
          <a:noFill/>
        </p:spPr>
        <p:txBody>
          <a:bodyPr wrap="square" rtlCol="0">
            <a:spAutoFit/>
          </a:bodyPr>
          <a:lstStyle/>
          <a:p>
            <a:pPr lvl="0">
              <a:defRPr sz="1800">
                <a:solidFill>
                  <a:srgbClr val="000000"/>
                </a:solidFill>
              </a:defRPr>
            </a:pPr>
            <a:r>
              <a:rPr lang="zh-CN" altLang="en-US" sz="3600" dirty="0">
                <a:solidFill>
                  <a:schemeClr val="tx2">
                    <a:lumMod val="50000"/>
                  </a:schemeClr>
                </a:solidFill>
                <a:latin typeface="KaiTi" charset="-122"/>
                <a:ea typeface="KaiTi" charset="-122"/>
                <a:cs typeface="KaiTi" charset="-122"/>
              </a:rPr>
              <a:t>智能用户画像</a:t>
            </a:r>
          </a:p>
        </p:txBody>
      </p:sp>
      <p:sp>
        <p:nvSpPr>
          <p:cNvPr id="76" name="矩形 75">
            <a:extLst>
              <a:ext uri="{FF2B5EF4-FFF2-40B4-BE49-F238E27FC236}">
                <a16:creationId xmlns:a16="http://schemas.microsoft.com/office/drawing/2014/main" id="{0B0C7619-73AE-D84E-9BF0-0A5F4B15CABA}"/>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D11C9CA4-637F-E443-9B10-E08DD6B90DE5}"/>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灯片编号占位符 3">
            <a:extLst>
              <a:ext uri="{FF2B5EF4-FFF2-40B4-BE49-F238E27FC236}">
                <a16:creationId xmlns:a16="http://schemas.microsoft.com/office/drawing/2014/main" id="{1216E454-C522-AE46-910E-15D4FF62C8CA}"/>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29</a:t>
            </a:fld>
            <a:endParaRPr lang="zh-CN" altLang="en-US" dirty="0"/>
          </a:p>
        </p:txBody>
      </p:sp>
    </p:spTree>
    <p:extLst>
      <p:ext uri="{BB962C8B-B14F-4D97-AF65-F5344CB8AC3E}">
        <p14:creationId xmlns:p14="http://schemas.microsoft.com/office/powerpoint/2010/main" val="696278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657448" y="274314"/>
            <a:ext cx="7010400" cy="646331"/>
          </a:xfrm>
          <a:prstGeom prst="rect">
            <a:avLst/>
          </a:prstGeom>
          <a:noFill/>
        </p:spPr>
        <p:txBody>
          <a:bodyPr wrap="square" rtlCol="0">
            <a:spAutoFit/>
          </a:bodyPr>
          <a:lstStyle/>
          <a:p>
            <a:r>
              <a:rPr kumimoji="1" lang="zh-Hans" altLang="en-US" sz="3600" dirty="0">
                <a:latin typeface="KaiTi" panose="02010609060101010101" pitchFamily="49" charset="-122"/>
                <a:ea typeface="KaiTi" panose="02010609060101010101" pitchFamily="49" charset="-122"/>
              </a:rPr>
              <a:t>智能金融产品画像</a:t>
            </a:r>
            <a:endParaRPr kumimoji="1" lang="zh-CN" altLang="en-US" sz="3600" dirty="0">
              <a:latin typeface="KaiTi" panose="02010609060101010101" pitchFamily="49" charset="-122"/>
              <a:ea typeface="KaiTi" panose="02010609060101010101" pitchFamily="49" charset="-122"/>
            </a:endParaRPr>
          </a:p>
        </p:txBody>
      </p:sp>
      <p:sp>
        <p:nvSpPr>
          <p:cNvPr id="33" name="矩形 32">
            <a:extLst>
              <a:ext uri="{FF2B5EF4-FFF2-40B4-BE49-F238E27FC236}">
                <a16:creationId xmlns:a16="http://schemas.microsoft.com/office/drawing/2014/main" id="{07CCDA19-C78F-4FEF-9A33-1AEE922E976D}"/>
              </a:ext>
            </a:extLst>
          </p:cNvPr>
          <p:cNvSpPr/>
          <p:nvPr/>
        </p:nvSpPr>
        <p:spPr>
          <a:xfrm>
            <a:off x="75621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482981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Shape 208">
            <a:extLst>
              <a:ext uri="{FF2B5EF4-FFF2-40B4-BE49-F238E27FC236}">
                <a16:creationId xmlns:a16="http://schemas.microsoft.com/office/drawing/2014/main" id="{1071937A-BFC9-4867-9394-D457980D16E9}"/>
              </a:ext>
            </a:extLst>
          </p:cNvPr>
          <p:cNvSpPr/>
          <p:nvPr/>
        </p:nvSpPr>
        <p:spPr>
          <a:xfrm>
            <a:off x="924314" y="1378415"/>
            <a:ext cx="2154954" cy="3055773"/>
          </a:xfrm>
          <a:prstGeom prst="rect">
            <a:avLst/>
          </a:prstGeom>
          <a:ln w="12700">
            <a:miter lim="400000"/>
          </a:ln>
        </p:spPr>
        <p:txBody>
          <a:bodyPr wrap="square" lIns="45719" rIns="45719">
            <a:spAutoFit/>
          </a:bodyPr>
          <a:lstStyle/>
          <a:p>
            <a:pPr lvl="0">
              <a:lnSpc>
                <a:spcPct val="120000"/>
              </a:lnSpc>
              <a:defRPr>
                <a:solidFill>
                  <a:srgbClr val="000000"/>
                </a:solidFill>
              </a:defRPr>
            </a:pPr>
            <a:r>
              <a:rPr lang="zh-CN" altLang="en-US" b="1" dirty="0">
                <a:latin typeface="KaiTi" panose="02010609060101010101" pitchFamily="49" charset="-122"/>
                <a:ea typeface="KaiTi" panose="02010609060101010101" pitchFamily="49" charset="-122"/>
                <a:cs typeface="PingFang SC" charset="-122"/>
              </a:rPr>
              <a:t>智能金融产品画像：</a:t>
            </a:r>
            <a:r>
              <a:rPr lang="zh-CN" altLang="en-US" dirty="0">
                <a:latin typeface="KaiTi" panose="02010609060101010101" pitchFamily="49" charset="-122"/>
                <a:ea typeface="KaiTi" panose="02010609060101010101" pitchFamily="49" charset="-122"/>
                <a:cs typeface="PingFang SC" charset="-122"/>
              </a:rPr>
              <a:t>是对金融产品的深入理解，即，运用机器学习技术和金融工程理论，通过分析金融产品的历史数据，对金融产品的价值、风险、盈利、周期等特征做综合评价</a:t>
            </a:r>
          </a:p>
        </p:txBody>
      </p:sp>
      <p:sp>
        <p:nvSpPr>
          <p:cNvPr id="19" name="矩形 18">
            <a:extLst>
              <a:ext uri="{FF2B5EF4-FFF2-40B4-BE49-F238E27FC236}">
                <a16:creationId xmlns:a16="http://schemas.microsoft.com/office/drawing/2014/main" id="{E2F60983-EAAA-478D-8761-E4768A589D1B}"/>
              </a:ext>
            </a:extLst>
          </p:cNvPr>
          <p:cNvSpPr/>
          <p:nvPr/>
        </p:nvSpPr>
        <p:spPr>
          <a:xfrm>
            <a:off x="3291435" y="1385222"/>
            <a:ext cx="7771057" cy="4087555"/>
          </a:xfrm>
          <a:prstGeom prst="rect">
            <a:avLst/>
          </a:prstGeom>
          <a:noFill/>
          <a:ln w="12700" cmpd="thinThick">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rgbClr val="00B0F0"/>
              </a:solidFill>
              <a:latin typeface="KaiTi" charset="-122"/>
              <a:ea typeface="PingFang SC"/>
              <a:cs typeface="KaiTi" charset="-122"/>
            </a:endParaRPr>
          </a:p>
        </p:txBody>
      </p:sp>
      <p:sp>
        <p:nvSpPr>
          <p:cNvPr id="20" name="文本框 19">
            <a:extLst>
              <a:ext uri="{FF2B5EF4-FFF2-40B4-BE49-F238E27FC236}">
                <a16:creationId xmlns:a16="http://schemas.microsoft.com/office/drawing/2014/main" id="{BF362BA5-6D41-4A76-96BD-46397C0037E9}"/>
              </a:ext>
            </a:extLst>
          </p:cNvPr>
          <p:cNvSpPr txBox="1"/>
          <p:nvPr/>
        </p:nvSpPr>
        <p:spPr>
          <a:xfrm>
            <a:off x="3467928" y="1569499"/>
            <a:ext cx="1140099" cy="584775"/>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金融产品</a:t>
            </a:r>
            <a:endParaRPr kumimoji="1" lang="en-US" altLang="zh-CN" sz="1600" dirty="0">
              <a:latin typeface="KaiTi" charset="-122"/>
              <a:ea typeface="KaiTi" charset="-122"/>
              <a:cs typeface="KaiTi" charset="-122"/>
            </a:endParaRPr>
          </a:p>
          <a:p>
            <a:pPr algn="ctr"/>
            <a:r>
              <a:rPr kumimoji="1" lang="zh-CN" altLang="en-US" sz="1600" dirty="0">
                <a:latin typeface="KaiTi" charset="-122"/>
                <a:ea typeface="KaiTi" charset="-122"/>
                <a:cs typeface="KaiTi" charset="-122"/>
              </a:rPr>
              <a:t>画像</a:t>
            </a:r>
          </a:p>
        </p:txBody>
      </p:sp>
      <p:sp>
        <p:nvSpPr>
          <p:cNvPr id="21" name="矩形 20">
            <a:extLst>
              <a:ext uri="{FF2B5EF4-FFF2-40B4-BE49-F238E27FC236}">
                <a16:creationId xmlns:a16="http://schemas.microsoft.com/office/drawing/2014/main" id="{B2E83AE0-4D8A-4AA9-A2EA-E3641FBB4F17}"/>
              </a:ext>
            </a:extLst>
          </p:cNvPr>
          <p:cNvSpPr/>
          <p:nvPr/>
        </p:nvSpPr>
        <p:spPr>
          <a:xfrm>
            <a:off x="4761206" y="1530783"/>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价值表现</a:t>
            </a:r>
          </a:p>
        </p:txBody>
      </p:sp>
      <p:sp>
        <p:nvSpPr>
          <p:cNvPr id="22" name="矩形 21">
            <a:extLst>
              <a:ext uri="{FF2B5EF4-FFF2-40B4-BE49-F238E27FC236}">
                <a16:creationId xmlns:a16="http://schemas.microsoft.com/office/drawing/2014/main" id="{B73B3B17-CA6D-4AD6-B18C-97A9C61B554B}"/>
              </a:ext>
            </a:extLst>
          </p:cNvPr>
          <p:cNvSpPr/>
          <p:nvPr/>
        </p:nvSpPr>
        <p:spPr>
          <a:xfrm>
            <a:off x="5971530" y="1526297"/>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风险表现</a:t>
            </a:r>
          </a:p>
        </p:txBody>
      </p:sp>
      <p:sp>
        <p:nvSpPr>
          <p:cNvPr id="23" name="矩形 22">
            <a:extLst>
              <a:ext uri="{FF2B5EF4-FFF2-40B4-BE49-F238E27FC236}">
                <a16:creationId xmlns:a16="http://schemas.microsoft.com/office/drawing/2014/main" id="{D068391E-8519-4666-9C42-FC478B8C96F0}"/>
              </a:ext>
            </a:extLst>
          </p:cNvPr>
          <p:cNvSpPr/>
          <p:nvPr/>
        </p:nvSpPr>
        <p:spPr>
          <a:xfrm>
            <a:off x="7176964" y="1554124"/>
            <a:ext cx="1072566" cy="40613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盈利表现</a:t>
            </a:r>
          </a:p>
        </p:txBody>
      </p:sp>
      <p:sp>
        <p:nvSpPr>
          <p:cNvPr id="24" name="矩形 23">
            <a:extLst>
              <a:ext uri="{FF2B5EF4-FFF2-40B4-BE49-F238E27FC236}">
                <a16:creationId xmlns:a16="http://schemas.microsoft.com/office/drawing/2014/main" id="{BFDC1E5E-5B0D-4F0B-BE2E-85A6B9E202A6}"/>
              </a:ext>
            </a:extLst>
          </p:cNvPr>
          <p:cNvSpPr/>
          <p:nvPr/>
        </p:nvSpPr>
        <p:spPr>
          <a:xfrm>
            <a:off x="8414117"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周期表现</a:t>
            </a:r>
          </a:p>
        </p:txBody>
      </p:sp>
      <p:sp>
        <p:nvSpPr>
          <p:cNvPr id="25" name="矩形 24">
            <a:extLst>
              <a:ext uri="{FF2B5EF4-FFF2-40B4-BE49-F238E27FC236}">
                <a16:creationId xmlns:a16="http://schemas.microsoft.com/office/drawing/2014/main" id="{A16320C8-2A7C-4F2E-BBA4-D7531A8587F2}"/>
              </a:ext>
            </a:extLst>
          </p:cNvPr>
          <p:cNvSpPr/>
          <p:nvPr/>
        </p:nvSpPr>
        <p:spPr>
          <a:xfrm>
            <a:off x="9584422"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26" name="矩形 25">
            <a:extLst>
              <a:ext uri="{FF2B5EF4-FFF2-40B4-BE49-F238E27FC236}">
                <a16:creationId xmlns:a16="http://schemas.microsoft.com/office/drawing/2014/main" id="{000FC0EE-3942-4281-9599-63E7EE8FB344}"/>
              </a:ext>
            </a:extLst>
          </p:cNvPr>
          <p:cNvSpPr/>
          <p:nvPr/>
        </p:nvSpPr>
        <p:spPr>
          <a:xfrm>
            <a:off x="4761206"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产品价值</a:t>
            </a:r>
          </a:p>
        </p:txBody>
      </p:sp>
      <p:sp>
        <p:nvSpPr>
          <p:cNvPr id="28" name="矩形 27">
            <a:extLst>
              <a:ext uri="{FF2B5EF4-FFF2-40B4-BE49-F238E27FC236}">
                <a16:creationId xmlns:a16="http://schemas.microsoft.com/office/drawing/2014/main" id="{7A396CE5-CF39-4169-82A3-330E37EA1141}"/>
              </a:ext>
            </a:extLst>
          </p:cNvPr>
          <p:cNvSpPr/>
          <p:nvPr/>
        </p:nvSpPr>
        <p:spPr>
          <a:xfrm>
            <a:off x="5947513" y="2391550"/>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波动</a:t>
            </a:r>
          </a:p>
        </p:txBody>
      </p:sp>
      <p:sp>
        <p:nvSpPr>
          <p:cNvPr id="30" name="矩形 29">
            <a:extLst>
              <a:ext uri="{FF2B5EF4-FFF2-40B4-BE49-F238E27FC236}">
                <a16:creationId xmlns:a16="http://schemas.microsoft.com/office/drawing/2014/main" id="{BB8CC2D8-4A46-415D-AD2B-EAAE7BFA9450}"/>
              </a:ext>
            </a:extLst>
          </p:cNvPr>
          <p:cNvSpPr/>
          <p:nvPr/>
        </p:nvSpPr>
        <p:spPr>
          <a:xfrm>
            <a:off x="7168118" y="2392426"/>
            <a:ext cx="1072566" cy="40613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风险等级</a:t>
            </a:r>
          </a:p>
        </p:txBody>
      </p:sp>
      <p:sp>
        <p:nvSpPr>
          <p:cNvPr id="31" name="矩形 30">
            <a:extLst>
              <a:ext uri="{FF2B5EF4-FFF2-40B4-BE49-F238E27FC236}">
                <a16:creationId xmlns:a16="http://schemas.microsoft.com/office/drawing/2014/main" id="{84C43F38-5675-4487-8679-BE0F003E0B7B}"/>
              </a:ext>
            </a:extLst>
          </p:cNvPr>
          <p:cNvSpPr/>
          <p:nvPr/>
        </p:nvSpPr>
        <p:spPr>
          <a:xfrm>
            <a:off x="8376946"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盈利性</a:t>
            </a:r>
          </a:p>
        </p:txBody>
      </p:sp>
      <p:sp>
        <p:nvSpPr>
          <p:cNvPr id="37" name="矩形 36">
            <a:extLst>
              <a:ext uri="{FF2B5EF4-FFF2-40B4-BE49-F238E27FC236}">
                <a16:creationId xmlns:a16="http://schemas.microsoft.com/office/drawing/2014/main" id="{4DE2E4F5-9563-48B9-90D3-A5CDC7E1F2FF}"/>
              </a:ext>
            </a:extLst>
          </p:cNvPr>
          <p:cNvSpPr/>
          <p:nvPr/>
        </p:nvSpPr>
        <p:spPr>
          <a:xfrm>
            <a:off x="9584422" y="2382578"/>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39" name="矩形 38">
            <a:extLst>
              <a:ext uri="{FF2B5EF4-FFF2-40B4-BE49-F238E27FC236}">
                <a16:creationId xmlns:a16="http://schemas.microsoft.com/office/drawing/2014/main" id="{3EB8AC54-52F0-4594-BD9F-DBE871B3B67E}"/>
              </a:ext>
            </a:extLst>
          </p:cNvPr>
          <p:cNvSpPr/>
          <p:nvPr/>
        </p:nvSpPr>
        <p:spPr>
          <a:xfrm>
            <a:off x="4761207" y="3255184"/>
            <a:ext cx="1408389" cy="436555"/>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线性层次模型</a:t>
            </a:r>
          </a:p>
        </p:txBody>
      </p:sp>
      <p:sp>
        <p:nvSpPr>
          <p:cNvPr id="40" name="矩形 39">
            <a:extLst>
              <a:ext uri="{FF2B5EF4-FFF2-40B4-BE49-F238E27FC236}">
                <a16:creationId xmlns:a16="http://schemas.microsoft.com/office/drawing/2014/main" id="{27C0BC29-486B-4FE1-B893-7C09AD035BB6}"/>
              </a:ext>
            </a:extLst>
          </p:cNvPr>
          <p:cNvSpPr/>
          <p:nvPr/>
        </p:nvSpPr>
        <p:spPr>
          <a:xfrm>
            <a:off x="6459676" y="3263231"/>
            <a:ext cx="1319079" cy="44260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集成树模型</a:t>
            </a:r>
          </a:p>
        </p:txBody>
      </p:sp>
      <p:sp>
        <p:nvSpPr>
          <p:cNvPr id="41" name="矩形 40">
            <a:extLst>
              <a:ext uri="{FF2B5EF4-FFF2-40B4-BE49-F238E27FC236}">
                <a16:creationId xmlns:a16="http://schemas.microsoft.com/office/drawing/2014/main" id="{CCFDD781-3A64-48A3-82C9-2103F64CB541}"/>
              </a:ext>
            </a:extLst>
          </p:cNvPr>
          <p:cNvSpPr/>
          <p:nvPr/>
        </p:nvSpPr>
        <p:spPr>
          <a:xfrm>
            <a:off x="8055910" y="3255610"/>
            <a:ext cx="1238432" cy="453673"/>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贝叶斯算法</a:t>
            </a:r>
          </a:p>
        </p:txBody>
      </p:sp>
      <p:sp>
        <p:nvSpPr>
          <p:cNvPr id="42" name="矩形 41">
            <a:extLst>
              <a:ext uri="{FF2B5EF4-FFF2-40B4-BE49-F238E27FC236}">
                <a16:creationId xmlns:a16="http://schemas.microsoft.com/office/drawing/2014/main" id="{89D1F3C9-1757-4F8E-A5ED-46566DC42610}"/>
              </a:ext>
            </a:extLst>
          </p:cNvPr>
          <p:cNvSpPr/>
          <p:nvPr/>
        </p:nvSpPr>
        <p:spPr>
          <a:xfrm>
            <a:off x="4761206" y="4138328"/>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特征抽取</a:t>
            </a:r>
          </a:p>
        </p:txBody>
      </p:sp>
      <p:sp>
        <p:nvSpPr>
          <p:cNvPr id="43" name="矩形 42">
            <a:extLst>
              <a:ext uri="{FF2B5EF4-FFF2-40B4-BE49-F238E27FC236}">
                <a16:creationId xmlns:a16="http://schemas.microsoft.com/office/drawing/2014/main" id="{19F67A3D-C488-46CA-AFF8-9A90B65DECD9}"/>
              </a:ext>
            </a:extLst>
          </p:cNvPr>
          <p:cNvSpPr/>
          <p:nvPr/>
        </p:nvSpPr>
        <p:spPr>
          <a:xfrm>
            <a:off x="5968690" y="4146962"/>
            <a:ext cx="1631806" cy="40613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归一化及标准化</a:t>
            </a:r>
          </a:p>
        </p:txBody>
      </p:sp>
      <p:sp>
        <p:nvSpPr>
          <p:cNvPr id="44" name="矩形 43">
            <a:extLst>
              <a:ext uri="{FF2B5EF4-FFF2-40B4-BE49-F238E27FC236}">
                <a16:creationId xmlns:a16="http://schemas.microsoft.com/office/drawing/2014/main" id="{AA7FABE9-2D04-4A5A-9D12-2CE1B6FDFE9A}"/>
              </a:ext>
            </a:extLst>
          </p:cNvPr>
          <p:cNvSpPr/>
          <p:nvPr/>
        </p:nvSpPr>
        <p:spPr>
          <a:xfrm>
            <a:off x="7735414" y="4146962"/>
            <a:ext cx="1744002" cy="40524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特征选取及组合</a:t>
            </a:r>
          </a:p>
        </p:txBody>
      </p:sp>
      <p:sp>
        <p:nvSpPr>
          <p:cNvPr id="45" name="矩形 44">
            <a:extLst>
              <a:ext uri="{FF2B5EF4-FFF2-40B4-BE49-F238E27FC236}">
                <a16:creationId xmlns:a16="http://schemas.microsoft.com/office/drawing/2014/main" id="{02A72799-CDEE-400C-A914-1F2EC63A3F94}"/>
              </a:ext>
            </a:extLst>
          </p:cNvPr>
          <p:cNvSpPr/>
          <p:nvPr/>
        </p:nvSpPr>
        <p:spPr>
          <a:xfrm>
            <a:off x="9584422" y="4136762"/>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46" name="矩形 45">
            <a:extLst>
              <a:ext uri="{FF2B5EF4-FFF2-40B4-BE49-F238E27FC236}">
                <a16:creationId xmlns:a16="http://schemas.microsoft.com/office/drawing/2014/main" id="{46F05D20-F836-4F46-9941-6A518C08AA56}"/>
              </a:ext>
            </a:extLst>
          </p:cNvPr>
          <p:cNvSpPr/>
          <p:nvPr/>
        </p:nvSpPr>
        <p:spPr>
          <a:xfrm>
            <a:off x="4761206" y="4983609"/>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价格数据</a:t>
            </a:r>
          </a:p>
        </p:txBody>
      </p:sp>
      <p:sp>
        <p:nvSpPr>
          <p:cNvPr id="47" name="矩形 46">
            <a:extLst>
              <a:ext uri="{FF2B5EF4-FFF2-40B4-BE49-F238E27FC236}">
                <a16:creationId xmlns:a16="http://schemas.microsoft.com/office/drawing/2014/main" id="{364B6888-08D5-4A1E-91E7-5D101AEB7F73}"/>
              </a:ext>
            </a:extLst>
          </p:cNvPr>
          <p:cNvSpPr/>
          <p:nvPr/>
        </p:nvSpPr>
        <p:spPr>
          <a:xfrm>
            <a:off x="5971530" y="4992422"/>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交易数据</a:t>
            </a:r>
          </a:p>
        </p:txBody>
      </p:sp>
      <p:sp>
        <p:nvSpPr>
          <p:cNvPr id="48" name="矩形 47">
            <a:extLst>
              <a:ext uri="{FF2B5EF4-FFF2-40B4-BE49-F238E27FC236}">
                <a16:creationId xmlns:a16="http://schemas.microsoft.com/office/drawing/2014/main" id="{9278D5DD-E4AE-447A-91BC-DF3BFB383137}"/>
              </a:ext>
            </a:extLst>
          </p:cNvPr>
          <p:cNvSpPr/>
          <p:nvPr/>
        </p:nvSpPr>
        <p:spPr>
          <a:xfrm>
            <a:off x="7180822" y="4992423"/>
            <a:ext cx="1072566" cy="40613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事件数据</a:t>
            </a:r>
          </a:p>
        </p:txBody>
      </p:sp>
      <p:sp>
        <p:nvSpPr>
          <p:cNvPr id="49" name="矩形 48">
            <a:extLst>
              <a:ext uri="{FF2B5EF4-FFF2-40B4-BE49-F238E27FC236}">
                <a16:creationId xmlns:a16="http://schemas.microsoft.com/office/drawing/2014/main" id="{DD2D7C66-FFF7-49BB-892E-44BEA0BE8514}"/>
              </a:ext>
            </a:extLst>
          </p:cNvPr>
          <p:cNvSpPr/>
          <p:nvPr/>
        </p:nvSpPr>
        <p:spPr>
          <a:xfrm>
            <a:off x="8405108"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财务数据</a:t>
            </a:r>
          </a:p>
        </p:txBody>
      </p:sp>
      <p:sp>
        <p:nvSpPr>
          <p:cNvPr id="50" name="矩形 49">
            <a:extLst>
              <a:ext uri="{FF2B5EF4-FFF2-40B4-BE49-F238E27FC236}">
                <a16:creationId xmlns:a16="http://schemas.microsoft.com/office/drawing/2014/main" id="{0869F7A3-D3F5-4CEA-BB5D-E4D3F5365F30}"/>
              </a:ext>
            </a:extLst>
          </p:cNvPr>
          <p:cNvSpPr/>
          <p:nvPr/>
        </p:nvSpPr>
        <p:spPr>
          <a:xfrm>
            <a:off x="9584422"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1" name="文本框 50">
            <a:extLst>
              <a:ext uri="{FF2B5EF4-FFF2-40B4-BE49-F238E27FC236}">
                <a16:creationId xmlns:a16="http://schemas.microsoft.com/office/drawing/2014/main" id="{C70CC94C-FC02-495D-8641-2154E2C279E7}"/>
              </a:ext>
            </a:extLst>
          </p:cNvPr>
          <p:cNvSpPr txBox="1"/>
          <p:nvPr/>
        </p:nvSpPr>
        <p:spPr>
          <a:xfrm>
            <a:off x="3464489" y="5021006"/>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数据录入</a:t>
            </a:r>
          </a:p>
        </p:txBody>
      </p:sp>
      <p:sp>
        <p:nvSpPr>
          <p:cNvPr id="52" name="矩形 51">
            <a:extLst>
              <a:ext uri="{FF2B5EF4-FFF2-40B4-BE49-F238E27FC236}">
                <a16:creationId xmlns:a16="http://schemas.microsoft.com/office/drawing/2014/main" id="{77BEF766-DC5D-4ADA-BC7E-51EE23A0C30B}"/>
              </a:ext>
            </a:extLst>
          </p:cNvPr>
          <p:cNvSpPr/>
          <p:nvPr/>
        </p:nvSpPr>
        <p:spPr>
          <a:xfrm>
            <a:off x="4761207" y="19453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标签</a:t>
            </a:r>
            <a:r>
              <a:rPr kumimoji="1" lang="en-US" altLang="zh-CN" sz="1600" b="1" dirty="0">
                <a:solidFill>
                  <a:schemeClr val="tx1"/>
                </a:solidFill>
                <a:latin typeface="KaiTi" charset="-122"/>
                <a:ea typeface="KaiTi" charset="-122"/>
                <a:cs typeface="KaiTi" charset="-122"/>
              </a:rPr>
              <a:t>+</a:t>
            </a:r>
            <a:r>
              <a:rPr kumimoji="1" lang="zh-CN" altLang="en-US" sz="1600" b="1" dirty="0">
                <a:solidFill>
                  <a:schemeClr val="tx1"/>
                </a:solidFill>
                <a:latin typeface="KaiTi" charset="-122"/>
                <a:ea typeface="KaiTi" charset="-122"/>
                <a:cs typeface="KaiTi" charset="-122"/>
              </a:rPr>
              <a:t>营销模型建模</a:t>
            </a:r>
          </a:p>
        </p:txBody>
      </p:sp>
      <p:sp>
        <p:nvSpPr>
          <p:cNvPr id="53" name="矩形 52">
            <a:extLst>
              <a:ext uri="{FF2B5EF4-FFF2-40B4-BE49-F238E27FC236}">
                <a16:creationId xmlns:a16="http://schemas.microsoft.com/office/drawing/2014/main" id="{184F911D-0193-4030-8388-90E6DA29EBC5}"/>
              </a:ext>
            </a:extLst>
          </p:cNvPr>
          <p:cNvSpPr/>
          <p:nvPr/>
        </p:nvSpPr>
        <p:spPr>
          <a:xfrm>
            <a:off x="4761207" y="280842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机器学习建模</a:t>
            </a:r>
          </a:p>
        </p:txBody>
      </p:sp>
      <p:sp>
        <p:nvSpPr>
          <p:cNvPr id="54" name="矩形 53">
            <a:extLst>
              <a:ext uri="{FF2B5EF4-FFF2-40B4-BE49-F238E27FC236}">
                <a16:creationId xmlns:a16="http://schemas.microsoft.com/office/drawing/2014/main" id="{AFB6263F-9999-45B9-833E-D30EF9215B47}"/>
              </a:ext>
            </a:extLst>
          </p:cNvPr>
          <p:cNvSpPr/>
          <p:nvPr/>
        </p:nvSpPr>
        <p:spPr>
          <a:xfrm>
            <a:off x="4761207" y="36924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特征及标签生成</a:t>
            </a:r>
          </a:p>
        </p:txBody>
      </p:sp>
      <p:sp>
        <p:nvSpPr>
          <p:cNvPr id="55" name="矩形 54">
            <a:extLst>
              <a:ext uri="{FF2B5EF4-FFF2-40B4-BE49-F238E27FC236}">
                <a16:creationId xmlns:a16="http://schemas.microsoft.com/office/drawing/2014/main" id="{BA1E6DB6-8897-44F1-BFF8-FE59CF647C00}"/>
              </a:ext>
            </a:extLst>
          </p:cNvPr>
          <p:cNvSpPr/>
          <p:nvPr/>
        </p:nvSpPr>
        <p:spPr>
          <a:xfrm>
            <a:off x="4761207" y="4545773"/>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lumMod val="95000"/>
                    <a:lumOff val="5000"/>
                  </a:schemeClr>
                </a:solidFill>
                <a:latin typeface="KaiTi" charset="-122"/>
                <a:ea typeface="KaiTi" charset="-122"/>
                <a:cs typeface="KaiTi" charset="-122"/>
              </a:rPr>
              <a:t>清洗、结构化、统计建模</a:t>
            </a:r>
          </a:p>
        </p:txBody>
      </p:sp>
      <p:sp>
        <p:nvSpPr>
          <p:cNvPr id="56" name="矩形 55">
            <a:extLst>
              <a:ext uri="{FF2B5EF4-FFF2-40B4-BE49-F238E27FC236}">
                <a16:creationId xmlns:a16="http://schemas.microsoft.com/office/drawing/2014/main" id="{51C6101F-830C-4890-BE53-416EDB656D31}"/>
              </a:ext>
            </a:extLst>
          </p:cNvPr>
          <p:cNvSpPr/>
          <p:nvPr/>
        </p:nvSpPr>
        <p:spPr>
          <a:xfrm>
            <a:off x="9584422" y="3263356"/>
            <a:ext cx="1072566" cy="40939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7" name="文本框 56">
            <a:extLst>
              <a:ext uri="{FF2B5EF4-FFF2-40B4-BE49-F238E27FC236}">
                <a16:creationId xmlns:a16="http://schemas.microsoft.com/office/drawing/2014/main" id="{58D261A6-0F20-4424-8CE4-7D9848993F50}"/>
              </a:ext>
            </a:extLst>
          </p:cNvPr>
          <p:cNvSpPr txBox="1"/>
          <p:nvPr/>
        </p:nvSpPr>
        <p:spPr>
          <a:xfrm>
            <a:off x="3464489" y="4133435"/>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特征计算</a:t>
            </a:r>
          </a:p>
        </p:txBody>
      </p:sp>
      <p:sp>
        <p:nvSpPr>
          <p:cNvPr id="58" name="文本框 57">
            <a:extLst>
              <a:ext uri="{FF2B5EF4-FFF2-40B4-BE49-F238E27FC236}">
                <a16:creationId xmlns:a16="http://schemas.microsoft.com/office/drawing/2014/main" id="{86762E2C-98A5-4C8B-B577-1B3121B6F888}"/>
              </a:ext>
            </a:extLst>
          </p:cNvPr>
          <p:cNvSpPr txBox="1"/>
          <p:nvPr/>
        </p:nvSpPr>
        <p:spPr>
          <a:xfrm>
            <a:off x="3464489" y="3295252"/>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机器学习</a:t>
            </a:r>
          </a:p>
        </p:txBody>
      </p:sp>
      <p:sp>
        <p:nvSpPr>
          <p:cNvPr id="59" name="文本框 58">
            <a:extLst>
              <a:ext uri="{FF2B5EF4-FFF2-40B4-BE49-F238E27FC236}">
                <a16:creationId xmlns:a16="http://schemas.microsoft.com/office/drawing/2014/main" id="{20F647BB-E742-4043-8832-DFB4D7CA5730}"/>
              </a:ext>
            </a:extLst>
          </p:cNvPr>
          <p:cNvSpPr txBox="1"/>
          <p:nvPr/>
        </p:nvSpPr>
        <p:spPr>
          <a:xfrm>
            <a:off x="3464489" y="2393837"/>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模型预测</a:t>
            </a:r>
          </a:p>
        </p:txBody>
      </p:sp>
      <p:sp>
        <p:nvSpPr>
          <p:cNvPr id="60" name="灯片编号占位符 3">
            <a:extLst>
              <a:ext uri="{FF2B5EF4-FFF2-40B4-BE49-F238E27FC236}">
                <a16:creationId xmlns:a16="http://schemas.microsoft.com/office/drawing/2014/main" id="{390A8123-0C16-0143-85D5-8703CE7CD13D}"/>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30</a:t>
            </a:fld>
            <a:endParaRPr lang="zh-CN" altLang="en-US" dirty="0"/>
          </a:p>
        </p:txBody>
      </p:sp>
    </p:spTree>
    <p:extLst>
      <p:ext uri="{BB962C8B-B14F-4D97-AF65-F5344CB8AC3E}">
        <p14:creationId xmlns:p14="http://schemas.microsoft.com/office/powerpoint/2010/main" val="1180668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hape 225"/>
          <p:cNvSpPr/>
          <p:nvPr/>
        </p:nvSpPr>
        <p:spPr>
          <a:xfrm>
            <a:off x="661070" y="257927"/>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2">
                    <a:lumMod val="50000"/>
                  </a:schemeClr>
                </a:solidFill>
                <a:latin typeface="KaiTi" charset="-122"/>
                <a:ea typeface="KaiTi" charset="-122"/>
                <a:cs typeface="KaiTi" charset="-122"/>
              </a:rPr>
              <a:t>智能投顾</a:t>
            </a:r>
            <a:endParaRPr sz="3600" dirty="0">
              <a:solidFill>
                <a:schemeClr val="tx2">
                  <a:lumMod val="50000"/>
                </a:schemeClr>
              </a:solidFill>
              <a:latin typeface="KaiTi" charset="-122"/>
              <a:ea typeface="KaiTi" charset="-122"/>
              <a:cs typeface="KaiTi" charset="-122"/>
            </a:endParaRPr>
          </a:p>
        </p:txBody>
      </p:sp>
      <p:sp>
        <p:nvSpPr>
          <p:cNvPr id="7" name="Shape 209"/>
          <p:cNvSpPr/>
          <p:nvPr/>
        </p:nvSpPr>
        <p:spPr>
          <a:xfrm>
            <a:off x="6211142" y="1730784"/>
            <a:ext cx="6018442" cy="4031873"/>
          </a:xfrm>
          <a:prstGeom prst="rect">
            <a:avLst/>
          </a:prstGeom>
          <a:ln w="12700">
            <a:miter lim="400000"/>
          </a:ln>
        </p:spPr>
        <p:txBody>
          <a:bodyPr wrap="square" lIns="45719" rIns="45719">
            <a:spAutoFit/>
          </a:bodyPr>
          <a:lstStyle/>
          <a:p>
            <a:pPr marL="285750" indent="-285750">
              <a:buFont typeface="Arial" charset="0"/>
              <a:buChar char="•"/>
              <a:defRPr>
                <a:solidFill>
                  <a:srgbClr val="000000"/>
                </a:solidFill>
              </a:defRPr>
            </a:pPr>
            <a:r>
              <a:rPr lang="zh-CN" altLang="en-US" sz="1600" b="1" dirty="0">
                <a:solidFill>
                  <a:schemeClr val="tx2">
                    <a:lumMod val="50000"/>
                  </a:schemeClr>
                </a:solidFill>
                <a:latin typeface="KaiTi" charset="-122"/>
                <a:ea typeface="KaiTi" charset="-122"/>
                <a:cs typeface="KaiTi" charset="-122"/>
              </a:rPr>
              <a:t>用户评估：      </a:t>
            </a:r>
            <a:endParaRPr lang="en-US" altLang="zh-CN" sz="1600" b="1"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sz="1600" dirty="0">
                <a:solidFill>
                  <a:schemeClr val="tx2">
                    <a:lumMod val="50000"/>
                  </a:schemeClr>
                </a:solidFill>
                <a:latin typeface="KaiTi" charset="-122"/>
                <a:ea typeface="KaiTi" charset="-122"/>
                <a:cs typeface="KaiTi" charset="-122"/>
              </a:rPr>
              <a:t>     </a:t>
            </a:r>
            <a:r>
              <a:rPr lang="zh-Hans" altLang="en-US" sz="1600" dirty="0">
                <a:solidFill>
                  <a:schemeClr val="tx2">
                    <a:lumMod val="50000"/>
                  </a:schemeClr>
                </a:solidFill>
                <a:latin typeface="KaiTi" charset="-122"/>
                <a:ea typeface="KaiTi" charset="-122"/>
                <a:cs typeface="KaiTi" charset="-122"/>
              </a:rPr>
              <a:t>  </a:t>
            </a:r>
            <a:r>
              <a:rPr lang="zh-CN" altLang="en-US" sz="1600" dirty="0">
                <a:solidFill>
                  <a:schemeClr val="tx2">
                    <a:lumMod val="50000"/>
                  </a:schemeClr>
                </a:solidFill>
                <a:latin typeface="KaiTi" charset="-122"/>
                <a:ea typeface="KaiTi" charset="-122"/>
                <a:cs typeface="KaiTi" charset="-122"/>
              </a:rPr>
              <a:t>结合</a:t>
            </a:r>
            <a:r>
              <a:rPr lang="en-US" altLang="zh-CN" sz="1600" dirty="0" err="1">
                <a:solidFill>
                  <a:schemeClr val="tx2">
                    <a:lumMod val="50000"/>
                  </a:schemeClr>
                </a:solidFill>
                <a:latin typeface="New Peninim MT" pitchFamily="2" charset="-79"/>
                <a:ea typeface="KaiTi" charset="-122"/>
                <a:cs typeface="New Peninim MT" pitchFamily="2" charset="-79"/>
              </a:rPr>
              <a:t>FDTScore</a:t>
            </a:r>
            <a:r>
              <a:rPr lang="zh-CN" altLang="en-US" sz="1600" dirty="0">
                <a:solidFill>
                  <a:schemeClr val="tx2">
                    <a:lumMod val="50000"/>
                  </a:schemeClr>
                </a:solidFill>
                <a:latin typeface="KaiTi" charset="-122"/>
                <a:ea typeface="KaiTi" charset="-122"/>
                <a:cs typeface="KaiTi" charset="-122"/>
              </a:rPr>
              <a:t>的用户画像明确用户的风险承受能力等级、投资收益预期、投资期限等</a:t>
            </a:r>
            <a:endParaRPr lang="en-US" altLang="zh-CN" sz="1600" dirty="0">
              <a:solidFill>
                <a:schemeClr val="tx2">
                  <a:lumMod val="50000"/>
                </a:schemeClr>
              </a:solidFill>
              <a:latin typeface="KaiTi" charset="-122"/>
              <a:ea typeface="KaiTi" charset="-122"/>
              <a:cs typeface="KaiTi" charset="-122"/>
            </a:endParaRPr>
          </a:p>
          <a:p>
            <a:pPr marL="285750" indent="-285750">
              <a:buFont typeface="Arial" charset="0"/>
              <a:buChar char="•"/>
              <a:defRPr>
                <a:solidFill>
                  <a:srgbClr val="000000"/>
                </a:solidFill>
              </a:defRPr>
            </a:pPr>
            <a:r>
              <a:rPr lang="zh-CN" altLang="en-US" sz="1600" b="1" dirty="0">
                <a:solidFill>
                  <a:schemeClr val="tx2">
                    <a:lumMod val="50000"/>
                  </a:schemeClr>
                </a:solidFill>
                <a:latin typeface="KaiTi" charset="-122"/>
                <a:ea typeface="KaiTi" charset="-122"/>
                <a:cs typeface="KaiTi" charset="-122"/>
              </a:rPr>
              <a:t>金融产品评估：</a:t>
            </a:r>
            <a:endParaRPr lang="en-US" altLang="zh-CN" sz="1600" b="1"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sz="1600" dirty="0">
                <a:solidFill>
                  <a:schemeClr val="tx2">
                    <a:lumMod val="50000"/>
                  </a:schemeClr>
                </a:solidFill>
                <a:latin typeface="KaiTi" charset="-122"/>
                <a:ea typeface="KaiTi" charset="-122"/>
                <a:cs typeface="KaiTi" charset="-122"/>
              </a:rPr>
              <a:t>       基于多家评级机构背后的评级逻辑并结合</a:t>
            </a:r>
            <a:r>
              <a:rPr lang="en-US" altLang="zh-CN" sz="1600" dirty="0" err="1">
                <a:solidFill>
                  <a:schemeClr val="tx2">
                    <a:lumMod val="50000"/>
                  </a:schemeClr>
                </a:solidFill>
                <a:latin typeface="New Peninim MT" pitchFamily="2" charset="-79"/>
                <a:ea typeface="KaiTi" charset="-122"/>
                <a:cs typeface="New Peninim MT" pitchFamily="2" charset="-79"/>
              </a:rPr>
              <a:t>FDTScore</a:t>
            </a:r>
            <a:r>
              <a:rPr lang="zh-CN" altLang="en-US" sz="1600" dirty="0">
                <a:solidFill>
                  <a:schemeClr val="tx2">
                    <a:lumMod val="50000"/>
                  </a:schemeClr>
                </a:solidFill>
                <a:latin typeface="KaiTi" charset="-122"/>
                <a:ea typeface="KaiTi" charset="-122"/>
                <a:cs typeface="KaiTi" charset="-122"/>
              </a:rPr>
              <a:t>对金融产品的评估进行综合打分</a:t>
            </a:r>
            <a:endParaRPr lang="en-US" sz="1600" dirty="0">
              <a:solidFill>
                <a:schemeClr val="tx2">
                  <a:lumMod val="50000"/>
                </a:schemeClr>
              </a:solidFill>
              <a:latin typeface="KaiTi" charset="-122"/>
              <a:ea typeface="KaiTi" charset="-122"/>
              <a:cs typeface="KaiTi" charset="-122"/>
            </a:endParaRPr>
          </a:p>
          <a:p>
            <a:pPr marL="285750" indent="-285750">
              <a:buFont typeface="Arial" charset="0"/>
              <a:buChar char="•"/>
              <a:defRPr>
                <a:solidFill>
                  <a:srgbClr val="000000"/>
                </a:solidFill>
              </a:defRPr>
            </a:pPr>
            <a:r>
              <a:rPr lang="zh-CN" altLang="en-US" sz="1600" b="1" dirty="0">
                <a:solidFill>
                  <a:schemeClr val="tx2">
                    <a:lumMod val="50000"/>
                  </a:schemeClr>
                </a:solidFill>
                <a:latin typeface="KaiTi" charset="-122"/>
                <a:ea typeface="KaiTi" charset="-122"/>
                <a:cs typeface="KaiTi" charset="-122"/>
              </a:rPr>
              <a:t>产品个性化排序：</a:t>
            </a:r>
            <a:endParaRPr lang="en-US" altLang="zh-CN" sz="1600" b="1"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sz="1600" dirty="0">
                <a:solidFill>
                  <a:schemeClr val="tx2">
                    <a:lumMod val="50000"/>
                  </a:schemeClr>
                </a:solidFill>
                <a:latin typeface="KaiTi" charset="-122"/>
                <a:ea typeface="KaiTi" charset="-122"/>
                <a:cs typeface="KaiTi" charset="-122"/>
              </a:rPr>
              <a:t>       结合用户的风险评估等级进行差异化显示，保守型用户显示的为低风险等级产品，积极型用户则相反，相同类型的用户按照</a:t>
            </a:r>
            <a:r>
              <a:rPr lang="en-US" altLang="zh-CN" sz="1600" dirty="0" err="1">
                <a:solidFill>
                  <a:schemeClr val="tx2">
                    <a:lumMod val="50000"/>
                  </a:schemeClr>
                </a:solidFill>
                <a:latin typeface="New Peninim MT" pitchFamily="2" charset="-79"/>
                <a:ea typeface="KaiTi" charset="-122"/>
                <a:cs typeface="New Peninim MT" pitchFamily="2" charset="-79"/>
              </a:rPr>
              <a:t>FDTScore</a:t>
            </a:r>
            <a:r>
              <a:rPr lang="zh-CN" altLang="en-US" sz="1600" dirty="0">
                <a:solidFill>
                  <a:schemeClr val="tx2">
                    <a:lumMod val="50000"/>
                  </a:schemeClr>
                </a:solidFill>
                <a:latin typeface="KaiTi" charset="-122"/>
                <a:ea typeface="KaiTi" charset="-122"/>
                <a:cs typeface="KaiTi" charset="-122"/>
              </a:rPr>
              <a:t>得分进行个性化 排序</a:t>
            </a:r>
            <a:endParaRPr lang="en-US" altLang="zh-CN" sz="1600" dirty="0">
              <a:solidFill>
                <a:schemeClr val="tx2">
                  <a:lumMod val="50000"/>
                </a:schemeClr>
              </a:solidFill>
              <a:latin typeface="KaiTi" charset="-122"/>
              <a:ea typeface="KaiTi" charset="-122"/>
              <a:cs typeface="KaiTi" charset="-122"/>
            </a:endParaRPr>
          </a:p>
          <a:p>
            <a:pPr marL="285750" indent="-285750">
              <a:buFont typeface="Arial" charset="0"/>
              <a:buChar char="•"/>
              <a:defRPr>
                <a:solidFill>
                  <a:srgbClr val="000000"/>
                </a:solidFill>
              </a:defRPr>
            </a:pPr>
            <a:r>
              <a:rPr lang="zh-CN" altLang="en-US" sz="1600" b="1" dirty="0">
                <a:solidFill>
                  <a:schemeClr val="tx2">
                    <a:lumMod val="50000"/>
                  </a:schemeClr>
                </a:solidFill>
                <a:latin typeface="KaiTi" charset="-122"/>
                <a:ea typeface="KaiTi" charset="-122"/>
                <a:cs typeface="KaiTi" charset="-122"/>
              </a:rPr>
              <a:t>用户</a:t>
            </a:r>
            <a:r>
              <a:rPr lang="en-US" altLang="zh-CN" sz="1600" b="1" dirty="0">
                <a:solidFill>
                  <a:schemeClr val="tx2">
                    <a:lumMod val="50000"/>
                  </a:schemeClr>
                </a:solidFill>
                <a:latin typeface="KaiTi" charset="-122"/>
                <a:ea typeface="KaiTi" charset="-122"/>
                <a:cs typeface="KaiTi" charset="-122"/>
              </a:rPr>
              <a:t>-</a:t>
            </a:r>
            <a:r>
              <a:rPr lang="zh-CN" altLang="en-US" sz="1600" b="1" dirty="0">
                <a:solidFill>
                  <a:schemeClr val="tx2">
                    <a:lumMod val="50000"/>
                  </a:schemeClr>
                </a:solidFill>
                <a:latin typeface="KaiTi" charset="-122"/>
                <a:ea typeface="KaiTi" charset="-122"/>
                <a:cs typeface="KaiTi" charset="-122"/>
              </a:rPr>
              <a:t>产品智能匹配：</a:t>
            </a:r>
            <a:endParaRPr lang="en-US" altLang="zh-CN" sz="1600" b="1"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sz="1600" dirty="0">
                <a:solidFill>
                  <a:schemeClr val="tx2">
                    <a:lumMod val="50000"/>
                  </a:schemeClr>
                </a:solidFill>
                <a:latin typeface="KaiTi" charset="-122"/>
                <a:ea typeface="KaiTi" charset="-122"/>
                <a:cs typeface="KaiTi" charset="-122"/>
              </a:rPr>
              <a:t>        结合</a:t>
            </a:r>
            <a:r>
              <a:rPr lang="en-US" altLang="zh-CN" sz="1600" dirty="0">
                <a:solidFill>
                  <a:schemeClr val="tx2">
                    <a:lumMod val="50000"/>
                  </a:schemeClr>
                </a:solidFill>
                <a:latin typeface="New Peninim MT" pitchFamily="2" charset="-79"/>
                <a:ea typeface="KaiTi" charset="-122"/>
                <a:cs typeface="New Peninim MT" pitchFamily="2" charset="-79"/>
              </a:rPr>
              <a:t>FDT</a:t>
            </a:r>
            <a:r>
              <a:rPr lang="zh-CN" altLang="en-US" sz="1600" dirty="0">
                <a:solidFill>
                  <a:schemeClr val="tx2">
                    <a:lumMod val="50000"/>
                  </a:schemeClr>
                </a:solidFill>
                <a:latin typeface="KaiTi" charset="-122"/>
                <a:ea typeface="KaiTi" charset="-122"/>
                <a:cs typeface="KaiTi" charset="-122"/>
              </a:rPr>
              <a:t>模型数据、投资者数据、金融产品数据以及市场数据，进行智能匹配，提供个性化精准建议</a:t>
            </a:r>
            <a:endParaRPr lang="en-US" altLang="zh-CN" sz="1600" dirty="0">
              <a:solidFill>
                <a:schemeClr val="tx2">
                  <a:lumMod val="50000"/>
                </a:schemeClr>
              </a:solidFill>
              <a:latin typeface="KaiTi" charset="-122"/>
              <a:ea typeface="KaiTi" charset="-122"/>
              <a:cs typeface="KaiTi" charset="-122"/>
            </a:endParaRPr>
          </a:p>
          <a:p>
            <a:pPr marL="285750" indent="-285750">
              <a:buFont typeface="Arial" charset="0"/>
              <a:buChar char="•"/>
              <a:defRPr>
                <a:solidFill>
                  <a:srgbClr val="000000"/>
                </a:solidFill>
              </a:defRPr>
            </a:pPr>
            <a:r>
              <a:rPr lang="zh-CN" altLang="en-US" sz="1600" b="1" dirty="0">
                <a:solidFill>
                  <a:schemeClr val="tx2">
                    <a:lumMod val="50000"/>
                  </a:schemeClr>
                </a:solidFill>
                <a:latin typeface="KaiTi" charset="-122"/>
                <a:ea typeface="KaiTi" charset="-122"/>
                <a:cs typeface="KaiTi" charset="-122"/>
              </a:rPr>
              <a:t> 用户</a:t>
            </a:r>
            <a:r>
              <a:rPr lang="en-US" altLang="zh-CN" sz="1600" b="1" dirty="0">
                <a:solidFill>
                  <a:schemeClr val="tx2">
                    <a:lumMod val="50000"/>
                  </a:schemeClr>
                </a:solidFill>
                <a:latin typeface="KaiTi" charset="-122"/>
                <a:ea typeface="KaiTi" charset="-122"/>
                <a:cs typeface="KaiTi" charset="-122"/>
              </a:rPr>
              <a:t>-</a:t>
            </a:r>
            <a:r>
              <a:rPr lang="zh-CN" altLang="en-US" sz="1600" b="1" dirty="0">
                <a:solidFill>
                  <a:schemeClr val="tx2">
                    <a:lumMod val="50000"/>
                  </a:schemeClr>
                </a:solidFill>
                <a:latin typeface="KaiTi" charset="-122"/>
                <a:ea typeface="KaiTi" charset="-122"/>
                <a:cs typeface="KaiTi" charset="-122"/>
              </a:rPr>
              <a:t>资产智能配置：</a:t>
            </a:r>
            <a:endParaRPr lang="en-US" altLang="zh-CN" sz="1600" b="1" dirty="0">
              <a:solidFill>
                <a:schemeClr val="tx2">
                  <a:lumMod val="50000"/>
                </a:schemeClr>
              </a:solidFill>
              <a:latin typeface="KaiTi" charset="-122"/>
              <a:ea typeface="KaiTi" charset="-122"/>
              <a:cs typeface="KaiTi" charset="-122"/>
            </a:endParaRPr>
          </a:p>
          <a:p>
            <a:pPr>
              <a:defRPr>
                <a:solidFill>
                  <a:srgbClr val="000000"/>
                </a:solidFill>
              </a:defRPr>
            </a:pPr>
            <a:r>
              <a:rPr lang="zh-CN" altLang="en-US" sz="1600" dirty="0">
                <a:solidFill>
                  <a:schemeClr val="tx2">
                    <a:lumMod val="50000"/>
                  </a:schemeClr>
                </a:solidFill>
                <a:latin typeface="KaiTi" charset="-122"/>
                <a:ea typeface="KaiTi" charset="-122"/>
                <a:cs typeface="KaiTi" charset="-122"/>
              </a:rPr>
              <a:t>        依据运用哥伦比亚大学</a:t>
            </a:r>
            <a:r>
              <a:rPr lang="en-US" altLang="zh-CN" sz="1600" dirty="0">
                <a:solidFill>
                  <a:schemeClr val="tx2">
                    <a:lumMod val="50000"/>
                  </a:schemeClr>
                </a:solidFill>
                <a:latin typeface="New Peninim MT" pitchFamily="2" charset="-79"/>
                <a:ea typeface="KaiTi" charset="-122"/>
                <a:cs typeface="New Peninim MT" pitchFamily="2" charset="-79"/>
              </a:rPr>
              <a:t>FDT</a:t>
            </a:r>
            <a:r>
              <a:rPr lang="zh-CN" altLang="en-US" sz="1600" dirty="0">
                <a:solidFill>
                  <a:schemeClr val="tx2">
                    <a:lumMod val="50000"/>
                  </a:schemeClr>
                </a:solidFill>
                <a:latin typeface="KaiTi" charset="-122"/>
                <a:ea typeface="KaiTi" charset="-122"/>
                <a:cs typeface="KaiTi" charset="-122"/>
              </a:rPr>
              <a:t>智能资产管理中心提供的顶尖算法结合用户的投资需求进行智能配置</a:t>
            </a:r>
            <a:endParaRPr lang="en-US" altLang="zh-CN" sz="1600" dirty="0">
              <a:solidFill>
                <a:schemeClr val="tx2">
                  <a:lumMod val="50000"/>
                </a:schemeClr>
              </a:solidFill>
              <a:latin typeface="KaiTi" charset="-122"/>
              <a:ea typeface="KaiTi" charset="-122"/>
              <a:cs typeface="KaiTi" charset="-122"/>
            </a:endParaRPr>
          </a:p>
        </p:txBody>
      </p:sp>
      <p:sp>
        <p:nvSpPr>
          <p:cNvPr id="13" name="Shape 230"/>
          <p:cNvSpPr/>
          <p:nvPr/>
        </p:nvSpPr>
        <p:spPr>
          <a:xfrm>
            <a:off x="526101" y="1127409"/>
            <a:ext cx="11318250" cy="553998"/>
          </a:xfrm>
          <a:prstGeom prst="rect">
            <a:avLst/>
          </a:prstGeom>
          <a:ln w="12700">
            <a:miter lim="400000"/>
          </a:ln>
        </p:spPr>
        <p:txBody>
          <a:bodyPr wrap="square" lIns="0" tIns="0" rIns="0" bIns="0">
            <a:spAutoFit/>
          </a:bodyPr>
          <a:lstStyle/>
          <a:p>
            <a:pPr lvl="0">
              <a:defRPr>
                <a:solidFill>
                  <a:srgbClr val="000000"/>
                </a:solidFill>
              </a:defRPr>
            </a:pPr>
            <a:r>
              <a:rPr lang="zh-CN" altLang="en-US" dirty="0">
                <a:solidFill>
                  <a:schemeClr val="tx2">
                    <a:lumMod val="50000"/>
                  </a:schemeClr>
                </a:solidFill>
                <a:latin typeface="KaiTi" charset="-122"/>
                <a:ea typeface="KaiTi" charset="-122"/>
                <a:cs typeface="KaiTi" charset="-122"/>
              </a:rPr>
              <a:t>    基于</a:t>
            </a:r>
            <a:r>
              <a:rPr lang="en-US" altLang="zh-CN" dirty="0" err="1">
                <a:solidFill>
                  <a:schemeClr val="tx2">
                    <a:lumMod val="50000"/>
                  </a:schemeClr>
                </a:solidFill>
                <a:latin typeface="New Peninim MT" pitchFamily="2" charset="-79"/>
                <a:ea typeface="KaiTi" charset="-122"/>
                <a:cs typeface="New Peninim MT" pitchFamily="2" charset="-79"/>
              </a:rPr>
              <a:t>FDTScore</a:t>
            </a:r>
            <a:r>
              <a:rPr lang="zh-CN" altLang="en-US" dirty="0">
                <a:solidFill>
                  <a:schemeClr val="tx2">
                    <a:lumMod val="50000"/>
                  </a:schemeClr>
                </a:solidFill>
                <a:latin typeface="KaiTi" charset="-122"/>
                <a:ea typeface="KaiTi" charset="-122"/>
                <a:cs typeface="KaiTi" charset="-122"/>
              </a:rPr>
              <a:t>对用户和产品画像，结合用户的理财需求、风险偏好进行量化分析，在产品和资产选择、流动性预测、风险评估等现代资产管理框架进行提升，对产品进行个性化排序和智能金融产品和资产组合推荐</a:t>
            </a:r>
            <a:endParaRPr dirty="0">
              <a:solidFill>
                <a:schemeClr val="tx2">
                  <a:lumMod val="50000"/>
                </a:schemeClr>
              </a:solidFill>
              <a:latin typeface="KaiTi" charset="-122"/>
              <a:ea typeface="KaiTi" charset="-122"/>
              <a:cs typeface="KaiTi" charset="-122"/>
            </a:endParaRPr>
          </a:p>
        </p:txBody>
      </p:sp>
      <p:sp>
        <p:nvSpPr>
          <p:cNvPr id="2" name="矩形 1">
            <a:extLst>
              <a:ext uri="{FF2B5EF4-FFF2-40B4-BE49-F238E27FC236}">
                <a16:creationId xmlns:a16="http://schemas.microsoft.com/office/drawing/2014/main" id="{50CACC29-7EC1-4B41-9827-5F32FF7A6E37}"/>
              </a:ext>
            </a:extLst>
          </p:cNvPr>
          <p:cNvSpPr/>
          <p:nvPr/>
        </p:nvSpPr>
        <p:spPr>
          <a:xfrm>
            <a:off x="503901" y="1499648"/>
            <a:ext cx="184731" cy="392223"/>
          </a:xfrm>
          <a:prstGeom prst="rect">
            <a:avLst/>
          </a:prstGeom>
        </p:spPr>
        <p:txBody>
          <a:bodyPr wrap="none">
            <a:spAutoFit/>
          </a:bodyPr>
          <a:lstStyle/>
          <a:p>
            <a:endParaRPr lang="en-US" altLang="zh-CN" u="sng" dirty="0">
              <a:solidFill>
                <a:schemeClr val="tx1">
                  <a:lumMod val="60000"/>
                  <a:lumOff val="40000"/>
                </a:schemeClr>
              </a:solidFill>
              <a:effectLst/>
              <a:latin typeface="Helvetica Neue" panose="02000503000000020004" pitchFamily="2" charset="0"/>
            </a:endParaRPr>
          </a:p>
        </p:txBody>
      </p:sp>
      <p:sp>
        <p:nvSpPr>
          <p:cNvPr id="9" name="矩形 8">
            <a:extLst>
              <a:ext uri="{FF2B5EF4-FFF2-40B4-BE49-F238E27FC236}">
                <a16:creationId xmlns:a16="http://schemas.microsoft.com/office/drawing/2014/main" id="{CD847E80-D194-884D-B593-717B62B141ED}"/>
              </a:ext>
            </a:extLst>
          </p:cNvPr>
          <p:cNvSpPr/>
          <p:nvPr/>
        </p:nvSpPr>
        <p:spPr>
          <a:xfrm>
            <a:off x="503901" y="1920468"/>
            <a:ext cx="4027064" cy="424732"/>
          </a:xfrm>
          <a:prstGeom prst="rect">
            <a:avLst/>
          </a:prstGeom>
        </p:spPr>
        <p:txBody>
          <a:bodyPr wrap="square">
            <a:spAutoFit/>
          </a:bodyPr>
          <a:lstStyle/>
          <a:p>
            <a:r>
              <a:rPr lang="zh-Hans" altLang="en-US" b="1" dirty="0"/>
              <a:t>产品链接：</a:t>
            </a:r>
            <a:r>
              <a:rPr lang="zh-CN" altLang="en-US" dirty="0"/>
              <a:t>http://</a:t>
            </a:r>
            <a:r>
              <a:rPr lang="en-US" altLang="zh-Hans" dirty="0" err="1"/>
              <a:t>ra</a:t>
            </a:r>
            <a:r>
              <a:rPr lang="zh-CN" altLang="en-US" dirty="0"/>
              <a:t>.fdtai.net</a:t>
            </a:r>
          </a:p>
        </p:txBody>
      </p:sp>
      <p:pic>
        <p:nvPicPr>
          <p:cNvPr id="11" name="图片 10">
            <a:extLst>
              <a:ext uri="{FF2B5EF4-FFF2-40B4-BE49-F238E27FC236}">
                <a16:creationId xmlns:a16="http://schemas.microsoft.com/office/drawing/2014/main" id="{71068B9B-C38A-3B4A-8017-AF57704D8ABF}"/>
              </a:ext>
            </a:extLst>
          </p:cNvPr>
          <p:cNvPicPr>
            <a:picLocks noChangeAspect="1"/>
          </p:cNvPicPr>
          <p:nvPr/>
        </p:nvPicPr>
        <p:blipFill>
          <a:blip r:embed="rId3"/>
          <a:stretch>
            <a:fillRect/>
          </a:stretch>
        </p:blipFill>
        <p:spPr>
          <a:xfrm>
            <a:off x="477975" y="2446180"/>
            <a:ext cx="1782275" cy="3184721"/>
          </a:xfrm>
          <a:prstGeom prst="rect">
            <a:avLst/>
          </a:prstGeom>
        </p:spPr>
      </p:pic>
      <p:pic>
        <p:nvPicPr>
          <p:cNvPr id="12" name="图片 11">
            <a:extLst>
              <a:ext uri="{FF2B5EF4-FFF2-40B4-BE49-F238E27FC236}">
                <a16:creationId xmlns:a16="http://schemas.microsoft.com/office/drawing/2014/main" id="{3BA6CFA0-2D38-6448-845E-15D72ECF6D2A}"/>
              </a:ext>
            </a:extLst>
          </p:cNvPr>
          <p:cNvPicPr>
            <a:picLocks noChangeAspect="1"/>
          </p:cNvPicPr>
          <p:nvPr/>
        </p:nvPicPr>
        <p:blipFill>
          <a:blip r:embed="rId4"/>
          <a:stretch>
            <a:fillRect/>
          </a:stretch>
        </p:blipFill>
        <p:spPr>
          <a:xfrm>
            <a:off x="2358245" y="2448966"/>
            <a:ext cx="1777682" cy="3182343"/>
          </a:xfrm>
          <a:prstGeom prst="rect">
            <a:avLst/>
          </a:prstGeom>
        </p:spPr>
      </p:pic>
      <p:pic>
        <p:nvPicPr>
          <p:cNvPr id="14" name="图片 13">
            <a:extLst>
              <a:ext uri="{FF2B5EF4-FFF2-40B4-BE49-F238E27FC236}">
                <a16:creationId xmlns:a16="http://schemas.microsoft.com/office/drawing/2014/main" id="{5461A9F6-A0D4-2B46-84AF-EA5ABFEA48D8}"/>
              </a:ext>
            </a:extLst>
          </p:cNvPr>
          <p:cNvPicPr>
            <a:picLocks noChangeAspect="1"/>
          </p:cNvPicPr>
          <p:nvPr/>
        </p:nvPicPr>
        <p:blipFill>
          <a:blip r:embed="rId5"/>
          <a:stretch>
            <a:fillRect/>
          </a:stretch>
        </p:blipFill>
        <p:spPr>
          <a:xfrm>
            <a:off x="4273316" y="2433720"/>
            <a:ext cx="1754665" cy="3148074"/>
          </a:xfrm>
          <a:prstGeom prst="rect">
            <a:avLst/>
          </a:prstGeom>
        </p:spPr>
      </p:pic>
      <p:pic>
        <p:nvPicPr>
          <p:cNvPr id="10" name="图像" descr="图像">
            <a:extLst>
              <a:ext uri="{FF2B5EF4-FFF2-40B4-BE49-F238E27FC236}">
                <a16:creationId xmlns:a16="http://schemas.microsoft.com/office/drawing/2014/main" id="{DD251922-CD61-9746-8048-279AD4D8D6E0}"/>
              </a:ext>
            </a:extLst>
          </p:cNvPr>
          <p:cNvPicPr>
            <a:picLocks noChangeAspect="1"/>
          </p:cNvPicPr>
          <p:nvPr/>
        </p:nvPicPr>
        <p:blipFill>
          <a:blip r:embed="rId6">
            <a:extLst/>
          </a:blip>
          <a:stretch>
            <a:fillRect/>
          </a:stretch>
        </p:blipFill>
        <p:spPr>
          <a:xfrm>
            <a:off x="10484724" y="427048"/>
            <a:ext cx="1253576" cy="332979"/>
          </a:xfrm>
          <a:prstGeom prst="rect">
            <a:avLst/>
          </a:prstGeom>
          <a:ln w="3175">
            <a:miter lim="400000"/>
          </a:ln>
        </p:spPr>
      </p:pic>
      <p:sp>
        <p:nvSpPr>
          <p:cNvPr id="19" name="灯片编号占位符 3">
            <a:extLst>
              <a:ext uri="{FF2B5EF4-FFF2-40B4-BE49-F238E27FC236}">
                <a16:creationId xmlns:a16="http://schemas.microsoft.com/office/drawing/2014/main" id="{F38D58A4-9E10-2C40-8422-ED9A915FAE26}"/>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31</a:t>
            </a:fld>
            <a:endParaRPr lang="zh-CN" altLang="en-US" dirty="0"/>
          </a:p>
        </p:txBody>
      </p:sp>
      <p:sp>
        <p:nvSpPr>
          <p:cNvPr id="20" name="矩形 19">
            <a:extLst>
              <a:ext uri="{FF2B5EF4-FFF2-40B4-BE49-F238E27FC236}">
                <a16:creationId xmlns:a16="http://schemas.microsoft.com/office/drawing/2014/main" id="{CF6BEDDD-FB50-8D4E-BF38-9F0561142DF8}"/>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EE0B40F-5E47-6D4A-884C-DE08B7A118D7}"/>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88154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9"/>
          <p:cNvGrpSpPr/>
          <p:nvPr/>
        </p:nvGrpSpPr>
        <p:grpSpPr>
          <a:xfrm>
            <a:off x="-37900" y="-9030"/>
            <a:ext cx="5596847" cy="6858001"/>
            <a:chOff x="0" y="0"/>
            <a:chExt cx="5596845" cy="6858000"/>
          </a:xfrm>
        </p:grpSpPr>
        <p:sp>
          <p:nvSpPr>
            <p:cNvPr id="217" name="Shape 217"/>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sp>
          <p:nvSpPr>
            <p:cNvPr id="218" name="Shape 218"/>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grpSp>
      <p:sp>
        <p:nvSpPr>
          <p:cNvPr id="220" name="Shape 220"/>
          <p:cNvSpPr/>
          <p:nvPr/>
        </p:nvSpPr>
        <p:spPr>
          <a:xfrm>
            <a:off x="553826" y="1887316"/>
            <a:ext cx="4774933" cy="1200329"/>
          </a:xfrm>
          <a:prstGeom prst="rect">
            <a:avLst/>
          </a:prstGeom>
          <a:ln w="12700">
            <a:miter lim="400000"/>
          </a:ln>
        </p:spPr>
        <p:txBody>
          <a:bodyPr wrap="square" lIns="45719" rIns="45719">
            <a:spAutoFit/>
          </a:bodyPr>
          <a:lstStyle/>
          <a:p>
            <a:pPr lvl="0">
              <a:defRPr>
                <a:solidFill>
                  <a:srgbClr val="000000"/>
                </a:solidFill>
              </a:defRPr>
            </a:pPr>
            <a:r>
              <a:rPr lang="zh-CN" altLang="en-US" dirty="0">
                <a:latin typeface="KaiTi" charset="-122"/>
                <a:ea typeface="KaiTi" charset="-122"/>
                <a:cs typeface="KaiTi" charset="-122"/>
              </a:rPr>
              <a:t>目前的券商</a:t>
            </a:r>
            <a:r>
              <a:rPr lang="en-US" altLang="zh-CN" dirty="0">
                <a:latin typeface="KaiTi" charset="-122"/>
                <a:ea typeface="KaiTi" charset="-122"/>
                <a:cs typeface="KaiTi" charset="-122"/>
              </a:rPr>
              <a:t>APP</a:t>
            </a:r>
            <a:r>
              <a:rPr lang="zh-CN" altLang="en-US" dirty="0">
                <a:latin typeface="KaiTi" charset="-122"/>
                <a:ea typeface="KaiTi" charset="-122"/>
                <a:cs typeface="KaiTi" charset="-122"/>
              </a:rPr>
              <a:t>上几乎没有针对投资者投中的投资和风控动态提醒，让投资者能够及时止盈止损，延长客户投资生命周期，从而让投资变成可持续的常态</a:t>
            </a:r>
            <a:endParaRPr dirty="0">
              <a:latin typeface="KaiTi" charset="-122"/>
              <a:ea typeface="KaiTi" charset="-122"/>
              <a:cs typeface="KaiTi" charset="-122"/>
            </a:endParaRPr>
          </a:p>
        </p:txBody>
      </p:sp>
      <p:sp>
        <p:nvSpPr>
          <p:cNvPr id="223" name="Shape 223"/>
          <p:cNvSpPr/>
          <p:nvPr/>
        </p:nvSpPr>
        <p:spPr>
          <a:xfrm>
            <a:off x="1710817" y="4078416"/>
            <a:ext cx="1177579" cy="2813103"/>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KaiTi" charset="-122"/>
              <a:ea typeface="KaiTi" charset="-122"/>
              <a:cs typeface="KaiTi" charset="-122"/>
            </a:endParaRPr>
          </a:p>
        </p:txBody>
      </p:sp>
      <p:sp>
        <p:nvSpPr>
          <p:cNvPr id="10" name="文本框 9"/>
          <p:cNvSpPr txBox="1"/>
          <p:nvPr/>
        </p:nvSpPr>
        <p:spPr>
          <a:xfrm>
            <a:off x="503902" y="1039869"/>
            <a:ext cx="4548429" cy="83407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effectLst/>
                <a:uFillTx/>
                <a:latin typeface="KaiTi" charset="-122"/>
                <a:ea typeface="KaiTi" charset="-122"/>
                <a:cs typeface="KaiTi" charset="-122"/>
                <a:sym typeface="微软雅黑" panose="020B0503020204020204" charset="-122"/>
              </a:rPr>
              <a:t>投中：</a:t>
            </a:r>
            <a:endParaRPr kumimoji="0" lang="en-US" altLang="zh-CN" sz="1800" b="1" i="0" u="none" strike="noStrike" cap="none" spc="0" normalizeH="0" baseline="0" dirty="0">
              <a:ln>
                <a:noFill/>
              </a:ln>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latin typeface="KaiTi" charset="-122"/>
                <a:ea typeface="KaiTi" charset="-122"/>
                <a:cs typeface="KaiTi" charset="-122"/>
              </a:rPr>
              <a:t>      </a:t>
            </a:r>
            <a:r>
              <a:rPr lang="zh-CN" altLang="en-US" sz="1600" b="1" dirty="0">
                <a:latin typeface="KaiTi" charset="-122"/>
                <a:ea typeface="KaiTi" charset="-122"/>
                <a:cs typeface="KaiTi" charset="-122"/>
              </a:rPr>
              <a:t> </a:t>
            </a:r>
            <a:r>
              <a:rPr lang="zh-Hans" altLang="en-US" sz="1600" b="1" dirty="0">
                <a:latin typeface="KaiTi" charset="-122"/>
                <a:ea typeface="KaiTi" charset="-122"/>
                <a:cs typeface="KaiTi" charset="-122"/>
              </a:rPr>
              <a:t> </a:t>
            </a:r>
            <a:r>
              <a:rPr lang="zh-CN" altLang="en-US" sz="1600" b="1" dirty="0">
                <a:latin typeface="KaiTi" charset="-122"/>
                <a:ea typeface="KaiTi" charset="-122"/>
                <a:cs typeface="KaiTi" charset="-122"/>
              </a:rPr>
              <a:t>交易信号提醒，动态调仓和风控提醒</a:t>
            </a:r>
            <a:endParaRPr kumimoji="0" lang="zh-CN" altLang="en-US" sz="1600" b="1" i="0" u="none" strike="noStrike" cap="none" spc="0" normalizeH="0" baseline="0" dirty="0">
              <a:ln>
                <a:noFill/>
              </a:ln>
              <a:effectLst/>
              <a:uFillTx/>
              <a:latin typeface="KaiTi" charset="-122"/>
              <a:ea typeface="KaiTi" charset="-122"/>
              <a:cs typeface="KaiTi" charset="-122"/>
              <a:sym typeface="微软雅黑" panose="020B0503020204020204" charset="-122"/>
            </a:endParaRPr>
          </a:p>
        </p:txBody>
      </p:sp>
      <p:sp>
        <p:nvSpPr>
          <p:cNvPr id="11" name="Shape 208"/>
          <p:cNvSpPr/>
          <p:nvPr/>
        </p:nvSpPr>
        <p:spPr>
          <a:xfrm>
            <a:off x="6092963" y="1910663"/>
            <a:ext cx="4800534" cy="1200329"/>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KaiTi" charset="-122"/>
                <a:ea typeface="KaiTi" charset="-122"/>
                <a:cs typeface="KaiTi" charset="-122"/>
              </a:rPr>
              <a:t>动态调仓提示：</a:t>
            </a:r>
            <a:r>
              <a:rPr lang="zh-CN" altLang="en-US" dirty="0">
                <a:latin typeface="KaiTi" charset="-122"/>
                <a:ea typeface="KaiTi" charset="-122"/>
                <a:cs typeface="KaiTi" charset="-122"/>
              </a:rPr>
              <a:t>基于</a:t>
            </a:r>
            <a:r>
              <a:rPr lang="en-US" altLang="zh-CN" dirty="0" err="1">
                <a:latin typeface="New Peninim MT" pitchFamily="2" charset="-79"/>
                <a:ea typeface="KaiTi" charset="-122"/>
                <a:cs typeface="New Peninim MT" pitchFamily="2" charset="-79"/>
              </a:rPr>
              <a:t>FDTScore</a:t>
            </a:r>
            <a:r>
              <a:rPr lang="zh-CN" altLang="en-US" dirty="0">
                <a:latin typeface="KaiTi" charset="-122"/>
                <a:ea typeface="KaiTi" charset="-122"/>
                <a:cs typeface="KaiTi" charset="-122"/>
              </a:rPr>
              <a:t>的用户和产品画像，对投资者的持仓进行诊断以及个性化提示（人工智能、深度学习、知识图谱、大数据、行为金融学等技术应用）</a:t>
            </a:r>
            <a:endParaRPr dirty="0">
              <a:latin typeface="KaiTi" charset="-122"/>
              <a:ea typeface="KaiTi" charset="-122"/>
              <a:cs typeface="KaiTi" charset="-122"/>
            </a:endParaRPr>
          </a:p>
        </p:txBody>
      </p:sp>
      <p:sp>
        <p:nvSpPr>
          <p:cNvPr id="12" name="Shape 209"/>
          <p:cNvSpPr/>
          <p:nvPr/>
        </p:nvSpPr>
        <p:spPr>
          <a:xfrm>
            <a:off x="6092963" y="4146875"/>
            <a:ext cx="4800534" cy="646331"/>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KaiTi" charset="-122"/>
                <a:ea typeface="KaiTi" charset="-122"/>
                <a:cs typeface="KaiTi" charset="-122"/>
              </a:rPr>
              <a:t>动态风控提醒：</a:t>
            </a:r>
            <a:r>
              <a:rPr lang="zh-CN" altLang="en-US" dirty="0">
                <a:latin typeface="KaiTi" charset="-122"/>
                <a:ea typeface="KaiTi" charset="-122"/>
                <a:cs typeface="KaiTi" charset="-122"/>
              </a:rPr>
              <a:t>根据投资者的风险偏好和投资需求进行智能风控（机器学习技术）</a:t>
            </a:r>
            <a:endParaRPr dirty="0">
              <a:latin typeface="KaiTi" charset="-122"/>
              <a:ea typeface="KaiTi" charset="-122"/>
              <a:cs typeface="KaiTi" charset="-122"/>
            </a:endParaRPr>
          </a:p>
        </p:txBody>
      </p:sp>
      <p:sp>
        <p:nvSpPr>
          <p:cNvPr id="13"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latin typeface="KaiTi" charset="-122"/>
                <a:ea typeface="KaiTi" charset="-122"/>
                <a:cs typeface="KaiTi" charset="-122"/>
              </a:rPr>
              <a:t>典型用户需求           </a:t>
            </a:r>
            <a:r>
              <a:rPr lang="zh-CN" altLang="en-US" sz="3600" dirty="0">
                <a:latin typeface="+mj-lt"/>
                <a:ea typeface="KaiTi" charset="-122"/>
                <a:cs typeface="KaiTi" charset="-122"/>
              </a:rPr>
              <a:t> </a:t>
            </a:r>
            <a:r>
              <a:rPr lang="en-US" altLang="zh-CN" sz="3600" dirty="0" err="1">
                <a:latin typeface="New Peninim MT" pitchFamily="2" charset="-79"/>
                <a:ea typeface="KaiTi" charset="-122"/>
                <a:cs typeface="New Peninim MT" pitchFamily="2" charset="-79"/>
              </a:rPr>
              <a:t>FDTAI</a:t>
            </a:r>
            <a:r>
              <a:rPr sz="3600" dirty="0" err="1">
                <a:latin typeface="KaiTi" charset="-122"/>
                <a:ea typeface="KaiTi" charset="-122"/>
                <a:cs typeface="KaiTi" charset="-122"/>
              </a:rPr>
              <a:t>对策</a:t>
            </a:r>
            <a:endParaRPr sz="3600" dirty="0">
              <a:latin typeface="KaiTi" charset="-122"/>
              <a:ea typeface="KaiTi" charset="-122"/>
              <a:cs typeface="KaiTi" charset="-122"/>
            </a:endParaRPr>
          </a:p>
        </p:txBody>
      </p:sp>
      <p:pic>
        <p:nvPicPr>
          <p:cNvPr id="14" name="图像" descr="图像">
            <a:extLst>
              <a:ext uri="{FF2B5EF4-FFF2-40B4-BE49-F238E27FC236}">
                <a16:creationId xmlns:a16="http://schemas.microsoft.com/office/drawing/2014/main" id="{7526506A-6632-CD4A-A6EA-8F51BF7253CF}"/>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5" name="灯片编号占位符 3">
            <a:extLst>
              <a:ext uri="{FF2B5EF4-FFF2-40B4-BE49-F238E27FC236}">
                <a16:creationId xmlns:a16="http://schemas.microsoft.com/office/drawing/2014/main" id="{8ECC20B8-1DAA-3640-9DC9-3A346A294BF2}"/>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32</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338762327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16589" y="953643"/>
            <a:ext cx="10625544" cy="923330"/>
          </a:xfrm>
          <a:prstGeom prst="rect">
            <a:avLst/>
          </a:prstGeom>
          <a:ln w="12700">
            <a:miter lim="400000"/>
          </a:ln>
        </p:spPr>
        <p:txBody>
          <a:bodyPr wrap="square" lIns="45719" rIns="45719">
            <a:spAutoFit/>
          </a:bodyPr>
          <a:lstStyle/>
          <a:p>
            <a:pPr lvl="0">
              <a:defRPr>
                <a:solidFill>
                  <a:srgbClr val="000000"/>
                </a:solidFill>
              </a:defRPr>
            </a:pPr>
            <a:r>
              <a:rPr lang="zh-CN" altLang="en-US" sz="1600" dirty="0">
                <a:latin typeface="KaiTi" charset="-122"/>
                <a:ea typeface="KaiTi" charset="-122"/>
                <a:cs typeface="KaiTi" charset="-122"/>
              </a:rPr>
              <a:t>     </a:t>
            </a:r>
            <a:r>
              <a:rPr lang="zh-CN" altLang="en-US" dirty="0">
                <a:latin typeface="KaiTi" charset="-122"/>
                <a:ea typeface="KaiTi" charset="-122"/>
                <a:cs typeface="KaiTi" charset="-122"/>
              </a:rPr>
              <a:t>利用机器学习模型自动计算用户的止损线，并提取产品维度特征，对市场交易标的做波动预测，另外基于投资者和交易标的历史表现及市场动态进行个性化调仓和风控提醒，帮助用户实现智能调仓提示，智能风险提醒等功能。</a:t>
            </a:r>
            <a:endParaRPr dirty="0">
              <a:latin typeface="KaiTi" charset="-122"/>
              <a:ea typeface="KaiTi" charset="-122"/>
              <a:cs typeface="KaiTi" charset="-122"/>
            </a:endParaRPr>
          </a:p>
        </p:txBody>
      </p:sp>
      <p:sp>
        <p:nvSpPr>
          <p:cNvPr id="215" name="Shape 215"/>
          <p:cNvSpPr/>
          <p:nvPr/>
        </p:nvSpPr>
        <p:spPr>
          <a:xfrm>
            <a:off x="689641" y="27221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a:t>
            </a:r>
            <a:r>
              <a:rPr lang="zh-Hans" altLang="en-US" sz="3600" dirty="0">
                <a:solidFill>
                  <a:schemeClr val="tx1"/>
                </a:solidFill>
                <a:latin typeface="KaiTi" charset="-122"/>
                <a:ea typeface="KaiTi" charset="-122"/>
                <a:cs typeface="KaiTi" charset="-122"/>
              </a:rPr>
              <a:t>风控</a:t>
            </a:r>
            <a:endParaRPr dirty="0">
              <a:solidFill>
                <a:schemeClr val="tx1"/>
              </a:solidFill>
              <a:latin typeface="KaiTi" charset="-122"/>
              <a:ea typeface="KaiTi" charset="-122"/>
              <a:cs typeface="KaiTi" charset="-122"/>
            </a:endParaRPr>
          </a:p>
        </p:txBody>
      </p:sp>
      <p:pic>
        <p:nvPicPr>
          <p:cNvPr id="2" name="图片 1"/>
          <p:cNvPicPr>
            <a:picLocks noChangeAspect="1"/>
          </p:cNvPicPr>
          <p:nvPr/>
        </p:nvPicPr>
        <p:blipFill>
          <a:blip r:embed="rId2"/>
          <a:stretch>
            <a:fillRect/>
          </a:stretch>
        </p:blipFill>
        <p:spPr>
          <a:xfrm>
            <a:off x="1234019" y="4557612"/>
            <a:ext cx="4218516" cy="2175974"/>
          </a:xfrm>
          <a:prstGeom prst="rect">
            <a:avLst/>
          </a:prstGeom>
        </p:spPr>
      </p:pic>
      <p:sp>
        <p:nvSpPr>
          <p:cNvPr id="3" name="文本框 2"/>
          <p:cNvSpPr txBox="1"/>
          <p:nvPr/>
        </p:nvSpPr>
        <p:spPr>
          <a:xfrm>
            <a:off x="541871" y="5216016"/>
            <a:ext cx="793750" cy="42626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600" b="0" i="0" u="none" strike="noStrike" cap="none" spc="0" normalizeH="0" baseline="0" dirty="0">
                <a:ln>
                  <a:noFill/>
                </a:ln>
                <a:effectLst/>
                <a:uFillTx/>
                <a:latin typeface="KaiTi" charset="-122"/>
                <a:ea typeface="KaiTi" charset="-122"/>
                <a:cs typeface="KaiTi" charset="-122"/>
                <a:sym typeface="微软雅黑" panose="020B0503020204020204" charset="-122"/>
              </a:rPr>
              <a:t>止损线</a:t>
            </a:r>
          </a:p>
        </p:txBody>
      </p:sp>
      <p:pic>
        <p:nvPicPr>
          <p:cNvPr id="6" name="图片 5"/>
          <p:cNvPicPr>
            <a:picLocks noChangeAspect="1"/>
          </p:cNvPicPr>
          <p:nvPr/>
        </p:nvPicPr>
        <p:blipFill>
          <a:blip r:embed="rId3"/>
          <a:stretch>
            <a:fillRect/>
          </a:stretch>
        </p:blipFill>
        <p:spPr>
          <a:xfrm>
            <a:off x="516589" y="1851531"/>
            <a:ext cx="7010400" cy="2616753"/>
          </a:xfrm>
          <a:prstGeom prst="rect">
            <a:avLst/>
          </a:prstGeom>
        </p:spPr>
      </p:pic>
      <p:sp>
        <p:nvSpPr>
          <p:cNvPr id="42" name="Shape 208"/>
          <p:cNvSpPr/>
          <p:nvPr/>
        </p:nvSpPr>
        <p:spPr>
          <a:xfrm>
            <a:off x="7662456" y="2276364"/>
            <a:ext cx="3479677" cy="1323439"/>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KaiTi" charset="-122"/>
                <a:ea typeface="KaiTi" charset="-122"/>
                <a:cs typeface="KaiTi" charset="-122"/>
              </a:rPr>
              <a:t>动态调仓提示</a:t>
            </a:r>
            <a:r>
              <a:rPr lang="zh-CN" altLang="en-US" sz="1600" dirty="0">
                <a:latin typeface="KaiTi" charset="-122"/>
                <a:ea typeface="KaiTi" charset="-122"/>
                <a:cs typeface="KaiTi" charset="-122"/>
              </a:rPr>
              <a:t>：基于</a:t>
            </a:r>
            <a:r>
              <a:rPr lang="en-US" altLang="zh-CN" sz="1600" dirty="0" err="1">
                <a:latin typeface="New Peninim MT" pitchFamily="2" charset="-79"/>
                <a:ea typeface="KaiTi" charset="-122"/>
                <a:cs typeface="New Peninim MT" pitchFamily="2" charset="-79"/>
              </a:rPr>
              <a:t>FDTScore</a:t>
            </a:r>
            <a:r>
              <a:rPr lang="zh-CN" altLang="en-US" sz="1600" dirty="0">
                <a:latin typeface="KaiTi" charset="-122"/>
                <a:ea typeface="KaiTi" charset="-122"/>
                <a:cs typeface="KaiTi" charset="-122"/>
              </a:rPr>
              <a:t>的产品和投资者画像，结合市场即时资讯、形态信号等因素，对投资者的持仓进行动态监控和诊断，根据投资者的风险偏好和投资需求给出个性化提示</a:t>
            </a:r>
            <a:endParaRPr sz="1600" dirty="0">
              <a:latin typeface="KaiTi" charset="-122"/>
              <a:ea typeface="KaiTi" charset="-122"/>
              <a:cs typeface="KaiTi" charset="-122"/>
            </a:endParaRPr>
          </a:p>
        </p:txBody>
      </p:sp>
      <p:sp>
        <p:nvSpPr>
          <p:cNvPr id="43" name="Shape 209"/>
          <p:cNvSpPr/>
          <p:nvPr/>
        </p:nvSpPr>
        <p:spPr>
          <a:xfrm>
            <a:off x="5587166" y="4684736"/>
            <a:ext cx="1939823" cy="1815882"/>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KaiTi" charset="-122"/>
                <a:ea typeface="KaiTi" charset="-122"/>
                <a:cs typeface="KaiTi" charset="-122"/>
              </a:rPr>
              <a:t>动态风控提醒：</a:t>
            </a:r>
            <a:r>
              <a:rPr lang="zh-CN" altLang="en-US" sz="1600" dirty="0">
                <a:latin typeface="KaiTi" charset="-122"/>
                <a:ea typeface="KaiTi" charset="-122"/>
                <a:cs typeface="KaiTi" charset="-122"/>
              </a:rPr>
              <a:t>对投资者的调仓记录进行穿透式分析，识别风险，计算客户的止盈止损线，并进行回测提示，适时给出风控提醒</a:t>
            </a:r>
            <a:endParaRPr sz="1600" dirty="0">
              <a:latin typeface="KaiTi" charset="-122"/>
              <a:ea typeface="KaiTi" charset="-122"/>
              <a:cs typeface="KaiTi" charset="-122"/>
            </a:endParaRPr>
          </a:p>
        </p:txBody>
      </p:sp>
      <p:pic>
        <p:nvPicPr>
          <p:cNvPr id="10" name="图像" descr="图像">
            <a:extLst>
              <a:ext uri="{FF2B5EF4-FFF2-40B4-BE49-F238E27FC236}">
                <a16:creationId xmlns:a16="http://schemas.microsoft.com/office/drawing/2014/main" id="{1ED8B551-A0E1-F347-B04F-BE9DA8228E2B}"/>
              </a:ext>
            </a:extLst>
          </p:cNvPr>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11" name="灯片编号占位符 3">
            <a:extLst>
              <a:ext uri="{FF2B5EF4-FFF2-40B4-BE49-F238E27FC236}">
                <a16:creationId xmlns:a16="http://schemas.microsoft.com/office/drawing/2014/main" id="{93BFD344-95F8-F742-BEF0-041293DD0DC2}"/>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33</a:t>
            </a:fld>
            <a:endParaRPr lang="zh-CN" altLang="en-US" dirty="0"/>
          </a:p>
        </p:txBody>
      </p:sp>
      <p:sp>
        <p:nvSpPr>
          <p:cNvPr id="12" name="矩形 11">
            <a:extLst>
              <a:ext uri="{FF2B5EF4-FFF2-40B4-BE49-F238E27FC236}">
                <a16:creationId xmlns:a16="http://schemas.microsoft.com/office/drawing/2014/main" id="{257613AF-9657-674C-99EA-EF42AC34840D}"/>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CE0EC29-AF8F-3146-B51C-A73992ED44FA}"/>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B3016103-3E78-8341-98A2-AF3E9A9F22AA}"/>
              </a:ext>
            </a:extLst>
          </p:cNvPr>
          <p:cNvPicPr>
            <a:picLocks noChangeAspect="1"/>
          </p:cNvPicPr>
          <p:nvPr/>
        </p:nvPicPr>
        <p:blipFill>
          <a:blip r:embed="rId5"/>
          <a:stretch>
            <a:fillRect/>
          </a:stretch>
        </p:blipFill>
        <p:spPr>
          <a:xfrm>
            <a:off x="7526989" y="4046517"/>
            <a:ext cx="4066494" cy="2297409"/>
          </a:xfrm>
          <a:prstGeom prst="rect">
            <a:avLst/>
          </a:prstGeom>
        </p:spPr>
      </p:pic>
    </p:spTree>
    <p:extLst>
      <p:ext uri="{BB962C8B-B14F-4D97-AF65-F5344CB8AC3E}">
        <p14:creationId xmlns:p14="http://schemas.microsoft.com/office/powerpoint/2010/main" val="12347502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9"/>
          <p:cNvGrpSpPr/>
          <p:nvPr/>
        </p:nvGrpSpPr>
        <p:grpSpPr>
          <a:xfrm>
            <a:off x="-37900" y="-9030"/>
            <a:ext cx="5596847" cy="6858001"/>
            <a:chOff x="0" y="0"/>
            <a:chExt cx="5596845" cy="6858000"/>
          </a:xfrm>
        </p:grpSpPr>
        <p:sp>
          <p:nvSpPr>
            <p:cNvPr id="217" name="Shape 217"/>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sp>
          <p:nvSpPr>
            <p:cNvPr id="218" name="Shape 218"/>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grpSp>
      <p:sp>
        <p:nvSpPr>
          <p:cNvPr id="220" name="Shape 220"/>
          <p:cNvSpPr/>
          <p:nvPr/>
        </p:nvSpPr>
        <p:spPr>
          <a:xfrm>
            <a:off x="553826" y="1887316"/>
            <a:ext cx="4774933" cy="1200329"/>
          </a:xfrm>
          <a:prstGeom prst="rect">
            <a:avLst/>
          </a:prstGeom>
          <a:ln w="12700">
            <a:miter lim="400000"/>
          </a:ln>
        </p:spPr>
        <p:txBody>
          <a:bodyPr wrap="square" lIns="45719" rIns="45719">
            <a:spAutoFit/>
          </a:bodyPr>
          <a:lstStyle/>
          <a:p>
            <a:pPr lvl="0">
              <a:defRPr>
                <a:solidFill>
                  <a:srgbClr val="000000"/>
                </a:solidFill>
              </a:defRPr>
            </a:pPr>
            <a:r>
              <a:rPr lang="zh-CN" altLang="en-US" dirty="0">
                <a:latin typeface="KaiTi" charset="-122"/>
                <a:ea typeface="KaiTi" charset="-122"/>
                <a:cs typeface="KaiTi" charset="-122"/>
              </a:rPr>
              <a:t>目前大部分投资者都缺乏专业的投资点评，投资之后也没有进行复盘总结，自己的操作存在哪些问题，有哪些可以改善的地方，应该从哪里提升，这些都没有人给出答案</a:t>
            </a:r>
            <a:endParaRPr dirty="0">
              <a:latin typeface="KaiTi" charset="-122"/>
              <a:ea typeface="KaiTi" charset="-122"/>
              <a:cs typeface="KaiTi" charset="-122"/>
            </a:endParaRPr>
          </a:p>
        </p:txBody>
      </p:sp>
      <p:sp>
        <p:nvSpPr>
          <p:cNvPr id="223" name="Shape 223"/>
          <p:cNvSpPr/>
          <p:nvPr/>
        </p:nvSpPr>
        <p:spPr>
          <a:xfrm>
            <a:off x="1710817" y="4078416"/>
            <a:ext cx="1177579" cy="2813103"/>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KaiTi" charset="-122"/>
              <a:ea typeface="KaiTi" charset="-122"/>
              <a:cs typeface="KaiTi" charset="-122"/>
            </a:endParaRPr>
          </a:p>
        </p:txBody>
      </p:sp>
      <p:sp>
        <p:nvSpPr>
          <p:cNvPr id="10" name="文本框 9"/>
          <p:cNvSpPr txBox="1"/>
          <p:nvPr/>
        </p:nvSpPr>
        <p:spPr>
          <a:xfrm>
            <a:off x="503902" y="1039869"/>
            <a:ext cx="4548429" cy="83407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effectLst/>
                <a:uFillTx/>
                <a:latin typeface="KaiTi" charset="-122"/>
                <a:ea typeface="KaiTi" charset="-122"/>
                <a:cs typeface="KaiTi" charset="-122"/>
                <a:sym typeface="微软雅黑" panose="020B0503020204020204" charset="-122"/>
              </a:rPr>
              <a:t>投后：</a:t>
            </a:r>
            <a:endParaRPr kumimoji="0" lang="en-US" altLang="zh-CN" sz="1800" b="1" i="0" u="none" strike="noStrike" cap="none" spc="0" normalizeH="0" baseline="0" dirty="0">
              <a:ln>
                <a:noFill/>
              </a:ln>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latin typeface="KaiTi" charset="-122"/>
                <a:ea typeface="KaiTi" charset="-122"/>
                <a:cs typeface="KaiTi" charset="-122"/>
              </a:rPr>
              <a:t>      </a:t>
            </a:r>
            <a:r>
              <a:rPr lang="zh-CN" altLang="en-US" sz="1600" b="1" dirty="0">
                <a:latin typeface="KaiTi" charset="-122"/>
                <a:ea typeface="KaiTi" charset="-122"/>
                <a:cs typeface="KaiTi" charset="-122"/>
              </a:rPr>
              <a:t> </a:t>
            </a:r>
            <a:r>
              <a:rPr lang="zh-Hans" altLang="en-US" sz="1600" b="1" dirty="0">
                <a:latin typeface="KaiTi" charset="-122"/>
                <a:ea typeface="KaiTi" charset="-122"/>
                <a:cs typeface="KaiTi" charset="-122"/>
              </a:rPr>
              <a:t> </a:t>
            </a:r>
            <a:r>
              <a:rPr lang="zh-CN" altLang="en-US" sz="1600" b="1" dirty="0">
                <a:latin typeface="KaiTi" charset="-122"/>
                <a:ea typeface="KaiTi" charset="-122"/>
                <a:cs typeface="KaiTi" charset="-122"/>
              </a:rPr>
              <a:t>投后专业点评及复盘总结</a:t>
            </a:r>
            <a:endParaRPr kumimoji="0" lang="zh-CN" altLang="en-US" sz="1600" b="1" i="0" u="none" strike="noStrike" cap="none" spc="0" normalizeH="0" baseline="0" dirty="0">
              <a:ln>
                <a:noFill/>
              </a:ln>
              <a:effectLst/>
              <a:uFillTx/>
              <a:latin typeface="KaiTi" charset="-122"/>
              <a:ea typeface="KaiTi" charset="-122"/>
              <a:cs typeface="KaiTi" charset="-122"/>
              <a:sym typeface="微软雅黑" panose="020B0503020204020204" charset="-122"/>
            </a:endParaRPr>
          </a:p>
        </p:txBody>
      </p:sp>
      <p:sp>
        <p:nvSpPr>
          <p:cNvPr id="11" name="Shape 208"/>
          <p:cNvSpPr/>
          <p:nvPr/>
        </p:nvSpPr>
        <p:spPr>
          <a:xfrm>
            <a:off x="6092963" y="1910663"/>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KaiTi" charset="-122"/>
                <a:ea typeface="KaiTi" charset="-122"/>
                <a:cs typeface="KaiTi" charset="-122"/>
              </a:rPr>
              <a:t>智能评分及智能点评：</a:t>
            </a:r>
            <a:r>
              <a:rPr lang="zh-CN" altLang="en-US" dirty="0">
                <a:latin typeface="KaiTi" charset="-122"/>
                <a:ea typeface="KaiTi" charset="-122"/>
                <a:cs typeface="KaiTi" charset="-122"/>
              </a:rPr>
              <a:t>基于投资者的投资表现进行智能评分，之后对整体交易表现给出专业的点评</a:t>
            </a:r>
            <a:endParaRPr dirty="0">
              <a:latin typeface="KaiTi" charset="-122"/>
              <a:ea typeface="KaiTi" charset="-122"/>
              <a:cs typeface="KaiTi" charset="-122"/>
            </a:endParaRPr>
          </a:p>
        </p:txBody>
      </p:sp>
      <p:sp>
        <p:nvSpPr>
          <p:cNvPr id="12" name="Shape 209"/>
          <p:cNvSpPr/>
          <p:nvPr/>
        </p:nvSpPr>
        <p:spPr>
          <a:xfrm>
            <a:off x="6092963" y="3120939"/>
            <a:ext cx="4800534" cy="646331"/>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Hans" altLang="en-US" b="1" dirty="0">
                <a:latin typeface="KaiTi" charset="-122"/>
                <a:ea typeface="KaiTi" charset="-122"/>
                <a:cs typeface="KaiTi" charset="-122"/>
              </a:rPr>
              <a:t>系统</a:t>
            </a:r>
            <a:r>
              <a:rPr lang="zh-CN" altLang="en-US" b="1" dirty="0">
                <a:latin typeface="KaiTi" charset="-122"/>
                <a:ea typeface="KaiTi" charset="-122"/>
                <a:cs typeface="KaiTi" charset="-122"/>
              </a:rPr>
              <a:t>的复盘分析：</a:t>
            </a:r>
            <a:r>
              <a:rPr lang="zh-CN" altLang="en-US" dirty="0">
                <a:latin typeface="KaiTi" charset="-122"/>
                <a:ea typeface="KaiTi" charset="-122"/>
                <a:cs typeface="KaiTi" charset="-122"/>
              </a:rPr>
              <a:t>结合投资者的逐笔交易进行买卖点标注，再现历史交易场景</a:t>
            </a:r>
            <a:endParaRPr dirty="0">
              <a:latin typeface="KaiTi" charset="-122"/>
              <a:ea typeface="KaiTi" charset="-122"/>
              <a:cs typeface="KaiTi" charset="-122"/>
            </a:endParaRPr>
          </a:p>
        </p:txBody>
      </p:sp>
      <p:sp>
        <p:nvSpPr>
          <p:cNvPr id="13"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latin typeface="KaiTi" charset="-122"/>
                <a:ea typeface="KaiTi" charset="-122"/>
                <a:cs typeface="KaiTi" charset="-122"/>
              </a:rPr>
              <a:t>典型用户需求           </a:t>
            </a:r>
            <a:r>
              <a:rPr lang="zh-CN" altLang="en-US" sz="3600" dirty="0">
                <a:latin typeface="+mj-lt"/>
                <a:ea typeface="KaiTi" charset="-122"/>
                <a:cs typeface="KaiTi" charset="-122"/>
              </a:rPr>
              <a:t> </a:t>
            </a:r>
            <a:r>
              <a:rPr lang="en-US" altLang="zh-CN" sz="3600" dirty="0" err="1">
                <a:latin typeface="New Peninim MT" pitchFamily="2" charset="-79"/>
                <a:ea typeface="KaiTi" charset="-122"/>
                <a:cs typeface="New Peninim MT" pitchFamily="2" charset="-79"/>
              </a:rPr>
              <a:t>FDTAI</a:t>
            </a:r>
            <a:r>
              <a:rPr sz="3600" dirty="0" err="1">
                <a:latin typeface="KaiTi" charset="-122"/>
                <a:ea typeface="KaiTi" charset="-122"/>
                <a:cs typeface="KaiTi" charset="-122"/>
              </a:rPr>
              <a:t>对策</a:t>
            </a:r>
            <a:endParaRPr sz="3600" dirty="0">
              <a:latin typeface="KaiTi" charset="-122"/>
              <a:ea typeface="KaiTi" charset="-122"/>
              <a:cs typeface="KaiTi" charset="-122"/>
            </a:endParaRPr>
          </a:p>
        </p:txBody>
      </p:sp>
      <p:pic>
        <p:nvPicPr>
          <p:cNvPr id="14" name="图像" descr="图像">
            <a:extLst>
              <a:ext uri="{FF2B5EF4-FFF2-40B4-BE49-F238E27FC236}">
                <a16:creationId xmlns:a16="http://schemas.microsoft.com/office/drawing/2014/main" id="{A0685B90-49FF-B647-8F5B-839C52C58C96}"/>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5" name="灯片编号占位符 3">
            <a:extLst>
              <a:ext uri="{FF2B5EF4-FFF2-40B4-BE49-F238E27FC236}">
                <a16:creationId xmlns:a16="http://schemas.microsoft.com/office/drawing/2014/main" id="{2F818ADC-DB25-5448-A435-4F6AB8AF323D}"/>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34</a:t>
            </a:fld>
            <a:endParaRPr lang="zh-CN" altLang="en-US" sz="1200" dirty="0">
              <a:solidFill>
                <a:schemeClr val="bg1">
                  <a:lumMod val="50000"/>
                </a:schemeClr>
              </a:solidFill>
            </a:endParaRPr>
          </a:p>
        </p:txBody>
      </p:sp>
      <p:sp>
        <p:nvSpPr>
          <p:cNvPr id="16" name="Shape 209">
            <a:extLst>
              <a:ext uri="{FF2B5EF4-FFF2-40B4-BE49-F238E27FC236}">
                <a16:creationId xmlns:a16="http://schemas.microsoft.com/office/drawing/2014/main" id="{C7227162-B7A0-2547-9116-BD9DD46EA84F}"/>
              </a:ext>
            </a:extLst>
          </p:cNvPr>
          <p:cNvSpPr/>
          <p:nvPr/>
        </p:nvSpPr>
        <p:spPr>
          <a:xfrm>
            <a:off x="6092963" y="4200668"/>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Hans" altLang="en-US" b="1" dirty="0">
                <a:latin typeface="KaiTi" charset="-122"/>
                <a:ea typeface="KaiTi" charset="-122"/>
                <a:cs typeface="KaiTi" charset="-122"/>
              </a:rPr>
              <a:t>投资分析报告</a:t>
            </a:r>
            <a:r>
              <a:rPr lang="zh-CN" altLang="en-US" b="1" dirty="0">
                <a:latin typeface="KaiTi" charset="-122"/>
                <a:ea typeface="KaiTi" charset="-122"/>
                <a:cs typeface="KaiTi" charset="-122"/>
              </a:rPr>
              <a:t>：</a:t>
            </a:r>
            <a:r>
              <a:rPr lang="zh-Hans" altLang="en-US" dirty="0">
                <a:latin typeface="KaiTi" charset="-122"/>
                <a:ea typeface="KaiTi" charset="-122"/>
                <a:cs typeface="KaiTi" charset="-122"/>
              </a:rPr>
              <a:t>对投资者的交易行为、订单交易记录以及系统交易策略生成专业的分析报告</a:t>
            </a:r>
            <a:endParaRPr dirty="0">
              <a:latin typeface="KaiTi" charset="-122"/>
              <a:ea typeface="KaiTi" charset="-122"/>
              <a:cs typeface="KaiTi" charset="-122"/>
            </a:endParaRPr>
          </a:p>
        </p:txBody>
      </p:sp>
    </p:spTree>
    <p:extLst>
      <p:ext uri="{BB962C8B-B14F-4D97-AF65-F5344CB8AC3E}">
        <p14:creationId xmlns:p14="http://schemas.microsoft.com/office/powerpoint/2010/main" val="106361273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225817"/>
            <a:ext cx="10761011" cy="1477328"/>
          </a:xfrm>
          <a:prstGeom prst="rect">
            <a:avLst/>
          </a:prstGeom>
          <a:ln w="12700">
            <a:miter lim="400000"/>
          </a:ln>
        </p:spPr>
        <p:txBody>
          <a:bodyPr wrap="square" lIns="45719" rIns="45719">
            <a:spAutoFit/>
          </a:bodyPr>
          <a:lstStyle/>
          <a:p>
            <a:pPr lvl="0">
              <a:defRPr>
                <a:solidFill>
                  <a:srgbClr val="000000"/>
                </a:solidFill>
              </a:defRPr>
            </a:pPr>
            <a:r>
              <a:rPr lang="zh-CN" altLang="en-US" dirty="0">
                <a:latin typeface="KaiTi" charset="-122"/>
                <a:ea typeface="KaiTi" charset="-122"/>
                <a:cs typeface="KaiTi" charset="-122"/>
              </a:rPr>
              <a:t>    结合行情数据逐笔展示投资者的交易情况，同时标注买卖点位置，将技术指标展现给投资者，让投资者再现历史场景，目前正在开发非结构化数据的提炼，包括资讯、基本面信息、公告等信息进行深度提炼，让投资者能够充分理解重要决策信息；</a:t>
            </a:r>
            <a:endParaRPr lang="en-US" altLang="zh-CN" dirty="0">
              <a:latin typeface="KaiTi" charset="-122"/>
              <a:ea typeface="KaiTi" charset="-122"/>
              <a:cs typeface="KaiTi" charset="-122"/>
            </a:endParaRPr>
          </a:p>
          <a:p>
            <a:pPr lvl="0">
              <a:defRPr>
                <a:solidFill>
                  <a:srgbClr val="000000"/>
                </a:solidFill>
              </a:defRPr>
            </a:pPr>
            <a:r>
              <a:rPr lang="zh-CN" altLang="en-US" dirty="0">
                <a:latin typeface="KaiTi" charset="-122"/>
                <a:ea typeface="KaiTi" charset="-122"/>
                <a:cs typeface="KaiTi" charset="-122"/>
              </a:rPr>
              <a:t>    帮助投资者充分理解投资内在逻辑，通过逐笔复盘了解自己在投资中擅长和需要提升的地方，针对性的提升投资能力。</a:t>
            </a:r>
            <a:endParaRPr dirty="0">
              <a:latin typeface="KaiTi" charset="-122"/>
              <a:ea typeface="KaiTi" charset="-122"/>
              <a:cs typeface="KaiTi" charset="-122"/>
            </a:endParaRPr>
          </a:p>
        </p:txBody>
      </p:sp>
      <p:sp>
        <p:nvSpPr>
          <p:cNvPr id="215" name="Shape 215"/>
          <p:cNvSpPr/>
          <p:nvPr/>
        </p:nvSpPr>
        <p:spPr>
          <a:xfrm>
            <a:off x="675357" y="243639"/>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投后复盘分析（</a:t>
            </a:r>
            <a:r>
              <a:rPr lang="en-US" altLang="zh-CN" sz="3600" dirty="0">
                <a:solidFill>
                  <a:schemeClr val="tx1"/>
                </a:solidFill>
                <a:latin typeface="KaiTi" charset="-122"/>
                <a:ea typeface="KaiTi" charset="-122"/>
                <a:cs typeface="KaiTi" charset="-122"/>
              </a:rPr>
              <a:t>P</a:t>
            </a:r>
            <a:r>
              <a:rPr lang="en-US" altLang="zh-Hans" sz="3600" dirty="0">
                <a:solidFill>
                  <a:schemeClr val="tx1"/>
                </a:solidFill>
                <a:latin typeface="KaiTi" charset="-122"/>
                <a:ea typeface="KaiTi" charset="-122"/>
                <a:cs typeface="KaiTi" charset="-122"/>
              </a:rPr>
              <a:t>C</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pic>
        <p:nvPicPr>
          <p:cNvPr id="2" name="图片 1"/>
          <p:cNvPicPr>
            <a:picLocks noChangeAspect="1"/>
          </p:cNvPicPr>
          <p:nvPr/>
        </p:nvPicPr>
        <p:blipFill>
          <a:blip r:embed="rId2"/>
          <a:stretch>
            <a:fillRect/>
          </a:stretch>
        </p:blipFill>
        <p:spPr>
          <a:xfrm>
            <a:off x="6164177" y="3510452"/>
            <a:ext cx="5421211" cy="2380714"/>
          </a:xfrm>
          <a:prstGeom prst="rect">
            <a:avLst/>
          </a:prstGeom>
        </p:spPr>
      </p:pic>
      <p:pic>
        <p:nvPicPr>
          <p:cNvPr id="3" name="图片 2"/>
          <p:cNvPicPr>
            <a:picLocks noChangeAspect="1"/>
          </p:cNvPicPr>
          <p:nvPr/>
        </p:nvPicPr>
        <p:blipFill>
          <a:blip r:embed="rId3"/>
          <a:stretch>
            <a:fillRect/>
          </a:stretch>
        </p:blipFill>
        <p:spPr>
          <a:xfrm>
            <a:off x="516589" y="3510452"/>
            <a:ext cx="5408182" cy="2380715"/>
          </a:xfrm>
          <a:prstGeom prst="rect">
            <a:avLst/>
          </a:prstGeom>
        </p:spPr>
      </p:pic>
      <p:sp>
        <p:nvSpPr>
          <p:cNvPr id="4" name="矩形 3">
            <a:extLst>
              <a:ext uri="{FF2B5EF4-FFF2-40B4-BE49-F238E27FC236}">
                <a16:creationId xmlns:a16="http://schemas.microsoft.com/office/drawing/2014/main" id="{3ADBE55E-B75A-BF47-A877-899955568C1A}"/>
              </a:ext>
            </a:extLst>
          </p:cNvPr>
          <p:cNvSpPr/>
          <p:nvPr/>
        </p:nvSpPr>
        <p:spPr>
          <a:xfrm>
            <a:off x="565576" y="3008163"/>
            <a:ext cx="4027064" cy="369332"/>
          </a:xfrm>
          <a:prstGeom prst="rect">
            <a:avLst/>
          </a:prstGeom>
        </p:spPr>
        <p:txBody>
          <a:bodyPr wrap="square">
            <a:spAutoFit/>
          </a:bodyPr>
          <a:lstStyle/>
          <a:p>
            <a:r>
              <a:rPr lang="zh-Hans" altLang="en-US" b="1" dirty="0"/>
              <a:t>产品链接：</a:t>
            </a:r>
            <a:r>
              <a:rPr lang="zh-CN" altLang="en-US" dirty="0"/>
              <a:t>http://keystone.fdtai.net</a:t>
            </a:r>
          </a:p>
        </p:txBody>
      </p:sp>
      <p:pic>
        <p:nvPicPr>
          <p:cNvPr id="7" name="图像" descr="图像">
            <a:extLst>
              <a:ext uri="{FF2B5EF4-FFF2-40B4-BE49-F238E27FC236}">
                <a16:creationId xmlns:a16="http://schemas.microsoft.com/office/drawing/2014/main" id="{66703D01-7CDB-A146-BF87-21347FFDD8E5}"/>
              </a:ext>
            </a:extLst>
          </p:cNvPr>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8" name="灯片编号占位符 3">
            <a:extLst>
              <a:ext uri="{FF2B5EF4-FFF2-40B4-BE49-F238E27FC236}">
                <a16:creationId xmlns:a16="http://schemas.microsoft.com/office/drawing/2014/main" id="{8651F7E3-E93D-8E46-94DF-2E2058E7AE07}"/>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solidFill>
                  <a:schemeClr val="bg1">
                    <a:lumMod val="50000"/>
                  </a:schemeClr>
                </a:solidFill>
              </a:rPr>
              <a:t>35</a:t>
            </a:fld>
            <a:endParaRPr lang="zh-CN" altLang="en-US" dirty="0">
              <a:solidFill>
                <a:schemeClr val="bg1">
                  <a:lumMod val="50000"/>
                </a:schemeClr>
              </a:solidFill>
            </a:endParaRPr>
          </a:p>
        </p:txBody>
      </p:sp>
      <p:sp>
        <p:nvSpPr>
          <p:cNvPr id="9" name="矩形 8">
            <a:extLst>
              <a:ext uri="{FF2B5EF4-FFF2-40B4-BE49-F238E27FC236}">
                <a16:creationId xmlns:a16="http://schemas.microsoft.com/office/drawing/2014/main" id="{5E65B6C5-4CEF-2841-A327-0E5A20EDD98A}"/>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9">
            <a:extLst>
              <a:ext uri="{FF2B5EF4-FFF2-40B4-BE49-F238E27FC236}">
                <a16:creationId xmlns:a16="http://schemas.microsoft.com/office/drawing/2014/main" id="{50A40E6E-B5BE-304C-A72D-38B25C5C47F8}"/>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205244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16589" y="953643"/>
            <a:ext cx="10306085" cy="923330"/>
          </a:xfrm>
          <a:prstGeom prst="rect">
            <a:avLst/>
          </a:prstGeom>
          <a:ln w="12700">
            <a:miter lim="400000"/>
          </a:ln>
        </p:spPr>
        <p:txBody>
          <a:bodyPr wrap="square" lIns="45719" rIns="45719">
            <a:spAutoFit/>
          </a:bodyPr>
          <a:lstStyle/>
          <a:p>
            <a:pPr lvl="0">
              <a:defRPr>
                <a:solidFill>
                  <a:srgbClr val="000000"/>
                </a:solidFill>
              </a:defRPr>
            </a:pPr>
            <a:r>
              <a:rPr lang="zh-CN" altLang="en-US" sz="1600" dirty="0">
                <a:latin typeface="KaiTi" charset="-122"/>
                <a:ea typeface="KaiTi" charset="-122"/>
                <a:cs typeface="KaiTi" charset="-122"/>
              </a:rPr>
              <a:t>     </a:t>
            </a:r>
            <a:r>
              <a:rPr lang="zh-CN" altLang="en-US" dirty="0">
                <a:latin typeface="KaiTi" charset="-122"/>
                <a:ea typeface="KaiTi" charset="-122"/>
                <a:cs typeface="KaiTi" charset="-122"/>
              </a:rPr>
              <a:t>通过对投资者的交易行为数据和市场行情数据进行智能分析，自动评估投资者的交易能力、风险承受能力以及风险控制能力等，深入理解投资者的交易行为和心理特征，对其交易风格进行建模，对其投资表现进行评分，并且对整体交易风格和表现进行个性化智能点评。</a:t>
            </a:r>
            <a:endParaRPr dirty="0">
              <a:latin typeface="KaiTi" charset="-122"/>
              <a:ea typeface="KaiTi" charset="-122"/>
              <a:cs typeface="KaiTi" charset="-122"/>
            </a:endParaRPr>
          </a:p>
        </p:txBody>
      </p:sp>
      <p:sp>
        <p:nvSpPr>
          <p:cNvPr id="215" name="Shape 215"/>
          <p:cNvSpPr/>
          <p:nvPr/>
        </p:nvSpPr>
        <p:spPr>
          <a:xfrm>
            <a:off x="675358" y="27221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投后分析</a:t>
            </a:r>
            <a:r>
              <a:rPr lang="en-US" altLang="zh-CN" sz="3600" dirty="0">
                <a:solidFill>
                  <a:schemeClr val="tx1"/>
                </a:solidFill>
                <a:latin typeface="KaiTi" charset="-122"/>
                <a:ea typeface="KaiTi" charset="-122"/>
                <a:cs typeface="KaiTi" charset="-122"/>
              </a:rPr>
              <a:t>-</a:t>
            </a:r>
            <a:r>
              <a:rPr lang="zh-CN" altLang="en-US" sz="3600" dirty="0">
                <a:solidFill>
                  <a:schemeClr val="tx1"/>
                </a:solidFill>
                <a:latin typeface="KaiTi" charset="-122"/>
                <a:ea typeface="KaiTi" charset="-122"/>
                <a:cs typeface="KaiTi" charset="-122"/>
              </a:rPr>
              <a:t>交易评分及点评（</a:t>
            </a:r>
            <a:r>
              <a:rPr lang="en-US" altLang="zh-CN" sz="3600" dirty="0">
                <a:solidFill>
                  <a:schemeClr val="tx1"/>
                </a:solidFill>
                <a:latin typeface="KaiTi" charset="-122"/>
                <a:ea typeface="KaiTi" charset="-122"/>
                <a:cs typeface="KaiTi" charset="-122"/>
              </a:rPr>
              <a:t>P</a:t>
            </a:r>
            <a:r>
              <a:rPr lang="en-US" altLang="zh-Hans" sz="3600" dirty="0">
                <a:solidFill>
                  <a:schemeClr val="tx1"/>
                </a:solidFill>
                <a:latin typeface="KaiTi" charset="-122"/>
                <a:ea typeface="KaiTi" charset="-122"/>
                <a:cs typeface="KaiTi" charset="-122"/>
              </a:rPr>
              <a:t>C</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pic>
        <p:nvPicPr>
          <p:cNvPr id="4" name="图片 3"/>
          <p:cNvPicPr>
            <a:picLocks noChangeAspect="1"/>
          </p:cNvPicPr>
          <p:nvPr/>
        </p:nvPicPr>
        <p:blipFill>
          <a:blip r:embed="rId2"/>
          <a:stretch>
            <a:fillRect/>
          </a:stretch>
        </p:blipFill>
        <p:spPr>
          <a:xfrm>
            <a:off x="4502828" y="4723894"/>
            <a:ext cx="6250674" cy="1806514"/>
          </a:xfrm>
          <a:prstGeom prst="rect">
            <a:avLst/>
          </a:prstGeom>
        </p:spPr>
      </p:pic>
      <p:sp>
        <p:nvSpPr>
          <p:cNvPr id="42" name="Shape 213"/>
          <p:cNvSpPr/>
          <p:nvPr/>
        </p:nvSpPr>
        <p:spPr>
          <a:xfrm>
            <a:off x="5736810" y="2046441"/>
            <a:ext cx="5018357" cy="2554545"/>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KaiTi" charset="-122"/>
                <a:ea typeface="KaiTi" charset="-122"/>
                <a:cs typeface="KaiTi" charset="-122"/>
              </a:rPr>
              <a:t>智能评分</a:t>
            </a:r>
            <a:r>
              <a:rPr lang="zh-CN" altLang="en-US" sz="1600" dirty="0">
                <a:latin typeface="KaiTi" charset="-122"/>
                <a:ea typeface="KaiTi" charset="-122"/>
                <a:cs typeface="KaiTi" charset="-122"/>
              </a:rPr>
              <a:t>：基于投资者的交易记录信息对投资者的投资表现进行量化评估，主要从风险控制能力、盈利能力、稳定性和活跃度四大维度</a:t>
            </a:r>
            <a:r>
              <a:rPr lang="en-US" altLang="zh-CN" sz="1600" dirty="0">
                <a:latin typeface="KaiTi" charset="-122"/>
                <a:ea typeface="KaiTi" charset="-122"/>
                <a:cs typeface="KaiTi" charset="-122"/>
              </a:rPr>
              <a:t>100</a:t>
            </a:r>
            <a:r>
              <a:rPr lang="zh-CN" altLang="en-US" sz="1600" dirty="0">
                <a:latin typeface="KaiTi" charset="-122"/>
                <a:ea typeface="KaiTi" charset="-122"/>
                <a:cs typeface="KaiTi" charset="-122"/>
              </a:rPr>
              <a:t>多个交易特征来度量投资者的交易能力和投资风格；</a:t>
            </a:r>
            <a:endParaRPr lang="en-US" altLang="zh-CN" sz="1600" dirty="0">
              <a:latin typeface="KaiTi" charset="-122"/>
              <a:ea typeface="KaiTi" charset="-122"/>
              <a:cs typeface="KaiTi" charset="-122"/>
            </a:endParaRPr>
          </a:p>
          <a:p>
            <a:pPr lvl="0">
              <a:defRPr>
                <a:solidFill>
                  <a:srgbClr val="000000"/>
                </a:solidFill>
              </a:defRPr>
            </a:pPr>
            <a:r>
              <a:rPr lang="zh-CN" altLang="en-US" sz="1600" dirty="0">
                <a:latin typeface="KaiTi" charset="-122"/>
                <a:ea typeface="KaiTi" charset="-122"/>
                <a:cs typeface="KaiTi" charset="-122"/>
              </a:rPr>
              <a:t>模型方面：基于人工智能，采用非线性的机器学习模型</a:t>
            </a:r>
            <a:endParaRPr lang="en-US" altLang="zh-CN" sz="1600" dirty="0">
              <a:latin typeface="KaiTi" charset="-122"/>
              <a:ea typeface="KaiTi" charset="-122"/>
              <a:cs typeface="KaiTi" charset="-122"/>
            </a:endParaRPr>
          </a:p>
          <a:p>
            <a:pPr lvl="0">
              <a:defRPr>
                <a:solidFill>
                  <a:srgbClr val="000000"/>
                </a:solidFill>
              </a:defRPr>
            </a:pPr>
            <a:r>
              <a:rPr lang="zh-CN" altLang="en-US" sz="1600" dirty="0">
                <a:latin typeface="KaiTi" charset="-122"/>
                <a:ea typeface="KaiTi" charset="-122"/>
                <a:cs typeface="KaiTi" charset="-122"/>
              </a:rPr>
              <a:t>数据方面：基于大数据，处理百万级交易员、千万级交易订单、秒</a:t>
            </a:r>
            <a:r>
              <a:rPr lang="en-US" altLang="zh-CN" sz="1600" dirty="0">
                <a:latin typeface="KaiTi" charset="-122"/>
                <a:ea typeface="KaiTi" charset="-122"/>
                <a:cs typeface="KaiTi" charset="-122"/>
              </a:rPr>
              <a:t>/</a:t>
            </a:r>
            <a:r>
              <a:rPr lang="zh-CN" altLang="en-US" sz="1600" dirty="0">
                <a:latin typeface="KaiTi" charset="-122"/>
                <a:ea typeface="KaiTi" charset="-122"/>
                <a:cs typeface="KaiTi" charset="-122"/>
              </a:rPr>
              <a:t>毫秒级的</a:t>
            </a:r>
            <a:r>
              <a:rPr lang="en-US" altLang="zh-CN" sz="1600" dirty="0">
                <a:latin typeface="KaiTi" charset="-122"/>
                <a:ea typeface="KaiTi" charset="-122"/>
                <a:cs typeface="KaiTi" charset="-122"/>
              </a:rPr>
              <a:t>Tick</a:t>
            </a:r>
            <a:r>
              <a:rPr lang="zh-CN" altLang="en-US" sz="1600" dirty="0">
                <a:latin typeface="KaiTi" charset="-122"/>
                <a:ea typeface="KaiTi" charset="-122"/>
                <a:cs typeface="KaiTi" charset="-122"/>
              </a:rPr>
              <a:t>行情数据</a:t>
            </a:r>
            <a:endParaRPr lang="en-US" altLang="zh-CN" sz="1600" dirty="0">
              <a:latin typeface="KaiTi" charset="-122"/>
              <a:ea typeface="KaiTi" charset="-122"/>
              <a:cs typeface="KaiTi" charset="-122"/>
            </a:endParaRPr>
          </a:p>
          <a:p>
            <a:pPr lvl="0">
              <a:defRPr>
                <a:solidFill>
                  <a:srgbClr val="000000"/>
                </a:solidFill>
              </a:defRPr>
            </a:pPr>
            <a:r>
              <a:rPr lang="zh-CN" altLang="en-US" sz="1600" dirty="0">
                <a:latin typeface="KaiTi" charset="-122"/>
                <a:ea typeface="KaiTi" charset="-122"/>
                <a:cs typeface="KaiTi" charset="-122"/>
              </a:rPr>
              <a:t>特征方面：基于行为金融学，深入刻画投资者的行为特征和心理偏差</a:t>
            </a:r>
            <a:endParaRPr lang="en-US" altLang="zh-CN" sz="1600" dirty="0">
              <a:latin typeface="KaiTi" charset="-122"/>
              <a:ea typeface="KaiTi" charset="-122"/>
              <a:cs typeface="KaiTi" charset="-122"/>
            </a:endParaRPr>
          </a:p>
          <a:p>
            <a:pPr lvl="0">
              <a:defRPr>
                <a:solidFill>
                  <a:srgbClr val="000000"/>
                </a:solidFill>
              </a:defRPr>
            </a:pPr>
            <a:endParaRPr sz="1600" dirty="0">
              <a:latin typeface="KaiTi" charset="-122"/>
              <a:ea typeface="KaiTi" charset="-122"/>
              <a:cs typeface="KaiTi" charset="-122"/>
            </a:endParaRPr>
          </a:p>
        </p:txBody>
      </p:sp>
      <p:grpSp>
        <p:nvGrpSpPr>
          <p:cNvPr id="44" name="组合 150"/>
          <p:cNvGrpSpPr/>
          <p:nvPr/>
        </p:nvGrpSpPr>
        <p:grpSpPr>
          <a:xfrm>
            <a:off x="-197223" y="1377221"/>
            <a:ext cx="5185624" cy="4087943"/>
            <a:chOff x="-459525" y="588675"/>
            <a:chExt cx="7878067" cy="6708140"/>
          </a:xfrm>
          <a:effectLst>
            <a:outerShdw blurRad="50800" dist="38100" dir="2700000" algn="tl" rotWithShape="0">
              <a:prstClr val="black">
                <a:alpha val="40000"/>
              </a:prstClr>
            </a:outerShdw>
          </a:effectLst>
        </p:grpSpPr>
        <p:grpSp>
          <p:nvGrpSpPr>
            <p:cNvPr id="45" name="组合 81"/>
            <p:cNvGrpSpPr/>
            <p:nvPr/>
          </p:nvGrpSpPr>
          <p:grpSpPr>
            <a:xfrm>
              <a:off x="4425787" y="3061103"/>
              <a:ext cx="2992755" cy="624205"/>
              <a:chOff x="845" y="6212"/>
              <a:chExt cx="4713" cy="983"/>
            </a:xfrm>
          </p:grpSpPr>
          <p:sp>
            <p:nvSpPr>
              <p:cNvPr id="78" name="文本框 77"/>
              <p:cNvSpPr txBox="1"/>
              <p:nvPr/>
            </p:nvSpPr>
            <p:spPr>
              <a:xfrm>
                <a:off x="1471" y="6212"/>
                <a:ext cx="4087" cy="983"/>
              </a:xfrm>
              <a:prstGeom prst="rect">
                <a:avLst/>
              </a:prstGeom>
              <a:noFill/>
            </p:spPr>
            <p:txBody>
              <a:bodyPr wrap="none" rtlCol="0">
                <a:spAutoFit/>
              </a:bodyPr>
              <a:lstStyle/>
              <a:p>
                <a:r>
                  <a:rPr lang="zh-CN" altLang="zh-CN" spc="180" dirty="0">
                    <a:latin typeface="KaiTi" charset="-122"/>
                    <a:ea typeface="KaiTi" charset="-122"/>
                    <a:cs typeface="KaiTi" charset="-122"/>
                  </a:rPr>
                  <a:t>风险控制能力</a:t>
                </a:r>
              </a:p>
            </p:txBody>
          </p:sp>
          <p:pic>
            <p:nvPicPr>
              <p:cNvPr id="77" name="图片 76" descr="对勾"/>
              <p:cNvPicPr>
                <a:picLocks noChangeAspect="1"/>
              </p:cNvPicPr>
              <p:nvPr/>
            </p:nvPicPr>
            <p:blipFill>
              <a:blip r:embed="rId3"/>
              <a:stretch>
                <a:fillRect/>
              </a:stretch>
            </p:blipFill>
            <p:spPr>
              <a:xfrm>
                <a:off x="845" y="6432"/>
                <a:ext cx="457" cy="457"/>
              </a:xfrm>
              <a:prstGeom prst="rect">
                <a:avLst/>
              </a:prstGeom>
            </p:spPr>
          </p:pic>
        </p:grpSp>
        <p:grpSp>
          <p:nvGrpSpPr>
            <p:cNvPr id="46" name="组合 82"/>
            <p:cNvGrpSpPr/>
            <p:nvPr/>
          </p:nvGrpSpPr>
          <p:grpSpPr>
            <a:xfrm>
              <a:off x="4426512" y="5102163"/>
              <a:ext cx="1868170" cy="624205"/>
              <a:chOff x="825" y="7317"/>
              <a:chExt cx="2942" cy="983"/>
            </a:xfrm>
          </p:grpSpPr>
          <p:sp>
            <p:nvSpPr>
              <p:cNvPr id="74" name="文本框 73"/>
              <p:cNvSpPr txBox="1"/>
              <p:nvPr/>
            </p:nvSpPr>
            <p:spPr>
              <a:xfrm>
                <a:off x="1503" y="7317"/>
                <a:ext cx="2264" cy="983"/>
              </a:xfrm>
              <a:prstGeom prst="rect">
                <a:avLst/>
              </a:prstGeom>
              <a:noFill/>
            </p:spPr>
            <p:txBody>
              <a:bodyPr wrap="none" rtlCol="0">
                <a:spAutoFit/>
              </a:bodyPr>
              <a:lstStyle/>
              <a:p>
                <a:r>
                  <a:rPr lang="zh-CN" altLang="zh-CN" spc="180" dirty="0">
                    <a:latin typeface="KaiTi" charset="-122"/>
                    <a:ea typeface="KaiTi" charset="-122"/>
                    <a:cs typeface="KaiTi" charset="-122"/>
                  </a:rPr>
                  <a:t>活跃度</a:t>
                </a:r>
              </a:p>
            </p:txBody>
          </p:sp>
          <p:pic>
            <p:nvPicPr>
              <p:cNvPr id="73" name="图片 72" descr="对勾"/>
              <p:cNvPicPr>
                <a:picLocks noChangeAspect="1"/>
              </p:cNvPicPr>
              <p:nvPr/>
            </p:nvPicPr>
            <p:blipFill>
              <a:blip r:embed="rId3"/>
              <a:stretch>
                <a:fillRect/>
              </a:stretch>
            </p:blipFill>
            <p:spPr>
              <a:xfrm>
                <a:off x="825" y="7382"/>
                <a:ext cx="457" cy="457"/>
              </a:xfrm>
              <a:prstGeom prst="rect">
                <a:avLst/>
              </a:prstGeom>
            </p:spPr>
          </p:pic>
        </p:grpSp>
        <p:grpSp>
          <p:nvGrpSpPr>
            <p:cNvPr id="47" name="组合 108"/>
            <p:cNvGrpSpPr/>
            <p:nvPr/>
          </p:nvGrpSpPr>
          <p:grpSpPr>
            <a:xfrm>
              <a:off x="4427974" y="4048931"/>
              <a:ext cx="1830093" cy="624471"/>
              <a:chOff x="2460927" y="4609676"/>
              <a:chExt cx="1830093" cy="624471"/>
            </a:xfrm>
          </p:grpSpPr>
          <p:sp>
            <p:nvSpPr>
              <p:cNvPr id="70" name="文本框 69"/>
              <p:cNvSpPr txBox="1"/>
              <p:nvPr/>
            </p:nvSpPr>
            <p:spPr>
              <a:xfrm>
                <a:off x="2853217" y="4609676"/>
                <a:ext cx="1437803" cy="624471"/>
              </a:xfrm>
              <a:prstGeom prst="rect">
                <a:avLst/>
              </a:prstGeom>
              <a:noFill/>
            </p:spPr>
            <p:txBody>
              <a:bodyPr wrap="none" rtlCol="0">
                <a:spAutoFit/>
              </a:bodyPr>
              <a:lstStyle/>
              <a:p>
                <a:r>
                  <a:rPr lang="zh-CN" altLang="zh-CN" spc="180" dirty="0">
                    <a:latin typeface="KaiTi" charset="-122"/>
                    <a:ea typeface="KaiTi" charset="-122"/>
                    <a:cs typeface="KaiTi" charset="-122"/>
                  </a:rPr>
                  <a:t>稳定性</a:t>
                </a:r>
              </a:p>
            </p:txBody>
          </p:sp>
          <p:pic>
            <p:nvPicPr>
              <p:cNvPr id="69" name="图片 68" descr="对勾"/>
              <p:cNvPicPr>
                <a:picLocks noChangeAspect="1"/>
              </p:cNvPicPr>
              <p:nvPr/>
            </p:nvPicPr>
            <p:blipFill>
              <a:blip r:embed="rId3"/>
              <a:stretch>
                <a:fillRect/>
              </a:stretch>
            </p:blipFill>
            <p:spPr>
              <a:xfrm>
                <a:off x="2460927" y="4728736"/>
                <a:ext cx="290195" cy="290195"/>
              </a:xfrm>
              <a:prstGeom prst="rect">
                <a:avLst/>
              </a:prstGeom>
            </p:spPr>
          </p:pic>
        </p:grpSp>
        <p:grpSp>
          <p:nvGrpSpPr>
            <p:cNvPr id="48" name="组合 72"/>
            <p:cNvGrpSpPr/>
            <p:nvPr/>
          </p:nvGrpSpPr>
          <p:grpSpPr>
            <a:xfrm>
              <a:off x="4431048" y="2203450"/>
              <a:ext cx="2249805" cy="624205"/>
              <a:chOff x="895" y="8625"/>
              <a:chExt cx="3543" cy="983"/>
            </a:xfrm>
          </p:grpSpPr>
          <p:sp>
            <p:nvSpPr>
              <p:cNvPr id="66" name="文本框 65"/>
              <p:cNvSpPr txBox="1"/>
              <p:nvPr/>
            </p:nvSpPr>
            <p:spPr>
              <a:xfrm>
                <a:off x="1566" y="8625"/>
                <a:ext cx="2872" cy="983"/>
              </a:xfrm>
              <a:prstGeom prst="rect">
                <a:avLst/>
              </a:prstGeom>
              <a:noFill/>
            </p:spPr>
            <p:txBody>
              <a:bodyPr wrap="none" rtlCol="0">
                <a:spAutoFit/>
              </a:bodyPr>
              <a:lstStyle/>
              <a:p>
                <a:r>
                  <a:rPr lang="zh-CN" altLang="zh-CN" spc="180" dirty="0">
                    <a:uFillTx/>
                    <a:latin typeface="KaiTi" charset="-122"/>
                    <a:ea typeface="KaiTi" charset="-122"/>
                    <a:cs typeface="KaiTi" charset="-122"/>
                  </a:rPr>
                  <a:t>盈利能力</a:t>
                </a:r>
                <a:endParaRPr lang="zh-CN" altLang="zh-CN" dirty="0">
                  <a:latin typeface="KaiTi" charset="-122"/>
                  <a:ea typeface="KaiTi" charset="-122"/>
                  <a:cs typeface="KaiTi" charset="-122"/>
                </a:endParaRPr>
              </a:p>
            </p:txBody>
          </p:sp>
          <p:pic>
            <p:nvPicPr>
              <p:cNvPr id="65" name="图片 64" descr="对勾"/>
              <p:cNvPicPr>
                <a:picLocks noChangeAspect="1"/>
              </p:cNvPicPr>
              <p:nvPr/>
            </p:nvPicPr>
            <p:blipFill>
              <a:blip r:embed="rId3"/>
              <a:stretch>
                <a:fillRect/>
              </a:stretch>
            </p:blipFill>
            <p:spPr>
              <a:xfrm>
                <a:off x="895" y="8916"/>
                <a:ext cx="457" cy="457"/>
              </a:xfrm>
              <a:prstGeom prst="rect">
                <a:avLst/>
              </a:prstGeom>
            </p:spPr>
          </p:pic>
        </p:grpSp>
        <p:grpSp>
          <p:nvGrpSpPr>
            <p:cNvPr id="49" name="组合 149"/>
            <p:cNvGrpSpPr/>
            <p:nvPr/>
          </p:nvGrpSpPr>
          <p:grpSpPr>
            <a:xfrm>
              <a:off x="-459525" y="588675"/>
              <a:ext cx="4716515" cy="6708140"/>
              <a:chOff x="-459525" y="588675"/>
              <a:chExt cx="4716515" cy="6708140"/>
            </a:xfrm>
          </p:grpSpPr>
          <p:pic>
            <p:nvPicPr>
              <p:cNvPr id="50" name="图片 49" descr="85415c296bdabfd0f304b6562dc45c24"/>
              <p:cNvPicPr>
                <a:picLocks noChangeAspect="1"/>
              </p:cNvPicPr>
              <p:nvPr/>
            </p:nvPicPr>
            <p:blipFill>
              <a:blip r:embed="rId4"/>
              <a:stretch>
                <a:fillRect/>
              </a:stretch>
            </p:blipFill>
            <p:spPr>
              <a:xfrm>
                <a:off x="-459525" y="588675"/>
                <a:ext cx="4643755" cy="6708140"/>
              </a:xfrm>
              <a:prstGeom prst="rect">
                <a:avLst/>
              </a:prstGeom>
            </p:spPr>
          </p:pic>
          <p:sp>
            <p:nvSpPr>
              <p:cNvPr id="51" name="矩形 50"/>
              <p:cNvSpPr/>
              <p:nvPr/>
            </p:nvSpPr>
            <p:spPr>
              <a:xfrm>
                <a:off x="903408" y="2230348"/>
                <a:ext cx="1925935" cy="3438345"/>
              </a:xfrm>
              <a:prstGeom prst="rect">
                <a:avLst/>
              </a:prstGeom>
              <a:blipFill rotWithShape="1">
                <a:blip r:embed="rId5"/>
                <a:stretch>
                  <a:fillRect/>
                </a:stretch>
              </a:bli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KaiTi" charset="-122"/>
                  <a:ea typeface="KaiTi" charset="-122"/>
                  <a:cs typeface="KaiTi" charset="-122"/>
                </a:endParaRPr>
              </a:p>
            </p:txBody>
          </p:sp>
          <p:grpSp>
            <p:nvGrpSpPr>
              <p:cNvPr id="52" name="组合 116"/>
              <p:cNvGrpSpPr/>
              <p:nvPr/>
            </p:nvGrpSpPr>
            <p:grpSpPr>
              <a:xfrm>
                <a:off x="1869440" y="2534920"/>
                <a:ext cx="2387550" cy="731520"/>
                <a:chOff x="1869440" y="2534920"/>
                <a:chExt cx="2387550" cy="731520"/>
              </a:xfrm>
            </p:grpSpPr>
            <p:cxnSp>
              <p:nvCxnSpPr>
                <p:cNvPr id="62" name="直接连接符 113"/>
                <p:cNvCxnSpPr/>
                <p:nvPr/>
              </p:nvCxnSpPr>
              <p:spPr>
                <a:xfrm flipV="1">
                  <a:off x="1869440" y="2534920"/>
                  <a:ext cx="1275080" cy="731520"/>
                </a:xfrm>
                <a:prstGeom prst="line">
                  <a:avLst/>
                </a:prstGeom>
                <a:ln>
                  <a:solidFill>
                    <a:schemeClr val="bg1">
                      <a:lumMod val="8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63" name="直接连接符 115"/>
                <p:cNvCxnSpPr/>
                <p:nvPr/>
              </p:nvCxnSpPr>
              <p:spPr>
                <a:xfrm>
                  <a:off x="3144520" y="2534920"/>
                  <a:ext cx="11124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3" name="组合 146"/>
              <p:cNvGrpSpPr/>
              <p:nvPr/>
            </p:nvGrpSpPr>
            <p:grpSpPr>
              <a:xfrm>
                <a:off x="1517981" y="3684310"/>
                <a:ext cx="2739009" cy="649101"/>
                <a:chOff x="1517981" y="3684310"/>
                <a:chExt cx="2739009" cy="649101"/>
              </a:xfrm>
            </p:grpSpPr>
            <p:cxnSp>
              <p:nvCxnSpPr>
                <p:cNvPr id="60" name="直接连接符 120"/>
                <p:cNvCxnSpPr/>
                <p:nvPr/>
              </p:nvCxnSpPr>
              <p:spPr>
                <a:xfrm>
                  <a:off x="1517981" y="3684310"/>
                  <a:ext cx="1581527" cy="649101"/>
                </a:xfrm>
                <a:prstGeom prst="line">
                  <a:avLst/>
                </a:prstGeom>
                <a:ln>
                  <a:solidFill>
                    <a:schemeClr val="bg1">
                      <a:lumMod val="8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61" name="直接连接符 122"/>
                <p:cNvCxnSpPr/>
                <p:nvPr/>
              </p:nvCxnSpPr>
              <p:spPr>
                <a:xfrm>
                  <a:off x="3099508" y="4333411"/>
                  <a:ext cx="11574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147"/>
              <p:cNvGrpSpPr/>
              <p:nvPr/>
            </p:nvGrpSpPr>
            <p:grpSpPr>
              <a:xfrm>
                <a:off x="1862352" y="4079169"/>
                <a:ext cx="2394638" cy="1208107"/>
                <a:chOff x="1862352" y="4079169"/>
                <a:chExt cx="2394638" cy="1208107"/>
              </a:xfrm>
            </p:grpSpPr>
            <p:cxnSp>
              <p:nvCxnSpPr>
                <p:cNvPr id="58" name="直接连接符 128"/>
                <p:cNvCxnSpPr/>
                <p:nvPr/>
              </p:nvCxnSpPr>
              <p:spPr>
                <a:xfrm>
                  <a:off x="1862352" y="4079169"/>
                  <a:ext cx="1208107" cy="1208107"/>
                </a:xfrm>
                <a:prstGeom prst="line">
                  <a:avLst/>
                </a:prstGeom>
                <a:ln>
                  <a:solidFill>
                    <a:schemeClr val="bg1">
                      <a:lumMod val="8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59" name="直接连接符 130"/>
                <p:cNvCxnSpPr/>
                <p:nvPr/>
              </p:nvCxnSpPr>
              <p:spPr>
                <a:xfrm>
                  <a:off x="3070459" y="5287276"/>
                  <a:ext cx="11865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5" name="组合 145"/>
              <p:cNvGrpSpPr/>
              <p:nvPr/>
            </p:nvGrpSpPr>
            <p:grpSpPr>
              <a:xfrm>
                <a:off x="2331250" y="3338598"/>
                <a:ext cx="1925740" cy="345712"/>
                <a:chOff x="2331250" y="3338598"/>
                <a:chExt cx="1925740" cy="345712"/>
              </a:xfrm>
            </p:grpSpPr>
            <p:cxnSp>
              <p:nvCxnSpPr>
                <p:cNvPr id="56" name="直接连接符 135"/>
                <p:cNvCxnSpPr/>
                <p:nvPr/>
              </p:nvCxnSpPr>
              <p:spPr>
                <a:xfrm flipV="1">
                  <a:off x="2331250" y="3338598"/>
                  <a:ext cx="813270" cy="345712"/>
                </a:xfrm>
                <a:prstGeom prst="line">
                  <a:avLst/>
                </a:prstGeom>
                <a:ln>
                  <a:solidFill>
                    <a:schemeClr val="bg1">
                      <a:lumMod val="8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57" name="直接连接符 137"/>
                <p:cNvCxnSpPr/>
                <p:nvPr/>
              </p:nvCxnSpPr>
              <p:spPr>
                <a:xfrm>
                  <a:off x="3144520" y="3341329"/>
                  <a:ext cx="11124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grpSp>
      <p:sp>
        <p:nvSpPr>
          <p:cNvPr id="40" name="矩形 39"/>
          <p:cNvSpPr/>
          <p:nvPr/>
        </p:nvSpPr>
        <p:spPr>
          <a:xfrm>
            <a:off x="780607" y="5316641"/>
            <a:ext cx="3517529" cy="1077218"/>
          </a:xfrm>
          <a:prstGeom prst="rect">
            <a:avLst/>
          </a:prstGeom>
        </p:spPr>
        <p:txBody>
          <a:bodyPr wrap="square">
            <a:spAutoFit/>
          </a:bodyPr>
          <a:lstStyle/>
          <a:p>
            <a:pPr rtl="0" fontAlgn="base">
              <a:spcAft>
                <a:spcPts val="0"/>
              </a:spcAft>
              <a:defRPr>
                <a:solidFill>
                  <a:srgbClr val="000000"/>
                </a:solidFill>
              </a:defRPr>
            </a:pPr>
            <a:r>
              <a:rPr lang="zh-CN" altLang="en-US" sz="1600" b="1" dirty="0">
                <a:latin typeface="KaiTi" charset="-122"/>
                <a:ea typeface="KaiTi" charset="-122"/>
                <a:cs typeface="KaiTi" charset="-122"/>
              </a:rPr>
              <a:t>智能点评：</a:t>
            </a:r>
            <a:r>
              <a:rPr lang="zh-CN" altLang="en-US" sz="1600" dirty="0">
                <a:latin typeface="KaiTi" charset="-122"/>
                <a:ea typeface="KaiTi" charset="-122"/>
                <a:cs typeface="KaiTi" charset="-122"/>
              </a:rPr>
              <a:t>总结投资者的交易风格，维度得分情况， 评估投资者的优势和不足，对投资者的交易表现和风格特点给出个性化点评和建议</a:t>
            </a:r>
          </a:p>
        </p:txBody>
      </p:sp>
      <p:pic>
        <p:nvPicPr>
          <p:cNvPr id="35" name="图像" descr="图像">
            <a:extLst>
              <a:ext uri="{FF2B5EF4-FFF2-40B4-BE49-F238E27FC236}">
                <a16:creationId xmlns:a16="http://schemas.microsoft.com/office/drawing/2014/main" id="{8A50553E-1D3A-9C4D-889C-61B6D3FE6455}"/>
              </a:ext>
            </a:extLst>
          </p:cNvPr>
          <p:cNvPicPr>
            <a:picLocks noChangeAspect="1"/>
          </p:cNvPicPr>
          <p:nvPr/>
        </p:nvPicPr>
        <p:blipFill>
          <a:blip r:embed="rId6">
            <a:extLst/>
          </a:blip>
          <a:stretch>
            <a:fillRect/>
          </a:stretch>
        </p:blipFill>
        <p:spPr>
          <a:xfrm>
            <a:off x="10484724" y="427048"/>
            <a:ext cx="1253576" cy="332979"/>
          </a:xfrm>
          <a:prstGeom prst="rect">
            <a:avLst/>
          </a:prstGeom>
          <a:ln w="3175">
            <a:miter lim="400000"/>
          </a:ln>
        </p:spPr>
      </p:pic>
      <p:sp>
        <p:nvSpPr>
          <p:cNvPr id="36" name="灯片编号占位符 3">
            <a:extLst>
              <a:ext uri="{FF2B5EF4-FFF2-40B4-BE49-F238E27FC236}">
                <a16:creationId xmlns:a16="http://schemas.microsoft.com/office/drawing/2014/main" id="{3E258615-DE8B-D84D-9C73-48948A10193D}"/>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solidFill>
                  <a:schemeClr val="bg1">
                    <a:lumMod val="50000"/>
                  </a:schemeClr>
                </a:solidFill>
              </a:rPr>
              <a:t>36</a:t>
            </a:fld>
            <a:endParaRPr lang="zh-CN" altLang="en-US" dirty="0">
              <a:solidFill>
                <a:schemeClr val="bg1">
                  <a:lumMod val="50000"/>
                </a:schemeClr>
              </a:solidFill>
            </a:endParaRPr>
          </a:p>
        </p:txBody>
      </p:sp>
      <p:sp>
        <p:nvSpPr>
          <p:cNvPr id="37" name="矩形 36">
            <a:extLst>
              <a:ext uri="{FF2B5EF4-FFF2-40B4-BE49-F238E27FC236}">
                <a16:creationId xmlns:a16="http://schemas.microsoft.com/office/drawing/2014/main" id="{B4C7E694-60CA-6B49-A934-B603B72ABA54}"/>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矩形 37">
            <a:extLst>
              <a:ext uri="{FF2B5EF4-FFF2-40B4-BE49-F238E27FC236}">
                <a16:creationId xmlns:a16="http://schemas.microsoft.com/office/drawing/2014/main" id="{B7973D04-242E-7F45-BC91-5972BDE9C91D}"/>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灯片编号占位符 3">
            <a:extLst>
              <a:ext uri="{FF2B5EF4-FFF2-40B4-BE49-F238E27FC236}">
                <a16:creationId xmlns:a16="http://schemas.microsoft.com/office/drawing/2014/main" id="{2D605B6E-3678-ED4A-8893-8E20D56BCCAA}"/>
              </a:ext>
            </a:extLst>
          </p:cNvPr>
          <p:cNvSpPr txBox="1">
            <a:spLocks/>
          </p:cNvSpPr>
          <p:nvPr/>
        </p:nvSpPr>
        <p:spPr>
          <a:xfrm>
            <a:off x="8946425" y="6611696"/>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pPr/>
              <a:t>36</a:t>
            </a:fld>
            <a:endParaRPr lang="zh-CN" altLang="en-US" dirty="0"/>
          </a:p>
        </p:txBody>
      </p:sp>
      <p:sp>
        <p:nvSpPr>
          <p:cNvPr id="41" name="灯片编号占位符 3">
            <a:extLst>
              <a:ext uri="{FF2B5EF4-FFF2-40B4-BE49-F238E27FC236}">
                <a16:creationId xmlns:a16="http://schemas.microsoft.com/office/drawing/2014/main" id="{FC92EE1C-930C-964F-8EF8-13F64FB69DDA}"/>
              </a:ext>
            </a:extLst>
          </p:cNvPr>
          <p:cNvSpPr txBox="1">
            <a:spLocks/>
          </p:cNvSpPr>
          <p:nvPr/>
        </p:nvSpPr>
        <p:spPr>
          <a:xfrm>
            <a:off x="9098825" y="6764096"/>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pPr/>
              <a:t>36</a:t>
            </a:fld>
            <a:endParaRPr lang="zh-CN" altLang="en-US" dirty="0"/>
          </a:p>
        </p:txBody>
      </p:sp>
    </p:spTree>
    <p:extLst>
      <p:ext uri="{BB962C8B-B14F-4D97-AF65-F5344CB8AC3E}">
        <p14:creationId xmlns:p14="http://schemas.microsoft.com/office/powerpoint/2010/main" val="2705834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5DD3DB80-B894-403A-B48E-6FDC1A72010E}" type="slidenum">
              <a:rPr lang="zh-CN" altLang="en-US" smtClean="0"/>
              <a:t>37</a:t>
            </a:fld>
            <a:endParaRPr lang="zh-CN" altLang="en-US"/>
          </a:p>
        </p:txBody>
      </p:sp>
      <p:pic>
        <p:nvPicPr>
          <p:cNvPr id="5" name="图片 4"/>
          <p:cNvPicPr/>
          <p:nvPr/>
        </p:nvPicPr>
        <p:blipFill>
          <a:blip r:embed="rId2"/>
          <a:stretch>
            <a:fillRect/>
          </a:stretch>
        </p:blipFill>
        <p:spPr>
          <a:xfrm>
            <a:off x="791367" y="1071564"/>
            <a:ext cx="9274176" cy="5800724"/>
          </a:xfrm>
          <a:prstGeom prst="rect">
            <a:avLst/>
          </a:prstGeom>
        </p:spPr>
      </p:pic>
      <p:sp>
        <p:nvSpPr>
          <p:cNvPr id="7" name="Shape 215">
            <a:extLst>
              <a:ext uri="{FF2B5EF4-FFF2-40B4-BE49-F238E27FC236}">
                <a16:creationId xmlns:a16="http://schemas.microsoft.com/office/drawing/2014/main" id="{EAF9525E-E95C-464E-B579-988C2FE19AC1}"/>
              </a:ext>
            </a:extLst>
          </p:cNvPr>
          <p:cNvSpPr/>
          <p:nvPr/>
        </p:nvSpPr>
        <p:spPr>
          <a:xfrm>
            <a:off x="675358" y="272215"/>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投后分析</a:t>
            </a:r>
            <a:r>
              <a:rPr lang="en-US" altLang="zh-CN" sz="3600" dirty="0">
                <a:solidFill>
                  <a:schemeClr val="tx1"/>
                </a:solidFill>
                <a:latin typeface="KaiTi" charset="-122"/>
                <a:ea typeface="KaiTi" charset="-122"/>
                <a:cs typeface="KaiTi" charset="-122"/>
              </a:rPr>
              <a:t>-</a:t>
            </a:r>
            <a:r>
              <a:rPr lang="zh-Hans" altLang="en-US" sz="3600" dirty="0">
                <a:solidFill>
                  <a:schemeClr val="tx1"/>
                </a:solidFill>
                <a:latin typeface="KaiTi" charset="-122"/>
                <a:ea typeface="KaiTi" charset="-122"/>
                <a:cs typeface="KaiTi" charset="-122"/>
              </a:rPr>
              <a:t>后台管理版本</a:t>
            </a:r>
            <a:r>
              <a:rPr lang="zh-CN" altLang="en-US" sz="3600" dirty="0">
                <a:solidFill>
                  <a:schemeClr val="tx1"/>
                </a:solidFill>
                <a:latin typeface="KaiTi" charset="-122"/>
                <a:ea typeface="KaiTi" charset="-122"/>
                <a:cs typeface="KaiTi" charset="-122"/>
              </a:rPr>
              <a:t>（</a:t>
            </a:r>
            <a:r>
              <a:rPr lang="en-US" altLang="zh-CN" sz="3600" dirty="0">
                <a:solidFill>
                  <a:schemeClr val="tx1"/>
                </a:solidFill>
                <a:latin typeface="KaiTi" charset="-122"/>
                <a:ea typeface="KaiTi" charset="-122"/>
                <a:cs typeface="KaiTi" charset="-122"/>
              </a:rPr>
              <a:t>P</a:t>
            </a:r>
            <a:r>
              <a:rPr lang="en-US" altLang="zh-Hans" sz="3600" dirty="0">
                <a:solidFill>
                  <a:schemeClr val="tx1"/>
                </a:solidFill>
                <a:latin typeface="KaiTi" charset="-122"/>
                <a:ea typeface="KaiTi" charset="-122"/>
                <a:cs typeface="KaiTi" charset="-122"/>
              </a:rPr>
              <a:t>C</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sp>
        <p:nvSpPr>
          <p:cNvPr id="8" name="矩形 7">
            <a:extLst>
              <a:ext uri="{FF2B5EF4-FFF2-40B4-BE49-F238E27FC236}">
                <a16:creationId xmlns:a16="http://schemas.microsoft.com/office/drawing/2014/main" id="{72899B16-74E5-9344-B870-7913811D7F1C}"/>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矩形 8">
            <a:extLst>
              <a:ext uri="{FF2B5EF4-FFF2-40B4-BE49-F238E27FC236}">
                <a16:creationId xmlns:a16="http://schemas.microsoft.com/office/drawing/2014/main" id="{8C8A0498-3B82-C348-9FC6-476D83473C8C}"/>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52285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028387"/>
            <a:ext cx="10875298" cy="646331"/>
          </a:xfrm>
          <a:prstGeom prst="rect">
            <a:avLst/>
          </a:prstGeom>
          <a:ln w="12700">
            <a:miter lim="400000"/>
          </a:ln>
        </p:spPr>
        <p:txBody>
          <a:bodyPr wrap="square" lIns="45719" rIns="45719">
            <a:spAutoFit/>
          </a:bodyPr>
          <a:lstStyle/>
          <a:p>
            <a:pPr lvl="0">
              <a:defRPr>
                <a:solidFill>
                  <a:srgbClr val="000000"/>
                </a:solidFill>
              </a:defRPr>
            </a:pPr>
            <a:r>
              <a:rPr lang="zh-Hans" altLang="en-US" dirty="0">
                <a:solidFill>
                  <a:schemeClr val="tx2">
                    <a:lumMod val="50000"/>
                  </a:schemeClr>
                </a:solidFill>
                <a:latin typeface="KaiTi" charset="-122"/>
                <a:ea typeface="KaiTi" charset="-122"/>
                <a:cs typeface="KaiTi" charset="-122"/>
              </a:rPr>
              <a:t>   对投资者的交易和持仓进行分析，为投资者提供买卖点标注、收益曲线、交易特征等维度的复盘分析功能，并且提供动态追踪止损功能，帮助用户能够及时止盈止损，同时在复盘界面提供回测工具的入口。</a:t>
            </a:r>
            <a:endParaRPr lang="en-US" altLang="zh-CN" dirty="0">
              <a:solidFill>
                <a:schemeClr val="tx2">
                  <a:lumMod val="50000"/>
                </a:schemeClr>
              </a:solidFill>
              <a:latin typeface="KaiTi" charset="-122"/>
              <a:ea typeface="KaiTi" charset="-122"/>
              <a:cs typeface="KaiTi" charset="-122"/>
            </a:endParaRPr>
          </a:p>
        </p:txBody>
      </p:sp>
      <p:sp>
        <p:nvSpPr>
          <p:cNvPr id="6" name="Shape 215"/>
          <p:cNvSpPr/>
          <p:nvPr/>
        </p:nvSpPr>
        <p:spPr>
          <a:xfrm>
            <a:off x="646778" y="243639"/>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Hans" altLang="en-US" sz="3600" dirty="0">
                <a:solidFill>
                  <a:schemeClr val="tx2">
                    <a:lumMod val="50000"/>
                  </a:schemeClr>
                </a:solidFill>
                <a:latin typeface="KaiTi" charset="-122"/>
                <a:ea typeface="KaiTi" charset="-122"/>
                <a:cs typeface="KaiTi" charset="-122"/>
              </a:rPr>
              <a:t>复盘分析（</a:t>
            </a:r>
            <a:r>
              <a:rPr lang="en-US" altLang="zh-Hans" sz="3600" dirty="0">
                <a:solidFill>
                  <a:schemeClr val="tx2">
                    <a:lumMod val="50000"/>
                  </a:schemeClr>
                </a:solidFill>
                <a:latin typeface="KaiTi" charset="-122"/>
                <a:ea typeface="KaiTi" charset="-122"/>
                <a:cs typeface="KaiTi" charset="-122"/>
              </a:rPr>
              <a:t>APP</a:t>
            </a:r>
            <a:r>
              <a:rPr lang="zh-Hans" altLang="en-US" sz="3600" dirty="0">
                <a:solidFill>
                  <a:schemeClr val="tx2">
                    <a:lumMod val="50000"/>
                  </a:schemeClr>
                </a:solidFill>
                <a:latin typeface="KaiTi" charset="-122"/>
                <a:ea typeface="KaiTi" charset="-122"/>
                <a:cs typeface="KaiTi" charset="-122"/>
              </a:rPr>
              <a:t>版）</a:t>
            </a:r>
            <a:endParaRPr sz="3600" dirty="0">
              <a:solidFill>
                <a:schemeClr val="tx2">
                  <a:lumMod val="50000"/>
                </a:schemeClr>
              </a:solidFill>
              <a:latin typeface="KaiTi" charset="-122"/>
              <a:ea typeface="KaiTi" charset="-122"/>
              <a:cs typeface="KaiTi" charset="-122"/>
            </a:endParaRPr>
          </a:p>
        </p:txBody>
      </p:sp>
      <p:pic>
        <p:nvPicPr>
          <p:cNvPr id="14" name="图片 13">
            <a:extLst>
              <a:ext uri="{FF2B5EF4-FFF2-40B4-BE49-F238E27FC236}">
                <a16:creationId xmlns:a16="http://schemas.microsoft.com/office/drawing/2014/main" id="{DE83F72B-DF1F-9443-9561-1A7200102D70}"/>
              </a:ext>
            </a:extLst>
          </p:cNvPr>
          <p:cNvPicPr>
            <a:picLocks noChangeAspect="1"/>
          </p:cNvPicPr>
          <p:nvPr/>
        </p:nvPicPr>
        <p:blipFill>
          <a:blip r:embed="rId2"/>
          <a:stretch>
            <a:fillRect/>
          </a:stretch>
        </p:blipFill>
        <p:spPr>
          <a:xfrm>
            <a:off x="9390431" y="2248845"/>
            <a:ext cx="2722515" cy="3788834"/>
          </a:xfrm>
          <a:prstGeom prst="rect">
            <a:avLst/>
          </a:prstGeom>
        </p:spPr>
      </p:pic>
      <p:pic>
        <p:nvPicPr>
          <p:cNvPr id="20" name="图片 19">
            <a:extLst>
              <a:ext uri="{FF2B5EF4-FFF2-40B4-BE49-F238E27FC236}">
                <a16:creationId xmlns:a16="http://schemas.microsoft.com/office/drawing/2014/main" id="{A1580808-958D-574A-8CED-EF17DD2125C4}"/>
              </a:ext>
            </a:extLst>
          </p:cNvPr>
          <p:cNvPicPr>
            <a:picLocks noChangeAspect="1"/>
          </p:cNvPicPr>
          <p:nvPr/>
        </p:nvPicPr>
        <p:blipFill>
          <a:blip r:embed="rId3"/>
          <a:stretch>
            <a:fillRect/>
          </a:stretch>
        </p:blipFill>
        <p:spPr>
          <a:xfrm>
            <a:off x="3466962" y="2013574"/>
            <a:ext cx="3048000" cy="4470400"/>
          </a:xfrm>
          <a:prstGeom prst="rect">
            <a:avLst/>
          </a:prstGeom>
        </p:spPr>
      </p:pic>
      <p:pic>
        <p:nvPicPr>
          <p:cNvPr id="3" name="图片 2">
            <a:extLst>
              <a:ext uri="{FF2B5EF4-FFF2-40B4-BE49-F238E27FC236}">
                <a16:creationId xmlns:a16="http://schemas.microsoft.com/office/drawing/2014/main" id="{D8B652AE-6851-7E4F-9873-08D9786DBA84}"/>
              </a:ext>
            </a:extLst>
          </p:cNvPr>
          <p:cNvPicPr>
            <a:picLocks noChangeAspect="1"/>
          </p:cNvPicPr>
          <p:nvPr/>
        </p:nvPicPr>
        <p:blipFill>
          <a:blip r:embed="rId4"/>
          <a:stretch>
            <a:fillRect/>
          </a:stretch>
        </p:blipFill>
        <p:spPr>
          <a:xfrm>
            <a:off x="503902" y="1747195"/>
            <a:ext cx="2907886" cy="4914900"/>
          </a:xfrm>
          <a:prstGeom prst="rect">
            <a:avLst/>
          </a:prstGeom>
        </p:spPr>
      </p:pic>
      <p:pic>
        <p:nvPicPr>
          <p:cNvPr id="4" name="图片 3">
            <a:extLst>
              <a:ext uri="{FF2B5EF4-FFF2-40B4-BE49-F238E27FC236}">
                <a16:creationId xmlns:a16="http://schemas.microsoft.com/office/drawing/2014/main" id="{1CAE243F-9A41-344D-BE65-FAF4652A90EA}"/>
              </a:ext>
            </a:extLst>
          </p:cNvPr>
          <p:cNvPicPr>
            <a:picLocks noChangeAspect="1"/>
          </p:cNvPicPr>
          <p:nvPr/>
        </p:nvPicPr>
        <p:blipFill>
          <a:blip r:embed="rId5"/>
          <a:stretch>
            <a:fillRect/>
          </a:stretch>
        </p:blipFill>
        <p:spPr>
          <a:xfrm>
            <a:off x="6553161" y="1732907"/>
            <a:ext cx="2771953" cy="4759918"/>
          </a:xfrm>
          <a:prstGeom prst="rect">
            <a:avLst/>
          </a:prstGeom>
        </p:spPr>
      </p:pic>
      <p:sp>
        <p:nvSpPr>
          <p:cNvPr id="8" name="灯片编号占位符 3">
            <a:extLst>
              <a:ext uri="{FF2B5EF4-FFF2-40B4-BE49-F238E27FC236}">
                <a16:creationId xmlns:a16="http://schemas.microsoft.com/office/drawing/2014/main" id="{85B0EEED-0067-BE42-8C3E-CC66E80A1961}"/>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38</a:t>
            </a:fld>
            <a:endParaRPr lang="zh-CN" altLang="en-US" dirty="0"/>
          </a:p>
        </p:txBody>
      </p:sp>
      <p:pic>
        <p:nvPicPr>
          <p:cNvPr id="9" name="图像" descr="图像">
            <a:extLst>
              <a:ext uri="{FF2B5EF4-FFF2-40B4-BE49-F238E27FC236}">
                <a16:creationId xmlns:a16="http://schemas.microsoft.com/office/drawing/2014/main" id="{E0197B60-8744-C84C-97BF-CFAF790BB345}"/>
              </a:ext>
            </a:extLst>
          </p:cNvPr>
          <p:cNvPicPr>
            <a:picLocks noChangeAspect="1"/>
          </p:cNvPicPr>
          <p:nvPr/>
        </p:nvPicPr>
        <p:blipFill>
          <a:blip r:embed="rId6">
            <a:extLst/>
          </a:blip>
          <a:stretch>
            <a:fillRect/>
          </a:stretch>
        </p:blipFill>
        <p:spPr>
          <a:xfrm>
            <a:off x="10484724" y="427048"/>
            <a:ext cx="1253576" cy="332979"/>
          </a:xfrm>
          <a:prstGeom prst="rect">
            <a:avLst/>
          </a:prstGeom>
          <a:ln w="3175">
            <a:miter lim="400000"/>
          </a:ln>
        </p:spPr>
      </p:pic>
      <p:sp>
        <p:nvSpPr>
          <p:cNvPr id="10" name="矩形 9">
            <a:extLst>
              <a:ext uri="{FF2B5EF4-FFF2-40B4-BE49-F238E27FC236}">
                <a16:creationId xmlns:a16="http://schemas.microsoft.com/office/drawing/2014/main" id="{FCEF5BE9-93CA-8E4A-B8F2-E46F6CE11E12}"/>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5351858-D0A8-A741-ACAC-EC0E0CBB503E}"/>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61551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16589" y="953643"/>
            <a:ext cx="10306085" cy="923330"/>
          </a:xfrm>
          <a:prstGeom prst="rect">
            <a:avLst/>
          </a:prstGeom>
          <a:ln w="12700">
            <a:miter lim="400000"/>
          </a:ln>
        </p:spPr>
        <p:txBody>
          <a:bodyPr wrap="square" lIns="45719" rIns="45719">
            <a:spAutoFit/>
          </a:bodyPr>
          <a:lstStyle/>
          <a:p>
            <a:pPr lvl="0">
              <a:defRPr>
                <a:solidFill>
                  <a:srgbClr val="000000"/>
                </a:solidFill>
              </a:defRPr>
            </a:pPr>
            <a:r>
              <a:rPr lang="zh-CN" altLang="en-US" sz="1600" dirty="0">
                <a:latin typeface="KaiTi" charset="-122"/>
                <a:ea typeface="KaiTi" charset="-122"/>
                <a:cs typeface="KaiTi" charset="-122"/>
              </a:rPr>
              <a:t>     </a:t>
            </a:r>
            <a:r>
              <a:rPr lang="zh-CN" altLang="en-US" dirty="0">
                <a:latin typeface="KaiTi" charset="-122"/>
                <a:ea typeface="KaiTi" charset="-122"/>
                <a:cs typeface="KaiTi" charset="-122"/>
              </a:rPr>
              <a:t>根据</a:t>
            </a:r>
            <a:r>
              <a:rPr lang="en-US" altLang="zh-CN" dirty="0" err="1">
                <a:latin typeface="New Peninim MT" pitchFamily="2" charset="-79"/>
                <a:ea typeface="KaiTi" charset="-122"/>
                <a:cs typeface="New Peninim MT" pitchFamily="2" charset="-79"/>
              </a:rPr>
              <a:t>FDTScore</a:t>
            </a:r>
            <a:r>
              <a:rPr lang="zh-CN" altLang="en-US" dirty="0">
                <a:latin typeface="KaiTi" charset="-122"/>
                <a:ea typeface="KaiTi" charset="-122"/>
                <a:cs typeface="KaiTi" charset="-122"/>
              </a:rPr>
              <a:t>的分析结果，系统地针对投资者的交易进行全面分析，包括风险控制能力、盈利能力、稳定性、活跃度等维度进行解剖，深入理解投资者的交易行为和心理特征，总结投资者的交易风格，投资过程中的优势和不足，帮助投资者全面了解自己的投资能力。</a:t>
            </a:r>
            <a:endParaRPr dirty="0">
              <a:latin typeface="KaiTi" charset="-122"/>
              <a:ea typeface="KaiTi" charset="-122"/>
              <a:cs typeface="KaiTi" charset="-122"/>
            </a:endParaRPr>
          </a:p>
        </p:txBody>
      </p:sp>
      <p:sp>
        <p:nvSpPr>
          <p:cNvPr id="215" name="Shape 215"/>
          <p:cNvSpPr/>
          <p:nvPr/>
        </p:nvSpPr>
        <p:spPr>
          <a:xfrm>
            <a:off x="675358" y="243639"/>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投资分析报告（</a:t>
            </a:r>
            <a:r>
              <a:rPr lang="en-US" altLang="zh-CN" sz="3600" dirty="0">
                <a:solidFill>
                  <a:schemeClr val="tx1"/>
                </a:solidFill>
                <a:latin typeface="KaiTi" charset="-122"/>
                <a:ea typeface="KaiTi" charset="-122"/>
                <a:cs typeface="KaiTi" charset="-122"/>
              </a:rPr>
              <a:t>P</a:t>
            </a:r>
            <a:r>
              <a:rPr lang="en-US" altLang="zh-Hans" sz="3600" dirty="0">
                <a:solidFill>
                  <a:schemeClr val="tx1"/>
                </a:solidFill>
                <a:latin typeface="KaiTi" charset="-122"/>
                <a:ea typeface="KaiTi" charset="-122"/>
                <a:cs typeface="KaiTi" charset="-122"/>
              </a:rPr>
              <a:t>C</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sp>
        <p:nvSpPr>
          <p:cNvPr id="3" name="矩形 2">
            <a:extLst>
              <a:ext uri="{FF2B5EF4-FFF2-40B4-BE49-F238E27FC236}">
                <a16:creationId xmlns:a16="http://schemas.microsoft.com/office/drawing/2014/main" id="{04E2B035-1550-E840-92B9-B2AC8325B291}"/>
              </a:ext>
            </a:extLst>
          </p:cNvPr>
          <p:cNvSpPr/>
          <p:nvPr/>
        </p:nvSpPr>
        <p:spPr>
          <a:xfrm>
            <a:off x="500260" y="1817649"/>
            <a:ext cx="10656714" cy="369332"/>
          </a:xfrm>
          <a:prstGeom prst="rect">
            <a:avLst/>
          </a:prstGeom>
        </p:spPr>
        <p:txBody>
          <a:bodyPr wrap="square">
            <a:spAutoFit/>
          </a:bodyPr>
          <a:lstStyle/>
          <a:p>
            <a:r>
              <a:rPr lang="zh-Hans" altLang="en-US" b="1" dirty="0"/>
              <a:t>产品链接： </a:t>
            </a:r>
            <a:r>
              <a:rPr lang="zh-CN" altLang="en-US" dirty="0"/>
              <a:t>http://dashboard.hkfdt.cn/dashboard.html#/index/profile/marijuana/CN/SC/beta</a:t>
            </a:r>
          </a:p>
        </p:txBody>
      </p:sp>
      <p:pic>
        <p:nvPicPr>
          <p:cNvPr id="7" name="图像" descr="图像">
            <a:extLst>
              <a:ext uri="{FF2B5EF4-FFF2-40B4-BE49-F238E27FC236}">
                <a16:creationId xmlns:a16="http://schemas.microsoft.com/office/drawing/2014/main" id="{982215CC-5996-CE44-82A3-8B9F36457318}"/>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8" name="灯片编号占位符 3">
            <a:extLst>
              <a:ext uri="{FF2B5EF4-FFF2-40B4-BE49-F238E27FC236}">
                <a16:creationId xmlns:a16="http://schemas.microsoft.com/office/drawing/2014/main" id="{7D1CCA72-8E2D-4245-8A6B-304E0DFD8876}"/>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solidFill>
                  <a:schemeClr val="bg1">
                    <a:lumMod val="50000"/>
                  </a:schemeClr>
                </a:solidFill>
              </a:rPr>
              <a:t>39</a:t>
            </a:fld>
            <a:endParaRPr lang="zh-CN" altLang="en-US" dirty="0">
              <a:solidFill>
                <a:schemeClr val="bg1">
                  <a:lumMod val="50000"/>
                </a:schemeClr>
              </a:solidFill>
            </a:endParaRPr>
          </a:p>
        </p:txBody>
      </p:sp>
      <p:sp>
        <p:nvSpPr>
          <p:cNvPr id="9" name="矩形 8">
            <a:extLst>
              <a:ext uri="{FF2B5EF4-FFF2-40B4-BE49-F238E27FC236}">
                <a16:creationId xmlns:a16="http://schemas.microsoft.com/office/drawing/2014/main" id="{751E138D-AB48-0240-A178-38D1EC568C42}"/>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9">
            <a:extLst>
              <a:ext uri="{FF2B5EF4-FFF2-40B4-BE49-F238E27FC236}">
                <a16:creationId xmlns:a16="http://schemas.microsoft.com/office/drawing/2014/main" id="{BF2B0156-B5AA-054A-AE2D-CD2606F46AD6}"/>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1" name="图片 10">
            <a:extLst>
              <a:ext uri="{FF2B5EF4-FFF2-40B4-BE49-F238E27FC236}">
                <a16:creationId xmlns:a16="http://schemas.microsoft.com/office/drawing/2014/main" id="{923B9566-6FC5-114D-87C0-422BBAF42146}"/>
              </a:ext>
            </a:extLst>
          </p:cNvPr>
          <p:cNvPicPr>
            <a:picLocks noChangeAspect="1"/>
          </p:cNvPicPr>
          <p:nvPr/>
        </p:nvPicPr>
        <p:blipFill>
          <a:blip r:embed="rId3"/>
          <a:stretch>
            <a:fillRect/>
          </a:stretch>
        </p:blipFill>
        <p:spPr>
          <a:xfrm>
            <a:off x="5276551" y="2120821"/>
            <a:ext cx="5480030" cy="1730994"/>
          </a:xfrm>
          <a:prstGeom prst="rect">
            <a:avLst/>
          </a:prstGeom>
        </p:spPr>
      </p:pic>
      <p:pic>
        <p:nvPicPr>
          <p:cNvPr id="13" name="图片 12">
            <a:extLst>
              <a:ext uri="{FF2B5EF4-FFF2-40B4-BE49-F238E27FC236}">
                <a16:creationId xmlns:a16="http://schemas.microsoft.com/office/drawing/2014/main" id="{03BA993B-2AC8-1342-AB0C-C7CDB33A6870}"/>
              </a:ext>
            </a:extLst>
          </p:cNvPr>
          <p:cNvPicPr>
            <a:picLocks noChangeAspect="1"/>
          </p:cNvPicPr>
          <p:nvPr/>
        </p:nvPicPr>
        <p:blipFill>
          <a:blip r:embed="rId4"/>
          <a:stretch>
            <a:fillRect/>
          </a:stretch>
        </p:blipFill>
        <p:spPr>
          <a:xfrm>
            <a:off x="534086" y="2967989"/>
            <a:ext cx="4733236" cy="3737483"/>
          </a:xfrm>
          <a:prstGeom prst="rect">
            <a:avLst/>
          </a:prstGeom>
        </p:spPr>
      </p:pic>
      <p:pic>
        <p:nvPicPr>
          <p:cNvPr id="14" name="图片 13">
            <a:extLst>
              <a:ext uri="{FF2B5EF4-FFF2-40B4-BE49-F238E27FC236}">
                <a16:creationId xmlns:a16="http://schemas.microsoft.com/office/drawing/2014/main" id="{7667102A-643E-864C-AC10-599D5D65EF38}"/>
              </a:ext>
            </a:extLst>
          </p:cNvPr>
          <p:cNvPicPr>
            <a:picLocks noChangeAspect="1"/>
          </p:cNvPicPr>
          <p:nvPr/>
        </p:nvPicPr>
        <p:blipFill>
          <a:blip r:embed="rId5"/>
          <a:stretch>
            <a:fillRect/>
          </a:stretch>
        </p:blipFill>
        <p:spPr>
          <a:xfrm>
            <a:off x="5300068" y="3712264"/>
            <a:ext cx="5480030" cy="1557073"/>
          </a:xfrm>
          <a:prstGeom prst="rect">
            <a:avLst/>
          </a:prstGeom>
        </p:spPr>
      </p:pic>
      <p:pic>
        <p:nvPicPr>
          <p:cNvPr id="15" name="图片 14">
            <a:extLst>
              <a:ext uri="{FF2B5EF4-FFF2-40B4-BE49-F238E27FC236}">
                <a16:creationId xmlns:a16="http://schemas.microsoft.com/office/drawing/2014/main" id="{52E96630-0D5D-DD41-9D6C-8B155A5BB0EF}"/>
              </a:ext>
            </a:extLst>
          </p:cNvPr>
          <p:cNvPicPr>
            <a:picLocks noChangeAspect="1"/>
          </p:cNvPicPr>
          <p:nvPr/>
        </p:nvPicPr>
        <p:blipFill>
          <a:blip r:embed="rId6"/>
          <a:stretch>
            <a:fillRect/>
          </a:stretch>
        </p:blipFill>
        <p:spPr>
          <a:xfrm>
            <a:off x="5300068" y="5266635"/>
            <a:ext cx="5480030" cy="1558860"/>
          </a:xfrm>
          <a:prstGeom prst="rect">
            <a:avLst/>
          </a:prstGeom>
        </p:spPr>
      </p:pic>
      <p:pic>
        <p:nvPicPr>
          <p:cNvPr id="12" name="图片 11">
            <a:extLst>
              <a:ext uri="{FF2B5EF4-FFF2-40B4-BE49-F238E27FC236}">
                <a16:creationId xmlns:a16="http://schemas.microsoft.com/office/drawing/2014/main" id="{8EBFA77A-76E1-7F41-9D8C-DA0856149EC6}"/>
              </a:ext>
            </a:extLst>
          </p:cNvPr>
          <p:cNvPicPr>
            <a:picLocks noChangeAspect="1"/>
          </p:cNvPicPr>
          <p:nvPr/>
        </p:nvPicPr>
        <p:blipFill>
          <a:blip r:embed="rId7"/>
          <a:stretch>
            <a:fillRect/>
          </a:stretch>
        </p:blipFill>
        <p:spPr>
          <a:xfrm>
            <a:off x="2577104" y="2801679"/>
            <a:ext cx="3092527" cy="1628820"/>
          </a:xfrm>
          <a:prstGeom prst="rect">
            <a:avLst/>
          </a:prstGeom>
        </p:spPr>
      </p:pic>
    </p:spTree>
    <p:extLst>
      <p:ext uri="{BB962C8B-B14F-4D97-AF65-F5344CB8AC3E}">
        <p14:creationId xmlns:p14="http://schemas.microsoft.com/office/powerpoint/2010/main" val="1258301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9"/>
          <p:cNvGrpSpPr/>
          <p:nvPr/>
        </p:nvGrpSpPr>
        <p:grpSpPr>
          <a:xfrm>
            <a:off x="-37900" y="-9030"/>
            <a:ext cx="5596847" cy="6858001"/>
            <a:chOff x="0" y="0"/>
            <a:chExt cx="5596845" cy="6858000"/>
          </a:xfrm>
        </p:grpSpPr>
        <p:sp>
          <p:nvSpPr>
            <p:cNvPr id="217" name="Shape 217"/>
            <p:cNvSpPr/>
            <p:nvPr/>
          </p:nvSpPr>
          <p:spPr>
            <a:xfrm>
              <a:off x="0" y="0"/>
              <a:ext cx="5366659" cy="6858000"/>
            </a:xfrm>
            <a:prstGeom prst="rect">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sp>
          <p:nvSpPr>
            <p:cNvPr id="218" name="Shape 218"/>
            <p:cNvSpPr/>
            <p:nvPr/>
          </p:nvSpPr>
          <p:spPr>
            <a:xfrm rot="5400000">
              <a:off x="5291251" y="3268166"/>
              <a:ext cx="381002" cy="230189"/>
            </a:xfrm>
            <a:prstGeom prst="triangle">
              <a:avLst/>
            </a:prstGeom>
            <a:solidFill>
              <a:srgbClr val="E5C261"/>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KaiTi" charset="-122"/>
                <a:ea typeface="KaiTi" charset="-122"/>
                <a:cs typeface="KaiTi" charset="-122"/>
              </a:endParaRPr>
            </a:p>
          </p:txBody>
        </p:sp>
      </p:grpSp>
      <p:sp>
        <p:nvSpPr>
          <p:cNvPr id="220" name="Shape 220"/>
          <p:cNvSpPr/>
          <p:nvPr/>
        </p:nvSpPr>
        <p:spPr>
          <a:xfrm>
            <a:off x="553826" y="1887316"/>
            <a:ext cx="4774933" cy="1200329"/>
          </a:xfrm>
          <a:prstGeom prst="rect">
            <a:avLst/>
          </a:prstGeom>
          <a:ln w="12700">
            <a:miter lim="400000"/>
          </a:ln>
        </p:spPr>
        <p:txBody>
          <a:bodyPr wrap="square" lIns="45719" rIns="45719">
            <a:spAutoFit/>
          </a:bodyPr>
          <a:lstStyle/>
          <a:p>
            <a:pPr lvl="0">
              <a:defRPr>
                <a:solidFill>
                  <a:srgbClr val="000000"/>
                </a:solidFill>
              </a:defRPr>
            </a:pPr>
            <a:r>
              <a:rPr lang="zh-CN" altLang="en-US" sz="1600" dirty="0">
                <a:latin typeface="KaiTi" charset="-122"/>
                <a:ea typeface="KaiTi" charset="-122"/>
                <a:cs typeface="KaiTi" charset="-122"/>
              </a:rPr>
              <a:t> </a:t>
            </a:r>
            <a:r>
              <a:rPr lang="zh-CN" altLang="en-US" dirty="0">
                <a:latin typeface="KaiTi" charset="-122"/>
                <a:ea typeface="KaiTi" charset="-122"/>
                <a:cs typeface="KaiTi" charset="-122"/>
              </a:rPr>
              <a:t>投资者进行复盘之后认识到投资中的不足和需要提升的地方之后，需要结合其投资偏好进行针对性的练习和知识点学习进行提升，从而真正达到复盘的目的</a:t>
            </a:r>
            <a:endParaRPr dirty="0">
              <a:latin typeface="KaiTi" charset="-122"/>
              <a:ea typeface="KaiTi" charset="-122"/>
              <a:cs typeface="KaiTi" charset="-122"/>
            </a:endParaRPr>
          </a:p>
        </p:txBody>
      </p:sp>
      <p:sp>
        <p:nvSpPr>
          <p:cNvPr id="223" name="Shape 223"/>
          <p:cNvSpPr/>
          <p:nvPr/>
        </p:nvSpPr>
        <p:spPr>
          <a:xfrm>
            <a:off x="1710817" y="4078416"/>
            <a:ext cx="1177579" cy="2813103"/>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KaiTi" charset="-122"/>
              <a:ea typeface="KaiTi" charset="-122"/>
              <a:cs typeface="KaiTi" charset="-122"/>
            </a:endParaRPr>
          </a:p>
        </p:txBody>
      </p:sp>
      <p:sp>
        <p:nvSpPr>
          <p:cNvPr id="10" name="文本框 9"/>
          <p:cNvSpPr txBox="1"/>
          <p:nvPr/>
        </p:nvSpPr>
        <p:spPr>
          <a:xfrm>
            <a:off x="503902" y="1039869"/>
            <a:ext cx="4548429" cy="83407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kumimoji="0" lang="zh-CN" altLang="en-US" sz="1800" b="1" i="0" u="none" strike="noStrike" cap="none" spc="0" normalizeH="0" baseline="0" dirty="0">
                <a:ln>
                  <a:noFill/>
                </a:ln>
                <a:effectLst/>
                <a:uFillTx/>
                <a:latin typeface="KaiTi" charset="-122"/>
                <a:ea typeface="KaiTi" charset="-122"/>
                <a:cs typeface="KaiTi" charset="-122"/>
                <a:sym typeface="微软雅黑" panose="020B0503020204020204" charset="-122"/>
              </a:rPr>
              <a:t>投后：</a:t>
            </a:r>
            <a:endParaRPr kumimoji="0" lang="en-US" altLang="zh-CN" sz="1800" b="1" i="0" u="none" strike="noStrike" cap="none" spc="0" normalizeH="0" baseline="0" dirty="0">
              <a:ln>
                <a:noFill/>
              </a:ln>
              <a:effectLst/>
              <a:uFillTx/>
              <a:latin typeface="KaiTi" charset="-122"/>
              <a:ea typeface="KaiTi" charset="-122"/>
              <a:cs typeface="KaiTi" charset="-122"/>
              <a:sym typeface="微软雅黑" panose="020B0503020204020204" charset="-122"/>
            </a:endParaRPr>
          </a:p>
          <a:p>
            <a:pPr marL="0" marR="0" indent="0" algn="l" defTabSz="914400" rtl="0" fontAlgn="auto" latinLnBrk="1" hangingPunct="0">
              <a:lnSpc>
                <a:spcPct val="120000"/>
              </a:lnSpc>
              <a:spcBef>
                <a:spcPts val="300"/>
              </a:spcBef>
              <a:spcAft>
                <a:spcPts val="0"/>
              </a:spcAft>
              <a:buClrTx/>
              <a:buSzTx/>
              <a:buFontTx/>
              <a:buNone/>
            </a:pPr>
            <a:r>
              <a:rPr lang="zh-CN" altLang="en-US" dirty="0">
                <a:latin typeface="KaiTi" charset="-122"/>
                <a:ea typeface="KaiTi" charset="-122"/>
                <a:cs typeface="KaiTi" charset="-122"/>
              </a:rPr>
              <a:t>      </a:t>
            </a:r>
            <a:r>
              <a:rPr lang="zh-CN" altLang="en-US" sz="1600" b="1" dirty="0">
                <a:latin typeface="KaiTi" charset="-122"/>
                <a:ea typeface="KaiTi" charset="-122"/>
                <a:cs typeface="KaiTi" charset="-122"/>
              </a:rPr>
              <a:t> 针对性的交易练习和推荐教学</a:t>
            </a:r>
            <a:endParaRPr kumimoji="0" lang="zh-CN" altLang="en-US" sz="1600" b="1" i="0" u="none" strike="noStrike" cap="none" spc="0" normalizeH="0" baseline="0" dirty="0">
              <a:ln>
                <a:noFill/>
              </a:ln>
              <a:effectLst/>
              <a:uFillTx/>
              <a:latin typeface="KaiTi" charset="-122"/>
              <a:ea typeface="KaiTi" charset="-122"/>
              <a:cs typeface="KaiTi" charset="-122"/>
              <a:sym typeface="微软雅黑" panose="020B0503020204020204" charset="-122"/>
            </a:endParaRPr>
          </a:p>
        </p:txBody>
      </p:sp>
      <p:sp>
        <p:nvSpPr>
          <p:cNvPr id="11" name="Shape 208"/>
          <p:cNvSpPr/>
          <p:nvPr/>
        </p:nvSpPr>
        <p:spPr>
          <a:xfrm>
            <a:off x="6092963" y="1910663"/>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KaiTi" charset="-122"/>
                <a:ea typeface="KaiTi" charset="-122"/>
                <a:cs typeface="KaiTi" charset="-122"/>
              </a:rPr>
              <a:t>小</a:t>
            </a:r>
            <a:r>
              <a:rPr lang="en-US" altLang="zh-CN" b="1" dirty="0">
                <a:latin typeface="KaiTi" charset="-122"/>
                <a:ea typeface="KaiTi" charset="-122"/>
                <a:cs typeface="KaiTi" charset="-122"/>
              </a:rPr>
              <a:t>T</a:t>
            </a:r>
            <a:r>
              <a:rPr lang="zh-CN" altLang="en-US" b="1" dirty="0">
                <a:latin typeface="KaiTi" charset="-122"/>
                <a:ea typeface="KaiTi" charset="-122"/>
                <a:cs typeface="KaiTi" charset="-122"/>
              </a:rPr>
              <a:t>教练：</a:t>
            </a:r>
            <a:r>
              <a:rPr lang="zh-CN" altLang="en-US" dirty="0">
                <a:latin typeface="KaiTi" charset="-122"/>
                <a:ea typeface="KaiTi" charset="-122"/>
                <a:cs typeface="KaiTi" charset="-122"/>
              </a:rPr>
              <a:t>帮助投资者通过游戏化的教学方式进行行情训练</a:t>
            </a:r>
            <a:r>
              <a:rPr lang="zh-Hans" altLang="en-US" dirty="0">
                <a:latin typeface="KaiTi" charset="-122"/>
                <a:ea typeface="KaiTi" charset="-122"/>
                <a:cs typeface="KaiTi" charset="-122"/>
              </a:rPr>
              <a:t>提升盘感</a:t>
            </a:r>
            <a:r>
              <a:rPr lang="zh-CN" altLang="en-US" dirty="0">
                <a:latin typeface="KaiTi" charset="-122"/>
                <a:ea typeface="KaiTi" charset="-122"/>
                <a:cs typeface="KaiTi" charset="-122"/>
              </a:rPr>
              <a:t>，也可以针对经典</a:t>
            </a:r>
            <a:r>
              <a:rPr lang="en-US" altLang="zh-CN" dirty="0">
                <a:latin typeface="KaiTi" charset="-122"/>
                <a:ea typeface="KaiTi" charset="-122"/>
                <a:cs typeface="KaiTi" charset="-122"/>
              </a:rPr>
              <a:t>K</a:t>
            </a:r>
            <a:r>
              <a:rPr lang="zh-CN" altLang="en-US" dirty="0">
                <a:latin typeface="KaiTi" charset="-122"/>
                <a:ea typeface="KaiTi" charset="-122"/>
                <a:cs typeface="KaiTi" charset="-122"/>
              </a:rPr>
              <a:t>线形态进行专项训练</a:t>
            </a:r>
            <a:endParaRPr dirty="0">
              <a:latin typeface="KaiTi" charset="-122"/>
              <a:ea typeface="KaiTi" charset="-122"/>
              <a:cs typeface="KaiTi" charset="-122"/>
            </a:endParaRPr>
          </a:p>
        </p:txBody>
      </p:sp>
      <p:sp>
        <p:nvSpPr>
          <p:cNvPr id="12" name="Shape 209"/>
          <p:cNvSpPr/>
          <p:nvPr/>
        </p:nvSpPr>
        <p:spPr>
          <a:xfrm>
            <a:off x="6092963" y="3492421"/>
            <a:ext cx="4800534" cy="923330"/>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KaiTi" charset="-122"/>
                <a:ea typeface="KaiTi" charset="-122"/>
                <a:cs typeface="KaiTi" charset="-122"/>
              </a:rPr>
              <a:t>智能金融教学：</a:t>
            </a:r>
            <a:r>
              <a:rPr lang="zh-CN" altLang="en-US" dirty="0">
                <a:latin typeface="KaiTi" charset="-122"/>
                <a:ea typeface="KaiTi" charset="-122"/>
                <a:cs typeface="KaiTi" charset="-122"/>
              </a:rPr>
              <a:t>基于投资者的交易记录、行为数据等为投资者推荐有针对性的金融教学内容</a:t>
            </a:r>
            <a:endParaRPr dirty="0">
              <a:latin typeface="KaiTi" charset="-122"/>
              <a:ea typeface="KaiTi" charset="-122"/>
              <a:cs typeface="KaiTi" charset="-122"/>
            </a:endParaRPr>
          </a:p>
        </p:txBody>
      </p:sp>
      <p:sp>
        <p:nvSpPr>
          <p:cNvPr id="13" name="Shape 222"/>
          <p:cNvSpPr/>
          <p:nvPr/>
        </p:nvSpPr>
        <p:spPr>
          <a:xfrm>
            <a:off x="503902" y="326151"/>
            <a:ext cx="9793766" cy="715257"/>
          </a:xfrm>
          <a:prstGeom prst="rect">
            <a:avLst/>
          </a:prstGeom>
          <a:ln w="12700">
            <a:miter lim="400000"/>
          </a:ln>
        </p:spPr>
        <p:txBody>
          <a:bodyPr lIns="51370" tIns="51370" rIns="51370" bIns="51370" anchor="ctr">
            <a:spAutoFit/>
          </a:bodyPr>
          <a:lstStyle/>
          <a:p>
            <a:pPr lvl="0" defTabSz="513080">
              <a:lnSpc>
                <a:spcPct val="120000"/>
              </a:lnSpc>
              <a:defRPr>
                <a:solidFill>
                  <a:srgbClr val="000000"/>
                </a:solidFill>
              </a:defRPr>
            </a:pPr>
            <a:r>
              <a:rPr sz="3600" dirty="0">
                <a:latin typeface="KaiTi" charset="-122"/>
                <a:ea typeface="KaiTi" charset="-122"/>
                <a:cs typeface="KaiTi" charset="-122"/>
              </a:rPr>
              <a:t>典型用户需求           </a:t>
            </a:r>
            <a:r>
              <a:rPr lang="zh-CN" altLang="en-US" sz="3600" dirty="0">
                <a:latin typeface="+mj-lt"/>
                <a:ea typeface="KaiTi" charset="-122"/>
                <a:cs typeface="KaiTi" charset="-122"/>
              </a:rPr>
              <a:t> </a:t>
            </a:r>
            <a:r>
              <a:rPr lang="en-US" altLang="zh-CN" sz="3600" dirty="0" err="1">
                <a:latin typeface="New Peninim MT" pitchFamily="2" charset="-79"/>
                <a:ea typeface="KaiTi" charset="-122"/>
                <a:cs typeface="New Peninim MT" pitchFamily="2" charset="-79"/>
              </a:rPr>
              <a:t>FDTAI</a:t>
            </a:r>
            <a:r>
              <a:rPr sz="3600" dirty="0" err="1">
                <a:latin typeface="KaiTi" charset="-122"/>
                <a:ea typeface="KaiTi" charset="-122"/>
                <a:cs typeface="KaiTi" charset="-122"/>
              </a:rPr>
              <a:t>对策</a:t>
            </a:r>
            <a:endParaRPr sz="3600" dirty="0">
              <a:latin typeface="KaiTi" charset="-122"/>
              <a:ea typeface="KaiTi" charset="-122"/>
              <a:cs typeface="KaiTi" charset="-122"/>
            </a:endParaRPr>
          </a:p>
        </p:txBody>
      </p:sp>
      <p:pic>
        <p:nvPicPr>
          <p:cNvPr id="14" name="图像" descr="图像">
            <a:extLst>
              <a:ext uri="{FF2B5EF4-FFF2-40B4-BE49-F238E27FC236}">
                <a16:creationId xmlns:a16="http://schemas.microsoft.com/office/drawing/2014/main" id="{55B808BB-13F4-5142-88E2-E6F166275C3E}"/>
              </a:ext>
            </a:extLst>
          </p:cNvPr>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5" name="灯片编号占位符 3">
            <a:extLst>
              <a:ext uri="{FF2B5EF4-FFF2-40B4-BE49-F238E27FC236}">
                <a16:creationId xmlns:a16="http://schemas.microsoft.com/office/drawing/2014/main" id="{807357CC-DB49-E04C-88FE-F3FDB79E9BB6}"/>
              </a:ext>
            </a:extLst>
          </p:cNvPr>
          <p:cNvSpPr txBox="1">
            <a:spLocks/>
          </p:cNvSpPr>
          <p:nvPr/>
        </p:nvSpPr>
        <p:spPr>
          <a:xfrm>
            <a:off x="8794025" y="6459296"/>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200" smtClean="0">
                <a:solidFill>
                  <a:schemeClr val="bg1">
                    <a:lumMod val="50000"/>
                  </a:schemeClr>
                </a:solidFill>
              </a:rPr>
              <a:pPr algn="r"/>
              <a:t>40</a:t>
            </a:fld>
            <a:endParaRPr lang="zh-CN" altLang="en-US" sz="1200" dirty="0">
              <a:solidFill>
                <a:schemeClr val="bg1">
                  <a:lumMod val="50000"/>
                </a:schemeClr>
              </a:solidFill>
            </a:endParaRPr>
          </a:p>
        </p:txBody>
      </p:sp>
    </p:spTree>
    <p:extLst>
      <p:ext uri="{BB962C8B-B14F-4D97-AF65-F5344CB8AC3E}">
        <p14:creationId xmlns:p14="http://schemas.microsoft.com/office/powerpoint/2010/main" val="4143709337"/>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118243"/>
            <a:ext cx="10761011" cy="1754326"/>
          </a:xfrm>
          <a:prstGeom prst="rect">
            <a:avLst/>
          </a:prstGeom>
          <a:ln w="12700">
            <a:miter lim="400000"/>
          </a:ln>
        </p:spPr>
        <p:txBody>
          <a:bodyPr wrap="square" lIns="45719" rIns="45719">
            <a:spAutoFit/>
          </a:bodyPr>
          <a:lstStyle/>
          <a:p>
            <a:pPr>
              <a:defRPr>
                <a:solidFill>
                  <a:srgbClr val="000000"/>
                </a:solidFill>
              </a:defRPr>
            </a:pPr>
            <a:r>
              <a:rPr lang="zh-CN" altLang="en-US" dirty="0">
                <a:latin typeface="KaiTi" charset="-122"/>
                <a:ea typeface="KaiTi" charset="-122"/>
                <a:cs typeface="KaiTi" charset="-122"/>
              </a:rPr>
              <a:t>    小</a:t>
            </a:r>
            <a:r>
              <a:rPr lang="en-US" altLang="zh-CN" dirty="0">
                <a:latin typeface="KaiTi" charset="-122"/>
                <a:ea typeface="KaiTi" charset="-122"/>
                <a:cs typeface="KaiTi" charset="-122"/>
              </a:rPr>
              <a:t>T</a:t>
            </a:r>
            <a:r>
              <a:rPr lang="zh-CN" altLang="en-US" dirty="0">
                <a:latin typeface="KaiTi" charset="-122"/>
                <a:ea typeface="KaiTi" charset="-122"/>
                <a:cs typeface="KaiTi" charset="-122"/>
              </a:rPr>
              <a:t>教练是为投资者提供一站式的投资训练工具帮助投资者训练盘感，提高交易水平，主要通过游戏化教学方式对行情数据进行加速强化，为投资者在短时间内模拟数十天甚至几个月的时间的行情训练，目前主要有三类场景模式  </a:t>
            </a:r>
            <a:endParaRPr lang="en-US" altLang="zh-CN" dirty="0">
              <a:latin typeface="KaiTi" charset="-122"/>
              <a:ea typeface="KaiTi" charset="-122"/>
              <a:cs typeface="KaiTi" charset="-122"/>
            </a:endParaRPr>
          </a:p>
          <a:p>
            <a:pPr lvl="0">
              <a:defRPr>
                <a:solidFill>
                  <a:srgbClr val="000000"/>
                </a:solidFill>
              </a:defRPr>
            </a:pPr>
            <a:r>
              <a:rPr lang="zh-CN" altLang="en-US" dirty="0">
                <a:latin typeface="KaiTi" charset="-122"/>
                <a:ea typeface="KaiTi" charset="-122"/>
                <a:cs typeface="KaiTi" charset="-122"/>
              </a:rPr>
              <a:t>    </a:t>
            </a:r>
            <a:r>
              <a:rPr lang="zh-CN" altLang="en-US" b="1" dirty="0">
                <a:latin typeface="KaiTi" charset="-122"/>
                <a:ea typeface="KaiTi" charset="-122"/>
                <a:cs typeface="KaiTi" charset="-122"/>
              </a:rPr>
              <a:t>游戏场：</a:t>
            </a:r>
            <a:r>
              <a:rPr lang="zh-CN" altLang="en-US" dirty="0">
                <a:latin typeface="KaiTi" charset="-122"/>
                <a:ea typeface="KaiTi" charset="-122"/>
                <a:cs typeface="KaiTi" charset="-122"/>
              </a:rPr>
              <a:t>包括二元期权、看涨跌等概率教学内容</a:t>
            </a:r>
            <a:endParaRPr lang="en-US" altLang="zh-CN" dirty="0">
              <a:latin typeface="KaiTi" charset="-122"/>
              <a:ea typeface="KaiTi" charset="-122"/>
              <a:cs typeface="KaiTi" charset="-122"/>
            </a:endParaRPr>
          </a:p>
          <a:p>
            <a:pPr lvl="0">
              <a:defRPr>
                <a:solidFill>
                  <a:srgbClr val="000000"/>
                </a:solidFill>
              </a:defRPr>
            </a:pPr>
            <a:r>
              <a:rPr lang="zh-CN" altLang="en-US" b="1" dirty="0">
                <a:latin typeface="KaiTi" charset="-122"/>
                <a:ea typeface="KaiTi" charset="-122"/>
                <a:cs typeface="KaiTi" charset="-122"/>
              </a:rPr>
              <a:t>    训练场：</a:t>
            </a:r>
            <a:r>
              <a:rPr lang="zh-CN" altLang="en-US" dirty="0">
                <a:latin typeface="KaiTi" charset="-122"/>
                <a:ea typeface="KaiTi" charset="-122"/>
                <a:cs typeface="KaiTi" charset="-122"/>
              </a:rPr>
              <a:t>针对经典的</a:t>
            </a:r>
            <a:r>
              <a:rPr lang="en-US" altLang="zh-CN" dirty="0">
                <a:latin typeface="KaiTi" charset="-122"/>
                <a:ea typeface="KaiTi" charset="-122"/>
                <a:cs typeface="KaiTi" charset="-122"/>
              </a:rPr>
              <a:t>K</a:t>
            </a:r>
            <a:r>
              <a:rPr lang="zh-CN" altLang="en-US" dirty="0">
                <a:latin typeface="KaiTi" charset="-122"/>
                <a:ea typeface="KaiTi" charset="-122"/>
                <a:cs typeface="KaiTi" charset="-122"/>
              </a:rPr>
              <a:t>线形态进行智能出题，帮助用户进行形态专项训练</a:t>
            </a:r>
            <a:endParaRPr lang="en-US" altLang="zh-CN" dirty="0">
              <a:latin typeface="KaiTi" charset="-122"/>
              <a:ea typeface="KaiTi" charset="-122"/>
              <a:cs typeface="KaiTi" charset="-122"/>
            </a:endParaRPr>
          </a:p>
          <a:p>
            <a:pPr lvl="0">
              <a:defRPr>
                <a:solidFill>
                  <a:srgbClr val="000000"/>
                </a:solidFill>
              </a:defRPr>
            </a:pPr>
            <a:r>
              <a:rPr lang="zh-CN" altLang="en-US" dirty="0">
                <a:latin typeface="KaiTi" charset="-122"/>
                <a:ea typeface="KaiTi" charset="-122"/>
                <a:cs typeface="KaiTi" charset="-122"/>
              </a:rPr>
              <a:t>    </a:t>
            </a:r>
            <a:r>
              <a:rPr lang="zh-CN" altLang="en-US" b="1" dirty="0">
                <a:latin typeface="KaiTi" charset="-122"/>
                <a:ea typeface="KaiTi" charset="-122"/>
                <a:cs typeface="KaiTi" charset="-122"/>
              </a:rPr>
              <a:t>竞技场：</a:t>
            </a:r>
            <a:r>
              <a:rPr lang="zh-CN" altLang="en-US" dirty="0">
                <a:latin typeface="KaiTi" charset="-122"/>
                <a:ea typeface="KaiTi" charset="-122"/>
                <a:cs typeface="KaiTi" charset="-122"/>
              </a:rPr>
              <a:t>人机大战，与背后的量化策略机器人进行交易比赛，提高游戏趣味性和难度</a:t>
            </a:r>
            <a:endParaRPr dirty="0">
              <a:latin typeface="KaiTi" charset="-122"/>
              <a:ea typeface="KaiTi" charset="-122"/>
              <a:cs typeface="KaiTi" charset="-122"/>
            </a:endParaRPr>
          </a:p>
        </p:txBody>
      </p:sp>
      <p:sp>
        <p:nvSpPr>
          <p:cNvPr id="215" name="Shape 215"/>
          <p:cNvSpPr/>
          <p:nvPr/>
        </p:nvSpPr>
        <p:spPr>
          <a:xfrm>
            <a:off x="703934" y="229351"/>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小</a:t>
            </a:r>
            <a:r>
              <a:rPr lang="en-US" altLang="zh-CN" sz="3600" dirty="0">
                <a:solidFill>
                  <a:schemeClr val="tx1"/>
                </a:solidFill>
                <a:latin typeface="KaiTi" charset="-122"/>
                <a:ea typeface="KaiTi" charset="-122"/>
                <a:cs typeface="KaiTi" charset="-122"/>
              </a:rPr>
              <a:t>T</a:t>
            </a:r>
            <a:r>
              <a:rPr lang="zh-CN" altLang="en-US" sz="3600" dirty="0">
                <a:solidFill>
                  <a:schemeClr val="tx1"/>
                </a:solidFill>
                <a:latin typeface="KaiTi" charset="-122"/>
                <a:ea typeface="KaiTi" charset="-122"/>
                <a:cs typeface="KaiTi" charset="-122"/>
              </a:rPr>
              <a:t>教练（</a:t>
            </a:r>
            <a:r>
              <a:rPr lang="en-US" altLang="zh-CN" sz="3600" dirty="0">
                <a:solidFill>
                  <a:schemeClr val="tx1"/>
                </a:solidFill>
                <a:latin typeface="KaiTi" charset="-122"/>
                <a:ea typeface="KaiTi" charset="-122"/>
                <a:cs typeface="KaiTi" charset="-122"/>
              </a:rPr>
              <a:t>A</a:t>
            </a:r>
            <a:r>
              <a:rPr lang="en-US" altLang="zh-Hans" sz="3600" dirty="0">
                <a:solidFill>
                  <a:schemeClr val="tx1"/>
                </a:solidFill>
                <a:latin typeface="KaiTi" charset="-122"/>
                <a:ea typeface="KaiTi" charset="-122"/>
                <a:cs typeface="KaiTi" charset="-122"/>
              </a:rPr>
              <a:t>PP</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pic>
        <p:nvPicPr>
          <p:cNvPr id="6" name="Content Placeholder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7689" y="3391996"/>
            <a:ext cx="1704863" cy="3032385"/>
          </a:xfrm>
          <a:prstGeom prst="rect">
            <a:avLst/>
          </a:prstGeom>
          <a:ln>
            <a:solidFill>
              <a:schemeClr val="accent1"/>
            </a:solidFill>
          </a:ln>
        </p:spPr>
      </p:pic>
      <p:pic>
        <p:nvPicPr>
          <p:cNvPr id="11"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39051" y="3409925"/>
            <a:ext cx="1686881" cy="3000399"/>
          </a:xfrm>
          <a:prstGeom prst="rect">
            <a:avLst/>
          </a:prstGeom>
          <a:ln>
            <a:solidFill>
              <a:schemeClr val="accent1"/>
            </a:solidFill>
          </a:ln>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2088" y="3392865"/>
            <a:ext cx="1693369" cy="3010433"/>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37218" y="3409926"/>
            <a:ext cx="1683772" cy="2993372"/>
          </a:xfrm>
          <a:prstGeom prst="rect">
            <a:avLst/>
          </a:prstGeom>
        </p:spPr>
      </p:pic>
      <p:pic>
        <p:nvPicPr>
          <p:cNvPr id="12" name="图片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5768" y="3402901"/>
            <a:ext cx="1674572" cy="2977016"/>
          </a:xfrm>
          <a:prstGeom prst="rect">
            <a:avLst/>
          </a:prstGeom>
        </p:spPr>
      </p:pic>
      <p:pic>
        <p:nvPicPr>
          <p:cNvPr id="13" name="图片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39876" y="3402902"/>
            <a:ext cx="1707343" cy="2977016"/>
          </a:xfrm>
          <a:prstGeom prst="rect">
            <a:avLst/>
          </a:prstGeom>
        </p:spPr>
      </p:pic>
      <p:sp>
        <p:nvSpPr>
          <p:cNvPr id="2" name="矩形 1">
            <a:extLst>
              <a:ext uri="{FF2B5EF4-FFF2-40B4-BE49-F238E27FC236}">
                <a16:creationId xmlns:a16="http://schemas.microsoft.com/office/drawing/2014/main" id="{D14839D4-EA2B-E847-B974-B6C6630816AD}"/>
              </a:ext>
            </a:extLst>
          </p:cNvPr>
          <p:cNvSpPr/>
          <p:nvPr/>
        </p:nvSpPr>
        <p:spPr>
          <a:xfrm>
            <a:off x="503902" y="2924400"/>
            <a:ext cx="3644972" cy="369332"/>
          </a:xfrm>
          <a:prstGeom prst="rect">
            <a:avLst/>
          </a:prstGeom>
        </p:spPr>
        <p:txBody>
          <a:bodyPr wrap="none">
            <a:spAutoFit/>
          </a:bodyPr>
          <a:lstStyle/>
          <a:p>
            <a:r>
              <a:rPr lang="zh-Hans" altLang="en-US" b="1" dirty="0"/>
              <a:t>产品链接： </a:t>
            </a:r>
            <a:r>
              <a:rPr lang="zh-CN" altLang="en-US" dirty="0"/>
              <a:t>http://traihub.fdtai.net/</a:t>
            </a:r>
          </a:p>
        </p:txBody>
      </p:sp>
      <p:pic>
        <p:nvPicPr>
          <p:cNvPr id="14" name="图像" descr="图像">
            <a:extLst>
              <a:ext uri="{FF2B5EF4-FFF2-40B4-BE49-F238E27FC236}">
                <a16:creationId xmlns:a16="http://schemas.microsoft.com/office/drawing/2014/main" id="{F2A97BFA-C5EE-5548-BE71-02C9B1E0F001}"/>
              </a:ext>
            </a:extLst>
          </p:cNvPr>
          <p:cNvPicPr>
            <a:picLocks noChangeAspect="1"/>
          </p:cNvPicPr>
          <p:nvPr/>
        </p:nvPicPr>
        <p:blipFill>
          <a:blip r:embed="rId9">
            <a:extLst/>
          </a:blip>
          <a:stretch>
            <a:fillRect/>
          </a:stretch>
        </p:blipFill>
        <p:spPr>
          <a:xfrm>
            <a:off x="10484724" y="427048"/>
            <a:ext cx="1253576" cy="332979"/>
          </a:xfrm>
          <a:prstGeom prst="rect">
            <a:avLst/>
          </a:prstGeom>
          <a:ln w="3175">
            <a:miter lim="400000"/>
          </a:ln>
        </p:spPr>
      </p:pic>
      <p:sp>
        <p:nvSpPr>
          <p:cNvPr id="15" name="灯片编号占位符 3">
            <a:extLst>
              <a:ext uri="{FF2B5EF4-FFF2-40B4-BE49-F238E27FC236}">
                <a16:creationId xmlns:a16="http://schemas.microsoft.com/office/drawing/2014/main" id="{4E5CB35E-B99D-9843-9CDA-5C6255F9DB81}"/>
              </a:ext>
            </a:extLst>
          </p:cNvPr>
          <p:cNvSpPr>
            <a:spLocks noGrp="1"/>
          </p:cNvSpPr>
          <p:nvPr>
            <p:ph type="sldNum" sz="quarter" idx="12"/>
          </p:nvPr>
        </p:nvSpPr>
        <p:spPr>
          <a:xfrm>
            <a:off x="8794025" y="6459294"/>
            <a:ext cx="2909888" cy="206381"/>
          </a:xfrm>
        </p:spPr>
        <p:txBody>
          <a:bodyPr/>
          <a:lstStyle/>
          <a:p>
            <a:fld id="{5DD3DB80-B894-403A-B48E-6FDC1A72010E}" type="slidenum">
              <a:rPr lang="zh-CN" altLang="en-US" smtClean="0">
                <a:solidFill>
                  <a:schemeClr val="bg1">
                    <a:lumMod val="50000"/>
                  </a:schemeClr>
                </a:solidFill>
              </a:rPr>
              <a:t>41</a:t>
            </a:fld>
            <a:endParaRPr lang="zh-CN" altLang="en-US" dirty="0">
              <a:solidFill>
                <a:schemeClr val="bg1">
                  <a:lumMod val="50000"/>
                </a:schemeClr>
              </a:solidFill>
            </a:endParaRPr>
          </a:p>
        </p:txBody>
      </p:sp>
      <p:sp>
        <p:nvSpPr>
          <p:cNvPr id="16" name="矩形 15">
            <a:extLst>
              <a:ext uri="{FF2B5EF4-FFF2-40B4-BE49-F238E27FC236}">
                <a16:creationId xmlns:a16="http://schemas.microsoft.com/office/drawing/2014/main" id="{B6CFBE81-CE11-8648-B9C0-F9F8AD1A7128}"/>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矩形 16">
            <a:extLst>
              <a:ext uri="{FF2B5EF4-FFF2-40B4-BE49-F238E27FC236}">
                <a16:creationId xmlns:a16="http://schemas.microsoft.com/office/drawing/2014/main" id="{DDDE9517-E147-5A41-B413-DD1987857BC4}"/>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589911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503902" y="1215169"/>
            <a:ext cx="10809557" cy="923330"/>
          </a:xfrm>
          <a:prstGeom prst="rect">
            <a:avLst/>
          </a:prstGeom>
          <a:ln w="12700">
            <a:miter lim="400000"/>
          </a:ln>
        </p:spPr>
        <p:txBody>
          <a:bodyPr wrap="square" lIns="45719" rIns="45719">
            <a:spAutoFit/>
          </a:bodyPr>
          <a:lstStyle/>
          <a:p>
            <a:pPr lvl="0">
              <a:defRPr>
                <a:solidFill>
                  <a:srgbClr val="000000"/>
                </a:solidFill>
              </a:defRPr>
            </a:pPr>
            <a:r>
              <a:rPr lang="zh-CN" altLang="en-US" dirty="0">
                <a:latin typeface="KaiTi" charset="-122"/>
                <a:ea typeface="KaiTi" charset="-122"/>
                <a:cs typeface="KaiTi" charset="-122"/>
              </a:rPr>
              <a:t>    基于</a:t>
            </a:r>
            <a:r>
              <a:rPr lang="en-US" altLang="zh-CN" dirty="0" err="1">
                <a:latin typeface="New Peninim MT" pitchFamily="2" charset="-79"/>
                <a:ea typeface="KaiTi" charset="-122"/>
                <a:cs typeface="New Peninim MT" pitchFamily="2" charset="-79"/>
              </a:rPr>
              <a:t>FDTScore</a:t>
            </a:r>
            <a:r>
              <a:rPr lang="zh-CN" altLang="en-US" dirty="0">
                <a:latin typeface="KaiTi" charset="-122"/>
                <a:ea typeface="KaiTi" charset="-122"/>
                <a:cs typeface="KaiTi" charset="-122"/>
              </a:rPr>
              <a:t>对投资者的理解，通过知识图谱、自然语言处理等技术对教学知识点的提炼总结，结合投资者的交易记录和行为偏好等数据为投资者生成关键词标签，然后有针对性的为其提供</a:t>
            </a:r>
            <a:r>
              <a:rPr lang="zh-Hans" altLang="en-US" dirty="0">
                <a:latin typeface="KaiTi" charset="-122"/>
                <a:ea typeface="KaiTi" charset="-122"/>
                <a:cs typeface="KaiTi" charset="-122"/>
              </a:rPr>
              <a:t>交易相关的新闻资讯以及</a:t>
            </a:r>
            <a:r>
              <a:rPr lang="zh-CN" altLang="en-US" dirty="0">
                <a:latin typeface="KaiTi" charset="-122"/>
                <a:ea typeface="KaiTi" charset="-122"/>
                <a:cs typeface="KaiTi" charset="-122"/>
              </a:rPr>
              <a:t>金融教学内容</a:t>
            </a:r>
            <a:endParaRPr lang="en-US" altLang="zh-CN" dirty="0">
              <a:latin typeface="KaiTi" charset="-122"/>
              <a:ea typeface="KaiTi" charset="-122"/>
              <a:cs typeface="KaiTi" charset="-122"/>
            </a:endParaRPr>
          </a:p>
        </p:txBody>
      </p:sp>
      <p:sp>
        <p:nvSpPr>
          <p:cNvPr id="6" name="Shape 215"/>
          <p:cNvSpPr/>
          <p:nvPr/>
        </p:nvSpPr>
        <p:spPr>
          <a:xfrm>
            <a:off x="646782" y="257927"/>
            <a:ext cx="9793766" cy="680248"/>
          </a:xfrm>
          <a:prstGeom prst="rect">
            <a:avLst/>
          </a:prstGeom>
          <a:ln w="12700">
            <a:miter lim="400000"/>
          </a:ln>
        </p:spPr>
        <p:txBody>
          <a:bodyPr lIns="51370" tIns="51370" rIns="51370" bIns="51370" anchor="ctr">
            <a:spAutoFit/>
          </a:bodyPr>
          <a:lstStyle>
            <a:lvl1pPr defTabSz="513080">
              <a:defRPr sz="3600">
                <a:solidFill>
                  <a:srgbClr val="4472C4"/>
                </a:solidFill>
              </a:defRPr>
            </a:lvl1pPr>
          </a:lstStyle>
          <a:p>
            <a:pPr lvl="0">
              <a:defRPr sz="1800">
                <a:solidFill>
                  <a:srgbClr val="000000"/>
                </a:solidFill>
              </a:defRPr>
            </a:pPr>
            <a:r>
              <a:rPr lang="zh-CN" altLang="en-US" sz="3600" dirty="0">
                <a:solidFill>
                  <a:schemeClr val="tx1"/>
                </a:solidFill>
                <a:latin typeface="KaiTi" charset="-122"/>
                <a:ea typeface="KaiTi" charset="-122"/>
                <a:cs typeface="KaiTi" charset="-122"/>
              </a:rPr>
              <a:t>智能金融教学（</a:t>
            </a:r>
            <a:r>
              <a:rPr lang="en-US" altLang="zh-CN" sz="3600" dirty="0">
                <a:solidFill>
                  <a:schemeClr val="tx1"/>
                </a:solidFill>
                <a:latin typeface="KaiTi" charset="-122"/>
                <a:ea typeface="KaiTi" charset="-122"/>
                <a:cs typeface="KaiTi" charset="-122"/>
              </a:rPr>
              <a:t>P</a:t>
            </a:r>
            <a:r>
              <a:rPr lang="en-US" altLang="zh-Hans" sz="3600" dirty="0">
                <a:solidFill>
                  <a:schemeClr val="tx1"/>
                </a:solidFill>
                <a:latin typeface="KaiTi" charset="-122"/>
                <a:ea typeface="KaiTi" charset="-122"/>
                <a:cs typeface="KaiTi" charset="-122"/>
              </a:rPr>
              <a:t>C</a:t>
            </a:r>
            <a:r>
              <a:rPr lang="zh-Hans" altLang="en-US" sz="3600" dirty="0">
                <a:solidFill>
                  <a:schemeClr val="tx1"/>
                </a:solidFill>
                <a:latin typeface="KaiTi" charset="-122"/>
                <a:ea typeface="KaiTi" charset="-122"/>
                <a:cs typeface="KaiTi" charset="-122"/>
              </a:rPr>
              <a:t>版</a:t>
            </a:r>
            <a:r>
              <a:rPr lang="zh-CN" altLang="en-US" sz="3600" dirty="0">
                <a:solidFill>
                  <a:schemeClr val="tx1"/>
                </a:solidFill>
                <a:latin typeface="KaiTi" charset="-122"/>
                <a:ea typeface="KaiTi" charset="-122"/>
                <a:cs typeface="KaiTi" charset="-122"/>
              </a:rPr>
              <a:t>）</a:t>
            </a:r>
            <a:endParaRPr sz="3600" dirty="0">
              <a:solidFill>
                <a:schemeClr val="tx1"/>
              </a:solidFill>
              <a:latin typeface="KaiTi" charset="-122"/>
              <a:ea typeface="KaiTi" charset="-122"/>
              <a:cs typeface="KaiTi" charset="-122"/>
            </a:endParaRPr>
          </a:p>
        </p:txBody>
      </p:sp>
      <p:pic>
        <p:nvPicPr>
          <p:cNvPr id="2" name="图片 1">
            <a:extLst>
              <a:ext uri="{FF2B5EF4-FFF2-40B4-BE49-F238E27FC236}">
                <a16:creationId xmlns:a16="http://schemas.microsoft.com/office/drawing/2014/main" id="{BF5CB876-566E-9F46-87BF-E5CD8A8A64A3}"/>
              </a:ext>
            </a:extLst>
          </p:cNvPr>
          <p:cNvPicPr>
            <a:picLocks noChangeAspect="1"/>
          </p:cNvPicPr>
          <p:nvPr/>
        </p:nvPicPr>
        <p:blipFill>
          <a:blip r:embed="rId2"/>
          <a:stretch>
            <a:fillRect/>
          </a:stretch>
        </p:blipFill>
        <p:spPr>
          <a:xfrm>
            <a:off x="503902" y="2376331"/>
            <a:ext cx="5229323" cy="2670441"/>
          </a:xfrm>
          <a:prstGeom prst="rect">
            <a:avLst/>
          </a:prstGeom>
        </p:spPr>
      </p:pic>
      <p:pic>
        <p:nvPicPr>
          <p:cNvPr id="3" name="图片 2">
            <a:extLst>
              <a:ext uri="{FF2B5EF4-FFF2-40B4-BE49-F238E27FC236}">
                <a16:creationId xmlns:a16="http://schemas.microsoft.com/office/drawing/2014/main" id="{1A2BE0CD-0F75-014C-846C-29B65CCA0E7F}"/>
              </a:ext>
            </a:extLst>
          </p:cNvPr>
          <p:cNvPicPr>
            <a:picLocks noChangeAspect="1"/>
          </p:cNvPicPr>
          <p:nvPr/>
        </p:nvPicPr>
        <p:blipFill>
          <a:blip r:embed="rId3"/>
          <a:stretch>
            <a:fillRect/>
          </a:stretch>
        </p:blipFill>
        <p:spPr>
          <a:xfrm>
            <a:off x="5908680" y="2417637"/>
            <a:ext cx="5276182" cy="2641632"/>
          </a:xfrm>
          <a:prstGeom prst="rect">
            <a:avLst/>
          </a:prstGeom>
        </p:spPr>
      </p:pic>
      <p:pic>
        <p:nvPicPr>
          <p:cNvPr id="7" name="图像" descr="图像">
            <a:extLst>
              <a:ext uri="{FF2B5EF4-FFF2-40B4-BE49-F238E27FC236}">
                <a16:creationId xmlns:a16="http://schemas.microsoft.com/office/drawing/2014/main" id="{51484813-B46B-0A40-91CD-176583701D4D}"/>
              </a:ext>
            </a:extLst>
          </p:cNvPr>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8" name="灯片编号占位符 3">
            <a:extLst>
              <a:ext uri="{FF2B5EF4-FFF2-40B4-BE49-F238E27FC236}">
                <a16:creationId xmlns:a16="http://schemas.microsoft.com/office/drawing/2014/main" id="{059EB5A3-C274-D049-8AB2-E1D6D18BDDCE}"/>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solidFill>
                  <a:schemeClr val="bg1">
                    <a:lumMod val="50000"/>
                  </a:schemeClr>
                </a:solidFill>
              </a:rPr>
              <a:t>42</a:t>
            </a:fld>
            <a:endParaRPr lang="zh-CN" altLang="en-US" dirty="0">
              <a:solidFill>
                <a:schemeClr val="bg1">
                  <a:lumMod val="50000"/>
                </a:schemeClr>
              </a:solidFill>
            </a:endParaRPr>
          </a:p>
        </p:txBody>
      </p:sp>
      <p:sp>
        <p:nvSpPr>
          <p:cNvPr id="9" name="矩形 8">
            <a:extLst>
              <a:ext uri="{FF2B5EF4-FFF2-40B4-BE49-F238E27FC236}">
                <a16:creationId xmlns:a16="http://schemas.microsoft.com/office/drawing/2014/main" id="{01818919-CA2C-6A49-B35D-9DB34C78A389}"/>
              </a:ext>
            </a:extLst>
          </p:cNvPr>
          <p:cNvSpPr/>
          <p:nvPr/>
        </p:nvSpPr>
        <p:spPr>
          <a:xfrm>
            <a:off x="741931"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9">
            <a:extLst>
              <a:ext uri="{FF2B5EF4-FFF2-40B4-BE49-F238E27FC236}">
                <a16:creationId xmlns:a16="http://schemas.microsoft.com/office/drawing/2014/main" id="{FE37F1A3-452A-0A4E-B5E7-0DB9EFFFBDC4}"/>
              </a:ext>
            </a:extLst>
          </p:cNvPr>
          <p:cNvSpPr/>
          <p:nvPr/>
        </p:nvSpPr>
        <p:spPr>
          <a:xfrm>
            <a:off x="4815528"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400951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画板 2@4x.png" descr="画板 2@4x.png"/>
          <p:cNvPicPr>
            <a:picLocks noChangeAspect="1"/>
          </p:cNvPicPr>
          <p:nvPr/>
        </p:nvPicPr>
        <p:blipFill>
          <a:blip r:embed="rId2">
            <a:alphaModFix amt="49627"/>
            <a:extLst/>
          </a:blip>
          <a:stretch>
            <a:fillRect/>
          </a:stretch>
        </p:blipFill>
        <p:spPr>
          <a:xfrm>
            <a:off x="-209270" y="564189"/>
            <a:ext cx="15096501" cy="6099423"/>
          </a:xfrm>
          <a:prstGeom prst="rect">
            <a:avLst/>
          </a:prstGeom>
          <a:ln w="3175">
            <a:miter lim="400000"/>
          </a:ln>
        </p:spPr>
      </p:pic>
      <p:sp>
        <p:nvSpPr>
          <p:cNvPr id="182" name="谢谢观看"/>
          <p:cNvSpPr txBox="1"/>
          <p:nvPr/>
        </p:nvSpPr>
        <p:spPr>
          <a:xfrm>
            <a:off x="5493396" y="2367133"/>
            <a:ext cx="1516040" cy="638877"/>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dirty="0" err="1"/>
              <a:t>谢谢</a:t>
            </a:r>
            <a:r>
              <a:rPr lang="zh-CN" altLang="en-US" dirty="0"/>
              <a:t>！</a:t>
            </a:r>
            <a:endParaRPr dirty="0"/>
          </a:p>
        </p:txBody>
      </p:sp>
      <p:grpSp>
        <p:nvGrpSpPr>
          <p:cNvPr id="185" name="成组"/>
          <p:cNvGrpSpPr/>
          <p:nvPr/>
        </p:nvGrpSpPr>
        <p:grpSpPr>
          <a:xfrm>
            <a:off x="5219069" y="5074647"/>
            <a:ext cx="2204535" cy="1052106"/>
            <a:chOff x="0" y="73725"/>
            <a:chExt cx="2204533" cy="1052105"/>
          </a:xfrm>
        </p:grpSpPr>
        <p:pic>
          <p:nvPicPr>
            <p:cNvPr id="183" name="图像" descr="图像"/>
            <p:cNvPicPr>
              <a:picLocks noChangeAspect="1"/>
            </p:cNvPicPr>
            <p:nvPr/>
          </p:nvPicPr>
          <p:blipFill>
            <a:blip r:embed="rId3">
              <a:extLst/>
            </a:blip>
            <a:stretch>
              <a:fillRect/>
            </a:stretch>
          </p:blipFill>
          <p:spPr>
            <a:xfrm>
              <a:off x="50720" y="73725"/>
              <a:ext cx="2077694" cy="551883"/>
            </a:xfrm>
            <a:prstGeom prst="rect">
              <a:avLst/>
            </a:prstGeom>
            <a:ln w="3175" cap="flat">
              <a:noFill/>
              <a:miter lim="400000"/>
            </a:ln>
            <a:effectLst/>
          </p:spPr>
        </p:pic>
        <p:sp>
          <p:nvSpPr>
            <p:cNvPr id="184" name="懂你AI你，比你更懂你"/>
            <p:cNvSpPr txBox="1"/>
            <p:nvPr/>
          </p:nvSpPr>
          <p:spPr>
            <a:xfrm>
              <a:off x="0" y="767453"/>
              <a:ext cx="2204534" cy="358379"/>
            </a:xfrm>
            <a:prstGeom prst="rect">
              <a:avLst/>
            </a:prstGeom>
            <a:noFill/>
            <a:ln w="3175" cap="flat">
              <a:noFill/>
              <a:miter lim="400000"/>
            </a:ln>
            <a:effectLst/>
            <a:extLst>
              <a:ext uri="{C572A759-6A51-4108-AA02-DFA0A04FC94B}">
                <ma14:wrappingTextBoxFlag xmlns="" xmlns:ma14="http://schemas.microsoft.com/office/mac/drawingml/2011/main" val="1"/>
              </a:ext>
            </a:extLst>
          </p:spPr>
          <p:txBody>
            <a:bodyPr wrap="square" lIns="26789" tIns="26789" rIns="26789" bIns="26789" numCol="1" anchor="ctr">
              <a:spAutoFit/>
            </a:bodyPr>
            <a:lstStyle>
              <a:lvl1pPr algn="l">
                <a:defRPr sz="1700">
                  <a:solidFill>
                    <a:srgbClr val="CAA354"/>
                  </a:solidFill>
                  <a:latin typeface="PingFang SC Regular"/>
                  <a:ea typeface="PingFang SC Regular"/>
                  <a:cs typeface="PingFang SC Regular"/>
                  <a:sym typeface="PingFang SC Regular"/>
                </a:defRPr>
              </a:lvl1pPr>
            </a:lstStyle>
            <a:p>
              <a:r>
                <a:rPr dirty="0" err="1"/>
                <a:t>懂你AI你，比你更懂你</a:t>
              </a:r>
              <a:endParaRPr dirty="0"/>
            </a:p>
          </p:txBody>
        </p:sp>
      </p:grpSp>
      <p:sp>
        <p:nvSpPr>
          <p:cNvPr id="8" name="灯片编号占位符 3">
            <a:extLst>
              <a:ext uri="{FF2B5EF4-FFF2-40B4-BE49-F238E27FC236}">
                <a16:creationId xmlns:a16="http://schemas.microsoft.com/office/drawing/2014/main" id="{1BAF04A7-F6D2-D64A-97EE-E2E85E2698C2}"/>
              </a:ext>
            </a:extLst>
          </p:cNvPr>
          <p:cNvSpPr>
            <a:spLocks noGrp="1"/>
          </p:cNvSpPr>
          <p:nvPr>
            <p:ph type="sldNum" sz="quarter" idx="12"/>
          </p:nvPr>
        </p:nvSpPr>
        <p:spPr>
          <a:xfrm>
            <a:off x="8794025" y="6459296"/>
            <a:ext cx="2909888" cy="206381"/>
          </a:xfrm>
        </p:spPr>
        <p:txBody>
          <a:bodyPr/>
          <a:lstStyle/>
          <a:p>
            <a:fld id="{5DD3DB80-B894-403A-B48E-6FDC1A72010E}" type="slidenum">
              <a:rPr lang="zh-CN" altLang="en-US" smtClean="0"/>
              <a:t>43</a:t>
            </a:fld>
            <a:endParaRPr lang="zh-CN" altLang="en-US" dirty="0"/>
          </a:p>
        </p:txBody>
      </p:sp>
    </p:spTree>
    <p:extLst>
      <p:ext uri="{BB962C8B-B14F-4D97-AF65-F5344CB8AC3E}">
        <p14:creationId xmlns:p14="http://schemas.microsoft.com/office/powerpoint/2010/main" val="3618280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b365c84f-36db-40d7-b60d-e788bba302bb"/>
</p:tagLst>
</file>

<file path=ppt/theme/theme1.xml><?xml version="1.0" encoding="utf-8"?>
<a:theme xmlns:a="http://schemas.openxmlformats.org/drawingml/2006/main" name="Office 主题​​">
  <a:themeElements>
    <a:clrScheme name="橙红色">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{AFBFAAE1-B0EB-EB42-9F8B-DC738DB5E80A}tf10001120</Template>
  <TotalTime>6982</TotalTime>
  <Words>4212</Words>
  <Application>Microsoft Macintosh PowerPoint</Application>
  <PresentationFormat>宽屏</PresentationFormat>
  <Paragraphs>409</Paragraphs>
  <Slides>43</Slides>
  <Notes>9</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43</vt:i4>
      </vt:variant>
    </vt:vector>
  </HeadingPairs>
  <TitlesOfParts>
    <vt:vector size="64" baseType="lpstr">
      <vt:lpstr>等线</vt:lpstr>
      <vt:lpstr>等线</vt:lpstr>
      <vt:lpstr>等线 Light</vt:lpstr>
      <vt:lpstr>SimSun</vt:lpstr>
      <vt:lpstr>微软雅黑</vt:lpstr>
      <vt:lpstr>KaiTi</vt:lpstr>
      <vt:lpstr>Kaiti SC</vt:lpstr>
      <vt:lpstr>PingFang SC</vt:lpstr>
      <vt:lpstr>PingFang SC Regular</vt:lpstr>
      <vt:lpstr>PingFang SC Semibold</vt:lpstr>
      <vt:lpstr>Raleway Light</vt:lpstr>
      <vt:lpstr>Arial</vt:lpstr>
      <vt:lpstr>Calibri</vt:lpstr>
      <vt:lpstr>Calibri Light</vt:lpstr>
      <vt:lpstr>Cambria</vt:lpstr>
      <vt:lpstr>Helvetica</vt:lpstr>
      <vt:lpstr>Helvetica Neue</vt:lpstr>
      <vt:lpstr>Helvetica Neue Medium</vt:lpstr>
      <vt:lpstr>New Peninim MT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16.0010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黄tifa</dc:creator>
  <cp:lastModifiedBy>Microsoft Office</cp:lastModifiedBy>
  <cp:revision>599</cp:revision>
  <dcterms:created xsi:type="dcterms:W3CDTF">2017-12-27T09:41:03Z</dcterms:created>
  <dcterms:modified xsi:type="dcterms:W3CDTF">2018-06-12T06:39:03Z</dcterms:modified>
</cp:coreProperties>
</file>