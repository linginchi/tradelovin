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5" r:id="rId2"/>
    <p:sldId id="269" r:id="rId3"/>
    <p:sldId id="356" r:id="rId4"/>
    <p:sldId id="357" r:id="rId5"/>
    <p:sldId id="271" r:id="rId6"/>
    <p:sldId id="358" r:id="rId7"/>
    <p:sldId id="273" r:id="rId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1pPr>
    <a:lvl2pPr marL="0" marR="0" indent="2286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2pPr>
    <a:lvl3pPr marL="0" marR="0" indent="4572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3pPr>
    <a:lvl4pPr marL="0" marR="0" indent="6858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4pPr>
    <a:lvl5pPr marL="0" marR="0" indent="9144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5pPr>
    <a:lvl6pPr marL="0" marR="0" indent="11430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6pPr>
    <a:lvl7pPr marL="0" marR="0" indent="13716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7pPr>
    <a:lvl8pPr marL="0" marR="0" indent="16002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8pPr>
    <a:lvl9pPr marL="0" marR="0" indent="1828800" algn="ctr" defTabSz="41076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2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Arial Black"/>
        <a:ea typeface="Arial Black"/>
        <a:cs typeface="Arial Black"/>
        <a:sym typeface="Arial Blac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344"/>
    <a:srgbClr val="F2F2F2"/>
    <a:srgbClr val="BCBDBC"/>
    <a:srgbClr val="F7F7F7"/>
    <a:srgbClr val="A0A0A0"/>
    <a:srgbClr val="9B1F25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3175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noFill/>
              <a:miter lim="400000"/>
            </a:ln>
          </a:bottom>
          <a:insideH>
            <a:ln w="3175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B8B8B8"/>
              </a:solidFill>
              <a:prstDash val="solid"/>
              <a:miter lim="400000"/>
            </a:ln>
          </a:left>
          <a:right>
            <a:ln w="3175" cap="flat">
              <a:solidFill>
                <a:srgbClr val="B8B8B8"/>
              </a:solidFill>
              <a:prstDash val="solid"/>
              <a:miter lim="400000"/>
            </a:ln>
          </a:right>
          <a:top>
            <a:ln w="3175" cap="flat">
              <a:solidFill>
                <a:srgbClr val="B8B8B8"/>
              </a:solidFill>
              <a:prstDash val="solid"/>
              <a:miter lim="400000"/>
            </a:ln>
          </a:top>
          <a:bottom>
            <a:ln w="3175" cap="flat">
              <a:solidFill>
                <a:srgbClr val="B8B8B8"/>
              </a:solidFill>
              <a:prstDash val="solid"/>
              <a:miter lim="400000"/>
            </a:ln>
          </a:bottom>
          <a:insideH>
            <a:ln w="3175" cap="flat">
              <a:solidFill>
                <a:srgbClr val="B8B8B8"/>
              </a:solidFill>
              <a:prstDash val="solid"/>
              <a:miter lim="400000"/>
            </a:ln>
          </a:insideH>
          <a:insideV>
            <a:ln w="3175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606060"/>
              </a:solidFill>
              <a:prstDash val="solid"/>
              <a:miter lim="400000"/>
            </a:ln>
          </a:left>
          <a:right>
            <a:ln w="3175" cap="flat">
              <a:solidFill>
                <a:srgbClr val="606060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606060"/>
              </a:solidFill>
              <a:prstDash val="solid"/>
              <a:miter lim="400000"/>
            </a:ln>
          </a:insideH>
          <a:insideV>
            <a:ln w="3175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929292"/>
              </a:solidFill>
              <a:prstDash val="solid"/>
              <a:miter lim="400000"/>
            </a:ln>
          </a:left>
          <a:right>
            <a:ln w="3175" cap="flat">
              <a:solidFill>
                <a:srgbClr val="929292"/>
              </a:solidFill>
              <a:prstDash val="solid"/>
              <a:miter lim="400000"/>
            </a:ln>
          </a:right>
          <a:top>
            <a:ln w="3175" cap="flat">
              <a:solidFill>
                <a:srgbClr val="606060"/>
              </a:solidFill>
              <a:prstDash val="solid"/>
              <a:miter lim="400000"/>
            </a:ln>
          </a:top>
          <a:bottom>
            <a:ln w="3175" cap="flat">
              <a:solidFill>
                <a:srgbClr val="606060"/>
              </a:solidFill>
              <a:prstDash val="solid"/>
              <a:miter lim="400000"/>
            </a:ln>
          </a:bottom>
          <a:insideH>
            <a:ln w="3175" cap="flat">
              <a:solidFill>
                <a:srgbClr val="929292"/>
              </a:solidFill>
              <a:prstDash val="solid"/>
              <a:miter lim="400000"/>
            </a:ln>
          </a:insideH>
          <a:insideV>
            <a:ln w="3175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D5D5D"/>
              </a:solidFill>
              <a:prstDash val="solid"/>
              <a:miter lim="400000"/>
            </a:ln>
          </a:left>
          <a:right>
            <a:ln w="3175" cap="flat">
              <a:solidFill>
                <a:srgbClr val="5D5D5D"/>
              </a:solidFill>
              <a:prstDash val="solid"/>
              <a:miter lim="400000"/>
            </a:ln>
          </a:right>
          <a:top>
            <a:ln w="3175" cap="flat">
              <a:solidFill>
                <a:srgbClr val="5D5D5D"/>
              </a:solidFill>
              <a:prstDash val="solid"/>
              <a:miter lim="400000"/>
            </a:ln>
          </a:top>
          <a:bottom>
            <a:ln w="3175" cap="flat">
              <a:solidFill>
                <a:srgbClr val="5D5D5D"/>
              </a:solidFill>
              <a:prstDash val="solid"/>
              <a:miter lim="400000"/>
            </a:ln>
          </a:bottom>
          <a:insideH>
            <a:ln w="3175" cap="flat">
              <a:solidFill>
                <a:srgbClr val="5D5D5D"/>
              </a:solidFill>
              <a:prstDash val="solid"/>
              <a:miter lim="400000"/>
            </a:ln>
          </a:insideH>
          <a:insideV>
            <a:ln w="3175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A6AAA9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3175" cap="flat">
              <a:solidFill>
                <a:srgbClr val="FFFFFF"/>
              </a:solidFill>
              <a:prstDash val="solid"/>
              <a:miter lim="400000"/>
            </a:ln>
          </a:left>
          <a:right>
            <a:ln w="3175" cap="flat">
              <a:solidFill>
                <a:srgbClr val="FFFFFF"/>
              </a:solidFill>
              <a:prstDash val="solid"/>
              <a:miter lim="400000"/>
            </a:ln>
          </a:right>
          <a:top>
            <a:ln w="3175" cap="flat">
              <a:solidFill>
                <a:srgbClr val="FFFFFF"/>
              </a:solidFill>
              <a:prstDash val="solid"/>
              <a:miter lim="400000"/>
            </a:ln>
          </a:top>
          <a:bottom>
            <a:ln w="3175" cap="flat">
              <a:solidFill>
                <a:srgbClr val="FFFFFF"/>
              </a:solidFill>
              <a:prstDash val="solid"/>
              <a:miter lim="400000"/>
            </a:ln>
          </a:bottom>
          <a:insideH>
            <a:ln w="3175" cap="flat">
              <a:solidFill>
                <a:srgbClr val="FFFFFF"/>
              </a:solidFill>
              <a:prstDash val="solid"/>
              <a:miter lim="400000"/>
            </a:ln>
          </a:insideH>
          <a:insideV>
            <a:ln w="3175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1" autoAdjust="0"/>
    <p:restoredTop sz="95028" autoAdjust="0"/>
  </p:normalViewPr>
  <p:slideViewPr>
    <p:cSldViewPr snapToGrid="0">
      <p:cViewPr>
        <p:scale>
          <a:sx n="124" d="100"/>
          <a:sy n="124" d="100"/>
        </p:scale>
        <p:origin x="32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32D987-D20C-9249-B3AF-DD60DE7F0E03}" type="doc">
      <dgm:prSet loTypeId="urn:microsoft.com/office/officeart/2005/8/layout/hierarchy3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2C1893DD-E56E-D34D-A5FA-38828914AEF9}">
      <dgm:prSet phldrT="[Text]"/>
      <dgm:spPr/>
      <dgm:t>
        <a:bodyPr/>
        <a:lstStyle/>
        <a:p>
          <a:r>
            <a:rPr lang="zh-CN" altLang="en-US" dirty="0" smtClean="0"/>
            <a:t>准入模型</a:t>
          </a:r>
          <a:endParaRPr lang="en-US" dirty="0"/>
        </a:p>
      </dgm:t>
    </dgm:pt>
    <dgm:pt modelId="{06E0ABDA-FD2D-BE4A-83E5-D07038368025}" type="parTrans" cxnId="{2C32F030-5CD4-4348-8C8E-4F2D676755A1}">
      <dgm:prSet/>
      <dgm:spPr/>
      <dgm:t>
        <a:bodyPr/>
        <a:lstStyle/>
        <a:p>
          <a:endParaRPr lang="en-US"/>
        </a:p>
      </dgm:t>
    </dgm:pt>
    <dgm:pt modelId="{11909144-BCA0-8146-B349-E0BF8C7F31C2}" type="sibTrans" cxnId="{2C32F030-5CD4-4348-8C8E-4F2D676755A1}">
      <dgm:prSet/>
      <dgm:spPr/>
      <dgm:t>
        <a:bodyPr/>
        <a:lstStyle/>
        <a:p>
          <a:endParaRPr lang="en-US"/>
        </a:p>
      </dgm:t>
    </dgm:pt>
    <dgm:pt modelId="{3BD6F3A1-0FEF-9047-A25A-DA34E45169CB}">
      <dgm:prSet phldrT="[Text]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线下为主</a:t>
          </a:r>
          <a:endParaRPr lang="en-US" altLang="zh-CN" dirty="0" smtClean="0"/>
        </a:p>
        <a:p>
          <a:r>
            <a:rPr lang="zh-CN" altLang="en-US" dirty="0" smtClean="0"/>
            <a:t>流程较长</a:t>
          </a:r>
          <a:endParaRPr lang="en-US" dirty="0"/>
        </a:p>
      </dgm:t>
    </dgm:pt>
    <dgm:pt modelId="{F1C330E5-7642-3748-91A5-6AFE196E0E64}" type="parTrans" cxnId="{E2769203-2F6B-8741-B7FD-DD7EE1B04A40}">
      <dgm:prSet/>
      <dgm:spPr/>
      <dgm:t>
        <a:bodyPr/>
        <a:lstStyle/>
        <a:p>
          <a:endParaRPr lang="en-US"/>
        </a:p>
      </dgm:t>
    </dgm:pt>
    <dgm:pt modelId="{8FA42CFD-484A-D847-979D-8107E6C06B26}" type="sibTrans" cxnId="{E2769203-2F6B-8741-B7FD-DD7EE1B04A40}">
      <dgm:prSet/>
      <dgm:spPr/>
      <dgm:t>
        <a:bodyPr/>
        <a:lstStyle/>
        <a:p>
          <a:endParaRPr lang="en-US"/>
        </a:p>
      </dgm:t>
    </dgm:pt>
    <dgm:pt modelId="{41F91A12-FD34-AD48-8D75-76D51D4131AC}">
      <dgm:prSet phldrT="[Text]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线上为主</a:t>
          </a:r>
          <a:endParaRPr lang="en-US" altLang="zh-CN" dirty="0" smtClean="0"/>
        </a:p>
        <a:p>
          <a:r>
            <a:rPr lang="zh-CN" altLang="en-US" dirty="0" smtClean="0"/>
            <a:t>快速审批</a:t>
          </a:r>
          <a:endParaRPr lang="en-US" dirty="0"/>
        </a:p>
      </dgm:t>
    </dgm:pt>
    <dgm:pt modelId="{B2A16ED4-761A-1F49-8D7B-EF13A369DA15}" type="parTrans" cxnId="{5D86D604-BC80-6D46-B608-DCC4E3B58EDC}">
      <dgm:prSet/>
      <dgm:spPr/>
      <dgm:t>
        <a:bodyPr/>
        <a:lstStyle/>
        <a:p>
          <a:endParaRPr lang="en-US"/>
        </a:p>
      </dgm:t>
    </dgm:pt>
    <dgm:pt modelId="{ED33BCC7-67AC-D84E-8C2B-1C607DD75270}" type="sibTrans" cxnId="{5D86D604-BC80-6D46-B608-DCC4E3B58EDC}">
      <dgm:prSet/>
      <dgm:spPr/>
      <dgm:t>
        <a:bodyPr/>
        <a:lstStyle/>
        <a:p>
          <a:endParaRPr lang="en-US"/>
        </a:p>
      </dgm:t>
    </dgm:pt>
    <dgm:pt modelId="{D8834906-C248-5040-A00D-722084346EB1}">
      <dgm:prSet phldrT="[Text]"/>
      <dgm:spPr/>
      <dgm:t>
        <a:bodyPr/>
        <a:lstStyle/>
        <a:p>
          <a:r>
            <a:rPr lang="zh-CN" altLang="en-US" smtClean="0">
              <a:latin typeface="PingFang SC Light"/>
            </a:rPr>
            <a:t>初始授信额度模型</a:t>
          </a:r>
          <a:endParaRPr lang="en-US" dirty="0"/>
        </a:p>
      </dgm:t>
    </dgm:pt>
    <dgm:pt modelId="{50F6F9EC-0F5E-CF4A-8FB5-2EA1F5D1B362}" type="parTrans" cxnId="{8DDBEDB4-753E-F549-8174-CFF0AB7767D1}">
      <dgm:prSet/>
      <dgm:spPr/>
      <dgm:t>
        <a:bodyPr/>
        <a:lstStyle/>
        <a:p>
          <a:endParaRPr lang="en-US"/>
        </a:p>
      </dgm:t>
    </dgm:pt>
    <dgm:pt modelId="{7E4AA6FF-A9F3-5C43-A038-AADEC876C118}" type="sibTrans" cxnId="{8DDBEDB4-753E-F549-8174-CFF0AB7767D1}">
      <dgm:prSet/>
      <dgm:spPr/>
      <dgm:t>
        <a:bodyPr/>
        <a:lstStyle/>
        <a:p>
          <a:endParaRPr lang="en-US"/>
        </a:p>
      </dgm:t>
    </dgm:pt>
    <dgm:pt modelId="{8AA9458D-AE47-E945-874F-5E185F743924}">
      <dgm:prSet phldrT="[Text]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人工经验</a:t>
          </a:r>
          <a:endParaRPr lang="en-US" altLang="zh-CN" dirty="0" smtClean="0"/>
        </a:p>
        <a:p>
          <a:r>
            <a:rPr lang="zh-CN" altLang="en-US" dirty="0" smtClean="0"/>
            <a:t>有限参考</a:t>
          </a:r>
          <a:endParaRPr lang="en-US" dirty="0"/>
        </a:p>
      </dgm:t>
    </dgm:pt>
    <dgm:pt modelId="{836FC46D-481C-F74E-BAB0-B67AA694D836}" type="parTrans" cxnId="{0498FC05-5DD1-5E4B-A745-7C2EADA8B3AA}">
      <dgm:prSet/>
      <dgm:spPr/>
      <dgm:t>
        <a:bodyPr/>
        <a:lstStyle/>
        <a:p>
          <a:endParaRPr lang="en-US"/>
        </a:p>
      </dgm:t>
    </dgm:pt>
    <dgm:pt modelId="{7A0737E5-BCDC-3946-8A36-6ADD1D5E1F72}" type="sibTrans" cxnId="{0498FC05-5DD1-5E4B-A745-7C2EADA8B3AA}">
      <dgm:prSet/>
      <dgm:spPr/>
      <dgm:t>
        <a:bodyPr/>
        <a:lstStyle/>
        <a:p>
          <a:endParaRPr lang="en-US"/>
        </a:p>
      </dgm:t>
    </dgm:pt>
    <dgm:pt modelId="{667EBDAD-2094-2E4B-A891-871CF48A9B0A}">
      <dgm:prSet phldrT="[Text]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多维特征</a:t>
          </a:r>
          <a:endParaRPr lang="en-US" altLang="zh-CN" dirty="0" smtClean="0"/>
        </a:p>
        <a:p>
          <a:r>
            <a:rPr lang="zh-CN" altLang="en-US" dirty="0" smtClean="0"/>
            <a:t>快速放贷</a:t>
          </a:r>
          <a:endParaRPr lang="en-US" dirty="0"/>
        </a:p>
      </dgm:t>
    </dgm:pt>
    <dgm:pt modelId="{5D8E56D2-B870-A149-B45D-D41E4726C947}" type="parTrans" cxnId="{53C9B968-5B6A-FF45-A60E-8D7642C7FA79}">
      <dgm:prSet/>
      <dgm:spPr/>
      <dgm:t>
        <a:bodyPr/>
        <a:lstStyle/>
        <a:p>
          <a:endParaRPr lang="en-US"/>
        </a:p>
      </dgm:t>
    </dgm:pt>
    <dgm:pt modelId="{00F47559-9751-1F40-9727-0B64E359D22E}" type="sibTrans" cxnId="{53C9B968-5B6A-FF45-A60E-8D7642C7FA79}">
      <dgm:prSet/>
      <dgm:spPr/>
      <dgm:t>
        <a:bodyPr/>
        <a:lstStyle/>
        <a:p>
          <a:endParaRPr lang="en-US"/>
        </a:p>
      </dgm:t>
    </dgm:pt>
    <dgm:pt modelId="{B52E87D9-8E21-2C45-BE85-56B12CA908F1}">
      <dgm:prSet phldrT="[Text]"/>
      <dgm:spPr/>
      <dgm:t>
        <a:bodyPr/>
        <a:lstStyle/>
        <a:p>
          <a:r>
            <a:rPr lang="zh-CN" altLang="en-US" smtClean="0">
              <a:latin typeface="PingFang SC Light"/>
            </a:rPr>
            <a:t>存量客户收益模型</a:t>
          </a:r>
          <a:endParaRPr lang="en-US" dirty="0"/>
        </a:p>
      </dgm:t>
    </dgm:pt>
    <dgm:pt modelId="{1548F432-C497-6847-B778-1E0A6E3256C6}" type="parTrans" cxnId="{DE617248-26AD-5D4E-A146-2EBADF0A3838}">
      <dgm:prSet/>
      <dgm:spPr/>
      <dgm:t>
        <a:bodyPr/>
        <a:lstStyle/>
        <a:p>
          <a:endParaRPr lang="en-US"/>
        </a:p>
      </dgm:t>
    </dgm:pt>
    <dgm:pt modelId="{D99C40F3-F006-0545-A20E-FD377DA7124F}" type="sibTrans" cxnId="{DE617248-26AD-5D4E-A146-2EBADF0A3838}">
      <dgm:prSet/>
      <dgm:spPr/>
      <dgm:t>
        <a:bodyPr/>
        <a:lstStyle/>
        <a:p>
          <a:endParaRPr lang="en-US"/>
        </a:p>
      </dgm:t>
    </dgm:pt>
    <dgm:pt modelId="{6D575660-F74E-BF43-A9D3-962EAFD72D6A}">
      <dgm:prSet phldrT="[Text]"/>
      <dgm:spPr/>
      <dgm:t>
        <a:bodyPr/>
        <a:lstStyle/>
        <a:p>
          <a:r>
            <a:rPr lang="zh-CN" altLang="en-US" smtClean="0">
              <a:latin typeface="PingFang SC Light"/>
            </a:rPr>
            <a:t>新客户估价模型</a:t>
          </a:r>
          <a:endParaRPr lang="en-US" dirty="0"/>
        </a:p>
      </dgm:t>
    </dgm:pt>
    <dgm:pt modelId="{5964609E-AF6A-724A-98CA-C55E9AFEF46B}" type="parTrans" cxnId="{A550BF57-0492-224E-ABD3-42CC3E936138}">
      <dgm:prSet/>
      <dgm:spPr/>
      <dgm:t>
        <a:bodyPr/>
        <a:lstStyle/>
        <a:p>
          <a:endParaRPr lang="en-US"/>
        </a:p>
      </dgm:t>
    </dgm:pt>
    <dgm:pt modelId="{1251C5DB-48AC-B145-B946-ACA47743A2F8}" type="sibTrans" cxnId="{A550BF57-0492-224E-ABD3-42CC3E936138}">
      <dgm:prSet/>
      <dgm:spPr/>
      <dgm:t>
        <a:bodyPr/>
        <a:lstStyle/>
        <a:p>
          <a:endParaRPr lang="en-US"/>
        </a:p>
      </dgm:t>
    </dgm:pt>
    <dgm:pt modelId="{21EB6C75-1F29-3340-9D43-6E8DF3215C64}">
      <dgm:prSet phldrT="[Text]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传统经验</a:t>
          </a:r>
          <a:endParaRPr lang="en-US" altLang="zh-CN" dirty="0" smtClean="0"/>
        </a:p>
        <a:p>
          <a:r>
            <a:rPr lang="zh-CN" altLang="en-US" dirty="0" smtClean="0"/>
            <a:t>缺乏细分</a:t>
          </a:r>
          <a:endParaRPr lang="en-US" dirty="0"/>
        </a:p>
      </dgm:t>
    </dgm:pt>
    <dgm:pt modelId="{8D4937FB-7199-3841-B9E9-9490000BD72C}" type="parTrans" cxnId="{63F51747-733D-094F-BC29-29A100B07192}">
      <dgm:prSet/>
      <dgm:spPr/>
      <dgm:t>
        <a:bodyPr/>
        <a:lstStyle/>
        <a:p>
          <a:endParaRPr lang="en-US"/>
        </a:p>
      </dgm:t>
    </dgm:pt>
    <dgm:pt modelId="{0396ED8D-84EC-C84C-9257-58FE87C70E8D}" type="sibTrans" cxnId="{63F51747-733D-094F-BC29-29A100B07192}">
      <dgm:prSet/>
      <dgm:spPr/>
      <dgm:t>
        <a:bodyPr/>
        <a:lstStyle/>
        <a:p>
          <a:endParaRPr lang="en-US"/>
        </a:p>
      </dgm:t>
    </dgm:pt>
    <dgm:pt modelId="{9586343B-58C5-F947-B9D9-4C9E4E88C8E3}">
      <dgm:prSet phldrT="[Text]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消费还款</a:t>
          </a:r>
          <a:endParaRPr lang="en-US" altLang="zh-CN" dirty="0" smtClean="0"/>
        </a:p>
        <a:p>
          <a:r>
            <a:rPr lang="zh-CN" altLang="en-US" dirty="0" smtClean="0"/>
            <a:t>预估价值</a:t>
          </a:r>
          <a:endParaRPr lang="en-US" dirty="0"/>
        </a:p>
      </dgm:t>
    </dgm:pt>
    <dgm:pt modelId="{5B28ED55-2D05-EB45-8E78-5BA82CFE6104}" type="parTrans" cxnId="{E38591D5-6D32-554C-B524-14211CFEBA25}">
      <dgm:prSet/>
      <dgm:spPr/>
      <dgm:t>
        <a:bodyPr/>
        <a:lstStyle/>
        <a:p>
          <a:endParaRPr lang="en-US"/>
        </a:p>
      </dgm:t>
    </dgm:pt>
    <dgm:pt modelId="{4D62D470-8F26-1148-B1F4-2C885404CE64}" type="sibTrans" cxnId="{E38591D5-6D32-554C-B524-14211CFEBA25}">
      <dgm:prSet/>
      <dgm:spPr/>
      <dgm:t>
        <a:bodyPr/>
        <a:lstStyle/>
        <a:p>
          <a:endParaRPr lang="en-US"/>
        </a:p>
      </dgm:t>
    </dgm:pt>
    <dgm:pt modelId="{085A7D33-5609-F347-99CD-9308F39BC429}">
      <dgm:prSet phldrT="[Text]"/>
      <dgm:spPr/>
      <dgm:t>
        <a:bodyPr/>
        <a:lstStyle/>
        <a:p>
          <a:r>
            <a:rPr lang="zh-CN" altLang="en-US" smtClean="0">
              <a:latin typeface="PingFang SC Light"/>
            </a:rPr>
            <a:t>贷后额度管理模型</a:t>
          </a:r>
          <a:endParaRPr lang="en-US" dirty="0"/>
        </a:p>
      </dgm:t>
    </dgm:pt>
    <dgm:pt modelId="{B0FA65F2-0089-834E-8165-CD260281690C}" type="parTrans" cxnId="{AF742CD2-8C0F-1347-82B8-989F353C9D9E}">
      <dgm:prSet/>
      <dgm:spPr/>
      <dgm:t>
        <a:bodyPr/>
        <a:lstStyle/>
        <a:p>
          <a:endParaRPr lang="en-US"/>
        </a:p>
      </dgm:t>
    </dgm:pt>
    <dgm:pt modelId="{EDC64140-A9AD-C54E-ABE6-F4771E75F831}" type="sibTrans" cxnId="{AF742CD2-8C0F-1347-82B8-989F353C9D9E}">
      <dgm:prSet/>
      <dgm:spPr/>
      <dgm:t>
        <a:bodyPr/>
        <a:lstStyle/>
        <a:p>
          <a:endParaRPr lang="en-US"/>
        </a:p>
      </dgm:t>
    </dgm:pt>
    <dgm:pt modelId="{DB510ED0-1C2E-6E40-93EA-A2E6EFEFD5B9}">
      <dgm:prSet phldrT="[Text]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固定额度</a:t>
          </a:r>
          <a:endParaRPr lang="en-US" altLang="zh-CN" dirty="0" smtClean="0"/>
        </a:p>
        <a:p>
          <a:r>
            <a:rPr lang="zh-CN" altLang="en-US" dirty="0" smtClean="0"/>
            <a:t>被动调整</a:t>
          </a:r>
          <a:endParaRPr lang="en-US" dirty="0"/>
        </a:p>
      </dgm:t>
    </dgm:pt>
    <dgm:pt modelId="{A1493C49-22E4-A741-A173-3F5D77D0A2A9}" type="parTrans" cxnId="{76EDDDE9-DBB2-4641-B914-E2CBE3520D33}">
      <dgm:prSet/>
      <dgm:spPr/>
      <dgm:t>
        <a:bodyPr/>
        <a:lstStyle/>
        <a:p>
          <a:endParaRPr lang="en-US"/>
        </a:p>
      </dgm:t>
    </dgm:pt>
    <dgm:pt modelId="{843C10C7-D970-9144-85B1-ADE564868E6B}" type="sibTrans" cxnId="{76EDDDE9-DBB2-4641-B914-E2CBE3520D33}">
      <dgm:prSet/>
      <dgm:spPr/>
      <dgm:t>
        <a:bodyPr/>
        <a:lstStyle/>
        <a:p>
          <a:endParaRPr lang="en-US"/>
        </a:p>
      </dgm:t>
    </dgm:pt>
    <dgm:pt modelId="{ECFACE8A-D0AB-B046-A274-C81B2EA72775}">
      <dgm:prSet phldrT="[Text]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发掘潜力</a:t>
          </a:r>
          <a:endParaRPr lang="en-US" altLang="zh-CN" dirty="0" smtClean="0"/>
        </a:p>
        <a:p>
          <a:r>
            <a:rPr lang="zh-CN" altLang="en-US" dirty="0" smtClean="0"/>
            <a:t>主动调整</a:t>
          </a:r>
          <a:endParaRPr lang="en-US" dirty="0"/>
        </a:p>
      </dgm:t>
    </dgm:pt>
    <dgm:pt modelId="{A0FEAE3D-2303-A942-9912-548C35444945}" type="parTrans" cxnId="{250385B2-1BD8-2247-B8C4-04F5B93AC55B}">
      <dgm:prSet/>
      <dgm:spPr/>
      <dgm:t>
        <a:bodyPr/>
        <a:lstStyle/>
        <a:p>
          <a:endParaRPr lang="en-US"/>
        </a:p>
      </dgm:t>
    </dgm:pt>
    <dgm:pt modelId="{70C4D7B7-8460-0745-B4F7-8AB05C695FEB}" type="sibTrans" cxnId="{250385B2-1BD8-2247-B8C4-04F5B93AC55B}">
      <dgm:prSet/>
      <dgm:spPr/>
      <dgm:t>
        <a:bodyPr/>
        <a:lstStyle/>
        <a:p>
          <a:endParaRPr lang="en-US"/>
        </a:p>
      </dgm:t>
    </dgm:pt>
    <dgm:pt modelId="{35ED5F24-E76D-8644-A7F3-64AE0B4471C1}">
      <dgm:prSet phldrT="[Text]"/>
      <dgm:spPr/>
      <dgm:t>
        <a:bodyPr/>
        <a:lstStyle/>
        <a:p>
          <a:r>
            <a:rPr lang="zh-CN" altLang="en-US" smtClean="0">
              <a:latin typeface="PingFang SC Light"/>
            </a:rPr>
            <a:t>贷后风险管理模型</a:t>
          </a:r>
          <a:endParaRPr lang="en-US" dirty="0"/>
        </a:p>
      </dgm:t>
    </dgm:pt>
    <dgm:pt modelId="{041B6956-3BEC-A748-BEBC-9EF3D121A981}" type="parTrans" cxnId="{FD55A696-87BE-DF44-B1E9-6B295D36DF7C}">
      <dgm:prSet/>
      <dgm:spPr/>
      <dgm:t>
        <a:bodyPr/>
        <a:lstStyle/>
        <a:p>
          <a:endParaRPr lang="en-US"/>
        </a:p>
      </dgm:t>
    </dgm:pt>
    <dgm:pt modelId="{B8F6D245-F4A1-BF49-B083-BA2BC0EC8CC2}" type="sibTrans" cxnId="{FD55A696-87BE-DF44-B1E9-6B295D36DF7C}">
      <dgm:prSet/>
      <dgm:spPr/>
      <dgm:t>
        <a:bodyPr/>
        <a:lstStyle/>
        <a:p>
          <a:endParaRPr lang="en-US"/>
        </a:p>
      </dgm:t>
    </dgm:pt>
    <dgm:pt modelId="{E7057B63-14ED-7144-B8D7-31E6A7878AB7}">
      <dgm:prSet phldrT="[Text]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行为挖掘</a:t>
          </a:r>
          <a:endParaRPr lang="en-US" altLang="zh-CN" dirty="0" smtClean="0"/>
        </a:p>
        <a:p>
          <a:r>
            <a:rPr lang="zh-CN" altLang="en-US" dirty="0" smtClean="0"/>
            <a:t>盘活用户</a:t>
          </a:r>
          <a:endParaRPr lang="en-US" dirty="0"/>
        </a:p>
      </dgm:t>
    </dgm:pt>
    <dgm:pt modelId="{7AF0E521-0140-1D4E-8F41-583EEF075E48}" type="parTrans" cxnId="{ECA0F360-E2B1-5F4C-A5E2-11176FEF155E}">
      <dgm:prSet/>
      <dgm:spPr/>
      <dgm:t>
        <a:bodyPr/>
        <a:lstStyle/>
        <a:p>
          <a:endParaRPr lang="en-US"/>
        </a:p>
      </dgm:t>
    </dgm:pt>
    <dgm:pt modelId="{13FAB976-C719-5246-B96A-71C7E1B53F9A}" type="sibTrans" cxnId="{ECA0F360-E2B1-5F4C-A5E2-11176FEF155E}">
      <dgm:prSet/>
      <dgm:spPr/>
      <dgm:t>
        <a:bodyPr/>
        <a:lstStyle/>
        <a:p>
          <a:endParaRPr lang="en-US"/>
        </a:p>
      </dgm:t>
    </dgm:pt>
    <dgm:pt modelId="{ECEAD47D-D5FE-9B41-A306-8980DED47DF5}">
      <dgm:prSet phldrT="[Text]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随机访问</a:t>
          </a:r>
          <a:endParaRPr lang="en-US" altLang="zh-CN" dirty="0" smtClean="0"/>
        </a:p>
        <a:p>
          <a:r>
            <a:rPr lang="zh-CN" altLang="en-US" dirty="0" smtClean="0"/>
            <a:t>响应率低</a:t>
          </a:r>
          <a:endParaRPr lang="en-US" dirty="0"/>
        </a:p>
      </dgm:t>
    </dgm:pt>
    <dgm:pt modelId="{46376D37-2EEF-1644-8B15-E56B748FB168}" type="parTrans" cxnId="{153A28DD-BED6-2648-99C7-026A2920FF1B}">
      <dgm:prSet/>
      <dgm:spPr/>
      <dgm:t>
        <a:bodyPr/>
        <a:lstStyle/>
        <a:p>
          <a:endParaRPr lang="en-US"/>
        </a:p>
      </dgm:t>
    </dgm:pt>
    <dgm:pt modelId="{0B0B60E7-098A-B146-B1DA-7859D85FA2BE}" type="sibTrans" cxnId="{153A28DD-BED6-2648-99C7-026A2920FF1B}">
      <dgm:prSet/>
      <dgm:spPr/>
      <dgm:t>
        <a:bodyPr/>
        <a:lstStyle/>
        <a:p>
          <a:endParaRPr lang="en-US"/>
        </a:p>
      </dgm:t>
    </dgm:pt>
    <dgm:pt modelId="{C91112A6-5C68-0948-9E38-F821A1733400}">
      <dgm:prSet phldrT="[Text]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数据追踪</a:t>
          </a:r>
          <a:endParaRPr lang="en-US" altLang="zh-CN" dirty="0" smtClean="0"/>
        </a:p>
        <a:p>
          <a:r>
            <a:rPr lang="zh-CN" altLang="en-US" dirty="0" smtClean="0"/>
            <a:t>预警风险</a:t>
          </a:r>
          <a:endParaRPr lang="en-US" dirty="0"/>
        </a:p>
      </dgm:t>
    </dgm:pt>
    <dgm:pt modelId="{D8300932-1253-224B-B5C9-700B4576A9BA}" type="parTrans" cxnId="{1D0FC0C4-93FC-E240-83A0-36E0879E0DAD}">
      <dgm:prSet/>
      <dgm:spPr/>
      <dgm:t>
        <a:bodyPr/>
        <a:lstStyle/>
        <a:p>
          <a:endParaRPr lang="en-US"/>
        </a:p>
      </dgm:t>
    </dgm:pt>
    <dgm:pt modelId="{F1734376-1ECC-FA4A-B85B-7315000891DD}" type="sibTrans" cxnId="{1D0FC0C4-93FC-E240-83A0-36E0879E0DAD}">
      <dgm:prSet/>
      <dgm:spPr/>
      <dgm:t>
        <a:bodyPr/>
        <a:lstStyle/>
        <a:p>
          <a:endParaRPr lang="en-US"/>
        </a:p>
      </dgm:t>
    </dgm:pt>
    <dgm:pt modelId="{75F22857-41E5-B747-B5A1-2BA8D1872FBE}">
      <dgm:prSet phldrT="[Text]"/>
      <dgm:spPr>
        <a:solidFill>
          <a:schemeClr val="accent5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zh-CN" altLang="en-US" dirty="0" smtClean="0"/>
            <a:t>规则为主</a:t>
          </a:r>
          <a:endParaRPr lang="en-US" altLang="zh-CN" dirty="0" smtClean="0"/>
        </a:p>
        <a:p>
          <a:r>
            <a:rPr lang="zh-CN" altLang="en-US" dirty="0" smtClean="0"/>
            <a:t>常有漏网</a:t>
          </a:r>
          <a:endParaRPr lang="en-US" dirty="0"/>
        </a:p>
      </dgm:t>
    </dgm:pt>
    <dgm:pt modelId="{4A1B23BF-3FA5-5B48-9FE4-B8AA32AD6A46}" type="parTrans" cxnId="{7D4BE591-1AED-A542-840C-2A0F14D6BD6C}">
      <dgm:prSet/>
      <dgm:spPr/>
      <dgm:t>
        <a:bodyPr/>
        <a:lstStyle/>
        <a:p>
          <a:endParaRPr lang="en-US"/>
        </a:p>
      </dgm:t>
    </dgm:pt>
    <dgm:pt modelId="{6C89093E-24A4-3642-8D76-DEC7AFE4AC11}" type="sibTrans" cxnId="{7D4BE591-1AED-A542-840C-2A0F14D6BD6C}">
      <dgm:prSet/>
      <dgm:spPr/>
      <dgm:t>
        <a:bodyPr/>
        <a:lstStyle/>
        <a:p>
          <a:endParaRPr lang="en-US"/>
        </a:p>
      </dgm:t>
    </dgm:pt>
    <dgm:pt modelId="{EA010E42-F1D7-844D-A4BC-3BD68B6A1370}" type="pres">
      <dgm:prSet presAssocID="{C232D987-D20C-9249-B3AF-DD60DE7F0E0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5CE84D-1CB9-8B45-A60D-7173FD28818E}" type="pres">
      <dgm:prSet presAssocID="{2C1893DD-E56E-D34D-A5FA-38828914AEF9}" presName="root" presStyleCnt="0"/>
      <dgm:spPr/>
    </dgm:pt>
    <dgm:pt modelId="{F96F1BFE-6A03-294B-A8D6-ADC084CB8FE2}" type="pres">
      <dgm:prSet presAssocID="{2C1893DD-E56E-D34D-A5FA-38828914AEF9}" presName="rootComposite" presStyleCnt="0"/>
      <dgm:spPr/>
    </dgm:pt>
    <dgm:pt modelId="{838F93B4-5A55-DD4A-8D42-EC865E210762}" type="pres">
      <dgm:prSet presAssocID="{2C1893DD-E56E-D34D-A5FA-38828914AEF9}" presName="rootText" presStyleLbl="node1" presStyleIdx="0" presStyleCnt="6" custLinFactY="-13641" custLinFactNeighborX="17641" custLinFactNeighborY="-100000"/>
      <dgm:spPr/>
    </dgm:pt>
    <dgm:pt modelId="{CC3B4FA0-C3C5-9148-A762-0A94CA0EF07D}" type="pres">
      <dgm:prSet presAssocID="{2C1893DD-E56E-D34D-A5FA-38828914AEF9}" presName="rootConnector" presStyleLbl="node1" presStyleIdx="0" presStyleCnt="6"/>
      <dgm:spPr/>
    </dgm:pt>
    <dgm:pt modelId="{C5D48515-701B-7A43-9E62-A9C0B6112F64}" type="pres">
      <dgm:prSet presAssocID="{2C1893DD-E56E-D34D-A5FA-38828914AEF9}" presName="childShape" presStyleCnt="0"/>
      <dgm:spPr/>
    </dgm:pt>
    <dgm:pt modelId="{9BFAF468-2FC0-8149-8BD8-16682673CEC4}" type="pres">
      <dgm:prSet presAssocID="{F1C330E5-7642-3748-91A5-6AFE196E0E64}" presName="Name13" presStyleLbl="parChTrans1D2" presStyleIdx="0" presStyleCnt="12"/>
      <dgm:spPr/>
    </dgm:pt>
    <dgm:pt modelId="{1F65B41B-9ADE-1F48-BB7D-3ED8AF5E5945}" type="pres">
      <dgm:prSet presAssocID="{3BD6F3A1-0FEF-9047-A25A-DA34E45169CB}" presName="childText" presStyleLbl="bgAcc1" presStyleIdx="0" presStyleCnt="12" custLinFactY="-13641" custLinFactNeighborX="22051" custLinFactNeighborY="-100000">
        <dgm:presLayoutVars>
          <dgm:bulletEnabled val="1"/>
        </dgm:presLayoutVars>
      </dgm:prSet>
      <dgm:spPr/>
    </dgm:pt>
    <dgm:pt modelId="{5A313AB4-74A9-1E45-8DD2-6EA86D6D7CFA}" type="pres">
      <dgm:prSet presAssocID="{B2A16ED4-761A-1F49-8D7B-EF13A369DA15}" presName="Name13" presStyleLbl="parChTrans1D2" presStyleIdx="1" presStyleCnt="12"/>
      <dgm:spPr/>
    </dgm:pt>
    <dgm:pt modelId="{83D327C4-209F-FE4B-843C-9431E01BE1AF}" type="pres">
      <dgm:prSet presAssocID="{41F91A12-FD34-AD48-8D75-76D51D4131AC}" presName="childText" presStyleLbl="bgAcc1" presStyleIdx="1" presStyleCnt="12" custLinFactY="-13641" custLinFactNeighborX="22051" custLinFactNeighborY="-100000">
        <dgm:presLayoutVars>
          <dgm:bulletEnabled val="1"/>
        </dgm:presLayoutVars>
      </dgm:prSet>
      <dgm:spPr/>
    </dgm:pt>
    <dgm:pt modelId="{2BDFE6A1-9EFA-424E-8D45-E76921080039}" type="pres">
      <dgm:prSet presAssocID="{D8834906-C248-5040-A00D-722084346EB1}" presName="root" presStyleCnt="0"/>
      <dgm:spPr/>
    </dgm:pt>
    <dgm:pt modelId="{5C7C8975-C0EE-E84D-8CA8-1B8FD76E233E}" type="pres">
      <dgm:prSet presAssocID="{D8834906-C248-5040-A00D-722084346EB1}" presName="rootComposite" presStyleCnt="0"/>
      <dgm:spPr/>
    </dgm:pt>
    <dgm:pt modelId="{06300884-7CAD-0344-AA42-F99D1AE921B0}" type="pres">
      <dgm:prSet presAssocID="{D8834906-C248-5040-A00D-722084346EB1}" presName="rootText" presStyleLbl="node1" presStyleIdx="1" presStyleCnt="6" custLinFactY="-5653" custLinFactNeighborX="87618" custLinFactNeighborY="-100000"/>
      <dgm:spPr/>
      <dgm:t>
        <a:bodyPr/>
        <a:lstStyle/>
        <a:p>
          <a:endParaRPr lang="en-US"/>
        </a:p>
      </dgm:t>
    </dgm:pt>
    <dgm:pt modelId="{84E5EC63-79DE-CF4C-97EE-678C89E392F7}" type="pres">
      <dgm:prSet presAssocID="{D8834906-C248-5040-A00D-722084346EB1}" presName="rootConnector" presStyleLbl="node1" presStyleIdx="1" presStyleCnt="6"/>
      <dgm:spPr/>
    </dgm:pt>
    <dgm:pt modelId="{C7757CEB-6BB2-B145-97BA-1336096C1794}" type="pres">
      <dgm:prSet presAssocID="{D8834906-C248-5040-A00D-722084346EB1}" presName="childShape" presStyleCnt="0"/>
      <dgm:spPr/>
    </dgm:pt>
    <dgm:pt modelId="{ABB2CD52-E88A-EC4A-8AFF-49103BA2656B}" type="pres">
      <dgm:prSet presAssocID="{836FC46D-481C-F74E-BAB0-B67AA694D836}" presName="Name13" presStyleLbl="parChTrans1D2" presStyleIdx="2" presStyleCnt="12"/>
      <dgm:spPr/>
    </dgm:pt>
    <dgm:pt modelId="{793B03E0-E5B9-1748-A4F1-57108B9F3265}" type="pres">
      <dgm:prSet presAssocID="{8AA9458D-AE47-E945-874F-5E185F743924}" presName="childText" presStyleLbl="bgAcc1" presStyleIdx="2" presStyleCnt="12" custLinFactX="9522" custLinFactY="-5653" custLinFactNeighborX="100000" custLinFactNeighborY="-100000">
        <dgm:presLayoutVars>
          <dgm:bulletEnabled val="1"/>
        </dgm:presLayoutVars>
      </dgm:prSet>
      <dgm:spPr/>
    </dgm:pt>
    <dgm:pt modelId="{99773D79-FDAD-0141-9858-4E1AEFE79E4C}" type="pres">
      <dgm:prSet presAssocID="{5D8E56D2-B870-A149-B45D-D41E4726C947}" presName="Name13" presStyleLbl="parChTrans1D2" presStyleIdx="3" presStyleCnt="12"/>
      <dgm:spPr/>
    </dgm:pt>
    <dgm:pt modelId="{A8BCF408-4D28-1744-9D0F-DDAAD76B038B}" type="pres">
      <dgm:prSet presAssocID="{667EBDAD-2094-2E4B-A891-871CF48A9B0A}" presName="childText" presStyleLbl="bgAcc1" presStyleIdx="3" presStyleCnt="12" custLinFactX="9522" custLinFactY="-5653" custLinFactNeighborX="100000" custLinFactNeighborY="-100000">
        <dgm:presLayoutVars>
          <dgm:bulletEnabled val="1"/>
        </dgm:presLayoutVars>
      </dgm:prSet>
      <dgm:spPr/>
    </dgm:pt>
    <dgm:pt modelId="{9789A759-223D-A149-8085-D83C8022E166}" type="pres">
      <dgm:prSet presAssocID="{6D575660-F74E-BF43-A9D3-962EAFD72D6A}" presName="root" presStyleCnt="0"/>
      <dgm:spPr/>
    </dgm:pt>
    <dgm:pt modelId="{C9EB83E6-0298-9B4D-BA04-FCF962F92A60}" type="pres">
      <dgm:prSet presAssocID="{6D575660-F74E-BF43-A9D3-962EAFD72D6A}" presName="rootComposite" presStyleCnt="0"/>
      <dgm:spPr/>
    </dgm:pt>
    <dgm:pt modelId="{937DC8A8-401A-C54C-9D1C-5B9BFDDC531D}" type="pres">
      <dgm:prSet presAssocID="{6D575660-F74E-BF43-A9D3-962EAFD72D6A}" presName="rootText" presStyleLbl="node1" presStyleIdx="2" presStyleCnt="6" custLinFactX="58954" custLinFactY="-8594" custLinFactNeighborX="100000" custLinFactNeighborY="-100000"/>
      <dgm:spPr/>
      <dgm:t>
        <a:bodyPr/>
        <a:lstStyle/>
        <a:p>
          <a:endParaRPr lang="en-US"/>
        </a:p>
      </dgm:t>
    </dgm:pt>
    <dgm:pt modelId="{904B7212-7BCD-E34E-90FD-4744DF29D30D}" type="pres">
      <dgm:prSet presAssocID="{6D575660-F74E-BF43-A9D3-962EAFD72D6A}" presName="rootConnector" presStyleLbl="node1" presStyleIdx="2" presStyleCnt="6"/>
      <dgm:spPr/>
    </dgm:pt>
    <dgm:pt modelId="{91E0B136-2929-6A4A-BF34-E87F203C3FA6}" type="pres">
      <dgm:prSet presAssocID="{6D575660-F74E-BF43-A9D3-962EAFD72D6A}" presName="childShape" presStyleCnt="0"/>
      <dgm:spPr/>
    </dgm:pt>
    <dgm:pt modelId="{6660CF19-D45C-644E-948D-1A93D3D81BCA}" type="pres">
      <dgm:prSet presAssocID="{8D4937FB-7199-3841-B9E9-9490000BD72C}" presName="Name13" presStyleLbl="parChTrans1D2" presStyleIdx="4" presStyleCnt="12"/>
      <dgm:spPr/>
    </dgm:pt>
    <dgm:pt modelId="{4CE93792-D7F2-F747-A2AE-93A3BAA5139E}" type="pres">
      <dgm:prSet presAssocID="{21EB6C75-1F29-3340-9D43-6E8DF3215C64}" presName="childText" presStyleLbl="bgAcc1" presStyleIdx="4" presStyleCnt="12" custLinFactX="100000" custLinFactY="-5329" custLinFactNeighborX="100103" custLinFactNeighborY="-100000">
        <dgm:presLayoutVars>
          <dgm:bulletEnabled val="1"/>
        </dgm:presLayoutVars>
      </dgm:prSet>
      <dgm:spPr/>
    </dgm:pt>
    <dgm:pt modelId="{37BBBD76-9E78-2C45-80FA-8D18A2BF66EF}" type="pres">
      <dgm:prSet presAssocID="{5B28ED55-2D05-EB45-8E78-5BA82CFE6104}" presName="Name13" presStyleLbl="parChTrans1D2" presStyleIdx="5" presStyleCnt="12"/>
      <dgm:spPr/>
    </dgm:pt>
    <dgm:pt modelId="{31B90382-2491-BE4D-B60C-349083FEE83B}" type="pres">
      <dgm:prSet presAssocID="{9586343B-58C5-F947-B9D9-4C9E4E88C8E3}" presName="childText" presStyleLbl="bgAcc1" presStyleIdx="5" presStyleCnt="12" custScaleX="103225" custLinFactX="97722" custLinFactY="-5491" custLinFactNeighborX="100000" custLinFactNeighborY="-100000">
        <dgm:presLayoutVars>
          <dgm:bulletEnabled val="1"/>
        </dgm:presLayoutVars>
      </dgm:prSet>
      <dgm:spPr/>
    </dgm:pt>
    <dgm:pt modelId="{B241749C-A5E4-0747-9DC1-4050EB23E82F}" type="pres">
      <dgm:prSet presAssocID="{085A7D33-5609-F347-99CD-9308F39BC429}" presName="root" presStyleCnt="0"/>
      <dgm:spPr/>
    </dgm:pt>
    <dgm:pt modelId="{46FD615A-31C4-4746-9C5B-C15D6E14A60C}" type="pres">
      <dgm:prSet presAssocID="{085A7D33-5609-F347-99CD-9308F39BC429}" presName="rootComposite" presStyleCnt="0"/>
      <dgm:spPr/>
    </dgm:pt>
    <dgm:pt modelId="{69184A84-0202-3745-BBC2-0B411CEBF052}" type="pres">
      <dgm:prSet presAssocID="{085A7D33-5609-F347-99CD-9308F39BC429}" presName="rootText" presStyleLbl="node1" presStyleIdx="3" presStyleCnt="6" custLinFactX="-157003" custLinFactY="100000" custLinFactNeighborX="-200000" custLinFactNeighborY="185405"/>
      <dgm:spPr/>
      <dgm:t>
        <a:bodyPr/>
        <a:lstStyle/>
        <a:p>
          <a:endParaRPr lang="en-US"/>
        </a:p>
      </dgm:t>
    </dgm:pt>
    <dgm:pt modelId="{089E9F1F-A90D-294E-9BFE-1AE7825E11F0}" type="pres">
      <dgm:prSet presAssocID="{085A7D33-5609-F347-99CD-9308F39BC429}" presName="rootConnector" presStyleLbl="node1" presStyleIdx="3" presStyleCnt="6"/>
      <dgm:spPr/>
    </dgm:pt>
    <dgm:pt modelId="{1165E010-3C46-1545-8428-B62E792DA66B}" type="pres">
      <dgm:prSet presAssocID="{085A7D33-5609-F347-99CD-9308F39BC429}" presName="childShape" presStyleCnt="0"/>
      <dgm:spPr/>
    </dgm:pt>
    <dgm:pt modelId="{EEA1A23B-F1A1-3A42-A38C-593F75DF129B}" type="pres">
      <dgm:prSet presAssocID="{A1493C49-22E4-A741-A173-3F5D77D0A2A9}" presName="Name13" presStyleLbl="parChTrans1D2" presStyleIdx="6" presStyleCnt="12"/>
      <dgm:spPr/>
    </dgm:pt>
    <dgm:pt modelId="{5821AB21-D1F1-4540-AD88-72993D36F1F3}" type="pres">
      <dgm:prSet presAssocID="{DB510ED0-1C2E-6E40-93EA-A2E6EFEFD5B9}" presName="childText" presStyleLbl="bgAcc1" presStyleIdx="6" presStyleCnt="12" custLinFactX="-200000" custLinFactY="100000" custLinFactNeighborX="-248702" custLinFactNeighborY="18695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8E9C3A8-9ADD-E842-9E8E-E1ECBF973C48}" type="pres">
      <dgm:prSet presAssocID="{A0FEAE3D-2303-A942-9912-548C35444945}" presName="Name13" presStyleLbl="parChTrans1D2" presStyleIdx="7" presStyleCnt="12"/>
      <dgm:spPr/>
    </dgm:pt>
    <dgm:pt modelId="{566BA3F6-28D5-5044-9957-617D2C06680F}" type="pres">
      <dgm:prSet presAssocID="{ECFACE8A-D0AB-B046-A274-C81B2EA72775}" presName="childText" presStyleLbl="bgAcc1" presStyleIdx="7" presStyleCnt="12" custLinFactX="-200000" custLinFactY="100000" custLinFactNeighborX="-252530" custLinFactNeighborY="184672">
        <dgm:presLayoutVars>
          <dgm:bulletEnabled val="1"/>
        </dgm:presLayoutVars>
      </dgm:prSet>
      <dgm:spPr/>
    </dgm:pt>
    <dgm:pt modelId="{5E283A6C-0C4E-F94D-8EB8-8E5F0B72EAE9}" type="pres">
      <dgm:prSet presAssocID="{B52E87D9-8E21-2C45-BE85-56B12CA908F1}" presName="root" presStyleCnt="0"/>
      <dgm:spPr/>
    </dgm:pt>
    <dgm:pt modelId="{31C4D77C-9FA3-5143-B2CE-1DBFAF644422}" type="pres">
      <dgm:prSet presAssocID="{B52E87D9-8E21-2C45-BE85-56B12CA908F1}" presName="rootComposite" presStyleCnt="0"/>
      <dgm:spPr/>
    </dgm:pt>
    <dgm:pt modelId="{C7C9784B-B1A1-1E4B-9D80-886B3B777CC6}" type="pres">
      <dgm:prSet presAssocID="{B52E87D9-8E21-2C45-BE85-56B12CA908F1}" presName="rootText" presStyleLbl="node1" presStyleIdx="4" presStyleCnt="6" custLinFactX="-100000" custLinFactY="100000" custLinFactNeighborX="-186658" custLinFactNeighborY="191842"/>
      <dgm:spPr/>
      <dgm:t>
        <a:bodyPr/>
        <a:lstStyle/>
        <a:p>
          <a:endParaRPr lang="en-US"/>
        </a:p>
      </dgm:t>
    </dgm:pt>
    <dgm:pt modelId="{79A08DD5-C7B5-0F4E-B15E-09BB94CA82C4}" type="pres">
      <dgm:prSet presAssocID="{B52E87D9-8E21-2C45-BE85-56B12CA908F1}" presName="rootConnector" presStyleLbl="node1" presStyleIdx="4" presStyleCnt="6"/>
      <dgm:spPr/>
    </dgm:pt>
    <dgm:pt modelId="{505803BB-A119-5346-AA4C-9EDAA868DE2C}" type="pres">
      <dgm:prSet presAssocID="{B52E87D9-8E21-2C45-BE85-56B12CA908F1}" presName="childShape" presStyleCnt="0"/>
      <dgm:spPr/>
    </dgm:pt>
    <dgm:pt modelId="{D2BEA262-F32B-4946-953D-8D634EF8AE45}" type="pres">
      <dgm:prSet presAssocID="{46376D37-2EEF-1644-8B15-E56B748FB168}" presName="Name13" presStyleLbl="parChTrans1D2" presStyleIdx="8" presStyleCnt="12"/>
      <dgm:spPr/>
    </dgm:pt>
    <dgm:pt modelId="{55B6B1AA-D433-C64D-9D36-6614B6324C83}" type="pres">
      <dgm:prSet presAssocID="{ECEAD47D-D5FE-9B41-A306-8980DED47DF5}" presName="childText" presStyleLbl="bgAcc1" presStyleIdx="8" presStyleCnt="12" custLinFactX="-158323" custLinFactY="100000" custLinFactNeighborX="-200000" custLinFactNeighborY="191842">
        <dgm:presLayoutVars>
          <dgm:bulletEnabled val="1"/>
        </dgm:presLayoutVars>
      </dgm:prSet>
      <dgm:spPr/>
    </dgm:pt>
    <dgm:pt modelId="{EB67657E-ABF0-7E47-AD08-065205066E84}" type="pres">
      <dgm:prSet presAssocID="{7AF0E521-0140-1D4E-8F41-583EEF075E48}" presName="Name13" presStyleLbl="parChTrans1D2" presStyleIdx="9" presStyleCnt="12"/>
      <dgm:spPr/>
    </dgm:pt>
    <dgm:pt modelId="{6B096F59-7ABD-A849-886A-B4C5C4664006}" type="pres">
      <dgm:prSet presAssocID="{E7057B63-14ED-7144-B8D7-31E6A7878AB7}" presName="childText" presStyleLbl="bgAcc1" presStyleIdx="9" presStyleCnt="12" custLinFactX="-156427" custLinFactY="100000" custLinFactNeighborX="-200000" custLinFactNeighborY="188099">
        <dgm:presLayoutVars>
          <dgm:bulletEnabled val="1"/>
        </dgm:presLayoutVars>
      </dgm:prSet>
      <dgm:spPr/>
    </dgm:pt>
    <dgm:pt modelId="{F9E56209-F5DB-B24F-8D84-8223273D3166}" type="pres">
      <dgm:prSet presAssocID="{35ED5F24-E76D-8644-A7F3-64AE0B4471C1}" presName="root" presStyleCnt="0"/>
      <dgm:spPr/>
    </dgm:pt>
    <dgm:pt modelId="{68291E61-71E1-2745-8830-88487E3A55C9}" type="pres">
      <dgm:prSet presAssocID="{35ED5F24-E76D-8644-A7F3-64AE0B4471C1}" presName="rootComposite" presStyleCnt="0"/>
      <dgm:spPr/>
    </dgm:pt>
    <dgm:pt modelId="{93A707EA-4350-F04F-8EC6-00464FF67962}" type="pres">
      <dgm:prSet presAssocID="{35ED5F24-E76D-8644-A7F3-64AE0B4471C1}" presName="rootText" presStyleLbl="node1" presStyleIdx="5" presStyleCnt="6" custLinFactX="-100000" custLinFactY="100000" custLinFactNeighborX="-118425" custLinFactNeighborY="195107"/>
      <dgm:spPr/>
      <dgm:t>
        <a:bodyPr/>
        <a:lstStyle/>
        <a:p>
          <a:endParaRPr lang="en-US"/>
        </a:p>
      </dgm:t>
    </dgm:pt>
    <dgm:pt modelId="{9298FAA7-BB1A-1447-99FD-8761523158BF}" type="pres">
      <dgm:prSet presAssocID="{35ED5F24-E76D-8644-A7F3-64AE0B4471C1}" presName="rootConnector" presStyleLbl="node1" presStyleIdx="5" presStyleCnt="6"/>
      <dgm:spPr/>
    </dgm:pt>
    <dgm:pt modelId="{483446B9-F9FE-264D-89ED-E539BF22F18F}" type="pres">
      <dgm:prSet presAssocID="{35ED5F24-E76D-8644-A7F3-64AE0B4471C1}" presName="childShape" presStyleCnt="0"/>
      <dgm:spPr/>
    </dgm:pt>
    <dgm:pt modelId="{A340B6FB-ABE8-AA49-B313-62202D981799}" type="pres">
      <dgm:prSet presAssocID="{4A1B23BF-3FA5-5B48-9FE4-B8AA32AD6A46}" presName="Name13" presStyleLbl="parChTrans1D2" presStyleIdx="10" presStyleCnt="12"/>
      <dgm:spPr/>
    </dgm:pt>
    <dgm:pt modelId="{6A567647-46CC-884E-9EB0-192C0500520B}" type="pres">
      <dgm:prSet presAssocID="{75F22857-41E5-B747-B5A1-2BA8D1872FBE}" presName="childText" presStyleLbl="bgAcc1" presStyleIdx="10" presStyleCnt="12" custLinFactX="-100000" custLinFactY="101637" custLinFactNeighborX="-174050" custLinFactNeighborY="200000">
        <dgm:presLayoutVars>
          <dgm:bulletEnabled val="1"/>
        </dgm:presLayoutVars>
      </dgm:prSet>
      <dgm:spPr/>
    </dgm:pt>
    <dgm:pt modelId="{2C6E93C8-1A5E-7B46-B07A-BA4479ACF2D7}" type="pres">
      <dgm:prSet presAssocID="{D8300932-1253-224B-B5C9-700B4576A9BA}" presName="Name13" presStyleLbl="parChTrans1D2" presStyleIdx="11" presStyleCnt="12"/>
      <dgm:spPr/>
    </dgm:pt>
    <dgm:pt modelId="{1720056B-3890-324D-BB8D-3F8F0220F76A}" type="pres">
      <dgm:prSet presAssocID="{C91112A6-5C68-0948-9E38-F821A1733400}" presName="childText" presStyleLbl="bgAcc1" presStyleIdx="11" presStyleCnt="12" custLinFactX="-100000" custLinFactY="100000" custLinFactNeighborX="-176243" custLinFactNeighborY="198785">
        <dgm:presLayoutVars>
          <dgm:bulletEnabled val="1"/>
        </dgm:presLayoutVars>
      </dgm:prSet>
      <dgm:spPr/>
    </dgm:pt>
  </dgm:ptLst>
  <dgm:cxnLst>
    <dgm:cxn modelId="{F9A7ECD2-F872-594D-877D-2BE38CE23F4B}" type="presOf" srcId="{3BD6F3A1-0FEF-9047-A25A-DA34E45169CB}" destId="{1F65B41B-9ADE-1F48-BB7D-3ED8AF5E5945}" srcOrd="0" destOrd="0" presId="urn:microsoft.com/office/officeart/2005/8/layout/hierarchy3"/>
    <dgm:cxn modelId="{B12B3FE2-86C6-1F4D-8F07-9B8688370CE4}" type="presOf" srcId="{B52E87D9-8E21-2C45-BE85-56B12CA908F1}" destId="{79A08DD5-C7B5-0F4E-B15E-09BB94CA82C4}" srcOrd="1" destOrd="0" presId="urn:microsoft.com/office/officeart/2005/8/layout/hierarchy3"/>
    <dgm:cxn modelId="{7D4BE591-1AED-A542-840C-2A0F14D6BD6C}" srcId="{35ED5F24-E76D-8644-A7F3-64AE0B4471C1}" destId="{75F22857-41E5-B747-B5A1-2BA8D1872FBE}" srcOrd="0" destOrd="0" parTransId="{4A1B23BF-3FA5-5B48-9FE4-B8AA32AD6A46}" sibTransId="{6C89093E-24A4-3642-8D76-DEC7AFE4AC11}"/>
    <dgm:cxn modelId="{2872A18F-C8CC-2647-A9FB-7E93D86782C4}" type="presOf" srcId="{46376D37-2EEF-1644-8B15-E56B748FB168}" destId="{D2BEA262-F32B-4946-953D-8D634EF8AE45}" srcOrd="0" destOrd="0" presId="urn:microsoft.com/office/officeart/2005/8/layout/hierarchy3"/>
    <dgm:cxn modelId="{DC740E7A-ADBE-E749-B9D2-CF7F3335497C}" type="presOf" srcId="{B52E87D9-8E21-2C45-BE85-56B12CA908F1}" destId="{C7C9784B-B1A1-1E4B-9D80-886B3B777CC6}" srcOrd="0" destOrd="0" presId="urn:microsoft.com/office/officeart/2005/8/layout/hierarchy3"/>
    <dgm:cxn modelId="{2C32F030-5CD4-4348-8C8E-4F2D676755A1}" srcId="{C232D987-D20C-9249-B3AF-DD60DE7F0E03}" destId="{2C1893DD-E56E-D34D-A5FA-38828914AEF9}" srcOrd="0" destOrd="0" parTransId="{06E0ABDA-FD2D-BE4A-83E5-D07038368025}" sibTransId="{11909144-BCA0-8146-B349-E0BF8C7F31C2}"/>
    <dgm:cxn modelId="{F4BDFC97-F4A1-2C46-8F8A-2EBFAD672615}" type="presOf" srcId="{21EB6C75-1F29-3340-9D43-6E8DF3215C64}" destId="{4CE93792-D7F2-F747-A2AE-93A3BAA5139E}" srcOrd="0" destOrd="0" presId="urn:microsoft.com/office/officeart/2005/8/layout/hierarchy3"/>
    <dgm:cxn modelId="{A4B8E78E-FA7B-2141-8B05-DE6B251403D4}" type="presOf" srcId="{4A1B23BF-3FA5-5B48-9FE4-B8AA32AD6A46}" destId="{A340B6FB-ABE8-AA49-B313-62202D981799}" srcOrd="0" destOrd="0" presId="urn:microsoft.com/office/officeart/2005/8/layout/hierarchy3"/>
    <dgm:cxn modelId="{A1323D12-C77B-6E41-A230-4C8565604262}" type="presOf" srcId="{D8300932-1253-224B-B5C9-700B4576A9BA}" destId="{2C6E93C8-1A5E-7B46-B07A-BA4479ACF2D7}" srcOrd="0" destOrd="0" presId="urn:microsoft.com/office/officeart/2005/8/layout/hierarchy3"/>
    <dgm:cxn modelId="{3B8F6DCF-D854-7D4E-98E5-12C1F8D2CD30}" type="presOf" srcId="{2C1893DD-E56E-D34D-A5FA-38828914AEF9}" destId="{838F93B4-5A55-DD4A-8D42-EC865E210762}" srcOrd="0" destOrd="0" presId="urn:microsoft.com/office/officeart/2005/8/layout/hierarchy3"/>
    <dgm:cxn modelId="{8256A090-B056-EB41-845C-94B4475C07C0}" type="presOf" srcId="{6D575660-F74E-BF43-A9D3-962EAFD72D6A}" destId="{904B7212-7BCD-E34E-90FD-4744DF29D30D}" srcOrd="1" destOrd="0" presId="urn:microsoft.com/office/officeart/2005/8/layout/hierarchy3"/>
    <dgm:cxn modelId="{BEC7ECB2-4FAB-D34F-883D-3B78EBBB6062}" type="presOf" srcId="{A0FEAE3D-2303-A942-9912-548C35444945}" destId="{48E9C3A8-9ADD-E842-9E8E-E1ECBF973C48}" srcOrd="0" destOrd="0" presId="urn:microsoft.com/office/officeart/2005/8/layout/hierarchy3"/>
    <dgm:cxn modelId="{250385B2-1BD8-2247-B8C4-04F5B93AC55B}" srcId="{085A7D33-5609-F347-99CD-9308F39BC429}" destId="{ECFACE8A-D0AB-B046-A274-C81B2EA72775}" srcOrd="1" destOrd="0" parTransId="{A0FEAE3D-2303-A942-9912-548C35444945}" sibTransId="{70C4D7B7-8460-0745-B4F7-8AB05C695FEB}"/>
    <dgm:cxn modelId="{DC33DBBC-1DB4-9D48-A745-F46C5E3B42AD}" type="presOf" srcId="{D8834906-C248-5040-A00D-722084346EB1}" destId="{06300884-7CAD-0344-AA42-F99D1AE921B0}" srcOrd="0" destOrd="0" presId="urn:microsoft.com/office/officeart/2005/8/layout/hierarchy3"/>
    <dgm:cxn modelId="{96F5C2D6-5410-2F46-AA15-810BCA2B7720}" type="presOf" srcId="{836FC46D-481C-F74E-BAB0-B67AA694D836}" destId="{ABB2CD52-E88A-EC4A-8AFF-49103BA2656B}" srcOrd="0" destOrd="0" presId="urn:microsoft.com/office/officeart/2005/8/layout/hierarchy3"/>
    <dgm:cxn modelId="{71FD5DA1-C69A-B141-8653-7AEB4E5AF2CF}" type="presOf" srcId="{9586343B-58C5-F947-B9D9-4C9E4E88C8E3}" destId="{31B90382-2491-BE4D-B60C-349083FEE83B}" srcOrd="0" destOrd="0" presId="urn:microsoft.com/office/officeart/2005/8/layout/hierarchy3"/>
    <dgm:cxn modelId="{153A28DD-BED6-2648-99C7-026A2920FF1B}" srcId="{B52E87D9-8E21-2C45-BE85-56B12CA908F1}" destId="{ECEAD47D-D5FE-9B41-A306-8980DED47DF5}" srcOrd="0" destOrd="0" parTransId="{46376D37-2EEF-1644-8B15-E56B748FB168}" sibTransId="{0B0B60E7-098A-B146-B1DA-7859D85FA2BE}"/>
    <dgm:cxn modelId="{BFCC8964-9D1C-2241-8AD7-FA99174606D0}" type="presOf" srcId="{667EBDAD-2094-2E4B-A891-871CF48A9B0A}" destId="{A8BCF408-4D28-1744-9D0F-DDAAD76B038B}" srcOrd="0" destOrd="0" presId="urn:microsoft.com/office/officeart/2005/8/layout/hierarchy3"/>
    <dgm:cxn modelId="{EA777C9B-83DE-0E48-8AE3-F74A391BC3B7}" type="presOf" srcId="{5D8E56D2-B870-A149-B45D-D41E4726C947}" destId="{99773D79-FDAD-0141-9858-4E1AEFE79E4C}" srcOrd="0" destOrd="0" presId="urn:microsoft.com/office/officeart/2005/8/layout/hierarchy3"/>
    <dgm:cxn modelId="{1D0FC0C4-93FC-E240-83A0-36E0879E0DAD}" srcId="{35ED5F24-E76D-8644-A7F3-64AE0B4471C1}" destId="{C91112A6-5C68-0948-9E38-F821A1733400}" srcOrd="1" destOrd="0" parTransId="{D8300932-1253-224B-B5C9-700B4576A9BA}" sibTransId="{F1734376-1ECC-FA4A-B85B-7315000891DD}"/>
    <dgm:cxn modelId="{B3BCD0C4-9380-9E4D-A7E7-E750649118FE}" type="presOf" srcId="{085A7D33-5609-F347-99CD-9308F39BC429}" destId="{69184A84-0202-3745-BBC2-0B411CEBF052}" srcOrd="0" destOrd="0" presId="urn:microsoft.com/office/officeart/2005/8/layout/hierarchy3"/>
    <dgm:cxn modelId="{4A817F41-478B-9847-A034-23AC6F3344A5}" type="presOf" srcId="{ECFACE8A-D0AB-B046-A274-C81B2EA72775}" destId="{566BA3F6-28D5-5044-9957-617D2C06680F}" srcOrd="0" destOrd="0" presId="urn:microsoft.com/office/officeart/2005/8/layout/hierarchy3"/>
    <dgm:cxn modelId="{63F51747-733D-094F-BC29-29A100B07192}" srcId="{6D575660-F74E-BF43-A9D3-962EAFD72D6A}" destId="{21EB6C75-1F29-3340-9D43-6E8DF3215C64}" srcOrd="0" destOrd="0" parTransId="{8D4937FB-7199-3841-B9E9-9490000BD72C}" sibTransId="{0396ED8D-84EC-C84C-9257-58FE87C70E8D}"/>
    <dgm:cxn modelId="{7EF3A5B7-7EC4-E049-9D9B-914BFCFECD82}" type="presOf" srcId="{B2A16ED4-761A-1F49-8D7B-EF13A369DA15}" destId="{5A313AB4-74A9-1E45-8DD2-6EA86D6D7CFA}" srcOrd="0" destOrd="0" presId="urn:microsoft.com/office/officeart/2005/8/layout/hierarchy3"/>
    <dgm:cxn modelId="{FD55A696-87BE-DF44-B1E9-6B295D36DF7C}" srcId="{C232D987-D20C-9249-B3AF-DD60DE7F0E03}" destId="{35ED5F24-E76D-8644-A7F3-64AE0B4471C1}" srcOrd="5" destOrd="0" parTransId="{041B6956-3BEC-A748-BEBC-9EF3D121A981}" sibTransId="{B8F6D245-F4A1-BF49-B083-BA2BC0EC8CC2}"/>
    <dgm:cxn modelId="{E2769203-2F6B-8741-B7FD-DD7EE1B04A40}" srcId="{2C1893DD-E56E-D34D-A5FA-38828914AEF9}" destId="{3BD6F3A1-0FEF-9047-A25A-DA34E45169CB}" srcOrd="0" destOrd="0" parTransId="{F1C330E5-7642-3748-91A5-6AFE196E0E64}" sibTransId="{8FA42CFD-484A-D847-979D-8107E6C06B26}"/>
    <dgm:cxn modelId="{53C9B968-5B6A-FF45-A60E-8D7642C7FA79}" srcId="{D8834906-C248-5040-A00D-722084346EB1}" destId="{667EBDAD-2094-2E4B-A891-871CF48A9B0A}" srcOrd="1" destOrd="0" parTransId="{5D8E56D2-B870-A149-B45D-D41E4726C947}" sibTransId="{00F47559-9751-1F40-9727-0B64E359D22E}"/>
    <dgm:cxn modelId="{CBCE2DA8-188E-CC49-800B-ABA19C37CA11}" type="presOf" srcId="{8D4937FB-7199-3841-B9E9-9490000BD72C}" destId="{6660CF19-D45C-644E-948D-1A93D3D81BCA}" srcOrd="0" destOrd="0" presId="urn:microsoft.com/office/officeart/2005/8/layout/hierarchy3"/>
    <dgm:cxn modelId="{76EDDDE9-DBB2-4641-B914-E2CBE3520D33}" srcId="{085A7D33-5609-F347-99CD-9308F39BC429}" destId="{DB510ED0-1C2E-6E40-93EA-A2E6EFEFD5B9}" srcOrd="0" destOrd="0" parTransId="{A1493C49-22E4-A741-A173-3F5D77D0A2A9}" sibTransId="{843C10C7-D970-9144-85B1-ADE564868E6B}"/>
    <dgm:cxn modelId="{EC1505E7-7113-244E-84D7-90FA6F6AD951}" type="presOf" srcId="{8AA9458D-AE47-E945-874F-5E185F743924}" destId="{793B03E0-E5B9-1748-A4F1-57108B9F3265}" srcOrd="0" destOrd="0" presId="urn:microsoft.com/office/officeart/2005/8/layout/hierarchy3"/>
    <dgm:cxn modelId="{5A2FB03B-8AD0-C54D-A27E-F80A19721E39}" type="presOf" srcId="{ECEAD47D-D5FE-9B41-A306-8980DED47DF5}" destId="{55B6B1AA-D433-C64D-9D36-6614B6324C83}" srcOrd="0" destOrd="0" presId="urn:microsoft.com/office/officeart/2005/8/layout/hierarchy3"/>
    <dgm:cxn modelId="{89501667-674D-DF4A-8C85-4BB2901607F8}" type="presOf" srcId="{35ED5F24-E76D-8644-A7F3-64AE0B4471C1}" destId="{93A707EA-4350-F04F-8EC6-00464FF67962}" srcOrd="0" destOrd="0" presId="urn:microsoft.com/office/officeart/2005/8/layout/hierarchy3"/>
    <dgm:cxn modelId="{9DD5E8AB-0770-FD4A-A8CA-F967DAFCE0DE}" type="presOf" srcId="{E7057B63-14ED-7144-B8D7-31E6A7878AB7}" destId="{6B096F59-7ABD-A849-886A-B4C5C4664006}" srcOrd="0" destOrd="0" presId="urn:microsoft.com/office/officeart/2005/8/layout/hierarchy3"/>
    <dgm:cxn modelId="{EB7253F3-5697-8E44-89DB-899CBB6588DA}" type="presOf" srcId="{C232D987-D20C-9249-B3AF-DD60DE7F0E03}" destId="{EA010E42-F1D7-844D-A4BC-3BD68B6A1370}" srcOrd="0" destOrd="0" presId="urn:microsoft.com/office/officeart/2005/8/layout/hierarchy3"/>
    <dgm:cxn modelId="{BE38A29D-5EEA-9D49-A715-C88C3BC70125}" type="presOf" srcId="{6D575660-F74E-BF43-A9D3-962EAFD72D6A}" destId="{937DC8A8-401A-C54C-9D1C-5B9BFDDC531D}" srcOrd="0" destOrd="0" presId="urn:microsoft.com/office/officeart/2005/8/layout/hierarchy3"/>
    <dgm:cxn modelId="{E38591D5-6D32-554C-B524-14211CFEBA25}" srcId="{6D575660-F74E-BF43-A9D3-962EAFD72D6A}" destId="{9586343B-58C5-F947-B9D9-4C9E4E88C8E3}" srcOrd="1" destOrd="0" parTransId="{5B28ED55-2D05-EB45-8E78-5BA82CFE6104}" sibTransId="{4D62D470-8F26-1148-B1F4-2C885404CE64}"/>
    <dgm:cxn modelId="{C661A828-5832-A64C-B866-7148E8AE3F5F}" type="presOf" srcId="{7AF0E521-0140-1D4E-8F41-583EEF075E48}" destId="{EB67657E-ABF0-7E47-AD08-065205066E84}" srcOrd="0" destOrd="0" presId="urn:microsoft.com/office/officeart/2005/8/layout/hierarchy3"/>
    <dgm:cxn modelId="{4EA745A2-E407-2747-BB3B-FC6CF6ECBC6E}" type="presOf" srcId="{41F91A12-FD34-AD48-8D75-76D51D4131AC}" destId="{83D327C4-209F-FE4B-843C-9431E01BE1AF}" srcOrd="0" destOrd="0" presId="urn:microsoft.com/office/officeart/2005/8/layout/hierarchy3"/>
    <dgm:cxn modelId="{6E2CD7FE-8BBF-D843-BB85-F88DFC84C857}" type="presOf" srcId="{75F22857-41E5-B747-B5A1-2BA8D1872FBE}" destId="{6A567647-46CC-884E-9EB0-192C0500520B}" srcOrd="0" destOrd="0" presId="urn:microsoft.com/office/officeart/2005/8/layout/hierarchy3"/>
    <dgm:cxn modelId="{DE617248-26AD-5D4E-A146-2EBADF0A3838}" srcId="{C232D987-D20C-9249-B3AF-DD60DE7F0E03}" destId="{B52E87D9-8E21-2C45-BE85-56B12CA908F1}" srcOrd="4" destOrd="0" parTransId="{1548F432-C497-6847-B778-1E0A6E3256C6}" sibTransId="{D99C40F3-F006-0545-A20E-FD377DA7124F}"/>
    <dgm:cxn modelId="{C39262E4-5279-144E-9B96-B375E28CCC6F}" type="presOf" srcId="{F1C330E5-7642-3748-91A5-6AFE196E0E64}" destId="{9BFAF468-2FC0-8149-8BD8-16682673CEC4}" srcOrd="0" destOrd="0" presId="urn:microsoft.com/office/officeart/2005/8/layout/hierarchy3"/>
    <dgm:cxn modelId="{E052AC59-461E-EF43-BCF5-2E453A84E73A}" type="presOf" srcId="{DB510ED0-1C2E-6E40-93EA-A2E6EFEFD5B9}" destId="{5821AB21-D1F1-4540-AD88-72993D36F1F3}" srcOrd="0" destOrd="0" presId="urn:microsoft.com/office/officeart/2005/8/layout/hierarchy3"/>
    <dgm:cxn modelId="{DA4E80F3-C4C4-2646-94F3-7D1FC53661D7}" type="presOf" srcId="{C91112A6-5C68-0948-9E38-F821A1733400}" destId="{1720056B-3890-324D-BB8D-3F8F0220F76A}" srcOrd="0" destOrd="0" presId="urn:microsoft.com/office/officeart/2005/8/layout/hierarchy3"/>
    <dgm:cxn modelId="{0498FC05-5DD1-5E4B-A745-7C2EADA8B3AA}" srcId="{D8834906-C248-5040-A00D-722084346EB1}" destId="{8AA9458D-AE47-E945-874F-5E185F743924}" srcOrd="0" destOrd="0" parTransId="{836FC46D-481C-F74E-BAB0-B67AA694D836}" sibTransId="{7A0737E5-BCDC-3946-8A36-6ADD1D5E1F72}"/>
    <dgm:cxn modelId="{E021FF5B-F20C-9943-B8DD-740320DE0E35}" type="presOf" srcId="{35ED5F24-E76D-8644-A7F3-64AE0B4471C1}" destId="{9298FAA7-BB1A-1447-99FD-8761523158BF}" srcOrd="1" destOrd="0" presId="urn:microsoft.com/office/officeart/2005/8/layout/hierarchy3"/>
    <dgm:cxn modelId="{AF742CD2-8C0F-1347-82B8-989F353C9D9E}" srcId="{C232D987-D20C-9249-B3AF-DD60DE7F0E03}" destId="{085A7D33-5609-F347-99CD-9308F39BC429}" srcOrd="3" destOrd="0" parTransId="{B0FA65F2-0089-834E-8165-CD260281690C}" sibTransId="{EDC64140-A9AD-C54E-ABE6-F4771E75F831}"/>
    <dgm:cxn modelId="{A550BF57-0492-224E-ABD3-42CC3E936138}" srcId="{C232D987-D20C-9249-B3AF-DD60DE7F0E03}" destId="{6D575660-F74E-BF43-A9D3-962EAFD72D6A}" srcOrd="2" destOrd="0" parTransId="{5964609E-AF6A-724A-98CA-C55E9AFEF46B}" sibTransId="{1251C5DB-48AC-B145-B946-ACA47743A2F8}"/>
    <dgm:cxn modelId="{ECA0F360-E2B1-5F4C-A5E2-11176FEF155E}" srcId="{B52E87D9-8E21-2C45-BE85-56B12CA908F1}" destId="{E7057B63-14ED-7144-B8D7-31E6A7878AB7}" srcOrd="1" destOrd="0" parTransId="{7AF0E521-0140-1D4E-8F41-583EEF075E48}" sibTransId="{13FAB976-C719-5246-B96A-71C7E1B53F9A}"/>
    <dgm:cxn modelId="{314FD68E-0DAE-B64F-99C9-573AA8543FF6}" type="presOf" srcId="{D8834906-C248-5040-A00D-722084346EB1}" destId="{84E5EC63-79DE-CF4C-97EE-678C89E392F7}" srcOrd="1" destOrd="0" presId="urn:microsoft.com/office/officeart/2005/8/layout/hierarchy3"/>
    <dgm:cxn modelId="{5D86D604-BC80-6D46-B608-DCC4E3B58EDC}" srcId="{2C1893DD-E56E-D34D-A5FA-38828914AEF9}" destId="{41F91A12-FD34-AD48-8D75-76D51D4131AC}" srcOrd="1" destOrd="0" parTransId="{B2A16ED4-761A-1F49-8D7B-EF13A369DA15}" sibTransId="{ED33BCC7-67AC-D84E-8C2B-1C607DD75270}"/>
    <dgm:cxn modelId="{DFF91F93-B1BE-054A-ACBF-0E754F001F4C}" type="presOf" srcId="{A1493C49-22E4-A741-A173-3F5D77D0A2A9}" destId="{EEA1A23B-F1A1-3A42-A38C-593F75DF129B}" srcOrd="0" destOrd="0" presId="urn:microsoft.com/office/officeart/2005/8/layout/hierarchy3"/>
    <dgm:cxn modelId="{7533D08D-EB43-9F42-B22B-776AD1033188}" type="presOf" srcId="{5B28ED55-2D05-EB45-8E78-5BA82CFE6104}" destId="{37BBBD76-9E78-2C45-80FA-8D18A2BF66EF}" srcOrd="0" destOrd="0" presId="urn:microsoft.com/office/officeart/2005/8/layout/hierarchy3"/>
    <dgm:cxn modelId="{6F51F9CF-AB0A-5845-B00B-B517E23C7EE5}" type="presOf" srcId="{2C1893DD-E56E-D34D-A5FA-38828914AEF9}" destId="{CC3B4FA0-C3C5-9148-A762-0A94CA0EF07D}" srcOrd="1" destOrd="0" presId="urn:microsoft.com/office/officeart/2005/8/layout/hierarchy3"/>
    <dgm:cxn modelId="{67E14739-DC32-6248-9E94-E911E2965CDC}" type="presOf" srcId="{085A7D33-5609-F347-99CD-9308F39BC429}" destId="{089E9F1F-A90D-294E-9BFE-1AE7825E11F0}" srcOrd="1" destOrd="0" presId="urn:microsoft.com/office/officeart/2005/8/layout/hierarchy3"/>
    <dgm:cxn modelId="{8DDBEDB4-753E-F549-8174-CFF0AB7767D1}" srcId="{C232D987-D20C-9249-B3AF-DD60DE7F0E03}" destId="{D8834906-C248-5040-A00D-722084346EB1}" srcOrd="1" destOrd="0" parTransId="{50F6F9EC-0F5E-CF4A-8FB5-2EA1F5D1B362}" sibTransId="{7E4AA6FF-A9F3-5C43-A038-AADEC876C118}"/>
    <dgm:cxn modelId="{2FE576CC-A41F-414E-9CB5-106149A382DC}" type="presParOf" srcId="{EA010E42-F1D7-844D-A4BC-3BD68B6A1370}" destId="{715CE84D-1CB9-8B45-A60D-7173FD28818E}" srcOrd="0" destOrd="0" presId="urn:microsoft.com/office/officeart/2005/8/layout/hierarchy3"/>
    <dgm:cxn modelId="{9EC125BB-316D-E547-950A-4D13B405E24D}" type="presParOf" srcId="{715CE84D-1CB9-8B45-A60D-7173FD28818E}" destId="{F96F1BFE-6A03-294B-A8D6-ADC084CB8FE2}" srcOrd="0" destOrd="0" presId="urn:microsoft.com/office/officeart/2005/8/layout/hierarchy3"/>
    <dgm:cxn modelId="{E5BC7ABC-16FD-D746-A81F-44CF9F3C78FD}" type="presParOf" srcId="{F96F1BFE-6A03-294B-A8D6-ADC084CB8FE2}" destId="{838F93B4-5A55-DD4A-8D42-EC865E210762}" srcOrd="0" destOrd="0" presId="urn:microsoft.com/office/officeart/2005/8/layout/hierarchy3"/>
    <dgm:cxn modelId="{D3FDE659-2DC8-574A-B751-F803ABCE4A7D}" type="presParOf" srcId="{F96F1BFE-6A03-294B-A8D6-ADC084CB8FE2}" destId="{CC3B4FA0-C3C5-9148-A762-0A94CA0EF07D}" srcOrd="1" destOrd="0" presId="urn:microsoft.com/office/officeart/2005/8/layout/hierarchy3"/>
    <dgm:cxn modelId="{5C710407-4256-1C4E-909C-1F0835DAEA49}" type="presParOf" srcId="{715CE84D-1CB9-8B45-A60D-7173FD28818E}" destId="{C5D48515-701B-7A43-9E62-A9C0B6112F64}" srcOrd="1" destOrd="0" presId="urn:microsoft.com/office/officeart/2005/8/layout/hierarchy3"/>
    <dgm:cxn modelId="{F310238F-4F03-5140-9077-9E192B713A08}" type="presParOf" srcId="{C5D48515-701B-7A43-9E62-A9C0B6112F64}" destId="{9BFAF468-2FC0-8149-8BD8-16682673CEC4}" srcOrd="0" destOrd="0" presId="urn:microsoft.com/office/officeart/2005/8/layout/hierarchy3"/>
    <dgm:cxn modelId="{9357A1F4-524A-A048-B04B-123B7971BA9B}" type="presParOf" srcId="{C5D48515-701B-7A43-9E62-A9C0B6112F64}" destId="{1F65B41B-9ADE-1F48-BB7D-3ED8AF5E5945}" srcOrd="1" destOrd="0" presId="urn:microsoft.com/office/officeart/2005/8/layout/hierarchy3"/>
    <dgm:cxn modelId="{A4EA2575-9055-674D-A979-50340A471DC9}" type="presParOf" srcId="{C5D48515-701B-7A43-9E62-A9C0B6112F64}" destId="{5A313AB4-74A9-1E45-8DD2-6EA86D6D7CFA}" srcOrd="2" destOrd="0" presId="urn:microsoft.com/office/officeart/2005/8/layout/hierarchy3"/>
    <dgm:cxn modelId="{127CC9CE-77FA-0648-BB3A-C32883468369}" type="presParOf" srcId="{C5D48515-701B-7A43-9E62-A9C0B6112F64}" destId="{83D327C4-209F-FE4B-843C-9431E01BE1AF}" srcOrd="3" destOrd="0" presId="urn:microsoft.com/office/officeart/2005/8/layout/hierarchy3"/>
    <dgm:cxn modelId="{D0BCE561-D302-8947-A61D-6B963381DBED}" type="presParOf" srcId="{EA010E42-F1D7-844D-A4BC-3BD68B6A1370}" destId="{2BDFE6A1-9EFA-424E-8D45-E76921080039}" srcOrd="1" destOrd="0" presId="urn:microsoft.com/office/officeart/2005/8/layout/hierarchy3"/>
    <dgm:cxn modelId="{4D5AD00E-7252-E843-A8C1-0AB4339F60AA}" type="presParOf" srcId="{2BDFE6A1-9EFA-424E-8D45-E76921080039}" destId="{5C7C8975-C0EE-E84D-8CA8-1B8FD76E233E}" srcOrd="0" destOrd="0" presId="urn:microsoft.com/office/officeart/2005/8/layout/hierarchy3"/>
    <dgm:cxn modelId="{74FD6A0A-2A25-B740-8F7D-94A6CE8319BA}" type="presParOf" srcId="{5C7C8975-C0EE-E84D-8CA8-1B8FD76E233E}" destId="{06300884-7CAD-0344-AA42-F99D1AE921B0}" srcOrd="0" destOrd="0" presId="urn:microsoft.com/office/officeart/2005/8/layout/hierarchy3"/>
    <dgm:cxn modelId="{C38870A0-F3A9-654C-9F9D-A43E9AF4106E}" type="presParOf" srcId="{5C7C8975-C0EE-E84D-8CA8-1B8FD76E233E}" destId="{84E5EC63-79DE-CF4C-97EE-678C89E392F7}" srcOrd="1" destOrd="0" presId="urn:microsoft.com/office/officeart/2005/8/layout/hierarchy3"/>
    <dgm:cxn modelId="{79C155A7-58DF-9647-BA92-5A7933D85C4C}" type="presParOf" srcId="{2BDFE6A1-9EFA-424E-8D45-E76921080039}" destId="{C7757CEB-6BB2-B145-97BA-1336096C1794}" srcOrd="1" destOrd="0" presId="urn:microsoft.com/office/officeart/2005/8/layout/hierarchy3"/>
    <dgm:cxn modelId="{8202C2DA-510E-8C46-A896-9CA0DF090685}" type="presParOf" srcId="{C7757CEB-6BB2-B145-97BA-1336096C1794}" destId="{ABB2CD52-E88A-EC4A-8AFF-49103BA2656B}" srcOrd="0" destOrd="0" presId="urn:microsoft.com/office/officeart/2005/8/layout/hierarchy3"/>
    <dgm:cxn modelId="{B540F8EE-0772-4646-BDBA-2E9FCEF6B357}" type="presParOf" srcId="{C7757CEB-6BB2-B145-97BA-1336096C1794}" destId="{793B03E0-E5B9-1748-A4F1-57108B9F3265}" srcOrd="1" destOrd="0" presId="urn:microsoft.com/office/officeart/2005/8/layout/hierarchy3"/>
    <dgm:cxn modelId="{90C17732-D89E-2B4D-8088-8491E6E33A5A}" type="presParOf" srcId="{C7757CEB-6BB2-B145-97BA-1336096C1794}" destId="{99773D79-FDAD-0141-9858-4E1AEFE79E4C}" srcOrd="2" destOrd="0" presId="urn:microsoft.com/office/officeart/2005/8/layout/hierarchy3"/>
    <dgm:cxn modelId="{3FC9AF4F-0416-5441-9460-F230E8397420}" type="presParOf" srcId="{C7757CEB-6BB2-B145-97BA-1336096C1794}" destId="{A8BCF408-4D28-1744-9D0F-DDAAD76B038B}" srcOrd="3" destOrd="0" presId="urn:microsoft.com/office/officeart/2005/8/layout/hierarchy3"/>
    <dgm:cxn modelId="{EA7E3AB6-A663-4840-B311-986D9865F31E}" type="presParOf" srcId="{EA010E42-F1D7-844D-A4BC-3BD68B6A1370}" destId="{9789A759-223D-A149-8085-D83C8022E166}" srcOrd="2" destOrd="0" presId="urn:microsoft.com/office/officeart/2005/8/layout/hierarchy3"/>
    <dgm:cxn modelId="{E9C06C68-F475-4640-852A-AAA04B61A09F}" type="presParOf" srcId="{9789A759-223D-A149-8085-D83C8022E166}" destId="{C9EB83E6-0298-9B4D-BA04-FCF962F92A60}" srcOrd="0" destOrd="0" presId="urn:microsoft.com/office/officeart/2005/8/layout/hierarchy3"/>
    <dgm:cxn modelId="{85F2D921-DC06-6348-97AB-E7B7DC64F1EA}" type="presParOf" srcId="{C9EB83E6-0298-9B4D-BA04-FCF962F92A60}" destId="{937DC8A8-401A-C54C-9D1C-5B9BFDDC531D}" srcOrd="0" destOrd="0" presId="urn:microsoft.com/office/officeart/2005/8/layout/hierarchy3"/>
    <dgm:cxn modelId="{5266FADD-5097-774D-9514-B8E29E801417}" type="presParOf" srcId="{C9EB83E6-0298-9B4D-BA04-FCF962F92A60}" destId="{904B7212-7BCD-E34E-90FD-4744DF29D30D}" srcOrd="1" destOrd="0" presId="urn:microsoft.com/office/officeart/2005/8/layout/hierarchy3"/>
    <dgm:cxn modelId="{410A72EC-7A4F-E64D-96C2-5CA556526D06}" type="presParOf" srcId="{9789A759-223D-A149-8085-D83C8022E166}" destId="{91E0B136-2929-6A4A-BF34-E87F203C3FA6}" srcOrd="1" destOrd="0" presId="urn:microsoft.com/office/officeart/2005/8/layout/hierarchy3"/>
    <dgm:cxn modelId="{0D1BB186-C122-F343-94E2-6D57BE98A5AA}" type="presParOf" srcId="{91E0B136-2929-6A4A-BF34-E87F203C3FA6}" destId="{6660CF19-D45C-644E-948D-1A93D3D81BCA}" srcOrd="0" destOrd="0" presId="urn:microsoft.com/office/officeart/2005/8/layout/hierarchy3"/>
    <dgm:cxn modelId="{39F14776-A990-2948-ABD3-56BE76CC86A2}" type="presParOf" srcId="{91E0B136-2929-6A4A-BF34-E87F203C3FA6}" destId="{4CE93792-D7F2-F747-A2AE-93A3BAA5139E}" srcOrd="1" destOrd="0" presId="urn:microsoft.com/office/officeart/2005/8/layout/hierarchy3"/>
    <dgm:cxn modelId="{93B15C81-26E7-6146-8F8E-66078ABE4937}" type="presParOf" srcId="{91E0B136-2929-6A4A-BF34-E87F203C3FA6}" destId="{37BBBD76-9E78-2C45-80FA-8D18A2BF66EF}" srcOrd="2" destOrd="0" presId="urn:microsoft.com/office/officeart/2005/8/layout/hierarchy3"/>
    <dgm:cxn modelId="{A275B25F-F28D-774B-97B9-3186ABB01D85}" type="presParOf" srcId="{91E0B136-2929-6A4A-BF34-E87F203C3FA6}" destId="{31B90382-2491-BE4D-B60C-349083FEE83B}" srcOrd="3" destOrd="0" presId="urn:microsoft.com/office/officeart/2005/8/layout/hierarchy3"/>
    <dgm:cxn modelId="{83A7BEEF-0C0D-F74B-93AA-57E6693BEC81}" type="presParOf" srcId="{EA010E42-F1D7-844D-A4BC-3BD68B6A1370}" destId="{B241749C-A5E4-0747-9DC1-4050EB23E82F}" srcOrd="3" destOrd="0" presId="urn:microsoft.com/office/officeart/2005/8/layout/hierarchy3"/>
    <dgm:cxn modelId="{80BD8719-C0D6-0E4F-8322-CCB2AAED3DBD}" type="presParOf" srcId="{B241749C-A5E4-0747-9DC1-4050EB23E82F}" destId="{46FD615A-31C4-4746-9C5B-C15D6E14A60C}" srcOrd="0" destOrd="0" presId="urn:microsoft.com/office/officeart/2005/8/layout/hierarchy3"/>
    <dgm:cxn modelId="{4AF2A495-C064-C44D-9B39-02E3B1076D10}" type="presParOf" srcId="{46FD615A-31C4-4746-9C5B-C15D6E14A60C}" destId="{69184A84-0202-3745-BBC2-0B411CEBF052}" srcOrd="0" destOrd="0" presId="urn:microsoft.com/office/officeart/2005/8/layout/hierarchy3"/>
    <dgm:cxn modelId="{E9467501-B22A-CF48-889A-FCE82D7853FC}" type="presParOf" srcId="{46FD615A-31C4-4746-9C5B-C15D6E14A60C}" destId="{089E9F1F-A90D-294E-9BFE-1AE7825E11F0}" srcOrd="1" destOrd="0" presId="urn:microsoft.com/office/officeart/2005/8/layout/hierarchy3"/>
    <dgm:cxn modelId="{B42DF8F7-91E0-D845-9BD3-34B812E2B79F}" type="presParOf" srcId="{B241749C-A5E4-0747-9DC1-4050EB23E82F}" destId="{1165E010-3C46-1545-8428-B62E792DA66B}" srcOrd="1" destOrd="0" presId="urn:microsoft.com/office/officeart/2005/8/layout/hierarchy3"/>
    <dgm:cxn modelId="{A0DBF773-051A-F946-9672-522A27478C0B}" type="presParOf" srcId="{1165E010-3C46-1545-8428-B62E792DA66B}" destId="{EEA1A23B-F1A1-3A42-A38C-593F75DF129B}" srcOrd="0" destOrd="0" presId="urn:microsoft.com/office/officeart/2005/8/layout/hierarchy3"/>
    <dgm:cxn modelId="{7A77C177-C947-1848-A482-4831DD2571ED}" type="presParOf" srcId="{1165E010-3C46-1545-8428-B62E792DA66B}" destId="{5821AB21-D1F1-4540-AD88-72993D36F1F3}" srcOrd="1" destOrd="0" presId="urn:microsoft.com/office/officeart/2005/8/layout/hierarchy3"/>
    <dgm:cxn modelId="{D3FE3E2D-AD29-BF4A-9926-0DCA2CC98501}" type="presParOf" srcId="{1165E010-3C46-1545-8428-B62E792DA66B}" destId="{48E9C3A8-9ADD-E842-9E8E-E1ECBF973C48}" srcOrd="2" destOrd="0" presId="urn:microsoft.com/office/officeart/2005/8/layout/hierarchy3"/>
    <dgm:cxn modelId="{D2E3C00A-724E-984A-B663-0E05707B0B04}" type="presParOf" srcId="{1165E010-3C46-1545-8428-B62E792DA66B}" destId="{566BA3F6-28D5-5044-9957-617D2C06680F}" srcOrd="3" destOrd="0" presId="urn:microsoft.com/office/officeart/2005/8/layout/hierarchy3"/>
    <dgm:cxn modelId="{A0F6E8B2-0FFA-4A46-9C54-F90904E3792E}" type="presParOf" srcId="{EA010E42-F1D7-844D-A4BC-3BD68B6A1370}" destId="{5E283A6C-0C4E-F94D-8EB8-8E5F0B72EAE9}" srcOrd="4" destOrd="0" presId="urn:microsoft.com/office/officeart/2005/8/layout/hierarchy3"/>
    <dgm:cxn modelId="{F7DEF2B1-1BEF-5546-BB67-23110E123117}" type="presParOf" srcId="{5E283A6C-0C4E-F94D-8EB8-8E5F0B72EAE9}" destId="{31C4D77C-9FA3-5143-B2CE-1DBFAF644422}" srcOrd="0" destOrd="0" presId="urn:microsoft.com/office/officeart/2005/8/layout/hierarchy3"/>
    <dgm:cxn modelId="{957F731E-9C90-A146-8451-52BA5FFBC1E8}" type="presParOf" srcId="{31C4D77C-9FA3-5143-B2CE-1DBFAF644422}" destId="{C7C9784B-B1A1-1E4B-9D80-886B3B777CC6}" srcOrd="0" destOrd="0" presId="urn:microsoft.com/office/officeart/2005/8/layout/hierarchy3"/>
    <dgm:cxn modelId="{4B7CDBC8-1511-DE4A-8EDD-B6BFF100486F}" type="presParOf" srcId="{31C4D77C-9FA3-5143-B2CE-1DBFAF644422}" destId="{79A08DD5-C7B5-0F4E-B15E-09BB94CA82C4}" srcOrd="1" destOrd="0" presId="urn:microsoft.com/office/officeart/2005/8/layout/hierarchy3"/>
    <dgm:cxn modelId="{4C792937-2774-264B-A549-2674A08E9E14}" type="presParOf" srcId="{5E283A6C-0C4E-F94D-8EB8-8E5F0B72EAE9}" destId="{505803BB-A119-5346-AA4C-9EDAA868DE2C}" srcOrd="1" destOrd="0" presId="urn:microsoft.com/office/officeart/2005/8/layout/hierarchy3"/>
    <dgm:cxn modelId="{56E28DFE-CF05-5645-9326-37512FE5F831}" type="presParOf" srcId="{505803BB-A119-5346-AA4C-9EDAA868DE2C}" destId="{D2BEA262-F32B-4946-953D-8D634EF8AE45}" srcOrd="0" destOrd="0" presId="urn:microsoft.com/office/officeart/2005/8/layout/hierarchy3"/>
    <dgm:cxn modelId="{81F7CE4D-C53A-0C41-A64F-B2D87FD1257C}" type="presParOf" srcId="{505803BB-A119-5346-AA4C-9EDAA868DE2C}" destId="{55B6B1AA-D433-C64D-9D36-6614B6324C83}" srcOrd="1" destOrd="0" presId="urn:microsoft.com/office/officeart/2005/8/layout/hierarchy3"/>
    <dgm:cxn modelId="{CD64A315-8C1F-024D-BC3A-6A5E4ED53A1D}" type="presParOf" srcId="{505803BB-A119-5346-AA4C-9EDAA868DE2C}" destId="{EB67657E-ABF0-7E47-AD08-065205066E84}" srcOrd="2" destOrd="0" presId="urn:microsoft.com/office/officeart/2005/8/layout/hierarchy3"/>
    <dgm:cxn modelId="{7B981287-B2DD-AB4E-B88B-9643EC1E5748}" type="presParOf" srcId="{505803BB-A119-5346-AA4C-9EDAA868DE2C}" destId="{6B096F59-7ABD-A849-886A-B4C5C4664006}" srcOrd="3" destOrd="0" presId="urn:microsoft.com/office/officeart/2005/8/layout/hierarchy3"/>
    <dgm:cxn modelId="{499D56F7-59F5-A84E-A860-DA503ABB9E3B}" type="presParOf" srcId="{EA010E42-F1D7-844D-A4BC-3BD68B6A1370}" destId="{F9E56209-F5DB-B24F-8D84-8223273D3166}" srcOrd="5" destOrd="0" presId="urn:microsoft.com/office/officeart/2005/8/layout/hierarchy3"/>
    <dgm:cxn modelId="{A19F506B-E5F1-6A4B-A4D9-45F250AD8519}" type="presParOf" srcId="{F9E56209-F5DB-B24F-8D84-8223273D3166}" destId="{68291E61-71E1-2745-8830-88487E3A55C9}" srcOrd="0" destOrd="0" presId="urn:microsoft.com/office/officeart/2005/8/layout/hierarchy3"/>
    <dgm:cxn modelId="{6C5EC7B9-9D2E-5C44-9EE9-69B339262985}" type="presParOf" srcId="{68291E61-71E1-2745-8830-88487E3A55C9}" destId="{93A707EA-4350-F04F-8EC6-00464FF67962}" srcOrd="0" destOrd="0" presId="urn:microsoft.com/office/officeart/2005/8/layout/hierarchy3"/>
    <dgm:cxn modelId="{6DBE077D-BFC1-6843-9B46-AC0552E8D56B}" type="presParOf" srcId="{68291E61-71E1-2745-8830-88487E3A55C9}" destId="{9298FAA7-BB1A-1447-99FD-8761523158BF}" srcOrd="1" destOrd="0" presId="urn:microsoft.com/office/officeart/2005/8/layout/hierarchy3"/>
    <dgm:cxn modelId="{0F1C50FD-7782-8141-B580-DB408BF32962}" type="presParOf" srcId="{F9E56209-F5DB-B24F-8D84-8223273D3166}" destId="{483446B9-F9FE-264D-89ED-E539BF22F18F}" srcOrd="1" destOrd="0" presId="urn:microsoft.com/office/officeart/2005/8/layout/hierarchy3"/>
    <dgm:cxn modelId="{45C267B1-18A2-8649-B122-00012581E793}" type="presParOf" srcId="{483446B9-F9FE-264D-89ED-E539BF22F18F}" destId="{A340B6FB-ABE8-AA49-B313-62202D981799}" srcOrd="0" destOrd="0" presId="urn:microsoft.com/office/officeart/2005/8/layout/hierarchy3"/>
    <dgm:cxn modelId="{935CE4F9-FDCF-E443-B76A-58181C306973}" type="presParOf" srcId="{483446B9-F9FE-264D-89ED-E539BF22F18F}" destId="{6A567647-46CC-884E-9EB0-192C0500520B}" srcOrd="1" destOrd="0" presId="urn:microsoft.com/office/officeart/2005/8/layout/hierarchy3"/>
    <dgm:cxn modelId="{82322BA3-4771-844A-8F58-B91B8AC3AE5A}" type="presParOf" srcId="{483446B9-F9FE-264D-89ED-E539BF22F18F}" destId="{2C6E93C8-1A5E-7B46-B07A-BA4479ACF2D7}" srcOrd="2" destOrd="0" presId="urn:microsoft.com/office/officeart/2005/8/layout/hierarchy3"/>
    <dgm:cxn modelId="{A602EC46-0ADA-4244-9F7B-05BFB53E8C7F}" type="presParOf" srcId="{483446B9-F9FE-264D-89ED-E539BF22F18F}" destId="{1720056B-3890-324D-BB8D-3F8F0220F76A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4C7490-9020-9445-ABED-A82B4D91E492}" type="doc">
      <dgm:prSet loTypeId="urn:microsoft.com/office/officeart/2005/8/layout/arrow2" loCatId="" qsTypeId="urn:microsoft.com/office/officeart/2005/8/quickstyle/simple4" qsCatId="simple" csTypeId="urn:microsoft.com/office/officeart/2005/8/colors/accent1_2" csCatId="accent1" phldr="1"/>
      <dgm:spPr/>
    </dgm:pt>
    <dgm:pt modelId="{4AF28FC6-4B7F-A146-A5A6-7A3FA3580EAC}">
      <dgm:prSet phldrT="[Text]" custT="1"/>
      <dgm:spPr>
        <a:noFill/>
      </dgm:spPr>
      <dgm:t>
        <a:bodyPr/>
        <a:lstStyle/>
        <a:p>
          <a:r>
            <a:rPr lang="zh-CN" altLang="en-US" sz="1600" b="1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人工审核：</a:t>
          </a:r>
        </a:p>
        <a:p>
          <a:r>
            <a:rPr lang="zh-CN" altLang="en-US" sz="1200" b="1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人力物力投入高</a:t>
          </a:r>
        </a:p>
        <a:p>
          <a:r>
            <a:rPr lang="en-US" altLang="zh-CN" sz="1200" b="1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 </a:t>
          </a:r>
          <a:r>
            <a:rPr lang="zh-CN" altLang="en-US" sz="1200" b="1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效率低</a:t>
          </a:r>
        </a:p>
      </dgm:t>
    </dgm:pt>
    <dgm:pt modelId="{61991697-245F-8F40-86A2-2F7194A4BA9C}" type="parTrans" cxnId="{0FC62787-6D21-E04E-9621-7A04A5B98E07}">
      <dgm:prSet/>
      <dgm:spPr/>
      <dgm:t>
        <a:bodyPr/>
        <a:lstStyle/>
        <a:p>
          <a:endParaRPr lang="en-US"/>
        </a:p>
      </dgm:t>
    </dgm:pt>
    <dgm:pt modelId="{8008D41C-E90F-D84D-AA56-C844FAF50769}" type="sibTrans" cxnId="{0FC62787-6D21-E04E-9621-7A04A5B98E07}">
      <dgm:prSet/>
      <dgm:spPr/>
      <dgm:t>
        <a:bodyPr/>
        <a:lstStyle/>
        <a:p>
          <a:endParaRPr lang="en-US"/>
        </a:p>
      </dgm:t>
    </dgm:pt>
    <dgm:pt modelId="{238B2BAF-CB09-8848-82D5-932122C95FEB}">
      <dgm:prSet phldrT="[Text]" custT="1"/>
      <dgm:spPr/>
      <dgm:t>
        <a:bodyPr/>
        <a:lstStyle/>
        <a:p>
          <a:r>
            <a:rPr lang="zh-CN" altLang="en-US" sz="16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静态规则：</a:t>
          </a:r>
        </a:p>
        <a:p>
          <a:r>
            <a:rPr kumimoji="0" lang="zh-CN" altLang="en-US" sz="12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措施：</a:t>
          </a:r>
          <a:r>
            <a:rPr kumimoji="0" lang="en-US" altLang="zh-CN" sz="12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IP</a:t>
          </a:r>
          <a:r>
            <a:rPr kumimoji="0" lang="zh-CN" altLang="en-US" sz="12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、</a:t>
          </a:r>
          <a:r>
            <a:rPr kumimoji="0" lang="en-US" altLang="zh-CN" sz="12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DID</a:t>
          </a:r>
          <a:r>
            <a:rPr kumimoji="0" lang="zh-CN" altLang="en-US" sz="12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频次限制</a:t>
          </a:r>
          <a:endParaRPr kumimoji="0" lang="en-US" altLang="zh-CN" sz="1200" b="0" i="0" u="none" strike="noStrike" cap="none" spc="0" normalizeH="0" baseline="0" dirty="0" smtClean="0">
            <a:ln>
              <a:noFill/>
            </a:ln>
            <a:solidFill>
              <a:schemeClr val="accent1"/>
            </a:solidFill>
            <a:effectLst/>
            <a:uFillTx/>
            <a:latin typeface="Al Nile" charset="-78"/>
            <a:ea typeface="Al Nile" charset="-78"/>
            <a:cs typeface="Al Nile" charset="-78"/>
            <a:sym typeface="Arial Black"/>
          </a:endParaRPr>
        </a:p>
        <a:p>
          <a:pPr rtl="0"/>
          <a:r>
            <a:rPr kumimoji="0" lang="zh-CN" altLang="en-US" sz="12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易规避</a:t>
          </a:r>
          <a:endParaRPr kumimoji="0" lang="en-US" altLang="zh-CN" sz="1200" b="0" i="0" u="none" strike="noStrike" cap="none" spc="0" normalizeH="0" baseline="0" dirty="0" smtClean="0">
            <a:ln>
              <a:noFill/>
            </a:ln>
            <a:solidFill>
              <a:schemeClr val="accent1"/>
            </a:solidFill>
            <a:effectLst/>
            <a:uFillTx/>
            <a:latin typeface="Al Nile" charset="-78"/>
            <a:ea typeface="Al Nile" charset="-78"/>
            <a:cs typeface="Al Nile" charset="-78"/>
            <a:sym typeface="Arial Black"/>
          </a:endParaRPr>
        </a:p>
        <a:p>
          <a:pPr rtl="0"/>
          <a:r>
            <a:rPr lang="zh-CN" altLang="en-US" sz="12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多误伤</a:t>
          </a:r>
          <a:endParaRPr lang="en-US" sz="1200" dirty="0">
            <a:solidFill>
              <a:schemeClr val="accent1"/>
            </a:solidFill>
            <a:latin typeface="Al Nile" charset="-78"/>
            <a:ea typeface="Al Nile" charset="-78"/>
            <a:cs typeface="Al Nile" charset="-78"/>
          </a:endParaRPr>
        </a:p>
      </dgm:t>
    </dgm:pt>
    <dgm:pt modelId="{80A2C594-A24A-6343-BCFB-BA547A577CA8}" type="parTrans" cxnId="{7E01B3E9-4EEA-5146-9515-FEB0F34A63B8}">
      <dgm:prSet/>
      <dgm:spPr/>
      <dgm:t>
        <a:bodyPr/>
        <a:lstStyle/>
        <a:p>
          <a:endParaRPr lang="en-US"/>
        </a:p>
      </dgm:t>
    </dgm:pt>
    <dgm:pt modelId="{B307D411-A579-7040-B663-A4FD4B23AA3C}" type="sibTrans" cxnId="{7E01B3E9-4EEA-5146-9515-FEB0F34A63B8}">
      <dgm:prSet/>
      <dgm:spPr/>
      <dgm:t>
        <a:bodyPr/>
        <a:lstStyle/>
        <a:p>
          <a:endParaRPr lang="en-US"/>
        </a:p>
      </dgm:t>
    </dgm:pt>
    <dgm:pt modelId="{C520E6D1-FEEF-264B-BD31-056B70E3E719}">
      <dgm:prSet phldrT="[Text]" custT="1"/>
      <dgm:spPr/>
      <dgm:t>
        <a:bodyPr/>
        <a:lstStyle/>
        <a:p>
          <a:r>
            <a:rPr lang="zh-CN" altLang="en-US" sz="16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人工智能：</a:t>
          </a:r>
        </a:p>
        <a:p>
          <a:r>
            <a:rPr kumimoji="0" lang="zh-CN" altLang="en-US" sz="14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措施：机器学习算法</a:t>
          </a:r>
          <a:endParaRPr kumimoji="0" lang="en-US" altLang="zh-CN" sz="1400" b="0" i="0" u="none" strike="noStrike" cap="none" spc="0" normalizeH="0" baseline="0" dirty="0" smtClean="0">
            <a:ln>
              <a:noFill/>
            </a:ln>
            <a:solidFill>
              <a:schemeClr val="accent1"/>
            </a:solidFill>
            <a:effectLst/>
            <a:uFillTx/>
            <a:latin typeface="Al Nile" charset="-78"/>
            <a:ea typeface="Al Nile" charset="-78"/>
            <a:cs typeface="Al Nile" charset="-78"/>
            <a:sym typeface="Arial Black"/>
          </a:endParaRPr>
        </a:p>
        <a:p>
          <a:pPr rtl="0"/>
          <a:r>
            <a:rPr kumimoji="0" lang="zh-CN" altLang="en-US" sz="1400" b="0" i="0" u="none" strike="noStrike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实时</a:t>
          </a:r>
          <a:endParaRPr kumimoji="0" lang="en-US" altLang="zh-CN" sz="1400" b="0" i="0" u="none" strike="noStrike" cap="none" spc="0" normalizeH="0" baseline="0" dirty="0" smtClean="0">
            <a:ln>
              <a:noFill/>
            </a:ln>
            <a:solidFill>
              <a:schemeClr val="accent1"/>
            </a:solidFill>
            <a:effectLst/>
            <a:uFillTx/>
            <a:latin typeface="Al Nile" charset="-78"/>
            <a:ea typeface="Al Nile" charset="-78"/>
            <a:cs typeface="Al Nile" charset="-78"/>
            <a:sym typeface="Arial Black"/>
          </a:endParaRPr>
        </a:p>
        <a:p>
          <a:pPr rtl="0"/>
          <a:r>
            <a:rPr lang="zh-CN" altLang="en-US" sz="14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动态</a:t>
          </a:r>
          <a:endParaRPr lang="en-US" sz="1400" dirty="0">
            <a:solidFill>
              <a:schemeClr val="accent1"/>
            </a:solidFill>
            <a:latin typeface="Al Nile" charset="-78"/>
            <a:ea typeface="Al Nile" charset="-78"/>
            <a:cs typeface="Al Nile" charset="-78"/>
          </a:endParaRPr>
        </a:p>
      </dgm:t>
    </dgm:pt>
    <dgm:pt modelId="{C2A7C0A6-8682-0349-8DD8-FBDBE1792EF3}" type="parTrans" cxnId="{2DCFA410-16E1-F744-ABCA-F0B13EE867CE}">
      <dgm:prSet/>
      <dgm:spPr/>
      <dgm:t>
        <a:bodyPr/>
        <a:lstStyle/>
        <a:p>
          <a:endParaRPr lang="en-US"/>
        </a:p>
      </dgm:t>
    </dgm:pt>
    <dgm:pt modelId="{ADBE4A7C-45EA-5840-BC52-DCD948484A48}" type="sibTrans" cxnId="{2DCFA410-16E1-F744-ABCA-F0B13EE867CE}">
      <dgm:prSet/>
      <dgm:spPr/>
      <dgm:t>
        <a:bodyPr/>
        <a:lstStyle/>
        <a:p>
          <a:endParaRPr lang="en-US"/>
        </a:p>
      </dgm:t>
    </dgm:pt>
    <dgm:pt modelId="{20D1E702-6217-994B-A2E0-C5BB9F7DA6F6}" type="pres">
      <dgm:prSet presAssocID="{524C7490-9020-9445-ABED-A82B4D91E492}" presName="arrowDiagram" presStyleCnt="0">
        <dgm:presLayoutVars>
          <dgm:chMax val="5"/>
          <dgm:dir/>
          <dgm:resizeHandles val="exact"/>
        </dgm:presLayoutVars>
      </dgm:prSet>
      <dgm:spPr/>
    </dgm:pt>
    <dgm:pt modelId="{3F3DEB1A-9A52-764D-AE38-750F8300FE11}" type="pres">
      <dgm:prSet presAssocID="{524C7490-9020-9445-ABED-A82B4D91E492}" presName="arrow" presStyleLbl="bgShp" presStyleIdx="0" presStyleCnt="1" custLinFactNeighborX="-9923" custLinFactNeighborY="-627"/>
      <dgm:spPr>
        <a:solidFill>
          <a:schemeClr val="accent3">
            <a:lumMod val="60000"/>
            <a:lumOff val="40000"/>
          </a:schemeClr>
        </a:solidFill>
      </dgm:spPr>
    </dgm:pt>
    <dgm:pt modelId="{54D29C3A-BDB1-DD41-86F9-1A0BB7D9079C}" type="pres">
      <dgm:prSet presAssocID="{524C7490-9020-9445-ABED-A82B4D91E492}" presName="arrowDiagram3" presStyleCnt="0"/>
      <dgm:spPr/>
    </dgm:pt>
    <dgm:pt modelId="{0F8F91CE-07DF-0348-A9E2-2F151FA193A4}" type="pres">
      <dgm:prSet presAssocID="{4AF28FC6-4B7F-A146-A5A6-7A3FA3580EAC}" presName="bullet3a" presStyleLbl="node1" presStyleIdx="0" presStyleCnt="3"/>
      <dgm:spPr/>
    </dgm:pt>
    <dgm:pt modelId="{516F9AA1-38B2-794C-B641-37FD7A741C75}" type="pres">
      <dgm:prSet presAssocID="{4AF28FC6-4B7F-A146-A5A6-7A3FA3580EAC}" presName="textBox3a" presStyleLbl="revTx" presStyleIdx="0" presStyleCnt="3" custScaleX="10674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3115A99-64C6-A04D-8BAA-CEA6FB634F19}" type="pres">
      <dgm:prSet presAssocID="{238B2BAF-CB09-8848-82D5-932122C95FEB}" presName="bullet3b" presStyleLbl="node1" presStyleIdx="1" presStyleCnt="3"/>
      <dgm:spPr/>
    </dgm:pt>
    <dgm:pt modelId="{9655F30F-7908-4140-ACC1-EFBBB56F1E81}" type="pres">
      <dgm:prSet presAssocID="{238B2BAF-CB09-8848-82D5-932122C95FEB}" presName="textBox3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B7E6783-90F6-C249-B3BC-93994A27E0AF}" type="pres">
      <dgm:prSet presAssocID="{C520E6D1-FEEF-264B-BD31-056B70E3E719}" presName="bullet3c" presStyleLbl="node1" presStyleIdx="2" presStyleCnt="3"/>
      <dgm:spPr/>
    </dgm:pt>
    <dgm:pt modelId="{B01A39C1-FF1A-9F43-8AB3-B0E81EB64903}" type="pres">
      <dgm:prSet presAssocID="{C520E6D1-FEEF-264B-BD31-056B70E3E719}" presName="textBox3c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5495474-A689-0B4F-A362-B37992965117}" type="presOf" srcId="{C520E6D1-FEEF-264B-BD31-056B70E3E719}" destId="{B01A39C1-FF1A-9F43-8AB3-B0E81EB64903}" srcOrd="0" destOrd="0" presId="urn:microsoft.com/office/officeart/2005/8/layout/arrow2"/>
    <dgm:cxn modelId="{0908233F-8D97-8B48-9EA3-C2FC86C270FF}" type="presOf" srcId="{4AF28FC6-4B7F-A146-A5A6-7A3FA3580EAC}" destId="{516F9AA1-38B2-794C-B641-37FD7A741C75}" srcOrd="0" destOrd="0" presId="urn:microsoft.com/office/officeart/2005/8/layout/arrow2"/>
    <dgm:cxn modelId="{5828694E-B3FA-C246-B42F-9259AC9A6181}" type="presOf" srcId="{238B2BAF-CB09-8848-82D5-932122C95FEB}" destId="{9655F30F-7908-4140-ACC1-EFBBB56F1E81}" srcOrd="0" destOrd="0" presId="urn:microsoft.com/office/officeart/2005/8/layout/arrow2"/>
    <dgm:cxn modelId="{7A43CA4E-65EF-C444-9638-13ED1AB51360}" type="presOf" srcId="{524C7490-9020-9445-ABED-A82B4D91E492}" destId="{20D1E702-6217-994B-A2E0-C5BB9F7DA6F6}" srcOrd="0" destOrd="0" presId="urn:microsoft.com/office/officeart/2005/8/layout/arrow2"/>
    <dgm:cxn modelId="{2DCFA410-16E1-F744-ABCA-F0B13EE867CE}" srcId="{524C7490-9020-9445-ABED-A82B4D91E492}" destId="{C520E6D1-FEEF-264B-BD31-056B70E3E719}" srcOrd="2" destOrd="0" parTransId="{C2A7C0A6-8682-0349-8DD8-FBDBE1792EF3}" sibTransId="{ADBE4A7C-45EA-5840-BC52-DCD948484A48}"/>
    <dgm:cxn modelId="{7E01B3E9-4EEA-5146-9515-FEB0F34A63B8}" srcId="{524C7490-9020-9445-ABED-A82B4D91E492}" destId="{238B2BAF-CB09-8848-82D5-932122C95FEB}" srcOrd="1" destOrd="0" parTransId="{80A2C594-A24A-6343-BCFB-BA547A577CA8}" sibTransId="{B307D411-A579-7040-B663-A4FD4B23AA3C}"/>
    <dgm:cxn modelId="{0FC62787-6D21-E04E-9621-7A04A5B98E07}" srcId="{524C7490-9020-9445-ABED-A82B4D91E492}" destId="{4AF28FC6-4B7F-A146-A5A6-7A3FA3580EAC}" srcOrd="0" destOrd="0" parTransId="{61991697-245F-8F40-86A2-2F7194A4BA9C}" sibTransId="{8008D41C-E90F-D84D-AA56-C844FAF50769}"/>
    <dgm:cxn modelId="{2B1897AF-4B6C-F94C-A273-F33E66A0B78A}" type="presParOf" srcId="{20D1E702-6217-994B-A2E0-C5BB9F7DA6F6}" destId="{3F3DEB1A-9A52-764D-AE38-750F8300FE11}" srcOrd="0" destOrd="0" presId="urn:microsoft.com/office/officeart/2005/8/layout/arrow2"/>
    <dgm:cxn modelId="{61B1E9DF-825A-6249-A0EA-5A41BC818343}" type="presParOf" srcId="{20D1E702-6217-994B-A2E0-C5BB9F7DA6F6}" destId="{54D29C3A-BDB1-DD41-86F9-1A0BB7D9079C}" srcOrd="1" destOrd="0" presId="urn:microsoft.com/office/officeart/2005/8/layout/arrow2"/>
    <dgm:cxn modelId="{94E45DDF-F1C5-174F-B826-B5FFEC086222}" type="presParOf" srcId="{54D29C3A-BDB1-DD41-86F9-1A0BB7D9079C}" destId="{0F8F91CE-07DF-0348-A9E2-2F151FA193A4}" srcOrd="0" destOrd="0" presId="urn:microsoft.com/office/officeart/2005/8/layout/arrow2"/>
    <dgm:cxn modelId="{8DEDF3BF-4363-F941-9A52-24A4BC773942}" type="presParOf" srcId="{54D29C3A-BDB1-DD41-86F9-1A0BB7D9079C}" destId="{516F9AA1-38B2-794C-B641-37FD7A741C75}" srcOrd="1" destOrd="0" presId="urn:microsoft.com/office/officeart/2005/8/layout/arrow2"/>
    <dgm:cxn modelId="{55DA3497-5585-3B49-8C79-CA76B47DB028}" type="presParOf" srcId="{54D29C3A-BDB1-DD41-86F9-1A0BB7D9079C}" destId="{A3115A99-64C6-A04D-8BAA-CEA6FB634F19}" srcOrd="2" destOrd="0" presId="urn:microsoft.com/office/officeart/2005/8/layout/arrow2"/>
    <dgm:cxn modelId="{139832EC-7BBE-1247-AE98-C0AF14D429C7}" type="presParOf" srcId="{54D29C3A-BDB1-DD41-86F9-1A0BB7D9079C}" destId="{9655F30F-7908-4140-ACC1-EFBBB56F1E81}" srcOrd="3" destOrd="0" presId="urn:microsoft.com/office/officeart/2005/8/layout/arrow2"/>
    <dgm:cxn modelId="{8A7267DC-7268-154A-B7A5-04D62D83B476}" type="presParOf" srcId="{54D29C3A-BDB1-DD41-86F9-1A0BB7D9079C}" destId="{4B7E6783-90F6-C249-B3BC-93994A27E0AF}" srcOrd="4" destOrd="0" presId="urn:microsoft.com/office/officeart/2005/8/layout/arrow2"/>
    <dgm:cxn modelId="{C4BBF2FC-02DF-7949-9710-BF6A024B640D}" type="presParOf" srcId="{54D29C3A-BDB1-DD41-86F9-1A0BB7D9079C}" destId="{B01A39C1-FF1A-9F43-8AB3-B0E81EB64903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7AEFFD-2506-3242-A4F4-1D204BB0190C}" type="doc">
      <dgm:prSet loTypeId="urn:microsoft.com/office/officeart/2005/8/layout/pyramid1" loCatId="" qsTypeId="urn:microsoft.com/office/officeart/2005/8/quickstyle/simple1" qsCatId="simple" csTypeId="urn:microsoft.com/office/officeart/2005/8/colors/accent4_3" csCatId="accent4" phldr="1"/>
      <dgm:spPr/>
    </dgm:pt>
    <dgm:pt modelId="{34F81941-A562-AB4E-87B7-EE28858EDA5A}">
      <dgm:prSet phldrT="[Text]" custT="1"/>
      <dgm:spPr/>
      <dgm:t>
        <a:bodyPr/>
        <a:lstStyle/>
        <a:p>
          <a:r>
            <a:rPr lang="zh-CN" altLang="en-US" sz="1400" dirty="0" smtClean="0">
              <a:solidFill>
                <a:schemeClr val="tx2">
                  <a:lumMod val="10000"/>
                </a:schemeClr>
              </a:solidFill>
              <a:latin typeface="Al Nile" charset="-78"/>
              <a:ea typeface="Al Nile" charset="-78"/>
              <a:cs typeface="Al Nile" charset="-78"/>
            </a:rPr>
            <a:t>模型</a:t>
          </a:r>
          <a:br>
            <a:rPr lang="zh-CN" altLang="en-US" sz="1400" dirty="0" smtClean="0">
              <a:solidFill>
                <a:schemeClr val="tx2">
                  <a:lumMod val="10000"/>
                </a:schemeClr>
              </a:solidFill>
              <a:latin typeface="Al Nile" charset="-78"/>
              <a:ea typeface="Al Nile" charset="-78"/>
              <a:cs typeface="Al Nile" charset="-78"/>
            </a:rPr>
          </a:br>
          <a:r>
            <a:rPr lang="zh-CN" altLang="en-US" sz="1400" dirty="0" smtClean="0">
              <a:solidFill>
                <a:schemeClr val="tx2">
                  <a:lumMod val="10000"/>
                </a:schemeClr>
              </a:solidFill>
              <a:latin typeface="Al Nile" charset="-78"/>
              <a:ea typeface="Al Nile" charset="-78"/>
              <a:cs typeface="Al Nile" charset="-78"/>
            </a:rPr>
            <a:t>（选择，评估）</a:t>
          </a:r>
          <a:endParaRPr lang="en-US" sz="1400" dirty="0">
            <a:solidFill>
              <a:schemeClr val="tx2">
                <a:lumMod val="10000"/>
              </a:schemeClr>
            </a:solidFill>
            <a:latin typeface="Al Nile" charset="-78"/>
            <a:ea typeface="Al Nile" charset="-78"/>
            <a:cs typeface="Al Nile" charset="-78"/>
          </a:endParaRPr>
        </a:p>
      </dgm:t>
    </dgm:pt>
    <dgm:pt modelId="{3C373D74-E7B3-8F4F-A88A-F9E3933B2FE5}" type="parTrans" cxnId="{9497E7C1-4B14-7F42-96B2-12827EE272C6}">
      <dgm:prSet/>
      <dgm:spPr/>
      <dgm:t>
        <a:bodyPr/>
        <a:lstStyle/>
        <a:p>
          <a:endParaRPr lang="en-US"/>
        </a:p>
      </dgm:t>
    </dgm:pt>
    <dgm:pt modelId="{78E5658F-094D-5643-AC05-5965CCEA164F}" type="sibTrans" cxnId="{9497E7C1-4B14-7F42-96B2-12827EE272C6}">
      <dgm:prSet/>
      <dgm:spPr/>
      <dgm:t>
        <a:bodyPr/>
        <a:lstStyle/>
        <a:p>
          <a:endParaRPr lang="en-US"/>
        </a:p>
      </dgm:t>
    </dgm:pt>
    <dgm:pt modelId="{050FE8FB-AE6F-1C46-9747-AD5EBB068DB5}">
      <dgm:prSet phldrT="[Text]" custT="1"/>
      <dgm:spPr/>
      <dgm:t>
        <a:bodyPr/>
        <a:lstStyle/>
        <a:p>
          <a:pPr rtl="0"/>
          <a:r>
            <a:rPr kumimoji="0" lang="zh-CN" altLang="en-US" sz="1400" b="0" i="0" u="none" strike="noStrike" cap="none" spc="0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特征工程</a:t>
          </a:r>
          <a:br>
            <a:rPr kumimoji="0" lang="zh-CN" altLang="en-US" sz="1400" b="0" i="0" u="none" strike="noStrike" cap="none" spc="0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</a:br>
          <a:r>
            <a:rPr lang="zh-CN" altLang="en-US" sz="1400" dirty="0" smtClean="0">
              <a:solidFill>
                <a:schemeClr val="tx2">
                  <a:lumMod val="10000"/>
                </a:schemeClr>
              </a:solidFill>
              <a:latin typeface="Al Nile" charset="-78"/>
              <a:ea typeface="Al Nile" charset="-78"/>
              <a:cs typeface="Al Nile" charset="-78"/>
            </a:rPr>
            <a:t>（特征选择、提取、投建）</a:t>
          </a:r>
          <a:endParaRPr lang="en-US" sz="1400" dirty="0">
            <a:solidFill>
              <a:schemeClr val="tx2">
                <a:lumMod val="10000"/>
              </a:schemeClr>
            </a:solidFill>
            <a:latin typeface="Al Nile" charset="-78"/>
            <a:ea typeface="Al Nile" charset="-78"/>
            <a:cs typeface="Al Nile" charset="-78"/>
          </a:endParaRPr>
        </a:p>
      </dgm:t>
    </dgm:pt>
    <dgm:pt modelId="{2FB4E584-140B-3544-A5E6-3DF9F9711C4B}" type="parTrans" cxnId="{F57EBA04-480E-3A43-A62F-838F573186E6}">
      <dgm:prSet/>
      <dgm:spPr/>
      <dgm:t>
        <a:bodyPr/>
        <a:lstStyle/>
        <a:p>
          <a:endParaRPr lang="en-US"/>
        </a:p>
      </dgm:t>
    </dgm:pt>
    <dgm:pt modelId="{66071951-7A19-3E40-A0AB-075D21BE4F33}" type="sibTrans" cxnId="{F57EBA04-480E-3A43-A62F-838F573186E6}">
      <dgm:prSet/>
      <dgm:spPr/>
      <dgm:t>
        <a:bodyPr/>
        <a:lstStyle/>
        <a:p>
          <a:endParaRPr lang="en-US"/>
        </a:p>
      </dgm:t>
    </dgm:pt>
    <dgm:pt modelId="{97D80952-A346-A34A-BD05-A968C8AF2A38}">
      <dgm:prSet phldrT="[Text]" custT="1"/>
      <dgm:spPr/>
      <dgm:t>
        <a:bodyPr/>
        <a:lstStyle/>
        <a:p>
          <a:r>
            <a:rPr kumimoji="0" lang="zh-CN" altLang="en-US" sz="1400" b="0" i="0" u="none" strike="noStrike" cap="none" spc="0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数据</a:t>
          </a:r>
          <a:endParaRPr kumimoji="0" lang="en-US" altLang="zh-CN" sz="1400" b="0" i="0" u="none" strike="noStrike" cap="none" spc="0" normalizeH="0" baseline="0" dirty="0" smtClean="0">
            <a:ln>
              <a:noFill/>
            </a:ln>
            <a:solidFill>
              <a:schemeClr val="tx2">
                <a:lumMod val="10000"/>
              </a:schemeClr>
            </a:solidFill>
            <a:effectLst/>
            <a:uFillTx/>
            <a:latin typeface="Al Nile" charset="-78"/>
            <a:ea typeface="Al Nile" charset="-78"/>
            <a:cs typeface="Al Nile" charset="-78"/>
            <a:sym typeface="Arial Black"/>
          </a:endParaRPr>
        </a:p>
        <a:p>
          <a:pPr rtl="0"/>
          <a:r>
            <a:rPr lang="zh-CN" altLang="en-US" sz="1400" dirty="0" smtClean="0">
              <a:solidFill>
                <a:schemeClr val="tx2">
                  <a:lumMod val="10000"/>
                </a:schemeClr>
              </a:solidFill>
              <a:latin typeface="Al Nile" charset="-78"/>
              <a:ea typeface="Al Nile" charset="-78"/>
              <a:cs typeface="Al Nile" charset="-78"/>
            </a:rPr>
            <a:t>（内外部数据采集、预处理）</a:t>
          </a:r>
          <a:endParaRPr lang="en-US" sz="1400" dirty="0">
            <a:solidFill>
              <a:schemeClr val="tx2">
                <a:lumMod val="10000"/>
              </a:schemeClr>
            </a:solidFill>
            <a:latin typeface="Al Nile" charset="-78"/>
            <a:ea typeface="Al Nile" charset="-78"/>
            <a:cs typeface="Al Nile" charset="-78"/>
          </a:endParaRPr>
        </a:p>
      </dgm:t>
    </dgm:pt>
    <dgm:pt modelId="{D8665EB6-88D7-034F-B0A3-C833E33FA9D0}" type="parTrans" cxnId="{8F1ED20E-FF9D-A440-9F51-0726D222E6ED}">
      <dgm:prSet/>
      <dgm:spPr/>
      <dgm:t>
        <a:bodyPr/>
        <a:lstStyle/>
        <a:p>
          <a:endParaRPr lang="en-US"/>
        </a:p>
      </dgm:t>
    </dgm:pt>
    <dgm:pt modelId="{AA577A83-2025-D840-BE25-510D1CAE0AA0}" type="sibTrans" cxnId="{8F1ED20E-FF9D-A440-9F51-0726D222E6ED}">
      <dgm:prSet/>
      <dgm:spPr/>
      <dgm:t>
        <a:bodyPr/>
        <a:lstStyle/>
        <a:p>
          <a:endParaRPr lang="en-US"/>
        </a:p>
      </dgm:t>
    </dgm:pt>
    <dgm:pt modelId="{F2B30E19-6A46-4246-A77F-447DF633D549}" type="pres">
      <dgm:prSet presAssocID="{E07AEFFD-2506-3242-A4F4-1D204BB0190C}" presName="Name0" presStyleCnt="0">
        <dgm:presLayoutVars>
          <dgm:dir/>
          <dgm:animLvl val="lvl"/>
          <dgm:resizeHandles val="exact"/>
        </dgm:presLayoutVars>
      </dgm:prSet>
      <dgm:spPr/>
    </dgm:pt>
    <dgm:pt modelId="{13849ED8-8038-E548-A320-10981FFB3374}" type="pres">
      <dgm:prSet presAssocID="{34F81941-A562-AB4E-87B7-EE28858EDA5A}" presName="Name8" presStyleCnt="0"/>
      <dgm:spPr/>
    </dgm:pt>
    <dgm:pt modelId="{D6E18FD6-D8D5-B748-9447-0358E407F262}" type="pres">
      <dgm:prSet presAssocID="{34F81941-A562-AB4E-87B7-EE28858EDA5A}" presName="level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D152CA8-7DD0-DA42-BF0E-A63CD137ADDF}" type="pres">
      <dgm:prSet presAssocID="{34F81941-A562-AB4E-87B7-EE28858EDA5A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CA624E-E3D1-CF47-9D32-48C5B4DF9017}" type="pres">
      <dgm:prSet presAssocID="{050FE8FB-AE6F-1C46-9747-AD5EBB068DB5}" presName="Name8" presStyleCnt="0"/>
      <dgm:spPr/>
    </dgm:pt>
    <dgm:pt modelId="{C503DBDC-C368-784B-A16A-4FBFA935C61E}" type="pres">
      <dgm:prSet presAssocID="{050FE8FB-AE6F-1C46-9747-AD5EBB068DB5}" presName="level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94444A-8436-4448-B58E-726769AB11A2}" type="pres">
      <dgm:prSet presAssocID="{050FE8FB-AE6F-1C46-9747-AD5EBB068DB5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63CB2DD-899B-2B4D-ABFC-B5D18455601B}" type="pres">
      <dgm:prSet presAssocID="{97D80952-A346-A34A-BD05-A968C8AF2A38}" presName="Name8" presStyleCnt="0"/>
      <dgm:spPr/>
    </dgm:pt>
    <dgm:pt modelId="{A9937805-6C9D-BE42-AC2A-2250C9B3CC3D}" type="pres">
      <dgm:prSet presAssocID="{97D80952-A346-A34A-BD05-A968C8AF2A38}" presName="level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E962F1-161D-2E4E-9F8E-5613883EDC48}" type="pres">
      <dgm:prSet presAssocID="{97D80952-A346-A34A-BD05-A968C8AF2A38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97E7C1-4B14-7F42-96B2-12827EE272C6}" srcId="{E07AEFFD-2506-3242-A4F4-1D204BB0190C}" destId="{34F81941-A562-AB4E-87B7-EE28858EDA5A}" srcOrd="0" destOrd="0" parTransId="{3C373D74-E7B3-8F4F-A88A-F9E3933B2FE5}" sibTransId="{78E5658F-094D-5643-AC05-5965CCEA164F}"/>
    <dgm:cxn modelId="{C7DB55AB-73B9-1343-AEC5-0DFB64B990C9}" type="presOf" srcId="{34F81941-A562-AB4E-87B7-EE28858EDA5A}" destId="{8D152CA8-7DD0-DA42-BF0E-A63CD137ADDF}" srcOrd="1" destOrd="0" presId="urn:microsoft.com/office/officeart/2005/8/layout/pyramid1"/>
    <dgm:cxn modelId="{23B1296B-5E1A-E84F-AA4B-9B2CD2105691}" type="presOf" srcId="{050FE8FB-AE6F-1C46-9747-AD5EBB068DB5}" destId="{F194444A-8436-4448-B58E-726769AB11A2}" srcOrd="1" destOrd="0" presId="urn:microsoft.com/office/officeart/2005/8/layout/pyramid1"/>
    <dgm:cxn modelId="{40C8011E-3A36-D744-952B-4FB5A406D156}" type="presOf" srcId="{E07AEFFD-2506-3242-A4F4-1D204BB0190C}" destId="{F2B30E19-6A46-4246-A77F-447DF633D549}" srcOrd="0" destOrd="0" presId="urn:microsoft.com/office/officeart/2005/8/layout/pyramid1"/>
    <dgm:cxn modelId="{07D08A97-0717-DC4C-930C-3619082345A6}" type="presOf" srcId="{97D80952-A346-A34A-BD05-A968C8AF2A38}" destId="{A9937805-6C9D-BE42-AC2A-2250C9B3CC3D}" srcOrd="0" destOrd="0" presId="urn:microsoft.com/office/officeart/2005/8/layout/pyramid1"/>
    <dgm:cxn modelId="{F57EBA04-480E-3A43-A62F-838F573186E6}" srcId="{E07AEFFD-2506-3242-A4F4-1D204BB0190C}" destId="{050FE8FB-AE6F-1C46-9747-AD5EBB068DB5}" srcOrd="1" destOrd="0" parTransId="{2FB4E584-140B-3544-A5E6-3DF9F9711C4B}" sibTransId="{66071951-7A19-3E40-A0AB-075D21BE4F33}"/>
    <dgm:cxn modelId="{8169BC13-51AF-894B-89EC-C2986142E49A}" type="presOf" srcId="{34F81941-A562-AB4E-87B7-EE28858EDA5A}" destId="{D6E18FD6-D8D5-B748-9447-0358E407F262}" srcOrd="0" destOrd="0" presId="urn:microsoft.com/office/officeart/2005/8/layout/pyramid1"/>
    <dgm:cxn modelId="{8F1ED20E-FF9D-A440-9F51-0726D222E6ED}" srcId="{E07AEFFD-2506-3242-A4F4-1D204BB0190C}" destId="{97D80952-A346-A34A-BD05-A968C8AF2A38}" srcOrd="2" destOrd="0" parTransId="{D8665EB6-88D7-034F-B0A3-C833E33FA9D0}" sibTransId="{AA577A83-2025-D840-BE25-510D1CAE0AA0}"/>
    <dgm:cxn modelId="{28B98070-E825-E14E-A335-AA47E2B37830}" type="presOf" srcId="{97D80952-A346-A34A-BD05-A968C8AF2A38}" destId="{F7E962F1-161D-2E4E-9F8E-5613883EDC48}" srcOrd="1" destOrd="0" presId="urn:microsoft.com/office/officeart/2005/8/layout/pyramid1"/>
    <dgm:cxn modelId="{227B33EF-01D1-FB4C-93ED-35F3BDF9786D}" type="presOf" srcId="{050FE8FB-AE6F-1C46-9747-AD5EBB068DB5}" destId="{C503DBDC-C368-784B-A16A-4FBFA935C61E}" srcOrd="0" destOrd="0" presId="urn:microsoft.com/office/officeart/2005/8/layout/pyramid1"/>
    <dgm:cxn modelId="{C0E3664F-B405-634E-BB29-5B263B2BFB90}" type="presParOf" srcId="{F2B30E19-6A46-4246-A77F-447DF633D549}" destId="{13849ED8-8038-E548-A320-10981FFB3374}" srcOrd="0" destOrd="0" presId="urn:microsoft.com/office/officeart/2005/8/layout/pyramid1"/>
    <dgm:cxn modelId="{64B44C35-2FF8-A643-AA71-23BA8236F9DD}" type="presParOf" srcId="{13849ED8-8038-E548-A320-10981FFB3374}" destId="{D6E18FD6-D8D5-B748-9447-0358E407F262}" srcOrd="0" destOrd="0" presId="urn:microsoft.com/office/officeart/2005/8/layout/pyramid1"/>
    <dgm:cxn modelId="{730A7713-0D02-4247-9941-AE0B4D4BBB40}" type="presParOf" srcId="{13849ED8-8038-E548-A320-10981FFB3374}" destId="{8D152CA8-7DD0-DA42-BF0E-A63CD137ADDF}" srcOrd="1" destOrd="0" presId="urn:microsoft.com/office/officeart/2005/8/layout/pyramid1"/>
    <dgm:cxn modelId="{EBDBF2EB-C7BB-514B-9D3A-7763BFC37303}" type="presParOf" srcId="{F2B30E19-6A46-4246-A77F-447DF633D549}" destId="{6CCA624E-E3D1-CF47-9D32-48C5B4DF9017}" srcOrd="1" destOrd="0" presId="urn:microsoft.com/office/officeart/2005/8/layout/pyramid1"/>
    <dgm:cxn modelId="{659A4F4F-D618-7146-B565-288C6A6CE45C}" type="presParOf" srcId="{6CCA624E-E3D1-CF47-9D32-48C5B4DF9017}" destId="{C503DBDC-C368-784B-A16A-4FBFA935C61E}" srcOrd="0" destOrd="0" presId="urn:microsoft.com/office/officeart/2005/8/layout/pyramid1"/>
    <dgm:cxn modelId="{4248E91F-78A1-4244-BE98-0076A82A03F6}" type="presParOf" srcId="{6CCA624E-E3D1-CF47-9D32-48C5B4DF9017}" destId="{F194444A-8436-4448-B58E-726769AB11A2}" srcOrd="1" destOrd="0" presId="urn:microsoft.com/office/officeart/2005/8/layout/pyramid1"/>
    <dgm:cxn modelId="{75ABA8CD-9599-7247-BECB-CDD0B4075624}" type="presParOf" srcId="{F2B30E19-6A46-4246-A77F-447DF633D549}" destId="{563CB2DD-899B-2B4D-ABFC-B5D18455601B}" srcOrd="2" destOrd="0" presId="urn:microsoft.com/office/officeart/2005/8/layout/pyramid1"/>
    <dgm:cxn modelId="{7ABB5777-F375-C049-A62A-12EC5A6F63A8}" type="presParOf" srcId="{563CB2DD-899B-2B4D-ABFC-B5D18455601B}" destId="{A9937805-6C9D-BE42-AC2A-2250C9B3CC3D}" srcOrd="0" destOrd="0" presId="urn:microsoft.com/office/officeart/2005/8/layout/pyramid1"/>
    <dgm:cxn modelId="{0627549D-7BA1-044A-9407-7919C95D3581}" type="presParOf" srcId="{563CB2DD-899B-2B4D-ABFC-B5D18455601B}" destId="{F7E962F1-161D-2E4E-9F8E-5613883EDC4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8F93B4-5A55-DD4A-8D42-EC865E210762}">
      <dsp:nvSpPr>
        <dsp:cNvPr id="0" name=""/>
        <dsp:cNvSpPr/>
      </dsp:nvSpPr>
      <dsp:spPr>
        <a:xfrm>
          <a:off x="241870" y="1489017"/>
          <a:ext cx="1324476" cy="66223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dirty="0" smtClean="0"/>
            <a:t>准入模型</a:t>
          </a:r>
          <a:endParaRPr lang="en-US" sz="1900" kern="1200" dirty="0"/>
        </a:p>
      </dsp:txBody>
      <dsp:txXfrm>
        <a:off x="261266" y="1508413"/>
        <a:ext cx="1285684" cy="623446"/>
      </dsp:txXfrm>
    </dsp:sp>
    <dsp:sp modelId="{9BFAF468-2FC0-8149-8BD8-16682673CEC4}">
      <dsp:nvSpPr>
        <dsp:cNvPr id="0" name=""/>
        <dsp:cNvSpPr/>
      </dsp:nvSpPr>
      <dsp:spPr>
        <a:xfrm>
          <a:off x="374317" y="2151255"/>
          <a:ext cx="132445" cy="4966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6678"/>
              </a:lnTo>
              <a:lnTo>
                <a:pt x="132445" y="496678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65B41B-9ADE-1F48-BB7D-3ED8AF5E5945}">
      <dsp:nvSpPr>
        <dsp:cNvPr id="0" name=""/>
        <dsp:cNvSpPr/>
      </dsp:nvSpPr>
      <dsp:spPr>
        <a:xfrm>
          <a:off x="506762" y="2316814"/>
          <a:ext cx="1059581" cy="662238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线下为主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流程较长</a:t>
          </a:r>
          <a:endParaRPr lang="en-US" sz="1600" kern="1200" dirty="0"/>
        </a:p>
      </dsp:txBody>
      <dsp:txXfrm>
        <a:off x="526158" y="2336210"/>
        <a:ext cx="1020789" cy="623446"/>
      </dsp:txXfrm>
    </dsp:sp>
    <dsp:sp modelId="{5A313AB4-74A9-1E45-8DD2-6EA86D6D7CFA}">
      <dsp:nvSpPr>
        <dsp:cNvPr id="0" name=""/>
        <dsp:cNvSpPr/>
      </dsp:nvSpPr>
      <dsp:spPr>
        <a:xfrm>
          <a:off x="374317" y="2151255"/>
          <a:ext cx="132445" cy="1324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4476"/>
              </a:lnTo>
              <a:lnTo>
                <a:pt x="132445" y="1324476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D327C4-209F-FE4B-843C-9431E01BE1AF}">
      <dsp:nvSpPr>
        <dsp:cNvPr id="0" name=""/>
        <dsp:cNvSpPr/>
      </dsp:nvSpPr>
      <dsp:spPr>
        <a:xfrm>
          <a:off x="506762" y="3144612"/>
          <a:ext cx="1059581" cy="662238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线上为主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快速审批</a:t>
          </a:r>
          <a:endParaRPr lang="en-US" sz="1600" kern="1200" dirty="0"/>
        </a:p>
      </dsp:txBody>
      <dsp:txXfrm>
        <a:off x="526158" y="3164008"/>
        <a:ext cx="1020789" cy="623446"/>
      </dsp:txXfrm>
    </dsp:sp>
    <dsp:sp modelId="{06300884-7CAD-0344-AA42-F99D1AE921B0}">
      <dsp:nvSpPr>
        <dsp:cNvPr id="0" name=""/>
        <dsp:cNvSpPr/>
      </dsp:nvSpPr>
      <dsp:spPr>
        <a:xfrm>
          <a:off x="2824295" y="1541916"/>
          <a:ext cx="1324476" cy="66223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>
              <a:latin typeface="PingFang SC Light"/>
            </a:rPr>
            <a:t>初始授信额度模型</a:t>
          </a:r>
          <a:endParaRPr lang="en-US" sz="1900" kern="1200" dirty="0"/>
        </a:p>
      </dsp:txBody>
      <dsp:txXfrm>
        <a:off x="2843691" y="1561312"/>
        <a:ext cx="1285684" cy="623446"/>
      </dsp:txXfrm>
    </dsp:sp>
    <dsp:sp modelId="{ABB2CD52-E88A-EC4A-8AFF-49103BA2656B}">
      <dsp:nvSpPr>
        <dsp:cNvPr id="0" name=""/>
        <dsp:cNvSpPr/>
      </dsp:nvSpPr>
      <dsp:spPr>
        <a:xfrm>
          <a:off x="2956742" y="2204155"/>
          <a:ext cx="132442" cy="4966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6678"/>
              </a:lnTo>
              <a:lnTo>
                <a:pt x="132442" y="496678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3B03E0-E5B9-1748-A4F1-57108B9F3265}">
      <dsp:nvSpPr>
        <dsp:cNvPr id="0" name=""/>
        <dsp:cNvSpPr/>
      </dsp:nvSpPr>
      <dsp:spPr>
        <a:xfrm>
          <a:off x="3089185" y="2369714"/>
          <a:ext cx="1059581" cy="662238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人工经验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有限参考</a:t>
          </a:r>
          <a:endParaRPr lang="en-US" sz="1600" kern="1200" dirty="0"/>
        </a:p>
      </dsp:txBody>
      <dsp:txXfrm>
        <a:off x="3108581" y="2389110"/>
        <a:ext cx="1020789" cy="623446"/>
      </dsp:txXfrm>
    </dsp:sp>
    <dsp:sp modelId="{99773D79-FDAD-0141-9858-4E1AEFE79E4C}">
      <dsp:nvSpPr>
        <dsp:cNvPr id="0" name=""/>
        <dsp:cNvSpPr/>
      </dsp:nvSpPr>
      <dsp:spPr>
        <a:xfrm>
          <a:off x="2956742" y="2204155"/>
          <a:ext cx="132442" cy="132447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4476"/>
              </a:lnTo>
              <a:lnTo>
                <a:pt x="132442" y="1324476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BCF408-4D28-1744-9D0F-DDAAD76B038B}">
      <dsp:nvSpPr>
        <dsp:cNvPr id="0" name=""/>
        <dsp:cNvSpPr/>
      </dsp:nvSpPr>
      <dsp:spPr>
        <a:xfrm>
          <a:off x="3089185" y="3197512"/>
          <a:ext cx="1059581" cy="662238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多维特征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快速放贷</a:t>
          </a:r>
          <a:endParaRPr lang="en-US" sz="1600" kern="1200" dirty="0"/>
        </a:p>
      </dsp:txBody>
      <dsp:txXfrm>
        <a:off x="3108581" y="3216908"/>
        <a:ext cx="1020789" cy="623446"/>
      </dsp:txXfrm>
    </dsp:sp>
    <dsp:sp modelId="{937DC8A8-401A-C54C-9D1C-5B9BFDDC531D}">
      <dsp:nvSpPr>
        <dsp:cNvPr id="0" name=""/>
        <dsp:cNvSpPr/>
      </dsp:nvSpPr>
      <dsp:spPr>
        <a:xfrm>
          <a:off x="5424719" y="1522440"/>
          <a:ext cx="1324476" cy="66223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>
              <a:latin typeface="PingFang SC Light"/>
            </a:rPr>
            <a:t>新客户估价模型</a:t>
          </a:r>
          <a:endParaRPr lang="en-US" sz="1900" kern="1200" dirty="0"/>
        </a:p>
      </dsp:txBody>
      <dsp:txXfrm>
        <a:off x="5444115" y="1541836"/>
        <a:ext cx="1285684" cy="623446"/>
      </dsp:txXfrm>
    </dsp:sp>
    <dsp:sp modelId="{6660CF19-D45C-644E-948D-1A93D3D81BCA}">
      <dsp:nvSpPr>
        <dsp:cNvPr id="0" name=""/>
        <dsp:cNvSpPr/>
      </dsp:nvSpPr>
      <dsp:spPr>
        <a:xfrm>
          <a:off x="5557167" y="2184678"/>
          <a:ext cx="147393" cy="5183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8300"/>
              </a:lnTo>
              <a:lnTo>
                <a:pt x="147393" y="51830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E93792-D7F2-F747-A2AE-93A3BAA5139E}">
      <dsp:nvSpPr>
        <dsp:cNvPr id="0" name=""/>
        <dsp:cNvSpPr/>
      </dsp:nvSpPr>
      <dsp:spPr>
        <a:xfrm>
          <a:off x="5704560" y="2371860"/>
          <a:ext cx="1059581" cy="662238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传统经验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缺乏细分</a:t>
          </a:r>
          <a:endParaRPr lang="en-US" sz="1600" kern="1200" dirty="0"/>
        </a:p>
      </dsp:txBody>
      <dsp:txXfrm>
        <a:off x="5723956" y="2391256"/>
        <a:ext cx="1020789" cy="623446"/>
      </dsp:txXfrm>
    </dsp:sp>
    <dsp:sp modelId="{37BBBD76-9E78-2C45-80FA-8D18A2BF66EF}">
      <dsp:nvSpPr>
        <dsp:cNvPr id="0" name=""/>
        <dsp:cNvSpPr/>
      </dsp:nvSpPr>
      <dsp:spPr>
        <a:xfrm>
          <a:off x="5557167" y="2184678"/>
          <a:ext cx="122164" cy="13450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5026"/>
              </a:lnTo>
              <a:lnTo>
                <a:pt x="122164" y="1345026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B90382-2491-BE4D-B60C-349083FEE83B}">
      <dsp:nvSpPr>
        <dsp:cNvPr id="0" name=""/>
        <dsp:cNvSpPr/>
      </dsp:nvSpPr>
      <dsp:spPr>
        <a:xfrm>
          <a:off x="5679332" y="3198585"/>
          <a:ext cx="1093752" cy="662238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消费还款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预估价值</a:t>
          </a:r>
          <a:endParaRPr lang="en-US" sz="1600" kern="1200" dirty="0"/>
        </a:p>
      </dsp:txBody>
      <dsp:txXfrm>
        <a:off x="5698728" y="3217981"/>
        <a:ext cx="1054960" cy="623446"/>
      </dsp:txXfrm>
    </dsp:sp>
    <dsp:sp modelId="{69184A84-0202-3745-BBC2-0B411CEBF052}">
      <dsp:nvSpPr>
        <dsp:cNvPr id="0" name=""/>
        <dsp:cNvSpPr/>
      </dsp:nvSpPr>
      <dsp:spPr>
        <a:xfrm>
          <a:off x="246585" y="4131652"/>
          <a:ext cx="1324476" cy="66223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>
              <a:latin typeface="PingFang SC Light"/>
            </a:rPr>
            <a:t>贷后额度管理模型</a:t>
          </a:r>
          <a:endParaRPr lang="en-US" sz="1900" kern="1200" dirty="0"/>
        </a:p>
      </dsp:txBody>
      <dsp:txXfrm>
        <a:off x="265981" y="4151048"/>
        <a:ext cx="1285684" cy="623446"/>
      </dsp:txXfrm>
    </dsp:sp>
    <dsp:sp modelId="{EEA1A23B-F1A1-3A42-A38C-593F75DF129B}">
      <dsp:nvSpPr>
        <dsp:cNvPr id="0" name=""/>
        <dsp:cNvSpPr/>
      </dsp:nvSpPr>
      <dsp:spPr>
        <a:xfrm>
          <a:off x="379033" y="4793891"/>
          <a:ext cx="106506" cy="5069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6950"/>
              </a:lnTo>
              <a:lnTo>
                <a:pt x="106506" y="506950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21AB21-D1F1-4540-AD88-72993D36F1F3}">
      <dsp:nvSpPr>
        <dsp:cNvPr id="0" name=""/>
        <dsp:cNvSpPr/>
      </dsp:nvSpPr>
      <dsp:spPr>
        <a:xfrm>
          <a:off x="485539" y="4969722"/>
          <a:ext cx="1059581" cy="662238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固定额度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被动调整</a:t>
          </a:r>
          <a:endParaRPr lang="en-US" sz="1600" kern="1200" dirty="0"/>
        </a:p>
      </dsp:txBody>
      <dsp:txXfrm>
        <a:off x="504935" y="4989118"/>
        <a:ext cx="1020789" cy="623446"/>
      </dsp:txXfrm>
    </dsp:sp>
    <dsp:sp modelId="{48E9C3A8-9ADD-E842-9E8E-E1ECBF973C48}">
      <dsp:nvSpPr>
        <dsp:cNvPr id="0" name=""/>
        <dsp:cNvSpPr/>
      </dsp:nvSpPr>
      <dsp:spPr>
        <a:xfrm>
          <a:off x="333313" y="4793891"/>
          <a:ext cx="91440" cy="131962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19622"/>
              </a:lnTo>
              <a:lnTo>
                <a:pt x="111665" y="131962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6BA3F6-28D5-5044-9957-617D2C06680F}">
      <dsp:nvSpPr>
        <dsp:cNvPr id="0" name=""/>
        <dsp:cNvSpPr/>
      </dsp:nvSpPr>
      <dsp:spPr>
        <a:xfrm>
          <a:off x="444978" y="5782394"/>
          <a:ext cx="1059581" cy="662238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发掘潜力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主动调整</a:t>
          </a:r>
          <a:endParaRPr lang="en-US" sz="1600" kern="1200" dirty="0"/>
        </a:p>
      </dsp:txBody>
      <dsp:txXfrm>
        <a:off x="464374" y="5801790"/>
        <a:ext cx="1020789" cy="623446"/>
      </dsp:txXfrm>
    </dsp:sp>
    <dsp:sp modelId="{C7C9784B-B1A1-1E4B-9D80-886B3B777CC6}">
      <dsp:nvSpPr>
        <dsp:cNvPr id="0" name=""/>
        <dsp:cNvSpPr/>
      </dsp:nvSpPr>
      <dsp:spPr>
        <a:xfrm>
          <a:off x="2833884" y="4174281"/>
          <a:ext cx="1324476" cy="66223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>
              <a:latin typeface="PingFang SC Light"/>
            </a:rPr>
            <a:t>存量客户收益模型</a:t>
          </a:r>
          <a:endParaRPr lang="en-US" sz="1900" kern="1200" dirty="0"/>
        </a:p>
      </dsp:txBody>
      <dsp:txXfrm>
        <a:off x="2853280" y="4193677"/>
        <a:ext cx="1285684" cy="623446"/>
      </dsp:txXfrm>
    </dsp:sp>
    <dsp:sp modelId="{D2BEA262-F32B-4946-953D-8D634EF8AE45}">
      <dsp:nvSpPr>
        <dsp:cNvPr id="0" name=""/>
        <dsp:cNvSpPr/>
      </dsp:nvSpPr>
      <dsp:spPr>
        <a:xfrm>
          <a:off x="2966332" y="4836519"/>
          <a:ext cx="132442" cy="4966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6678"/>
              </a:lnTo>
              <a:lnTo>
                <a:pt x="132442" y="496678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B6B1AA-D433-C64D-9D36-6614B6324C83}">
      <dsp:nvSpPr>
        <dsp:cNvPr id="0" name=""/>
        <dsp:cNvSpPr/>
      </dsp:nvSpPr>
      <dsp:spPr>
        <a:xfrm>
          <a:off x="3098774" y="5002079"/>
          <a:ext cx="1059581" cy="662238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随机访问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响应率低</a:t>
          </a:r>
          <a:endParaRPr lang="en-US" sz="1600" kern="1200" dirty="0"/>
        </a:p>
      </dsp:txBody>
      <dsp:txXfrm>
        <a:off x="3118170" y="5021475"/>
        <a:ext cx="1020789" cy="623446"/>
      </dsp:txXfrm>
    </dsp:sp>
    <dsp:sp modelId="{EB67657E-ABF0-7E47-AD08-065205066E84}">
      <dsp:nvSpPr>
        <dsp:cNvPr id="0" name=""/>
        <dsp:cNvSpPr/>
      </dsp:nvSpPr>
      <dsp:spPr>
        <a:xfrm>
          <a:off x="2966332" y="4836519"/>
          <a:ext cx="152532" cy="1299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99689"/>
              </a:lnTo>
              <a:lnTo>
                <a:pt x="152532" y="1299689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096F59-7ABD-A849-886A-B4C5C4664006}">
      <dsp:nvSpPr>
        <dsp:cNvPr id="0" name=""/>
        <dsp:cNvSpPr/>
      </dsp:nvSpPr>
      <dsp:spPr>
        <a:xfrm>
          <a:off x="3118864" y="5805089"/>
          <a:ext cx="1059581" cy="662238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行为挖掘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盘活用户</a:t>
          </a:r>
          <a:endParaRPr lang="en-US" sz="1600" kern="1200" dirty="0"/>
        </a:p>
      </dsp:txBody>
      <dsp:txXfrm>
        <a:off x="3138260" y="5824485"/>
        <a:ext cx="1020789" cy="623446"/>
      </dsp:txXfrm>
    </dsp:sp>
    <dsp:sp modelId="{93A707EA-4350-F04F-8EC6-00464FF67962}">
      <dsp:nvSpPr>
        <dsp:cNvPr id="0" name=""/>
        <dsp:cNvSpPr/>
      </dsp:nvSpPr>
      <dsp:spPr>
        <a:xfrm>
          <a:off x="5393210" y="4195903"/>
          <a:ext cx="1324476" cy="66223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900" kern="1200" smtClean="0">
              <a:latin typeface="PingFang SC Light"/>
            </a:rPr>
            <a:t>贷后风险管理模型</a:t>
          </a:r>
          <a:endParaRPr lang="en-US" sz="1900" kern="1200" dirty="0"/>
        </a:p>
      </dsp:txBody>
      <dsp:txXfrm>
        <a:off x="5412606" y="4215299"/>
        <a:ext cx="1285684" cy="623446"/>
      </dsp:txXfrm>
    </dsp:sp>
    <dsp:sp modelId="{A340B6FB-ABE8-AA49-B313-62202D981799}">
      <dsp:nvSpPr>
        <dsp:cNvPr id="0" name=""/>
        <dsp:cNvSpPr/>
      </dsp:nvSpPr>
      <dsp:spPr>
        <a:xfrm>
          <a:off x="5525658" y="4858141"/>
          <a:ext cx="121653" cy="5399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9922"/>
              </a:lnTo>
              <a:lnTo>
                <a:pt x="121653" y="539922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567647-46CC-884E-9EB0-192C0500520B}">
      <dsp:nvSpPr>
        <dsp:cNvPr id="0" name=""/>
        <dsp:cNvSpPr/>
      </dsp:nvSpPr>
      <dsp:spPr>
        <a:xfrm>
          <a:off x="5647311" y="5066945"/>
          <a:ext cx="1059581" cy="662238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规则为主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常有漏网</a:t>
          </a:r>
          <a:endParaRPr lang="en-US" sz="1600" kern="1200" dirty="0"/>
        </a:p>
      </dsp:txBody>
      <dsp:txXfrm>
        <a:off x="5666707" y="5086341"/>
        <a:ext cx="1020789" cy="623446"/>
      </dsp:txXfrm>
    </dsp:sp>
    <dsp:sp modelId="{2C6E93C8-1A5E-7B46-B07A-BA4479ACF2D7}">
      <dsp:nvSpPr>
        <dsp:cNvPr id="0" name=""/>
        <dsp:cNvSpPr/>
      </dsp:nvSpPr>
      <dsp:spPr>
        <a:xfrm>
          <a:off x="5525658" y="4858141"/>
          <a:ext cx="98416" cy="13488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8833"/>
              </a:lnTo>
              <a:lnTo>
                <a:pt x="98416" y="1348833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20056B-3890-324D-BB8D-3F8F0220F76A}">
      <dsp:nvSpPr>
        <dsp:cNvPr id="0" name=""/>
        <dsp:cNvSpPr/>
      </dsp:nvSpPr>
      <dsp:spPr>
        <a:xfrm>
          <a:off x="5624074" y="5875856"/>
          <a:ext cx="1059581" cy="662238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数据追踪</a:t>
          </a:r>
          <a:endParaRPr lang="en-US" altLang="zh-CN" sz="1600" kern="1200" dirty="0" smtClean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预警风险</a:t>
          </a:r>
          <a:endParaRPr lang="en-US" sz="1600" kern="1200" dirty="0"/>
        </a:p>
      </dsp:txBody>
      <dsp:txXfrm>
        <a:off x="5643470" y="5895252"/>
        <a:ext cx="1020789" cy="6234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3DEB1A-9A52-764D-AE38-750F8300FE11}">
      <dsp:nvSpPr>
        <dsp:cNvPr id="0" name=""/>
        <dsp:cNvSpPr/>
      </dsp:nvSpPr>
      <dsp:spPr>
        <a:xfrm>
          <a:off x="225915" y="0"/>
          <a:ext cx="4413627" cy="2758517"/>
        </a:xfrm>
        <a:prstGeom prst="swooshArrow">
          <a:avLst>
            <a:gd name="adj1" fmla="val 25000"/>
            <a:gd name="adj2" fmla="val 25000"/>
          </a:avLst>
        </a:prstGeom>
        <a:solidFill>
          <a:schemeClr val="accent3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F8F91CE-07DF-0348-A9E2-2F151FA193A4}">
      <dsp:nvSpPr>
        <dsp:cNvPr id="0" name=""/>
        <dsp:cNvSpPr/>
      </dsp:nvSpPr>
      <dsp:spPr>
        <a:xfrm>
          <a:off x="1224410" y="1903928"/>
          <a:ext cx="114754" cy="114754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6F9AA1-38B2-794C-B641-37FD7A741C75}">
      <dsp:nvSpPr>
        <dsp:cNvPr id="0" name=""/>
        <dsp:cNvSpPr/>
      </dsp:nvSpPr>
      <dsp:spPr>
        <a:xfrm>
          <a:off x="1247105" y="1961305"/>
          <a:ext cx="1097739" cy="797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806" tIns="0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人工审核：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人力物力投入高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 </a:t>
          </a:r>
          <a:r>
            <a:rPr lang="zh-CN" altLang="en-US" sz="1200" b="1" kern="12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效率低</a:t>
          </a:r>
        </a:p>
      </dsp:txBody>
      <dsp:txXfrm>
        <a:off x="1247105" y="1961305"/>
        <a:ext cx="1097739" cy="797211"/>
      </dsp:txXfrm>
    </dsp:sp>
    <dsp:sp modelId="{A3115A99-64C6-A04D-8BAA-CEA6FB634F19}">
      <dsp:nvSpPr>
        <dsp:cNvPr id="0" name=""/>
        <dsp:cNvSpPr/>
      </dsp:nvSpPr>
      <dsp:spPr>
        <a:xfrm>
          <a:off x="2237337" y="1154163"/>
          <a:ext cx="207440" cy="20744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655F30F-7908-4140-ACC1-EFBBB56F1E81}">
      <dsp:nvSpPr>
        <dsp:cNvPr id="0" name=""/>
        <dsp:cNvSpPr/>
      </dsp:nvSpPr>
      <dsp:spPr>
        <a:xfrm>
          <a:off x="2341057" y="1257883"/>
          <a:ext cx="1059270" cy="15006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918" tIns="0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静态规则：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zh-CN" altLang="en-US" sz="1200" b="0" i="0" u="none" strike="noStrike" kern="1200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措施：</a:t>
          </a:r>
          <a:r>
            <a:rPr kumimoji="0" lang="en-US" altLang="zh-CN" sz="1200" b="0" i="0" u="none" strike="noStrike" kern="1200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IP</a:t>
          </a:r>
          <a:r>
            <a:rPr kumimoji="0" lang="zh-CN" altLang="en-US" sz="1200" b="0" i="0" u="none" strike="noStrike" kern="1200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、</a:t>
          </a:r>
          <a:r>
            <a:rPr kumimoji="0" lang="en-US" altLang="zh-CN" sz="1200" b="0" i="0" u="none" strike="noStrike" kern="1200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DID</a:t>
          </a:r>
          <a:r>
            <a:rPr kumimoji="0" lang="zh-CN" altLang="en-US" sz="1200" b="0" i="0" u="none" strike="noStrike" kern="1200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频次限制</a:t>
          </a:r>
          <a:endParaRPr kumimoji="0" lang="en-US" altLang="zh-CN" sz="1200" b="0" i="0" u="none" strike="noStrike" kern="1200" cap="none" spc="0" normalizeH="0" baseline="0" dirty="0" smtClean="0">
            <a:ln>
              <a:noFill/>
            </a:ln>
            <a:solidFill>
              <a:schemeClr val="accent1"/>
            </a:solidFill>
            <a:effectLst/>
            <a:uFillTx/>
            <a:latin typeface="Al Nile" charset="-78"/>
            <a:ea typeface="Al Nile" charset="-78"/>
            <a:cs typeface="Al Nile" charset="-78"/>
            <a:sym typeface="Arial Black"/>
          </a:endParaRP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zh-CN" altLang="en-US" sz="1200" b="0" i="0" u="none" strike="noStrike" kern="1200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易规避</a:t>
          </a:r>
          <a:endParaRPr kumimoji="0" lang="en-US" altLang="zh-CN" sz="1200" b="0" i="0" u="none" strike="noStrike" kern="1200" cap="none" spc="0" normalizeH="0" baseline="0" dirty="0" smtClean="0">
            <a:ln>
              <a:noFill/>
            </a:ln>
            <a:solidFill>
              <a:schemeClr val="accent1"/>
            </a:solidFill>
            <a:effectLst/>
            <a:uFillTx/>
            <a:latin typeface="Al Nile" charset="-78"/>
            <a:ea typeface="Al Nile" charset="-78"/>
            <a:cs typeface="Al Nile" charset="-78"/>
            <a:sym typeface="Arial Black"/>
          </a:endParaRP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kern="12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多误伤</a:t>
          </a:r>
          <a:endParaRPr lang="en-US" sz="1200" kern="1200" dirty="0">
            <a:solidFill>
              <a:schemeClr val="accent1"/>
            </a:solidFill>
            <a:latin typeface="Al Nile" charset="-78"/>
            <a:ea typeface="Al Nile" charset="-78"/>
            <a:cs typeface="Al Nile" charset="-78"/>
          </a:endParaRPr>
        </a:p>
      </dsp:txBody>
      <dsp:txXfrm>
        <a:off x="2341057" y="1257883"/>
        <a:ext cx="1059270" cy="1500633"/>
      </dsp:txXfrm>
    </dsp:sp>
    <dsp:sp modelId="{4B7E6783-90F6-C249-B3BC-93994A27E0AF}">
      <dsp:nvSpPr>
        <dsp:cNvPr id="0" name=""/>
        <dsp:cNvSpPr/>
      </dsp:nvSpPr>
      <dsp:spPr>
        <a:xfrm>
          <a:off x="3455498" y="697904"/>
          <a:ext cx="286885" cy="28688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01A39C1-FF1A-9F43-8AB3-B0E81EB64903}">
      <dsp:nvSpPr>
        <dsp:cNvPr id="0" name=""/>
        <dsp:cNvSpPr/>
      </dsp:nvSpPr>
      <dsp:spPr>
        <a:xfrm>
          <a:off x="3598941" y="841347"/>
          <a:ext cx="1059270" cy="1917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015" tIns="0" rIns="0" bIns="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人工智能：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zh-CN" altLang="en-US" sz="1400" b="0" i="0" u="none" strike="noStrike" kern="1200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措施：机器学习算法</a:t>
          </a:r>
          <a:endParaRPr kumimoji="0" lang="en-US" altLang="zh-CN" sz="1400" b="0" i="0" u="none" strike="noStrike" kern="1200" cap="none" spc="0" normalizeH="0" baseline="0" dirty="0" smtClean="0">
            <a:ln>
              <a:noFill/>
            </a:ln>
            <a:solidFill>
              <a:schemeClr val="accent1"/>
            </a:solidFill>
            <a:effectLst/>
            <a:uFillTx/>
            <a:latin typeface="Al Nile" charset="-78"/>
            <a:ea typeface="Al Nile" charset="-78"/>
            <a:cs typeface="Al Nile" charset="-78"/>
            <a:sym typeface="Arial Black"/>
          </a:endParaRP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zh-CN" altLang="en-US" sz="1400" b="0" i="0" u="none" strike="noStrike" kern="1200" cap="none" spc="0" normalizeH="0" baseline="0" dirty="0" smtClean="0">
              <a:ln>
                <a:noFill/>
              </a:ln>
              <a:solidFill>
                <a:schemeClr val="accent1"/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实时</a:t>
          </a:r>
          <a:endParaRPr kumimoji="0" lang="en-US" altLang="zh-CN" sz="1400" b="0" i="0" u="none" strike="noStrike" kern="1200" cap="none" spc="0" normalizeH="0" baseline="0" dirty="0" smtClean="0">
            <a:ln>
              <a:noFill/>
            </a:ln>
            <a:solidFill>
              <a:schemeClr val="accent1"/>
            </a:solidFill>
            <a:effectLst/>
            <a:uFillTx/>
            <a:latin typeface="Al Nile" charset="-78"/>
            <a:ea typeface="Al Nile" charset="-78"/>
            <a:cs typeface="Al Nile" charset="-78"/>
            <a:sym typeface="Arial Black"/>
          </a:endParaRPr>
        </a:p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>
              <a:solidFill>
                <a:schemeClr val="accent1"/>
              </a:solidFill>
              <a:latin typeface="Al Nile" charset="-78"/>
              <a:ea typeface="Al Nile" charset="-78"/>
              <a:cs typeface="Al Nile" charset="-78"/>
            </a:rPr>
            <a:t>动态</a:t>
          </a:r>
          <a:endParaRPr lang="en-US" sz="1400" kern="1200" dirty="0">
            <a:solidFill>
              <a:schemeClr val="accent1"/>
            </a:solidFill>
            <a:latin typeface="Al Nile" charset="-78"/>
            <a:ea typeface="Al Nile" charset="-78"/>
            <a:cs typeface="Al Nile" charset="-78"/>
          </a:endParaRPr>
        </a:p>
      </dsp:txBody>
      <dsp:txXfrm>
        <a:off x="3598941" y="841347"/>
        <a:ext cx="1059270" cy="19171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E18FD6-D8D5-B748-9447-0358E407F262}">
      <dsp:nvSpPr>
        <dsp:cNvPr id="0" name=""/>
        <dsp:cNvSpPr/>
      </dsp:nvSpPr>
      <dsp:spPr>
        <a:xfrm>
          <a:off x="1613048" y="0"/>
          <a:ext cx="1613048" cy="1091082"/>
        </a:xfrm>
        <a:prstGeom prst="trapezoid">
          <a:avLst>
            <a:gd name="adj" fmla="val 73920"/>
          </a:avLst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>
              <a:solidFill>
                <a:schemeClr val="tx2">
                  <a:lumMod val="10000"/>
                </a:schemeClr>
              </a:solidFill>
              <a:latin typeface="Al Nile" charset="-78"/>
              <a:ea typeface="Al Nile" charset="-78"/>
              <a:cs typeface="Al Nile" charset="-78"/>
            </a:rPr>
            <a:t>模型</a:t>
          </a:r>
          <a:br>
            <a:rPr lang="zh-CN" altLang="en-US" sz="1400" kern="1200" dirty="0" smtClean="0">
              <a:solidFill>
                <a:schemeClr val="tx2">
                  <a:lumMod val="10000"/>
                </a:schemeClr>
              </a:solidFill>
              <a:latin typeface="Al Nile" charset="-78"/>
              <a:ea typeface="Al Nile" charset="-78"/>
              <a:cs typeface="Al Nile" charset="-78"/>
            </a:rPr>
          </a:br>
          <a:r>
            <a:rPr lang="zh-CN" altLang="en-US" sz="1400" kern="1200" dirty="0" smtClean="0">
              <a:solidFill>
                <a:schemeClr val="tx2">
                  <a:lumMod val="10000"/>
                </a:schemeClr>
              </a:solidFill>
              <a:latin typeface="Al Nile" charset="-78"/>
              <a:ea typeface="Al Nile" charset="-78"/>
              <a:cs typeface="Al Nile" charset="-78"/>
            </a:rPr>
            <a:t>（选择，评估）</a:t>
          </a:r>
          <a:endParaRPr lang="en-US" sz="1400" kern="1200" dirty="0">
            <a:solidFill>
              <a:schemeClr val="tx2">
                <a:lumMod val="10000"/>
              </a:schemeClr>
            </a:solidFill>
            <a:latin typeface="Al Nile" charset="-78"/>
            <a:ea typeface="Al Nile" charset="-78"/>
            <a:cs typeface="Al Nile" charset="-78"/>
          </a:endParaRPr>
        </a:p>
      </dsp:txBody>
      <dsp:txXfrm>
        <a:off x="1613048" y="0"/>
        <a:ext cx="1613048" cy="1091082"/>
      </dsp:txXfrm>
    </dsp:sp>
    <dsp:sp modelId="{C503DBDC-C368-784B-A16A-4FBFA935C61E}">
      <dsp:nvSpPr>
        <dsp:cNvPr id="0" name=""/>
        <dsp:cNvSpPr/>
      </dsp:nvSpPr>
      <dsp:spPr>
        <a:xfrm>
          <a:off x="806524" y="1091082"/>
          <a:ext cx="3226097" cy="1091082"/>
        </a:xfrm>
        <a:prstGeom prst="trapezoid">
          <a:avLst>
            <a:gd name="adj" fmla="val 73920"/>
          </a:avLst>
        </a:prstGeom>
        <a:solidFill>
          <a:schemeClr val="accent4">
            <a:shade val="80000"/>
            <a:hueOff val="-84613"/>
            <a:satOff val="8563"/>
            <a:lumOff val="1318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zh-CN" altLang="en-US" sz="1400" b="0" i="0" u="none" strike="noStrike" kern="1200" cap="none" spc="0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特征工程</a:t>
          </a:r>
          <a:br>
            <a:rPr kumimoji="0" lang="zh-CN" altLang="en-US" sz="1400" b="0" i="0" u="none" strike="noStrike" kern="1200" cap="none" spc="0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</a:br>
          <a:r>
            <a:rPr lang="zh-CN" altLang="en-US" sz="1400" kern="1200" dirty="0" smtClean="0">
              <a:solidFill>
                <a:schemeClr val="tx2">
                  <a:lumMod val="10000"/>
                </a:schemeClr>
              </a:solidFill>
              <a:latin typeface="Al Nile" charset="-78"/>
              <a:ea typeface="Al Nile" charset="-78"/>
              <a:cs typeface="Al Nile" charset="-78"/>
            </a:rPr>
            <a:t>（特征选择、提取、投建）</a:t>
          </a:r>
          <a:endParaRPr lang="en-US" sz="1400" kern="1200" dirty="0">
            <a:solidFill>
              <a:schemeClr val="tx2">
                <a:lumMod val="10000"/>
              </a:schemeClr>
            </a:solidFill>
            <a:latin typeface="Al Nile" charset="-78"/>
            <a:ea typeface="Al Nile" charset="-78"/>
            <a:cs typeface="Al Nile" charset="-78"/>
          </a:endParaRPr>
        </a:p>
      </dsp:txBody>
      <dsp:txXfrm>
        <a:off x="1371091" y="1091082"/>
        <a:ext cx="2096963" cy="1091082"/>
      </dsp:txXfrm>
    </dsp:sp>
    <dsp:sp modelId="{A9937805-6C9D-BE42-AC2A-2250C9B3CC3D}">
      <dsp:nvSpPr>
        <dsp:cNvPr id="0" name=""/>
        <dsp:cNvSpPr/>
      </dsp:nvSpPr>
      <dsp:spPr>
        <a:xfrm>
          <a:off x="0" y="2182165"/>
          <a:ext cx="4839146" cy="1091082"/>
        </a:xfrm>
        <a:prstGeom prst="trapezoid">
          <a:avLst>
            <a:gd name="adj" fmla="val 73920"/>
          </a:avLst>
        </a:prstGeom>
        <a:solidFill>
          <a:schemeClr val="accent4">
            <a:shade val="80000"/>
            <a:hueOff val="-169227"/>
            <a:satOff val="17126"/>
            <a:lumOff val="263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zh-CN" altLang="en-US" sz="1400" b="0" i="0" u="none" strike="noStrike" kern="1200" cap="none" spc="0" normalizeH="0" baseline="0" dirty="0" smtClean="0">
              <a:ln>
                <a:noFill/>
              </a:ln>
              <a:solidFill>
                <a:schemeClr val="tx2">
                  <a:lumMod val="10000"/>
                </a:schemeClr>
              </a:solidFill>
              <a:effectLst/>
              <a:uFillTx/>
              <a:latin typeface="Al Nile" charset="-78"/>
              <a:ea typeface="Al Nile" charset="-78"/>
              <a:cs typeface="Al Nile" charset="-78"/>
              <a:sym typeface="Arial Black"/>
            </a:rPr>
            <a:t>数据</a:t>
          </a:r>
          <a:endParaRPr kumimoji="0" lang="en-US" altLang="zh-CN" sz="1400" b="0" i="0" u="none" strike="noStrike" kern="1200" cap="none" spc="0" normalizeH="0" baseline="0" dirty="0" smtClean="0">
            <a:ln>
              <a:noFill/>
            </a:ln>
            <a:solidFill>
              <a:schemeClr val="tx2">
                <a:lumMod val="10000"/>
              </a:schemeClr>
            </a:solidFill>
            <a:effectLst/>
            <a:uFillTx/>
            <a:latin typeface="Al Nile" charset="-78"/>
            <a:ea typeface="Al Nile" charset="-78"/>
            <a:cs typeface="Al Nile" charset="-78"/>
            <a:sym typeface="Arial Black"/>
          </a:endParaRPr>
        </a:p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400" kern="1200" dirty="0" smtClean="0">
              <a:solidFill>
                <a:schemeClr val="tx2">
                  <a:lumMod val="10000"/>
                </a:schemeClr>
              </a:solidFill>
              <a:latin typeface="Al Nile" charset="-78"/>
              <a:ea typeface="Al Nile" charset="-78"/>
              <a:cs typeface="Al Nile" charset="-78"/>
            </a:rPr>
            <a:t>（内外部数据采集、预处理）</a:t>
          </a:r>
          <a:endParaRPr lang="en-US" sz="1400" kern="1200" dirty="0">
            <a:solidFill>
              <a:schemeClr val="tx2">
                <a:lumMod val="10000"/>
              </a:schemeClr>
            </a:solidFill>
            <a:latin typeface="Al Nile" charset="-78"/>
            <a:ea typeface="Al Nile" charset="-78"/>
            <a:cs typeface="Al Nile" charset="-78"/>
          </a:endParaRPr>
        </a:p>
      </dsp:txBody>
      <dsp:txXfrm>
        <a:off x="846850" y="2182165"/>
        <a:ext cx="3145444" cy="1091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957628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3336726" y="2558355"/>
            <a:ext cx="5518548" cy="1741290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图像"/>
          <p:cNvSpPr>
            <a:spLocks noGrp="1"/>
          </p:cNvSpPr>
          <p:nvPr>
            <p:ph type="pic" sz="quarter" idx="13"/>
          </p:nvPr>
        </p:nvSpPr>
        <p:spPr>
          <a:xfrm>
            <a:off x="6209853" y="1192113"/>
            <a:ext cx="2812853" cy="43331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3169294" y="1192113"/>
            <a:ext cx="2812853" cy="2102942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3169294" y="3348632"/>
            <a:ext cx="2812853" cy="2169916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/>
          </p:nvPr>
        </p:nvSpPr>
        <p:spPr>
          <a:xfrm>
            <a:off x="3169294" y="991195"/>
            <a:ext cx="5853412" cy="1138536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>
            <a:spLocks noGrp="1"/>
          </p:cNvSpPr>
          <p:nvPr>
            <p:ph type="title"/>
          </p:nvPr>
        </p:nvSpPr>
        <p:spPr>
          <a:xfrm>
            <a:off x="3169294" y="991195"/>
            <a:ext cx="5853412" cy="1138536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3169294" y="2223492"/>
            <a:ext cx="5853412" cy="3315147"/>
          </a:xfrm>
          <a:prstGeom prst="rect">
            <a:avLst/>
          </a:prstGeom>
        </p:spPr>
        <p:txBody>
          <a:bodyPr anchor="ctr"/>
          <a:lstStyle>
            <a:lvl1pPr marL="277812" indent="-277812" algn="l">
              <a:spcBef>
                <a:spcPts val="2900"/>
              </a:spcBef>
              <a:buSzPct val="145000"/>
              <a:buChar char="•"/>
              <a:defRPr sz="2000"/>
            </a:lvl1pPr>
            <a:lvl2pPr marL="722312" indent="-277812" algn="l">
              <a:spcBef>
                <a:spcPts val="2900"/>
              </a:spcBef>
              <a:buSzPct val="145000"/>
              <a:buChar char="•"/>
              <a:defRPr sz="2000"/>
            </a:lvl2pPr>
            <a:lvl3pPr marL="1166812" indent="-277812" algn="l">
              <a:spcBef>
                <a:spcPts val="2900"/>
              </a:spcBef>
              <a:buSzPct val="145000"/>
              <a:buChar char="•"/>
              <a:defRPr sz="2000"/>
            </a:lvl3pPr>
            <a:lvl4pPr marL="1611312" indent="-277812" algn="l">
              <a:spcBef>
                <a:spcPts val="2900"/>
              </a:spcBef>
              <a:buSzPct val="145000"/>
              <a:buChar char="•"/>
              <a:defRPr sz="2000"/>
            </a:lvl4pPr>
            <a:lvl5pPr marL="2055812" indent="-277812" algn="l">
              <a:spcBef>
                <a:spcPts val="2900"/>
              </a:spcBef>
              <a:buSzPct val="145000"/>
              <a:buChar char="•"/>
              <a:defRPr sz="20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图像"/>
          <p:cNvSpPr>
            <a:spLocks noGrp="1"/>
          </p:cNvSpPr>
          <p:nvPr>
            <p:ph type="pic" sz="quarter" idx="13"/>
          </p:nvPr>
        </p:nvSpPr>
        <p:spPr>
          <a:xfrm>
            <a:off x="6209853" y="2223492"/>
            <a:ext cx="2812853" cy="331514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6" name="标题文本"/>
          <p:cNvSpPr txBox="1">
            <a:spLocks noGrp="1"/>
          </p:cNvSpPr>
          <p:nvPr>
            <p:ph type="title"/>
          </p:nvPr>
        </p:nvSpPr>
        <p:spPr>
          <a:xfrm>
            <a:off x="3169294" y="991195"/>
            <a:ext cx="5853412" cy="1138536"/>
          </a:xfrm>
          <a:prstGeom prst="rect">
            <a:avLst/>
          </a:prstGeom>
        </p:spPr>
        <p:txBody>
          <a:bodyPr anchor="ctr"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3169294" y="2223492"/>
            <a:ext cx="2812853" cy="3315147"/>
          </a:xfrm>
          <a:prstGeom prst="rect">
            <a:avLst/>
          </a:prstGeom>
        </p:spPr>
        <p:txBody>
          <a:bodyPr anchor="ctr"/>
          <a:lstStyle>
            <a:lvl1pPr marL="220435" indent="-220435" algn="l">
              <a:spcBef>
                <a:spcPts val="2200"/>
              </a:spcBef>
              <a:buSzPct val="145000"/>
              <a:buChar char="•"/>
              <a:defRPr sz="1800"/>
            </a:lvl1pPr>
            <a:lvl2pPr marL="563335" indent="-220435" algn="l">
              <a:spcBef>
                <a:spcPts val="2200"/>
              </a:spcBef>
              <a:buSzPct val="145000"/>
              <a:buChar char="•"/>
              <a:defRPr sz="1800"/>
            </a:lvl2pPr>
            <a:lvl3pPr marL="906235" indent="-220435" algn="l">
              <a:spcBef>
                <a:spcPts val="2200"/>
              </a:spcBef>
              <a:buSzPct val="145000"/>
              <a:buChar char="•"/>
              <a:defRPr sz="1800"/>
            </a:lvl3pPr>
            <a:lvl4pPr marL="1249135" indent="-220435" algn="l">
              <a:spcBef>
                <a:spcPts val="2200"/>
              </a:spcBef>
              <a:buSzPct val="145000"/>
              <a:buChar char="•"/>
              <a:defRPr sz="1800"/>
            </a:lvl4pPr>
            <a:lvl5pPr marL="1592035" indent="-220435" algn="l">
              <a:spcBef>
                <a:spcPts val="2200"/>
              </a:spcBef>
              <a:buSzPct val="145000"/>
              <a:buChar char="•"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97524" y="5759648"/>
            <a:ext cx="193380" cy="193279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3169294" y="1526976"/>
            <a:ext cx="5853412" cy="3804048"/>
          </a:xfrm>
          <a:prstGeom prst="rect">
            <a:avLst/>
          </a:prstGeom>
        </p:spPr>
        <p:txBody>
          <a:bodyPr anchor="ctr"/>
          <a:lstStyle>
            <a:lvl1pPr marL="277812" indent="-277812" algn="l">
              <a:spcBef>
                <a:spcPts val="2900"/>
              </a:spcBef>
              <a:buSzPct val="145000"/>
              <a:buChar char="•"/>
              <a:defRPr sz="2000"/>
            </a:lvl1pPr>
            <a:lvl2pPr marL="722312" indent="-277812" algn="l">
              <a:spcBef>
                <a:spcPts val="2900"/>
              </a:spcBef>
              <a:buSzPct val="145000"/>
              <a:buChar char="•"/>
              <a:defRPr sz="2000"/>
            </a:lvl2pPr>
            <a:lvl3pPr marL="1166812" indent="-277812" algn="l">
              <a:spcBef>
                <a:spcPts val="2900"/>
              </a:spcBef>
              <a:buSzPct val="145000"/>
              <a:buChar char="•"/>
              <a:defRPr sz="2000"/>
            </a:lvl3pPr>
            <a:lvl4pPr marL="1611312" indent="-277812" algn="l">
              <a:spcBef>
                <a:spcPts val="2900"/>
              </a:spcBef>
              <a:buSzPct val="145000"/>
              <a:buChar char="•"/>
              <a:defRPr sz="2000"/>
            </a:lvl4pPr>
            <a:lvl5pPr marL="2055812" indent="-277812" algn="l">
              <a:spcBef>
                <a:spcPts val="2900"/>
              </a:spcBef>
              <a:buSzPct val="145000"/>
              <a:buChar char="•"/>
              <a:defRPr sz="20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图像"/>
          <p:cNvSpPr>
            <a:spLocks noGrp="1"/>
          </p:cNvSpPr>
          <p:nvPr>
            <p:ph type="pic" sz="quarter" idx="13"/>
          </p:nvPr>
        </p:nvSpPr>
        <p:spPr>
          <a:xfrm>
            <a:off x="6209853" y="3542853"/>
            <a:ext cx="2812853" cy="19890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图像"/>
          <p:cNvSpPr>
            <a:spLocks noGrp="1"/>
          </p:cNvSpPr>
          <p:nvPr>
            <p:ph type="pic" sz="quarter" idx="14"/>
          </p:nvPr>
        </p:nvSpPr>
        <p:spPr>
          <a:xfrm>
            <a:off x="6209853" y="1326058"/>
            <a:ext cx="2812853" cy="19890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5" name="图像"/>
          <p:cNvSpPr>
            <a:spLocks noGrp="1"/>
          </p:cNvSpPr>
          <p:nvPr>
            <p:ph type="pic" sz="quarter" idx="15"/>
          </p:nvPr>
        </p:nvSpPr>
        <p:spPr>
          <a:xfrm>
            <a:off x="3169294" y="1326058"/>
            <a:ext cx="2812853" cy="420588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3336726" y="4212580"/>
            <a:ext cx="5518548" cy="25180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1400" i="1"/>
            </a:lvl1pPr>
          </a:lstStyle>
          <a:p>
            <a:r>
              <a:t>–Johnny Appleseed</a:t>
            </a:r>
          </a:p>
        </p:txBody>
      </p:sp>
      <p:sp>
        <p:nvSpPr>
          <p:cNvPr id="94" name="“在此键入引文。”"/>
          <p:cNvSpPr txBox="1">
            <a:spLocks noGrp="1"/>
          </p:cNvSpPr>
          <p:nvPr>
            <p:ph type="body" sz="quarter" idx="14"/>
          </p:nvPr>
        </p:nvSpPr>
        <p:spPr>
          <a:xfrm>
            <a:off x="3336726" y="3050976"/>
            <a:ext cx="5518548" cy="434579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22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“在此键入引文。”</a:t>
            </a:r>
          </a:p>
        </p:txBody>
      </p:sp>
      <p:sp>
        <p:nvSpPr>
          <p:cNvPr id="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图像"/>
          <p:cNvSpPr>
            <a:spLocks noGrp="1"/>
          </p:cNvSpPr>
          <p:nvPr>
            <p:ph type="pic" idx="13"/>
          </p:nvPr>
        </p:nvSpPr>
        <p:spPr>
          <a:xfrm>
            <a:off x="2666999" y="857249"/>
            <a:ext cx="6858002" cy="5143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3336726" y="1721197"/>
            <a:ext cx="5518548" cy="174129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6789" tIns="26789" rIns="26789" bIns="26789" anchor="b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3336726" y="3516064"/>
            <a:ext cx="5518548" cy="59605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6789" tIns="26789" rIns="26789" bIns="2678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97524" y="5759648"/>
            <a:ext cx="193380" cy="189964"/>
          </a:xfrm>
          <a:prstGeom prst="rect">
            <a:avLst/>
          </a:prstGeom>
          <a:ln w="3175">
            <a:miter lim="400000"/>
          </a:ln>
        </p:spPr>
        <p:txBody>
          <a:bodyPr wrap="none" lIns="26789" tIns="26789" rIns="26789" bIns="26789">
            <a:spAutoFit/>
          </a:bodyPr>
          <a:lstStyle>
            <a:lvl1pPr>
              <a:defRPr sz="90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ransition spd="med"/>
  <p:txStyles>
    <p:titleStyle>
      <a:lvl1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228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457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685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9144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11430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1371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1600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1828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228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457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685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9144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11430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13716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6002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828800" algn="ctr" defTabSz="4107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41076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1" Type="http://schemas.microsoft.com/office/2007/relationships/diagramDrawing" Target="../diagrams/drawing3.xml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Relationship Id="rId7" Type="http://schemas.openxmlformats.org/officeDocument/2006/relationships/diagramData" Target="../diagrams/data3.xml"/><Relationship Id="rId8" Type="http://schemas.openxmlformats.org/officeDocument/2006/relationships/diagramLayout" Target="../diagrams/layout3.xml"/><Relationship Id="rId9" Type="http://schemas.openxmlformats.org/officeDocument/2006/relationships/diagramQuickStyle" Target="../diagrams/quickStyle3.xml"/><Relationship Id="rId10" Type="http://schemas.openxmlformats.org/officeDocument/2006/relationships/diagramColors" Target="../diagrams/colors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14441896787_163b98fa52_b.jpg" descr="14441896787_163b98fa52_b.jpg"/>
          <p:cNvPicPr>
            <a:picLocks noChangeAspect="1"/>
          </p:cNvPicPr>
          <p:nvPr/>
        </p:nvPicPr>
        <p:blipFill>
          <a:blip r:embed="rId2">
            <a:alphaModFix amt="23803"/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3175">
            <a:miter lim="400000"/>
          </a:ln>
        </p:spPr>
      </p:pic>
      <p:pic>
        <p:nvPicPr>
          <p:cNvPr id="171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44834" y="466533"/>
            <a:ext cx="1253577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172" name="矩形"/>
          <p:cNvSpPr/>
          <p:nvPr/>
        </p:nvSpPr>
        <p:spPr>
          <a:xfrm>
            <a:off x="2565" y="1797772"/>
            <a:ext cx="6973588" cy="2983056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73" name="大标题"/>
          <p:cNvSpPr txBox="1"/>
          <p:nvPr/>
        </p:nvSpPr>
        <p:spPr>
          <a:xfrm>
            <a:off x="237258" y="2477526"/>
            <a:ext cx="6738895" cy="128520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>
            <a:lvl1pPr>
              <a:defRPr sz="3800"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pPr algn="l"/>
            <a:r>
              <a:rPr lang="zh-CN" altLang="en-US" sz="4000" dirty="0"/>
              <a:t>“数据驱动”：</a:t>
            </a:r>
            <a:endParaRPr lang="en-US" altLang="zh-CN" sz="4000" dirty="0"/>
          </a:p>
          <a:p>
            <a:pPr algn="l"/>
            <a:r>
              <a:rPr lang="zh-CN" altLang="en-US" sz="4000" dirty="0"/>
              <a:t>智慧信用卡最佳实践分析</a:t>
            </a:r>
            <a:endParaRPr sz="4000" dirty="0"/>
          </a:p>
        </p:txBody>
      </p:sp>
      <p:sp>
        <p:nvSpPr>
          <p:cNvPr id="175" name="矩形"/>
          <p:cNvSpPr/>
          <p:nvPr/>
        </p:nvSpPr>
        <p:spPr>
          <a:xfrm>
            <a:off x="189304" y="219031"/>
            <a:ext cx="11813392" cy="6419938"/>
          </a:xfrm>
          <a:prstGeom prst="rect">
            <a:avLst/>
          </a:prstGeom>
          <a:ln>
            <a:solidFill>
              <a:srgbClr val="FFFFFF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01434" y="5141728"/>
            <a:ext cx="101012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</a:rPr>
              <a:t>未来消费金融的发展，技术驱动的特征会愈发明显，新型机构与传统机构之间的合作也会越来越多。</a:t>
            </a:r>
            <a:endParaRPr lang="en-US" altLang="zh-CN" sz="1600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r>
              <a:rPr lang="zh-CN" altLang="en-US" sz="1600" dirty="0">
                <a:solidFill>
                  <a:schemeClr val="accent1">
                    <a:lumMod val="50000"/>
                  </a:schemeClr>
                </a:solidFill>
                <a:latin typeface="NotoSansCJKsc" charset="0"/>
              </a:rPr>
              <a:t>                                  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accent1">
                    <a:lumMod val="50000"/>
                  </a:schemeClr>
                </a:solidFill>
                <a:latin typeface="NotoSansCJKsc" charset="0"/>
              </a:rPr>
              <a:t>——</a:t>
            </a:r>
            <a:r>
              <a:rPr lang="zh-CN" altLang="en-US" sz="1600" i="1" dirty="0">
                <a:solidFill>
                  <a:schemeClr val="accent1">
                    <a:lumMod val="50000"/>
                  </a:schemeClr>
                </a:solidFill>
                <a:latin typeface="NotoSansCJKsc" charset="0"/>
              </a:rPr>
              <a:t>中国互联网金融协会</a:t>
            </a:r>
            <a:endParaRPr lang="zh-CN" altLang="en-US" sz="1600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3197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圆角 30">
            <a:extLst>
              <a:ext uri="{FF2B5EF4-FFF2-40B4-BE49-F238E27FC236}">
                <a16:creationId xmlns:a16="http://schemas.microsoft.com/office/drawing/2014/main" xmlns="" id="{34C73D02-50C8-4AF7-8A83-152E0CF63FA8}"/>
              </a:ext>
            </a:extLst>
          </p:cNvPr>
          <p:cNvSpPr/>
          <p:nvPr/>
        </p:nvSpPr>
        <p:spPr>
          <a:xfrm>
            <a:off x="8272150" y="2151828"/>
            <a:ext cx="2439061" cy="25200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xmlns="" id="{1A3B1DEF-CC13-46F1-A6AF-FDAD267BB7D3}"/>
              </a:ext>
            </a:extLst>
          </p:cNvPr>
          <p:cNvSpPr/>
          <p:nvPr/>
        </p:nvSpPr>
        <p:spPr>
          <a:xfrm>
            <a:off x="4957043" y="2164271"/>
            <a:ext cx="2439061" cy="25200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84724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162" name="标题"/>
          <p:cNvSpPr txBox="1"/>
          <p:nvPr/>
        </p:nvSpPr>
        <p:spPr>
          <a:xfrm>
            <a:off x="871205" y="412557"/>
            <a:ext cx="2875386" cy="3618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38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lang="zh-CN" altLang="en-US" sz="2000" smtClean="0"/>
              <a:t>智能信用卡業務整体</a:t>
            </a:r>
            <a:r>
              <a:rPr lang="zh-CN" altLang="en-US" sz="2000" dirty="0"/>
              <a:t>概览</a:t>
            </a:r>
            <a:endParaRPr sz="200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E0049AAC-93F7-405A-BB65-F3B59F5E5CE4}"/>
              </a:ext>
            </a:extLst>
          </p:cNvPr>
          <p:cNvGrpSpPr/>
          <p:nvPr/>
        </p:nvGrpSpPr>
        <p:grpSpPr>
          <a:xfrm>
            <a:off x="1577132" y="1369383"/>
            <a:ext cx="9286812" cy="3456000"/>
            <a:chOff x="1577132" y="1784254"/>
            <a:chExt cx="9286812" cy="3456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xmlns="" id="{BDE5AAF6-9428-441F-8AC8-32A55BCD5CA3}"/>
                </a:ext>
              </a:extLst>
            </p:cNvPr>
            <p:cNvSpPr/>
            <p:nvPr/>
          </p:nvSpPr>
          <p:spPr>
            <a:xfrm>
              <a:off x="5109776" y="2720575"/>
              <a:ext cx="2133594" cy="269545"/>
            </a:xfrm>
            <a:prstGeom prst="rect">
              <a:avLst/>
            </a:prstGeom>
            <a:solidFill>
              <a:schemeClr val="accent6"/>
            </a:solidFill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准入模型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xmlns="" id="{0C4B604C-3DEB-420F-9468-46F2B126E46F}"/>
                </a:ext>
              </a:extLst>
            </p:cNvPr>
            <p:cNvSpPr/>
            <p:nvPr/>
          </p:nvSpPr>
          <p:spPr>
            <a:xfrm>
              <a:off x="5109776" y="3899688"/>
              <a:ext cx="2133594" cy="2695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新</a:t>
              </a:r>
              <a:r>
                <a:rPr kumimoji="0" lang="zh-CN" altLang="en-US" sz="1400" b="0" i="0" u="none" strike="noStrike" cap="none" spc="0" normalizeH="0" baseline="0" dirty="0" smtClean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客户</a:t>
              </a:r>
              <a:r>
                <a:rPr lang="zh-CN" altLang="en-US" sz="1400" dirty="0" smtClean="0">
                  <a:solidFill>
                    <a:srgbClr val="232323"/>
                  </a:solidFill>
                  <a:latin typeface="+mn-lt"/>
                  <a:ea typeface="+mn-ea"/>
                  <a:cs typeface="+mn-cs"/>
                  <a:sym typeface="Helvetica Neue Medium"/>
                </a:rPr>
                <a:t>收益</a:t>
              </a:r>
              <a:r>
                <a:rPr kumimoji="0" lang="zh-CN" altLang="en-US" sz="1400" b="0" i="0" u="none" strike="noStrike" cap="none" spc="0" normalizeH="0" baseline="0" dirty="0" smtClean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模型</a:t>
              </a:r>
              <a:endPara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rgbClr val="232323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xmlns="" id="{2AF13813-D65B-4CFD-A8B0-093CCD3B5016}"/>
                </a:ext>
              </a:extLst>
            </p:cNvPr>
            <p:cNvSpPr/>
            <p:nvPr/>
          </p:nvSpPr>
          <p:spPr>
            <a:xfrm>
              <a:off x="5109776" y="3310134"/>
              <a:ext cx="2133594" cy="2695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初始授信额度模型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xmlns="" id="{ADF8A85F-57E5-48C9-9BBD-AE96F1EA8B7C}"/>
                </a:ext>
              </a:extLst>
            </p:cNvPr>
            <p:cNvSpPr/>
            <p:nvPr/>
          </p:nvSpPr>
          <p:spPr>
            <a:xfrm>
              <a:off x="8438411" y="2795778"/>
              <a:ext cx="2133594" cy="26954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贷后额度管理模型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xmlns="" id="{82CBED5F-ADD4-439E-BEA0-3A3A8C6F23B1}"/>
                </a:ext>
              </a:extLst>
            </p:cNvPr>
            <p:cNvSpPr/>
            <p:nvPr/>
          </p:nvSpPr>
          <p:spPr>
            <a:xfrm>
              <a:off x="8424123" y="3356759"/>
              <a:ext cx="2133594" cy="26954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存量</a:t>
              </a:r>
              <a:r>
                <a:rPr kumimoji="0" lang="zh-CN" altLang="en-US" sz="1400" b="0" i="0" u="none" strike="noStrike" cap="none" spc="0" normalizeH="0" baseline="0" dirty="0" smtClean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客户</a:t>
              </a:r>
              <a:r>
                <a:rPr lang="zh-CN" altLang="en-US" sz="1400" dirty="0" smtClean="0">
                  <a:solidFill>
                    <a:srgbClr val="232323"/>
                  </a:solidFill>
                  <a:latin typeface="+mn-lt"/>
                  <a:ea typeface="+mn-ea"/>
                  <a:cs typeface="+mn-cs"/>
                  <a:sym typeface="Helvetica Neue Medium"/>
                </a:rPr>
                <a:t>收益</a:t>
              </a:r>
              <a:r>
                <a:rPr kumimoji="0" lang="zh-CN" altLang="en-US" sz="1400" b="0" i="0" u="none" strike="noStrike" cap="none" spc="0" normalizeH="0" baseline="0" dirty="0" smtClean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模型</a:t>
              </a:r>
              <a:endPara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rgbClr val="232323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xmlns="" id="{65BAF368-8168-43AF-9D8E-B99743D187F5}"/>
                </a:ext>
              </a:extLst>
            </p:cNvPr>
            <p:cNvSpPr/>
            <p:nvPr/>
          </p:nvSpPr>
          <p:spPr>
            <a:xfrm>
              <a:off x="8452699" y="3889162"/>
              <a:ext cx="2133594" cy="2695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400" dirty="0" smtClean="0">
                  <a:solidFill>
                    <a:srgbClr val="232323"/>
                  </a:solidFill>
                  <a:latin typeface="+mn-lt"/>
                  <a:ea typeface="+mn-ea"/>
                  <a:cs typeface="+mn-cs"/>
                  <a:sym typeface="Helvetica Neue Medium"/>
                </a:rPr>
                <a:t>贷后</a:t>
              </a:r>
              <a:r>
                <a:rPr kumimoji="0" lang="zh-CN" altLang="en-US" sz="1400" b="0" i="0" u="none" strike="noStrike" cap="none" spc="0" normalizeH="0" baseline="0" dirty="0" smtClean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风险</a:t>
              </a: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rgbClr val="232323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管理模型</a:t>
              </a: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xmlns="" id="{8489FFB7-4277-47ED-9774-540977D035FA}"/>
                </a:ext>
              </a:extLst>
            </p:cNvPr>
            <p:cNvCxnSpPr>
              <a:cxnSpLocks/>
            </p:cNvCxnSpPr>
            <p:nvPr/>
          </p:nvCxnSpPr>
          <p:spPr>
            <a:xfrm>
              <a:off x="1738276" y="2423754"/>
              <a:ext cx="9060353" cy="0"/>
            </a:xfrm>
            <a:prstGeom prst="straightConnector1">
              <a:avLst/>
            </a:prstGeom>
            <a:noFill/>
            <a:ln w="3175" cap="flat">
              <a:solidFill>
                <a:srgbClr val="D4A344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" name="矩形 4">
              <a:extLst>
                <a:ext uri="{FF2B5EF4-FFF2-40B4-BE49-F238E27FC236}">
                  <a16:creationId xmlns:a16="http://schemas.microsoft.com/office/drawing/2014/main" xmlns="" id="{29CB0145-0835-48F8-94D1-F42394D63B22}"/>
                </a:ext>
              </a:extLst>
            </p:cNvPr>
            <p:cNvSpPr/>
            <p:nvPr/>
          </p:nvSpPr>
          <p:spPr>
            <a:xfrm>
              <a:off x="1738276" y="2013021"/>
              <a:ext cx="2133588" cy="269545"/>
            </a:xfrm>
            <a:prstGeom prst="rect">
              <a:avLst/>
            </a:prstGeom>
            <a:solidFill>
              <a:srgbClr val="D4A344"/>
            </a:solidFill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贷前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xmlns="" id="{EE6FCE5C-E815-4AB7-B458-880B945BA009}"/>
                </a:ext>
              </a:extLst>
            </p:cNvPr>
            <p:cNvSpPr/>
            <p:nvPr/>
          </p:nvSpPr>
          <p:spPr>
            <a:xfrm>
              <a:off x="5109782" y="1990716"/>
              <a:ext cx="2133588" cy="269545"/>
            </a:xfrm>
            <a:prstGeom prst="rect">
              <a:avLst/>
            </a:prstGeom>
            <a:solidFill>
              <a:srgbClr val="D4A344"/>
            </a:solidFill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贷中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xmlns="" id="{C4C652AA-3F9B-4D59-99DC-5986859EE368}"/>
                </a:ext>
              </a:extLst>
            </p:cNvPr>
            <p:cNvSpPr/>
            <p:nvPr/>
          </p:nvSpPr>
          <p:spPr>
            <a:xfrm>
              <a:off x="8458316" y="2013020"/>
              <a:ext cx="2133588" cy="269545"/>
            </a:xfrm>
            <a:prstGeom prst="rect">
              <a:avLst/>
            </a:prstGeom>
            <a:solidFill>
              <a:srgbClr val="D4A344"/>
            </a:solidFill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rPr>
                <a:t>贷后</a:t>
              </a: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xmlns="" id="{BAE0C401-9E43-4D5F-9DBB-6A32F6E463B4}"/>
                </a:ext>
              </a:extLst>
            </p:cNvPr>
            <p:cNvSpPr/>
            <p:nvPr/>
          </p:nvSpPr>
          <p:spPr>
            <a:xfrm>
              <a:off x="1577132" y="1784254"/>
              <a:ext cx="9286812" cy="3456000"/>
            </a:xfrm>
            <a:prstGeom prst="rect">
              <a:avLst/>
            </a:prstGeom>
            <a:noFill/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sp>
        <p:nvSpPr>
          <p:cNvPr id="24" name="矩形: 圆角 2">
            <a:extLst>
              <a:ext uri="{FF2B5EF4-FFF2-40B4-BE49-F238E27FC236}">
                <a16:creationId xmlns:a16="http://schemas.microsoft.com/office/drawing/2014/main" xmlns="" id="{1A3B1DEF-CC13-46F1-A6AF-FDAD267BB7D3}"/>
              </a:ext>
            </a:extLst>
          </p:cNvPr>
          <p:cNvSpPr/>
          <p:nvPr/>
        </p:nvSpPr>
        <p:spPr>
          <a:xfrm>
            <a:off x="1609533" y="2165874"/>
            <a:ext cx="2439061" cy="2520000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5" name="矩形 52">
            <a:extLst>
              <a:ext uri="{FF2B5EF4-FFF2-40B4-BE49-F238E27FC236}">
                <a16:creationId xmlns:a16="http://schemas.microsoft.com/office/drawing/2014/main" xmlns="" id="{698A47B0-4029-40F9-8318-429D9AB8964C}"/>
              </a:ext>
            </a:extLst>
          </p:cNvPr>
          <p:cNvSpPr/>
          <p:nvPr/>
        </p:nvSpPr>
        <p:spPr>
          <a:xfrm>
            <a:off x="1738276" y="2285155"/>
            <a:ext cx="2133594" cy="269545"/>
          </a:xfrm>
          <a:prstGeom prst="rect">
            <a:avLst/>
          </a:prstGeom>
          <a:noFill/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400" dirty="0">
                <a:solidFill>
                  <a:srgbClr val="232323"/>
                </a:solidFill>
                <a:latin typeface="+mn-lt"/>
                <a:ea typeface="+mn-ea"/>
                <a:cs typeface="+mn-cs"/>
                <a:sym typeface="Helvetica Neue Medium"/>
              </a:rPr>
              <a:t>获客</a:t>
            </a:r>
            <a:r>
              <a: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rgbClr val="232323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营销</a:t>
            </a:r>
          </a:p>
        </p:txBody>
      </p:sp>
      <p:sp>
        <p:nvSpPr>
          <p:cNvPr id="26" name="矩形 53">
            <a:extLst>
              <a:ext uri="{FF2B5EF4-FFF2-40B4-BE49-F238E27FC236}">
                <a16:creationId xmlns:a16="http://schemas.microsoft.com/office/drawing/2014/main" xmlns="" id="{4C3EB63C-BC8B-4783-ACFC-639471847CE2}"/>
              </a:ext>
            </a:extLst>
          </p:cNvPr>
          <p:cNvSpPr/>
          <p:nvPr/>
        </p:nvSpPr>
        <p:spPr>
          <a:xfrm>
            <a:off x="1738276" y="2974726"/>
            <a:ext cx="2133594" cy="269545"/>
          </a:xfrm>
          <a:prstGeom prst="rect">
            <a:avLst/>
          </a:prstGeom>
          <a:noFill/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rgbClr val="232323"/>
                </a:solidFill>
                <a:latin typeface="+mn-lt"/>
                <a:ea typeface="+mn-ea"/>
                <a:cs typeface="+mn-cs"/>
                <a:sym typeface="Helvetica Neue Medium"/>
              </a:rPr>
              <a:t>新客户</a:t>
            </a:r>
            <a:r>
              <a:rPr lang="zh-CN" altLang="en-US" sz="1400" dirty="0">
                <a:solidFill>
                  <a:srgbClr val="232323"/>
                </a:solidFill>
                <a:latin typeface="+mn-lt"/>
                <a:ea typeface="+mn-ea"/>
                <a:cs typeface="+mn-cs"/>
                <a:sym typeface="Helvetica Neue Medium"/>
              </a:rPr>
              <a:t>申请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232323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cxnSp>
        <p:nvCxnSpPr>
          <p:cNvPr id="27" name="直接箭头连接符 7">
            <a:extLst>
              <a:ext uri="{FF2B5EF4-FFF2-40B4-BE49-F238E27FC236}">
                <a16:creationId xmlns:a16="http://schemas.microsoft.com/office/drawing/2014/main" xmlns="" id="{C755EEC8-5D8F-4425-9544-826B4F43ACC3}"/>
              </a:ext>
            </a:extLst>
          </p:cNvPr>
          <p:cNvCxnSpPr/>
          <p:nvPr/>
        </p:nvCxnSpPr>
        <p:spPr>
          <a:xfrm>
            <a:off x="2805073" y="2554700"/>
            <a:ext cx="0" cy="420026"/>
          </a:xfrm>
          <a:prstGeom prst="straightConnector1">
            <a:avLst/>
          </a:prstGeom>
          <a:noFill/>
          <a:ln w="3175" cap="flat">
            <a:solidFill>
              <a:srgbClr val="D4A344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/>
          <p:cNvCxnSpPr>
            <a:stCxn id="24" idx="3"/>
            <a:endCxn id="3" idx="1"/>
          </p:cNvCxnSpPr>
          <p:nvPr/>
        </p:nvCxnSpPr>
        <p:spPr>
          <a:xfrm flipV="1">
            <a:off x="4048594" y="3424271"/>
            <a:ext cx="908449" cy="1603"/>
          </a:xfrm>
          <a:prstGeom prst="straightConnector1">
            <a:avLst/>
          </a:prstGeom>
          <a:noFill/>
          <a:ln w="3175" cap="flat">
            <a:solidFill>
              <a:srgbClr val="D4A344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/>
          <p:cNvCxnSpPr>
            <a:stCxn id="3" idx="3"/>
            <a:endCxn id="31" idx="1"/>
          </p:cNvCxnSpPr>
          <p:nvPr/>
        </p:nvCxnSpPr>
        <p:spPr>
          <a:xfrm flipV="1">
            <a:off x="7396104" y="3411828"/>
            <a:ext cx="876046" cy="12443"/>
          </a:xfrm>
          <a:prstGeom prst="straightConnector1">
            <a:avLst/>
          </a:prstGeom>
          <a:noFill/>
          <a:ln w="3175" cap="flat">
            <a:solidFill>
              <a:srgbClr val="D4A344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7" name="矩形 43">
            <a:extLst>
              <a:ext uri="{FF2B5EF4-FFF2-40B4-BE49-F238E27FC236}">
                <a16:creationId xmlns:a16="http://schemas.microsoft.com/office/drawing/2014/main" xmlns="" id="{0C4B604C-3DEB-420F-9468-46F2B126E46F}"/>
              </a:ext>
            </a:extLst>
          </p:cNvPr>
          <p:cNvSpPr/>
          <p:nvPr/>
        </p:nvSpPr>
        <p:spPr>
          <a:xfrm>
            <a:off x="5119300" y="4016722"/>
            <a:ext cx="2133594" cy="269545"/>
          </a:xfrm>
          <a:prstGeom prst="rect">
            <a:avLst/>
          </a:prstGeom>
          <a:noFill/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rgbClr val="232323"/>
                </a:solidFill>
                <a:latin typeface="+mn-lt"/>
                <a:ea typeface="+mn-ea"/>
                <a:cs typeface="+mn-cs"/>
                <a:sym typeface="Helvetica Neue Medium"/>
              </a:rPr>
              <a:t>申请反欺诈</a:t>
            </a:r>
            <a:r>
              <a:rPr kumimoji="0" lang="zh-CN" altLang="en-US" sz="1400" b="0" i="0" u="none" strike="noStrike" cap="none" spc="0" normalizeH="0" baseline="0" dirty="0" smtClean="0">
                <a:ln>
                  <a:noFill/>
                </a:ln>
                <a:solidFill>
                  <a:srgbClr val="232323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模型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232323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8" name="矩形 43">
            <a:extLst>
              <a:ext uri="{FF2B5EF4-FFF2-40B4-BE49-F238E27FC236}">
                <a16:creationId xmlns:a16="http://schemas.microsoft.com/office/drawing/2014/main" xmlns="" id="{0C4B604C-3DEB-420F-9468-46F2B126E46F}"/>
              </a:ext>
            </a:extLst>
          </p:cNvPr>
          <p:cNvSpPr/>
          <p:nvPr/>
        </p:nvSpPr>
        <p:spPr>
          <a:xfrm>
            <a:off x="8462594" y="4002439"/>
            <a:ext cx="2133594" cy="269545"/>
          </a:xfrm>
          <a:prstGeom prst="rect">
            <a:avLst/>
          </a:prstGeom>
          <a:noFill/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spc="0" normalizeH="0" baseline="0" dirty="0" smtClean="0">
                <a:ln>
                  <a:noFill/>
                </a:ln>
                <a:solidFill>
                  <a:srgbClr val="232323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交易欺诈模型</a:t>
            </a:r>
            <a:endParaRPr kumimoji="0" lang="zh-CN" altLang="en-US" sz="1400" b="0" i="0" u="none" strike="noStrike" cap="none" spc="0" normalizeH="0" baseline="0" dirty="0">
              <a:ln>
                <a:noFill/>
              </a:ln>
              <a:solidFill>
                <a:srgbClr val="232323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285507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84724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162" name="标题"/>
          <p:cNvSpPr txBox="1"/>
          <p:nvPr/>
        </p:nvSpPr>
        <p:spPr>
          <a:xfrm>
            <a:off x="1069735" y="763384"/>
            <a:ext cx="4970512" cy="3618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38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lang="zh-CN" altLang="en-US" sz="2000" dirty="0"/>
              <a:t>智能计算将</a:t>
            </a:r>
            <a:r>
              <a:rPr lang="zh-CN" altLang="en-US" sz="2000" dirty="0" smtClean="0"/>
              <a:t>为信贷周期各模型</a:t>
            </a:r>
            <a:r>
              <a:rPr lang="zh-CN" altLang="en-US" sz="2000" dirty="0"/>
              <a:t>注入全新活力</a:t>
            </a:r>
            <a:endParaRPr sz="2000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050356060"/>
              </p:ext>
            </p:extLst>
          </p:nvPr>
        </p:nvGraphicFramePr>
        <p:xfrm>
          <a:off x="2391594" y="-81719"/>
          <a:ext cx="9618895" cy="6801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392484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84724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162" name="标题"/>
          <p:cNvSpPr txBox="1"/>
          <p:nvPr/>
        </p:nvSpPr>
        <p:spPr>
          <a:xfrm>
            <a:off x="1317545" y="763384"/>
            <a:ext cx="3131867" cy="3618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38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lang="zh-CN" altLang="en-US" sz="2000" dirty="0"/>
              <a:t>人工智能对信贷业务的赋能</a:t>
            </a:r>
            <a:endParaRPr sz="2000" dirty="0"/>
          </a:p>
        </p:txBody>
      </p:sp>
      <p:sp>
        <p:nvSpPr>
          <p:cNvPr id="23" name="矩形: 圆角 2">
            <a:extLst>
              <a:ext uri="{FF2B5EF4-FFF2-40B4-BE49-F238E27FC236}">
                <a16:creationId xmlns:a16="http://schemas.microsoft.com/office/drawing/2014/main" xmlns="" id="{1A3B1DEF-CC13-46F1-A6AF-FDAD267BB7D3}"/>
              </a:ext>
            </a:extLst>
          </p:cNvPr>
          <p:cNvSpPr/>
          <p:nvPr/>
        </p:nvSpPr>
        <p:spPr>
          <a:xfrm>
            <a:off x="1191304" y="2393931"/>
            <a:ext cx="2706248" cy="3861046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246743" y="2683008"/>
            <a:ext cx="2439061" cy="2973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30000"/>
              </a:lnSpc>
              <a:buFont typeface="Arial" charset="0"/>
              <a:buChar char="•"/>
            </a:pPr>
            <a:r>
              <a:rPr lang="zh-CN" altLang="zh-CN" sz="1600" dirty="0" smtClean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将</a:t>
            </a:r>
            <a:r>
              <a:rPr lang="zh-CN" altLang="zh-CN" sz="1600" b="1" dirty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受理、调查、评级、授信、风险预警</a:t>
            </a:r>
            <a:r>
              <a:rPr lang="zh-CN" altLang="zh-CN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等环节从线下搬到线上</a:t>
            </a:r>
            <a:r>
              <a:rPr lang="zh-CN" altLang="zh-CN" sz="1600" dirty="0" smtClean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运行</a:t>
            </a:r>
            <a:r>
              <a:rPr lang="zh-CN" altLang="en-US" sz="1600" dirty="0" smtClean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。</a:t>
            </a:r>
            <a:endParaRPr lang="en-US" altLang="zh-CN" sz="1600" dirty="0" smtClean="0">
              <a:solidFill>
                <a:schemeClr val="bg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marL="285750" indent="-285750" algn="l">
              <a:lnSpc>
                <a:spcPct val="130000"/>
              </a:lnSpc>
              <a:buFont typeface="Arial" charset="0"/>
              <a:buChar char="•"/>
            </a:pPr>
            <a:r>
              <a:rPr lang="zh-CN" altLang="zh-CN" sz="1600" b="1" dirty="0" smtClean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减轻</a:t>
            </a:r>
            <a:r>
              <a:rPr lang="zh-CN" altLang="zh-CN" sz="1600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贷前调查、贷时审查、贷后检查</a:t>
            </a:r>
            <a:r>
              <a:rPr lang="zh-CN" altLang="zh-CN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的工作量，节约人力成本，释放业务流程压力。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1" name="矩形: 圆角 2">
            <a:extLst>
              <a:ext uri="{FF2B5EF4-FFF2-40B4-BE49-F238E27FC236}">
                <a16:creationId xmlns:a16="http://schemas.microsoft.com/office/drawing/2014/main" xmlns="" id="{1A3B1DEF-CC13-46F1-A6AF-FDAD267BB7D3}"/>
              </a:ext>
            </a:extLst>
          </p:cNvPr>
          <p:cNvSpPr/>
          <p:nvPr/>
        </p:nvSpPr>
        <p:spPr>
          <a:xfrm>
            <a:off x="4333631" y="2362408"/>
            <a:ext cx="2767398" cy="3892569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39" name="矩形: 圆角 2">
            <a:extLst>
              <a:ext uri="{FF2B5EF4-FFF2-40B4-BE49-F238E27FC236}">
                <a16:creationId xmlns:a16="http://schemas.microsoft.com/office/drawing/2014/main" xmlns="" id="{1A3B1DEF-CC13-46F1-A6AF-FDAD267BB7D3}"/>
              </a:ext>
            </a:extLst>
          </p:cNvPr>
          <p:cNvSpPr/>
          <p:nvPr/>
        </p:nvSpPr>
        <p:spPr>
          <a:xfrm>
            <a:off x="7768952" y="2393931"/>
            <a:ext cx="2794502" cy="3861046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768343" y="2688296"/>
            <a:ext cx="2661536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zh-CN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人工智能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与</a:t>
            </a:r>
            <a:r>
              <a:rPr lang="zh-CN" altLang="zh-CN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互联网金融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可以从根本上调整业务结构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，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线上业务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边际成本极低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，具有明显的规模效应，可以充分发挥互联网低成本、广覆盖的精髓，推动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金融服务普惠化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</a:rPr>
              <a:t>。</a:t>
            </a:r>
            <a:r>
              <a:rPr lang="zh-CN" altLang="zh-CN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可以在最大程度上提升客户体验度，</a:t>
            </a:r>
            <a:r>
              <a:rPr lang="zh-CN" altLang="zh-CN" sz="1600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Arial" charset="0"/>
                <a:cs typeface="Arial" charset="0"/>
              </a:rPr>
              <a:t>增强客户粘合度</a:t>
            </a:r>
            <a:r>
              <a:rPr lang="zh-CN" altLang="zh-CN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24" name="AutoShape 12"/>
          <p:cNvSpPr>
            <a:spLocks noChangeArrowheads="1"/>
          </p:cNvSpPr>
          <p:nvPr/>
        </p:nvSpPr>
        <p:spPr bwMode="auto">
          <a:xfrm>
            <a:off x="1191304" y="1342350"/>
            <a:ext cx="2706248" cy="790298"/>
          </a:xfrm>
          <a:prstGeom prst="homePlate">
            <a:avLst>
              <a:gd name="adj" fmla="val 63872"/>
            </a:avLst>
          </a:prstGeom>
          <a:solidFill>
            <a:schemeClr val="bg1">
              <a:lumMod val="95000"/>
            </a:schemeClr>
          </a:solidFill>
          <a:ln>
            <a:solidFill>
              <a:srgbClr val="D4A344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72" tIns="45736" rIns="91472" bIns="45736" anchor="ctr"/>
          <a:lstStyle/>
          <a:p>
            <a:pPr algn="ctr"/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缩减成本</a:t>
            </a:r>
          </a:p>
        </p:txBody>
      </p:sp>
      <p:sp>
        <p:nvSpPr>
          <p:cNvPr id="25" name="AutoShape 12"/>
          <p:cNvSpPr>
            <a:spLocks noChangeArrowheads="1"/>
          </p:cNvSpPr>
          <p:nvPr/>
        </p:nvSpPr>
        <p:spPr bwMode="auto">
          <a:xfrm>
            <a:off x="4344091" y="1337583"/>
            <a:ext cx="2756938" cy="790298"/>
          </a:xfrm>
          <a:prstGeom prst="homePlate">
            <a:avLst>
              <a:gd name="adj" fmla="val 63872"/>
            </a:avLst>
          </a:prstGeom>
          <a:solidFill>
            <a:schemeClr val="bg1">
              <a:lumMod val="95000"/>
            </a:schemeClr>
          </a:solidFill>
          <a:ln>
            <a:solidFill>
              <a:srgbClr val="D4A344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72" tIns="45736" rIns="91472" bIns="45736" anchor="ctr"/>
          <a:lstStyle/>
          <a:p>
            <a:pPr algn="ctr"/>
            <a:r>
              <a:rPr lang="zh-CN" altLang="en-US" sz="200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优化风控</a:t>
            </a:r>
            <a:endParaRPr lang="zh-CN" altLang="en-US" sz="2000" dirty="0">
              <a:solidFill>
                <a:schemeClr val="bg2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AutoShape 12"/>
          <p:cNvSpPr>
            <a:spLocks noChangeArrowheads="1"/>
          </p:cNvSpPr>
          <p:nvPr/>
        </p:nvSpPr>
        <p:spPr bwMode="auto">
          <a:xfrm>
            <a:off x="7768343" y="1332817"/>
            <a:ext cx="2661536" cy="790298"/>
          </a:xfrm>
          <a:prstGeom prst="homePlate">
            <a:avLst>
              <a:gd name="adj" fmla="val 63872"/>
            </a:avLst>
          </a:prstGeom>
          <a:solidFill>
            <a:schemeClr val="bg1">
              <a:lumMod val="95000"/>
            </a:schemeClr>
          </a:solidFill>
          <a:ln>
            <a:solidFill>
              <a:srgbClr val="D4A344"/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72" tIns="45736" rIns="91472" bIns="45736" anchor="ctr"/>
          <a:lstStyle/>
          <a:p>
            <a:pPr algn="ctr"/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促进转型</a:t>
            </a:r>
          </a:p>
        </p:txBody>
      </p:sp>
      <p:sp>
        <p:nvSpPr>
          <p:cNvPr id="2" name="Rectangle 1"/>
          <p:cNvSpPr/>
          <p:nvPr/>
        </p:nvSpPr>
        <p:spPr>
          <a:xfrm>
            <a:off x="4333631" y="2642423"/>
            <a:ext cx="276739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charset="0"/>
              <a:buChar char="•"/>
            </a:pPr>
            <a:r>
              <a:rPr lang="zh-CN" altLang="en-US" sz="1600" dirty="0" smtClean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传统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的</a:t>
            </a:r>
            <a:r>
              <a:rPr lang="zh-CN" alt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charset="0"/>
                <a:ea typeface="Arial" charset="0"/>
                <a:cs typeface="Arial" charset="0"/>
              </a:rPr>
              <a:t>评分卡模型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无法解决客户需求的细微变化，也无法对客户流失可能给予预测</a:t>
            </a:r>
            <a:r>
              <a:rPr lang="zh-CN" altLang="en-US" sz="1600" dirty="0" smtClean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。</a:t>
            </a:r>
            <a:endParaRPr lang="en-US" altLang="zh-CN" sz="1600" dirty="0" smtClean="0">
              <a:solidFill>
                <a:schemeClr val="bg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  <a:p>
            <a:pPr marL="285750" indent="-285750" algn="l">
              <a:lnSpc>
                <a:spcPct val="120000"/>
              </a:lnSpc>
              <a:buFont typeface="Arial" charset="0"/>
              <a:buChar char="•"/>
            </a:pPr>
            <a:r>
              <a:rPr lang="zh-CN" altLang="zh-CN" sz="1600" dirty="0" smtClean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大</a:t>
            </a:r>
            <a:r>
              <a:rPr lang="zh-CN" altLang="zh-CN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数据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提高了信息的完备性，对客户的信息，行为抽象出</a:t>
            </a:r>
            <a:r>
              <a:rPr lang="zh-CN" altLang="en-US" sz="1600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成百上千维的特征</a:t>
            </a:r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，</a:t>
            </a:r>
            <a:r>
              <a:rPr lang="zh-CN" altLang="en-US" sz="1600" dirty="0" smtClean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通过</a:t>
            </a:r>
            <a:r>
              <a:rPr lang="zh-CN" altLang="en-US" sz="16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非线性的机器学习</a:t>
            </a:r>
            <a:r>
              <a:rPr lang="zh-CN" altLang="en-US" sz="1600" dirty="0" smtClean="0">
                <a:solidFill>
                  <a:schemeClr val="bg2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，及时识别出信用风险并采取措施。</a:t>
            </a:r>
            <a:endParaRPr lang="en-US" altLang="zh-CN" sz="1600" dirty="0">
              <a:solidFill>
                <a:schemeClr val="bg2">
                  <a:lumMod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5559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84724" y="427048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42" name="标题">
            <a:extLst>
              <a:ext uri="{FF2B5EF4-FFF2-40B4-BE49-F238E27FC236}">
                <a16:creationId xmlns:a16="http://schemas.microsoft.com/office/drawing/2014/main" xmlns="" id="{AE4BA4B2-976D-4444-9722-56B8CCD159A5}"/>
              </a:ext>
            </a:extLst>
          </p:cNvPr>
          <p:cNvSpPr txBox="1"/>
          <p:nvPr/>
        </p:nvSpPr>
        <p:spPr>
          <a:xfrm>
            <a:off x="1338567" y="399850"/>
            <a:ext cx="3388347" cy="3618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38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lang="zh-CN" altLang="en-US" sz="2000" dirty="0"/>
              <a:t>传统信用卡与智能服务信用卡</a:t>
            </a:r>
            <a:endParaRPr sz="20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9786C621-C91E-4777-A4E5-80A8B9B5FBBE}"/>
              </a:ext>
            </a:extLst>
          </p:cNvPr>
          <p:cNvGrpSpPr/>
          <p:nvPr/>
        </p:nvGrpSpPr>
        <p:grpSpPr>
          <a:xfrm>
            <a:off x="1595045" y="1037531"/>
            <a:ext cx="9576000" cy="3231642"/>
            <a:chOff x="1595045" y="1149314"/>
            <a:chExt cx="9576000" cy="433324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xmlns="" id="{78D1AA0C-F06D-40E5-BC46-DFFF66DF74F8}"/>
                </a:ext>
              </a:extLst>
            </p:cNvPr>
            <p:cNvSpPr/>
            <p:nvPr/>
          </p:nvSpPr>
          <p:spPr>
            <a:xfrm>
              <a:off x="1968923" y="1708515"/>
              <a:ext cx="176260" cy="32015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rgbClr val="CAA354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1</a:t>
              </a:r>
              <a:endPara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CAA354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xmlns="" id="{5DB5CABE-BE29-4BD4-873A-06FA254746D6}"/>
                </a:ext>
              </a:extLst>
            </p:cNvPr>
            <p:cNvSpPr/>
            <p:nvPr/>
          </p:nvSpPr>
          <p:spPr>
            <a:xfrm>
              <a:off x="1968923" y="2341846"/>
              <a:ext cx="176260" cy="32015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rgbClr val="CAA354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2</a:t>
              </a:r>
              <a:endPara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CAA354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147" name="矩形 146">
              <a:extLst>
                <a:ext uri="{FF2B5EF4-FFF2-40B4-BE49-F238E27FC236}">
                  <a16:creationId xmlns:a16="http://schemas.microsoft.com/office/drawing/2014/main" xmlns="" id="{B0EEC45B-DC2C-4048-8C10-66B58D99F0D5}"/>
                </a:ext>
              </a:extLst>
            </p:cNvPr>
            <p:cNvSpPr/>
            <p:nvPr/>
          </p:nvSpPr>
          <p:spPr>
            <a:xfrm>
              <a:off x="2320667" y="1736152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400" dirty="0">
                  <a:solidFill>
                    <a:schemeClr val="bg2"/>
                  </a:solidFill>
                  <a:latin typeface="PingFang SC Light"/>
                  <a:ea typeface="+mn-ea"/>
                  <a:cs typeface="+mn-cs"/>
                  <a:sym typeface="Helvetica Neue Medium"/>
                </a:rPr>
                <a:t>人工审批</a:t>
              </a:r>
              <a:endPara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xmlns="" id="{C02809FF-6B59-46FC-B1FB-00CE8EB34B89}"/>
                </a:ext>
              </a:extLst>
            </p:cNvPr>
            <p:cNvCxnSpPr/>
            <p:nvPr/>
          </p:nvCxnSpPr>
          <p:spPr>
            <a:xfrm>
              <a:off x="1595045" y="1212589"/>
              <a:ext cx="9576000" cy="0"/>
            </a:xfrm>
            <a:prstGeom prst="line">
              <a:avLst/>
            </a:prstGeom>
            <a:noFill/>
            <a:ln w="3175" cap="flat">
              <a:solidFill>
                <a:srgbClr val="CAA354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xmlns="" id="{1BD5C069-E610-44BC-BBE8-8A63DBA19A8D}"/>
                </a:ext>
              </a:extLst>
            </p:cNvPr>
            <p:cNvSpPr/>
            <p:nvPr/>
          </p:nvSpPr>
          <p:spPr>
            <a:xfrm>
              <a:off x="4131432" y="1149314"/>
              <a:ext cx="132326" cy="508234"/>
            </a:xfrm>
            <a:prstGeom prst="ellipse">
              <a:avLst/>
            </a:prstGeom>
            <a:noFill/>
            <a:ln w="3175" cap="flat">
              <a:solidFill>
                <a:srgbClr val="CAA35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xmlns="" id="{81E2FB82-CFD3-4EFB-A993-11B7B69037EF}"/>
                </a:ext>
              </a:extLst>
            </p:cNvPr>
            <p:cNvSpPr/>
            <p:nvPr/>
          </p:nvSpPr>
          <p:spPr>
            <a:xfrm>
              <a:off x="8516443" y="1149314"/>
              <a:ext cx="132326" cy="508234"/>
            </a:xfrm>
            <a:prstGeom prst="ellipse">
              <a:avLst/>
            </a:prstGeom>
            <a:noFill/>
            <a:ln w="3175" cap="flat">
              <a:solidFill>
                <a:srgbClr val="CAA35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xmlns="" id="{894DD0D8-F33D-4F10-8EEC-39830FB66307}"/>
                </a:ext>
              </a:extLst>
            </p:cNvPr>
            <p:cNvSpPr/>
            <p:nvPr/>
          </p:nvSpPr>
          <p:spPr>
            <a:xfrm>
              <a:off x="6690060" y="1736153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模型自动化审批</a:t>
              </a:r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xmlns="" id="{A4223B86-5B0C-4434-9F4D-DD4C4417B209}"/>
                </a:ext>
              </a:extLst>
            </p:cNvPr>
            <p:cNvSpPr/>
            <p:nvPr/>
          </p:nvSpPr>
          <p:spPr>
            <a:xfrm>
              <a:off x="2320667" y="2369483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人工</a:t>
              </a:r>
              <a:r>
                <a:rPr lang="zh-CN" altLang="en-US" sz="1400" dirty="0">
                  <a:solidFill>
                    <a:schemeClr val="bg2"/>
                  </a:solidFill>
                  <a:latin typeface="PingFang SC Light"/>
                  <a:ea typeface="+mn-ea"/>
                  <a:cs typeface="+mn-cs"/>
                  <a:sym typeface="Helvetica Neue Medium"/>
                </a:rPr>
                <a:t>决定</a:t>
              </a: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授信额度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xmlns="" id="{1E3C3201-815C-4376-8B10-7D56E9655891}"/>
                </a:ext>
              </a:extLst>
            </p:cNvPr>
            <p:cNvSpPr/>
            <p:nvPr/>
          </p:nvSpPr>
          <p:spPr>
            <a:xfrm>
              <a:off x="6690060" y="2369483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模型自动决定授信额度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xmlns="" id="{8567A3EB-0366-4A40-96BB-73ECF43836FF}"/>
                </a:ext>
              </a:extLst>
            </p:cNvPr>
            <p:cNvSpPr/>
            <p:nvPr/>
          </p:nvSpPr>
          <p:spPr>
            <a:xfrm>
              <a:off x="1968923" y="2973882"/>
              <a:ext cx="176260" cy="32015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rgbClr val="CAA354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3</a:t>
              </a:r>
              <a:endPara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CAA354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xmlns="" id="{E32738C0-5283-41CC-A9E6-DBA4ED713EFB}"/>
                </a:ext>
              </a:extLst>
            </p:cNvPr>
            <p:cNvSpPr/>
            <p:nvPr/>
          </p:nvSpPr>
          <p:spPr>
            <a:xfrm>
              <a:off x="2320667" y="3596520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400" dirty="0">
                  <a:solidFill>
                    <a:schemeClr val="bg2"/>
                  </a:solidFill>
                  <a:latin typeface="PingFang SC Light"/>
                  <a:ea typeface="+mn-ea"/>
                  <a:cs typeface="+mn-cs"/>
                  <a:sym typeface="Helvetica Neue Medium"/>
                </a:rPr>
                <a:t>客户请求额度调整</a:t>
              </a:r>
              <a:endPara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xmlns="" id="{BFFA2444-553D-4A61-9B7A-0B9105681766}"/>
                </a:ext>
              </a:extLst>
            </p:cNvPr>
            <p:cNvSpPr/>
            <p:nvPr/>
          </p:nvSpPr>
          <p:spPr>
            <a:xfrm>
              <a:off x="6690060" y="3596520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银行发起额度调整</a:t>
              </a: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xmlns="" id="{8A413CD3-2BBE-431C-AA87-40CC829B50C9}"/>
                </a:ext>
              </a:extLst>
            </p:cNvPr>
            <p:cNvSpPr/>
            <p:nvPr/>
          </p:nvSpPr>
          <p:spPr>
            <a:xfrm>
              <a:off x="1968923" y="3567587"/>
              <a:ext cx="176260" cy="32015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rgbClr val="CAA354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4</a:t>
              </a:r>
              <a:endPara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CAA354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xmlns="" id="{D3FF25F2-51E7-4DA8-8063-3433A25891DF}"/>
                </a:ext>
              </a:extLst>
            </p:cNvPr>
            <p:cNvSpPr/>
            <p:nvPr/>
          </p:nvSpPr>
          <p:spPr>
            <a:xfrm>
              <a:off x="2320667" y="3002814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400" dirty="0">
                  <a:solidFill>
                    <a:schemeClr val="bg2"/>
                  </a:solidFill>
                  <a:latin typeface="PingFang SC Light"/>
                  <a:ea typeface="+mn-ea"/>
                  <a:cs typeface="+mn-cs"/>
                  <a:sym typeface="Helvetica Neue Medium"/>
                </a:rPr>
                <a:t>贷后额度基本不变</a:t>
              </a:r>
              <a:endPara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xmlns="" id="{49BD6A8C-028B-4BF9-995F-6C4C5FB57E73}"/>
                </a:ext>
              </a:extLst>
            </p:cNvPr>
            <p:cNvSpPr/>
            <p:nvPr/>
          </p:nvSpPr>
          <p:spPr>
            <a:xfrm>
              <a:off x="6690060" y="3002814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贷后额度定期调整</a:t>
              </a: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xmlns="" id="{87EC97DA-A1A8-454D-80FD-3C3DD2213A67}"/>
                </a:ext>
              </a:extLst>
            </p:cNvPr>
            <p:cNvSpPr/>
            <p:nvPr/>
          </p:nvSpPr>
          <p:spPr>
            <a:xfrm>
              <a:off x="1968923" y="4240542"/>
              <a:ext cx="176260" cy="32015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spc="0" normalizeH="0" baseline="0" dirty="0">
                  <a:ln>
                    <a:noFill/>
                  </a:ln>
                  <a:solidFill>
                    <a:srgbClr val="CAA354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5</a:t>
              </a:r>
              <a:endPara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CAA354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xmlns="" id="{57B4B32D-7964-443B-8535-1806351D6BCD}"/>
                </a:ext>
              </a:extLst>
            </p:cNvPr>
            <p:cNvSpPr/>
            <p:nvPr/>
          </p:nvSpPr>
          <p:spPr>
            <a:xfrm>
              <a:off x="2320667" y="4269474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信用卡分期等产品统一定价</a:t>
              </a: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xmlns="" id="{5622A2C2-3E7D-417E-A222-9A6E9E5D354E}"/>
                </a:ext>
              </a:extLst>
            </p:cNvPr>
            <p:cNvSpPr/>
            <p:nvPr/>
          </p:nvSpPr>
          <p:spPr>
            <a:xfrm>
              <a:off x="6690060" y="4269474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信用卡分期等产品个性化定价</a:t>
              </a:r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xmlns="" id="{04BD1CA1-45F0-49A3-AD6D-A8F27613504F}"/>
                </a:ext>
              </a:extLst>
            </p:cNvPr>
            <p:cNvSpPr/>
            <p:nvPr/>
          </p:nvSpPr>
          <p:spPr>
            <a:xfrm>
              <a:off x="1968923" y="4873871"/>
              <a:ext cx="176260" cy="32015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200" dirty="0">
                  <a:solidFill>
                    <a:srgbClr val="CAA354"/>
                  </a:solidFill>
                  <a:latin typeface="PingFang SC Light"/>
                  <a:ea typeface="+mn-ea"/>
                  <a:cs typeface="+mn-cs"/>
                  <a:sym typeface="Helvetica Neue Medium"/>
                </a:rPr>
                <a:t>6</a:t>
              </a:r>
              <a:endParaRPr kumimoji="0" lang="zh-CN" altLang="en-US" sz="1200" b="0" i="0" u="none" strike="noStrike" cap="none" spc="0" normalizeH="0" baseline="0" dirty="0">
                <a:ln>
                  <a:noFill/>
                </a:ln>
                <a:solidFill>
                  <a:srgbClr val="CAA354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xmlns="" id="{6451C512-9766-4ECE-A43D-CC889D67F063}"/>
                </a:ext>
              </a:extLst>
            </p:cNvPr>
            <p:cNvSpPr/>
            <p:nvPr/>
          </p:nvSpPr>
          <p:spPr>
            <a:xfrm>
              <a:off x="2320667" y="4902803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zh-CN" altLang="en-US" sz="1400" dirty="0">
                  <a:solidFill>
                    <a:schemeClr val="bg2"/>
                  </a:solidFill>
                  <a:latin typeface="PingFang SC Light"/>
                  <a:ea typeface="+mn-ea"/>
                  <a:cs typeface="+mn-cs"/>
                  <a:sym typeface="Helvetica Neue Medium"/>
                </a:rPr>
                <a:t>被动风控，侧重催收</a:t>
              </a:r>
              <a:endParaRPr kumimoji="0" lang="zh-CN" altLang="en-US" sz="14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xmlns="" id="{9F75290D-476B-4110-9741-CEF56CE22515}"/>
                </a:ext>
              </a:extLst>
            </p:cNvPr>
            <p:cNvSpPr/>
            <p:nvPr/>
          </p:nvSpPr>
          <p:spPr>
            <a:xfrm>
              <a:off x="6690060" y="4902803"/>
              <a:ext cx="3852590" cy="361427"/>
            </a:xfrm>
            <a:prstGeom prst="rect">
              <a:avLst/>
            </a:prstGeom>
            <a:noFill/>
            <a:ln w="3175" cap="flat">
              <a:solidFill>
                <a:srgbClr val="CAA354"/>
              </a:solidFill>
              <a:prstDash val="sysDot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rPr>
                <a:t>主动风控，侧重反欺诈等早期防范</a:t>
              </a: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xmlns="" id="{238EFFB9-2357-44ED-B5E0-DA36AD2C27D8}"/>
                </a:ext>
              </a:extLst>
            </p:cNvPr>
            <p:cNvSpPr/>
            <p:nvPr/>
          </p:nvSpPr>
          <p:spPr>
            <a:xfrm>
              <a:off x="1595045" y="1620824"/>
              <a:ext cx="9575998" cy="3861736"/>
            </a:xfrm>
            <a:prstGeom prst="rect">
              <a:avLst/>
            </a:prstGeom>
            <a:noFill/>
            <a:ln w="3175" cap="flat">
              <a:solidFill>
                <a:srgbClr val="D4A344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ACAEB375-243B-42A5-A2F9-D28BC7D4202D}"/>
              </a:ext>
            </a:extLst>
          </p:cNvPr>
          <p:cNvSpPr txBox="1"/>
          <p:nvPr/>
        </p:nvSpPr>
        <p:spPr>
          <a:xfrm>
            <a:off x="5809276" y="1133551"/>
            <a:ext cx="1299446" cy="269545"/>
          </a:xfrm>
          <a:prstGeom prst="rect">
            <a:avLst/>
          </a:prstGeom>
          <a:noFill/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PingFang SC Light"/>
                <a:sym typeface="Arial Black"/>
              </a:rPr>
              <a:t>V.S.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chemeClr val="bg2"/>
              </a:solidFill>
              <a:effectLst/>
              <a:uFillTx/>
              <a:latin typeface="PingFang SC Light"/>
              <a:sym typeface="Arial Black"/>
            </a:endParaRPr>
          </a:p>
        </p:txBody>
      </p:sp>
      <p:grpSp>
        <p:nvGrpSpPr>
          <p:cNvPr id="31" name="组合 33">
            <a:extLst>
              <a:ext uri="{FF2B5EF4-FFF2-40B4-BE49-F238E27FC236}">
                <a16:creationId xmlns:a16="http://schemas.microsoft.com/office/drawing/2014/main" xmlns="" id="{DCF044B4-8B16-484C-8DEF-FF578D4FE1C4}"/>
              </a:ext>
            </a:extLst>
          </p:cNvPr>
          <p:cNvGrpSpPr/>
          <p:nvPr/>
        </p:nvGrpSpPr>
        <p:grpSpPr>
          <a:xfrm>
            <a:off x="1556305" y="4959066"/>
            <a:ext cx="9698541" cy="1798918"/>
            <a:chOff x="1412971" y="4966873"/>
            <a:chExt cx="9698541" cy="1696013"/>
          </a:xfrm>
        </p:grpSpPr>
        <p:grpSp>
          <p:nvGrpSpPr>
            <p:cNvPr id="32" name="组合 20">
              <a:extLst>
                <a:ext uri="{FF2B5EF4-FFF2-40B4-BE49-F238E27FC236}">
                  <a16:creationId xmlns:a16="http://schemas.microsoft.com/office/drawing/2014/main" xmlns="" id="{2EBA6621-63A7-497F-ADD9-5D2C073D36D9}"/>
                </a:ext>
              </a:extLst>
            </p:cNvPr>
            <p:cNvGrpSpPr/>
            <p:nvPr/>
          </p:nvGrpSpPr>
          <p:grpSpPr>
            <a:xfrm>
              <a:off x="1412971" y="4966874"/>
              <a:ext cx="9698541" cy="1696012"/>
              <a:chOff x="1548514" y="5291335"/>
              <a:chExt cx="9698541" cy="1696012"/>
            </a:xfrm>
          </p:grpSpPr>
          <p:grpSp>
            <p:nvGrpSpPr>
              <p:cNvPr id="39" name="组合 7">
                <a:extLst>
                  <a:ext uri="{FF2B5EF4-FFF2-40B4-BE49-F238E27FC236}">
                    <a16:creationId xmlns:a16="http://schemas.microsoft.com/office/drawing/2014/main" xmlns="" id="{E49B5902-29C3-4BCE-9C82-7F842C276BD3}"/>
                  </a:ext>
                </a:extLst>
              </p:cNvPr>
              <p:cNvGrpSpPr/>
              <p:nvPr/>
            </p:nvGrpSpPr>
            <p:grpSpPr>
              <a:xfrm>
                <a:off x="1548514" y="5291335"/>
                <a:ext cx="2329573" cy="1470908"/>
                <a:chOff x="1805676" y="5226022"/>
                <a:chExt cx="1733219" cy="1470908"/>
              </a:xfrm>
            </p:grpSpPr>
            <p:sp>
              <p:nvSpPr>
                <p:cNvPr id="72" name="文本框 3">
                  <a:extLst>
                    <a:ext uri="{FF2B5EF4-FFF2-40B4-BE49-F238E27FC236}">
                      <a16:creationId xmlns:a16="http://schemas.microsoft.com/office/drawing/2014/main" xmlns="" id="{A285A120-4F21-439C-91AA-5413D3124290}"/>
                    </a:ext>
                  </a:extLst>
                </p:cNvPr>
                <p:cNvSpPr txBox="1"/>
                <p:nvPr/>
              </p:nvSpPr>
              <p:spPr>
                <a:xfrm>
                  <a:off x="1805676" y="5880922"/>
                  <a:ext cx="871353" cy="238767"/>
                </a:xfrm>
                <a:prstGeom prst="rect">
                  <a:avLst/>
                </a:prstGeom>
                <a:noFill/>
                <a:ln w="3175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26789" tIns="26789" rIns="26789" bIns="26789" numCol="1" spcCol="38100" rtlCol="0" anchor="ctr">
                  <a:spAutoFit/>
                </a:bodyPr>
                <a:lstStyle/>
                <a:p>
                  <a:pPr marL="0" marR="0" indent="0" algn="ctr" defTabSz="41076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zh-CN" altLang="en-US" sz="1200" dirty="0">
                      <a:solidFill>
                        <a:schemeClr val="bg2"/>
                      </a:solidFill>
                      <a:latin typeface="PingFang SC Light"/>
                    </a:rPr>
                    <a:t>常用交易卡</a:t>
                  </a:r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sym typeface="Arial Black"/>
                  </a:endParaRPr>
                </a:p>
              </p:txBody>
            </p:sp>
            <p:sp>
              <p:nvSpPr>
                <p:cNvPr id="73" name="椭圆 4">
                  <a:extLst>
                    <a:ext uri="{FF2B5EF4-FFF2-40B4-BE49-F238E27FC236}">
                      <a16:creationId xmlns:a16="http://schemas.microsoft.com/office/drawing/2014/main" xmlns="" id="{3B16BF32-2354-4286-BF6A-99D7D874A432}"/>
                    </a:ext>
                  </a:extLst>
                </p:cNvPr>
                <p:cNvSpPr/>
                <p:nvPr/>
              </p:nvSpPr>
              <p:spPr>
                <a:xfrm>
                  <a:off x="2677029" y="5762570"/>
                  <a:ext cx="590155" cy="379031"/>
                </a:xfrm>
                <a:prstGeom prst="ellipse">
                  <a:avLst/>
                </a:prstGeom>
                <a:solidFill>
                  <a:srgbClr val="D4A344"/>
                </a:solidFill>
                <a:ln w="3175" cap="flat">
                  <a:solidFill>
                    <a:srgbClr val="D4A344"/>
                  </a:solidFill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26789" tIns="26789" rIns="26789" bIns="26789" numCol="1" spcCol="38100" rtlCol="0" anchor="ctr">
                  <a:spAutoFit/>
                </a:bodyPr>
                <a:lstStyle/>
                <a:p>
                  <a:r>
                    <a:rPr lang="zh-CN" altLang="en-US" sz="1400" dirty="0">
                      <a:solidFill>
                        <a:schemeClr val="bg2"/>
                      </a:solidFill>
                      <a:latin typeface="PingFang SC Light"/>
                    </a:rPr>
                    <a:t>客户</a:t>
                  </a:r>
                  <a:r>
                    <a:rPr lang="en-US" altLang="zh-CN" sz="1400" dirty="0">
                      <a:solidFill>
                        <a:schemeClr val="bg2"/>
                      </a:solidFill>
                      <a:latin typeface="PingFang SC Light"/>
                    </a:rPr>
                    <a:t>A</a:t>
                  </a:r>
                  <a:endParaRPr kumimoji="0" lang="zh-CN" altLang="en-US" sz="1400" b="0" i="0" u="none" strike="noStrike" cap="none" spc="0" normalizeH="0" baseline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PingFang SC Light"/>
                    <a:ea typeface="+mn-ea"/>
                    <a:cs typeface="+mn-cs"/>
                    <a:sym typeface="Helvetica Neue Medium"/>
                  </a:endParaRPr>
                </a:p>
              </p:txBody>
            </p:sp>
            <p:sp>
              <p:nvSpPr>
                <p:cNvPr id="74" name="矩形 5">
                  <a:extLst>
                    <a:ext uri="{FF2B5EF4-FFF2-40B4-BE49-F238E27FC236}">
                      <a16:creationId xmlns:a16="http://schemas.microsoft.com/office/drawing/2014/main" xmlns="" id="{450C9FDD-C066-4054-A205-BE463479C8A2}"/>
                    </a:ext>
                  </a:extLst>
                </p:cNvPr>
                <p:cNvSpPr/>
                <p:nvPr/>
              </p:nvSpPr>
              <p:spPr>
                <a:xfrm>
                  <a:off x="2018554" y="5508932"/>
                  <a:ext cx="595369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1200" dirty="0">
                      <a:solidFill>
                        <a:schemeClr val="bg2"/>
                      </a:solidFill>
                      <a:latin typeface="PingFang SC Light"/>
                    </a:rPr>
                    <a:t>发薪卡行</a:t>
                  </a:r>
                  <a:endParaRPr lang="zh-CN" altLang="en-US" sz="1200" dirty="0">
                    <a:latin typeface="PingFang SC Light"/>
                  </a:endParaRPr>
                </a:p>
              </p:txBody>
            </p:sp>
            <p:sp>
              <p:nvSpPr>
                <p:cNvPr id="75" name="矩形 6">
                  <a:extLst>
                    <a:ext uri="{FF2B5EF4-FFF2-40B4-BE49-F238E27FC236}">
                      <a16:creationId xmlns:a16="http://schemas.microsoft.com/office/drawing/2014/main" xmlns="" id="{0E41F2A4-299E-404E-8927-AFD5998351AC}"/>
                    </a:ext>
                  </a:extLst>
                </p:cNvPr>
                <p:cNvSpPr/>
                <p:nvPr/>
              </p:nvSpPr>
              <p:spPr>
                <a:xfrm>
                  <a:off x="2608391" y="5226022"/>
                  <a:ext cx="655001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1200" dirty="0">
                      <a:solidFill>
                        <a:schemeClr val="bg2"/>
                      </a:solidFill>
                      <a:latin typeface="PingFang SC Light"/>
                    </a:rPr>
                    <a:t>月薪</a:t>
                  </a:r>
                  <a:r>
                    <a:rPr lang="en-US" altLang="zh-CN" sz="1200" dirty="0">
                      <a:solidFill>
                        <a:schemeClr val="bg2"/>
                      </a:solidFill>
                      <a:latin typeface="PingFang SC Light"/>
                    </a:rPr>
                    <a:t>10</a:t>
                  </a:r>
                  <a:r>
                    <a:rPr lang="zh-CN" altLang="en-US" sz="1200" dirty="0">
                      <a:solidFill>
                        <a:schemeClr val="bg2"/>
                      </a:solidFill>
                      <a:latin typeface="PingFang SC Light"/>
                    </a:rPr>
                    <a:t>万</a:t>
                  </a:r>
                  <a:r>
                    <a:rPr lang="en-US" altLang="zh-CN" sz="1200" dirty="0">
                      <a:solidFill>
                        <a:schemeClr val="bg2"/>
                      </a:solidFill>
                      <a:latin typeface="PingFang SC Light"/>
                    </a:rPr>
                    <a:t>+</a:t>
                  </a:r>
                  <a:endParaRPr lang="zh-CN" altLang="en-US" sz="1200" dirty="0">
                    <a:latin typeface="PingFang SC Light"/>
                  </a:endParaRPr>
                </a:p>
              </p:txBody>
            </p:sp>
            <p:sp>
              <p:nvSpPr>
                <p:cNvPr id="76" name="文本框 71">
                  <a:extLst>
                    <a:ext uri="{FF2B5EF4-FFF2-40B4-BE49-F238E27FC236}">
                      <a16:creationId xmlns:a16="http://schemas.microsoft.com/office/drawing/2014/main" xmlns="" id="{93CFD096-8216-4C51-822B-12D783E0F38B}"/>
                    </a:ext>
                  </a:extLst>
                </p:cNvPr>
                <p:cNvSpPr txBox="1"/>
                <p:nvPr/>
              </p:nvSpPr>
              <p:spPr>
                <a:xfrm>
                  <a:off x="1814994" y="6212696"/>
                  <a:ext cx="1192101" cy="238767"/>
                </a:xfrm>
                <a:prstGeom prst="rect">
                  <a:avLst/>
                </a:prstGeom>
                <a:noFill/>
                <a:ln w="3175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26789" tIns="26789" rIns="26789" bIns="26789" numCol="1" spcCol="38100" rtlCol="0" anchor="ctr">
                  <a:spAutoFit/>
                </a:bodyPr>
                <a:lstStyle/>
                <a:p>
                  <a:pPr marL="0" marR="0" indent="0" algn="ctr" defTabSz="41076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en-US" sz="12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rPr>
                    <a:t>博士学位</a:t>
                  </a:r>
                </a:p>
              </p:txBody>
            </p:sp>
            <p:sp>
              <p:nvSpPr>
                <p:cNvPr id="77" name="文本框 72">
                  <a:extLst>
                    <a:ext uri="{FF2B5EF4-FFF2-40B4-BE49-F238E27FC236}">
                      <a16:creationId xmlns:a16="http://schemas.microsoft.com/office/drawing/2014/main" xmlns="" id="{6B2D6926-D412-47E1-9A7E-0DCFECDEA71A}"/>
                    </a:ext>
                  </a:extLst>
                </p:cNvPr>
                <p:cNvSpPr txBox="1"/>
                <p:nvPr/>
              </p:nvSpPr>
              <p:spPr>
                <a:xfrm>
                  <a:off x="2346794" y="6458163"/>
                  <a:ext cx="1192101" cy="238767"/>
                </a:xfrm>
                <a:prstGeom prst="rect">
                  <a:avLst/>
                </a:prstGeom>
                <a:noFill/>
                <a:ln w="3175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26789" tIns="26789" rIns="26789" bIns="26789" numCol="1" spcCol="38100" rtlCol="0" anchor="ctr">
                  <a:spAutoFit/>
                </a:bodyPr>
                <a:lstStyle/>
                <a:p>
                  <a:pPr marL="0" marR="0" indent="0" algn="ctr" defTabSz="41076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lang="zh-CN" altLang="en-US" sz="1200" dirty="0">
                      <a:solidFill>
                        <a:schemeClr val="bg2"/>
                      </a:solidFill>
                      <a:latin typeface="PingFang SC Light"/>
                    </a:rPr>
                    <a:t>企业高管</a:t>
                  </a:r>
                  <a:endParaRPr kumimoji="0" lang="zh-CN" altLang="en-US" sz="12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sym typeface="Arial Black"/>
                  </a:endParaRPr>
                </a:p>
              </p:txBody>
            </p:sp>
          </p:grpSp>
          <p:sp>
            <p:nvSpPr>
              <p:cNvPr id="40" name="矩形 8">
                <a:extLst>
                  <a:ext uri="{FF2B5EF4-FFF2-40B4-BE49-F238E27FC236}">
                    <a16:creationId xmlns:a16="http://schemas.microsoft.com/office/drawing/2014/main" xmlns="" id="{E3CFD746-D715-425B-A002-2826031701C0}"/>
                  </a:ext>
                </a:extLst>
              </p:cNvPr>
              <p:cNvSpPr/>
              <p:nvPr/>
            </p:nvSpPr>
            <p:spPr>
              <a:xfrm>
                <a:off x="4512499" y="5462113"/>
                <a:ext cx="1075553" cy="269545"/>
              </a:xfrm>
              <a:prstGeom prst="rect">
                <a:avLst/>
              </a:prstGeom>
              <a:solidFill>
                <a:srgbClr val="D4A344"/>
              </a:solidFill>
              <a:ln w="3175" cap="flat">
                <a:solidFill>
                  <a:srgbClr val="D4A344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14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ea typeface="+mn-ea"/>
                    <a:cs typeface="+mn-cs"/>
                    <a:sym typeface="Helvetica Neue Medium"/>
                  </a:rPr>
                  <a:t>审批时间</a:t>
                </a:r>
              </a:p>
            </p:txBody>
          </p:sp>
          <p:sp>
            <p:nvSpPr>
              <p:cNvPr id="41" name="矩形 73">
                <a:extLst>
                  <a:ext uri="{FF2B5EF4-FFF2-40B4-BE49-F238E27FC236}">
                    <a16:creationId xmlns:a16="http://schemas.microsoft.com/office/drawing/2014/main" xmlns="" id="{71BBCF7F-B65D-4CED-BC2D-C2E5593819B7}"/>
                  </a:ext>
                </a:extLst>
              </p:cNvPr>
              <p:cNvSpPr/>
              <p:nvPr/>
            </p:nvSpPr>
            <p:spPr>
              <a:xfrm>
                <a:off x="4512499" y="5986114"/>
                <a:ext cx="1075553" cy="269545"/>
              </a:xfrm>
              <a:prstGeom prst="rect">
                <a:avLst/>
              </a:prstGeom>
              <a:solidFill>
                <a:srgbClr val="D4A344"/>
              </a:solidFill>
              <a:ln w="3175" cap="flat">
                <a:solidFill>
                  <a:srgbClr val="D4A344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400" dirty="0">
                    <a:solidFill>
                      <a:schemeClr val="bg2"/>
                    </a:solidFill>
                    <a:latin typeface="PingFang SC Light"/>
                    <a:ea typeface="+mn-ea"/>
                    <a:cs typeface="+mn-cs"/>
                    <a:sym typeface="Helvetica Neue Medium"/>
                  </a:rPr>
                  <a:t>初始额度</a:t>
                </a:r>
                <a:endPara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endParaRPr>
              </a:p>
            </p:txBody>
          </p:sp>
          <p:sp>
            <p:nvSpPr>
              <p:cNvPr id="43" name="矩形 74">
                <a:extLst>
                  <a:ext uri="{FF2B5EF4-FFF2-40B4-BE49-F238E27FC236}">
                    <a16:creationId xmlns:a16="http://schemas.microsoft.com/office/drawing/2014/main" xmlns="" id="{15F0783B-CA74-470B-8EEF-2707EDD7F386}"/>
                  </a:ext>
                </a:extLst>
              </p:cNvPr>
              <p:cNvSpPr/>
              <p:nvPr/>
            </p:nvSpPr>
            <p:spPr>
              <a:xfrm>
                <a:off x="4512499" y="6480105"/>
                <a:ext cx="1075553" cy="269545"/>
              </a:xfrm>
              <a:prstGeom prst="rect">
                <a:avLst/>
              </a:prstGeom>
              <a:solidFill>
                <a:srgbClr val="D4A344"/>
              </a:solidFill>
              <a:ln w="3175" cap="flat">
                <a:solidFill>
                  <a:srgbClr val="D4A344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400" dirty="0">
                    <a:solidFill>
                      <a:schemeClr val="bg2"/>
                    </a:solidFill>
                    <a:latin typeface="PingFang SC Light"/>
                    <a:ea typeface="+mn-ea"/>
                    <a:cs typeface="+mn-cs"/>
                    <a:sym typeface="Helvetica Neue Medium"/>
                  </a:rPr>
                  <a:t>贷后额度</a:t>
                </a:r>
                <a:endPara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endParaRPr>
              </a:p>
            </p:txBody>
          </p:sp>
          <p:sp>
            <p:nvSpPr>
              <p:cNvPr id="44" name="矩形 11">
                <a:extLst>
                  <a:ext uri="{FF2B5EF4-FFF2-40B4-BE49-F238E27FC236}">
                    <a16:creationId xmlns:a16="http://schemas.microsoft.com/office/drawing/2014/main" xmlns="" id="{CC5D2C64-AF4A-4382-9250-EE18F32A4ABD}"/>
                  </a:ext>
                </a:extLst>
              </p:cNvPr>
              <p:cNvSpPr/>
              <p:nvPr/>
            </p:nvSpPr>
            <p:spPr>
              <a:xfrm>
                <a:off x="5867750" y="5462113"/>
                <a:ext cx="900000" cy="270000"/>
              </a:xfrm>
              <a:prstGeom prst="rect">
                <a:avLst/>
              </a:prstGeom>
              <a:noFill/>
              <a:ln w="3175" cap="flat">
                <a:solidFill>
                  <a:srgbClr val="D4A344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ea typeface="+mn-ea"/>
                    <a:cs typeface="+mn-cs"/>
                    <a:sym typeface="Helvetica Neue Medium"/>
                  </a:rPr>
                  <a:t>1</a:t>
                </a:r>
                <a:r>
                  <a:rPr kumimoji="0" lang="zh-CN" altLang="en-US" sz="14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ea typeface="+mn-ea"/>
                    <a:cs typeface="+mn-cs"/>
                    <a:sym typeface="Helvetica Neue Medium"/>
                  </a:rPr>
                  <a:t>个月</a:t>
                </a:r>
              </a:p>
            </p:txBody>
          </p:sp>
          <p:sp>
            <p:nvSpPr>
              <p:cNvPr id="45" name="矩形 76">
                <a:extLst>
                  <a:ext uri="{FF2B5EF4-FFF2-40B4-BE49-F238E27FC236}">
                    <a16:creationId xmlns:a16="http://schemas.microsoft.com/office/drawing/2014/main" xmlns="" id="{0EE590B4-4EEE-459B-BBBB-1020124CCC72}"/>
                  </a:ext>
                </a:extLst>
              </p:cNvPr>
              <p:cNvSpPr/>
              <p:nvPr/>
            </p:nvSpPr>
            <p:spPr>
              <a:xfrm>
                <a:off x="5867750" y="5986114"/>
                <a:ext cx="900000" cy="270000"/>
              </a:xfrm>
              <a:prstGeom prst="rect">
                <a:avLst/>
              </a:prstGeom>
              <a:noFill/>
              <a:ln w="3175" cap="flat">
                <a:solidFill>
                  <a:srgbClr val="D4A344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ea typeface="+mn-ea"/>
                    <a:cs typeface="+mn-cs"/>
                    <a:sym typeface="Helvetica Neue Medium"/>
                  </a:rPr>
                  <a:t>8K</a:t>
                </a:r>
                <a:endPara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endParaRPr>
              </a:p>
            </p:txBody>
          </p:sp>
          <p:sp>
            <p:nvSpPr>
              <p:cNvPr id="48" name="矩形 78">
                <a:extLst>
                  <a:ext uri="{FF2B5EF4-FFF2-40B4-BE49-F238E27FC236}">
                    <a16:creationId xmlns:a16="http://schemas.microsoft.com/office/drawing/2014/main" xmlns="" id="{56A90E82-82B2-43DF-91F9-847E206B12D4}"/>
                  </a:ext>
                </a:extLst>
              </p:cNvPr>
              <p:cNvSpPr/>
              <p:nvPr/>
            </p:nvSpPr>
            <p:spPr>
              <a:xfrm>
                <a:off x="5861060" y="6480105"/>
                <a:ext cx="900000" cy="270000"/>
              </a:xfrm>
              <a:prstGeom prst="rect">
                <a:avLst/>
              </a:prstGeom>
              <a:noFill/>
              <a:ln w="3175" cap="flat">
                <a:solidFill>
                  <a:srgbClr val="D4A344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14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ea typeface="+mn-ea"/>
                    <a:cs typeface="+mn-cs"/>
                    <a:sym typeface="Helvetica Neue Medium"/>
                  </a:rPr>
                  <a:t>无变化</a:t>
                </a:r>
              </a:p>
            </p:txBody>
          </p:sp>
          <p:sp>
            <p:nvSpPr>
              <p:cNvPr id="50" name="矩形 79">
                <a:extLst>
                  <a:ext uri="{FF2B5EF4-FFF2-40B4-BE49-F238E27FC236}">
                    <a16:creationId xmlns:a16="http://schemas.microsoft.com/office/drawing/2014/main" xmlns="" id="{2CC7AFC6-5339-424F-9F2B-AD6693CC5C13}"/>
                  </a:ext>
                </a:extLst>
              </p:cNvPr>
              <p:cNvSpPr/>
              <p:nvPr/>
            </p:nvSpPr>
            <p:spPr>
              <a:xfrm>
                <a:off x="7261118" y="5462113"/>
                <a:ext cx="900000" cy="270000"/>
              </a:xfrm>
              <a:prstGeom prst="rect">
                <a:avLst/>
              </a:prstGeom>
              <a:noFill/>
              <a:ln w="3175" cap="flat">
                <a:solidFill>
                  <a:srgbClr val="D4A344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ea typeface="+mn-ea"/>
                    <a:cs typeface="+mn-cs"/>
                    <a:sym typeface="Helvetica Neue Medium"/>
                  </a:rPr>
                  <a:t>1</a:t>
                </a:r>
                <a:r>
                  <a:rPr kumimoji="0" lang="zh-CN" altLang="en-US" sz="14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ea typeface="+mn-ea"/>
                    <a:cs typeface="+mn-cs"/>
                    <a:sym typeface="Helvetica Neue Medium"/>
                  </a:rPr>
                  <a:t>个工作日</a:t>
                </a:r>
              </a:p>
            </p:txBody>
          </p:sp>
          <p:sp>
            <p:nvSpPr>
              <p:cNvPr id="57" name="矩形 80">
                <a:extLst>
                  <a:ext uri="{FF2B5EF4-FFF2-40B4-BE49-F238E27FC236}">
                    <a16:creationId xmlns:a16="http://schemas.microsoft.com/office/drawing/2014/main" xmlns="" id="{A12E9004-A29A-4639-B58B-015C12623E7E}"/>
                  </a:ext>
                </a:extLst>
              </p:cNvPr>
              <p:cNvSpPr/>
              <p:nvPr/>
            </p:nvSpPr>
            <p:spPr>
              <a:xfrm>
                <a:off x="7261118" y="5986114"/>
                <a:ext cx="900000" cy="270000"/>
              </a:xfrm>
              <a:prstGeom prst="rect">
                <a:avLst/>
              </a:prstGeom>
              <a:noFill/>
              <a:ln w="3175" cap="flat">
                <a:solidFill>
                  <a:srgbClr val="D4A344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4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ea typeface="+mn-ea"/>
                    <a:cs typeface="+mn-cs"/>
                    <a:sym typeface="Helvetica Neue Medium"/>
                  </a:rPr>
                  <a:t>40K</a:t>
                </a:r>
                <a:endParaRPr kumimoji="0" lang="zh-CN" altLang="en-US" sz="14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endParaRPr>
              </a:p>
            </p:txBody>
          </p:sp>
          <p:sp>
            <p:nvSpPr>
              <p:cNvPr id="58" name="矩形 81">
                <a:extLst>
                  <a:ext uri="{FF2B5EF4-FFF2-40B4-BE49-F238E27FC236}">
                    <a16:creationId xmlns:a16="http://schemas.microsoft.com/office/drawing/2014/main" xmlns="" id="{820923D7-B973-4A39-9DCF-FD1D24E2C8D9}"/>
                  </a:ext>
                </a:extLst>
              </p:cNvPr>
              <p:cNvSpPr/>
              <p:nvPr/>
            </p:nvSpPr>
            <p:spPr>
              <a:xfrm>
                <a:off x="7254428" y="6503415"/>
                <a:ext cx="900000" cy="223378"/>
              </a:xfrm>
              <a:prstGeom prst="rect">
                <a:avLst/>
              </a:prstGeom>
              <a:noFill/>
              <a:ln w="3175" cap="flat">
                <a:solidFill>
                  <a:srgbClr val="D4A344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100" dirty="0">
                    <a:solidFill>
                      <a:schemeClr val="bg2"/>
                    </a:solidFill>
                    <a:latin typeface="PingFang SC Light"/>
                    <a:ea typeface="+mn-ea"/>
                    <a:cs typeface="+mn-cs"/>
                    <a:sym typeface="Helvetica Neue Medium"/>
                  </a:rPr>
                  <a:t>因时因势</a:t>
                </a:r>
                <a:r>
                  <a:rPr kumimoji="0" lang="zh-CN" altLang="en-US" sz="11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ea typeface="+mn-ea"/>
                    <a:cs typeface="+mn-cs"/>
                    <a:sym typeface="Helvetica Neue Medium"/>
                  </a:rPr>
                  <a:t>变化</a:t>
                </a:r>
              </a:p>
            </p:txBody>
          </p:sp>
          <p:sp>
            <p:nvSpPr>
              <p:cNvPr id="59" name="箭头: 虚尾 12">
                <a:extLst>
                  <a:ext uri="{FF2B5EF4-FFF2-40B4-BE49-F238E27FC236}">
                    <a16:creationId xmlns:a16="http://schemas.microsoft.com/office/drawing/2014/main" xmlns="" id="{9961DB5A-8C79-4CD2-A500-ED5FDF461C42}"/>
                  </a:ext>
                </a:extLst>
              </p:cNvPr>
              <p:cNvSpPr/>
              <p:nvPr/>
            </p:nvSpPr>
            <p:spPr>
              <a:xfrm>
                <a:off x="8353882" y="6508842"/>
                <a:ext cx="543942" cy="252000"/>
              </a:xfrm>
              <a:prstGeom prst="stripedRightArrow">
                <a:avLst>
                  <a:gd name="adj1" fmla="val 50000"/>
                  <a:gd name="adj2" fmla="val 47246"/>
                </a:avLst>
              </a:prstGeom>
              <a:noFill/>
              <a:ln w="3175" cap="flat">
                <a:solidFill>
                  <a:srgbClr val="D4A344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PingFang SC Light"/>
                  <a:ea typeface="+mn-ea"/>
                  <a:cs typeface="+mn-cs"/>
                  <a:sym typeface="Helvetica Neue Medium"/>
                </a:endParaRPr>
              </a:p>
            </p:txBody>
          </p:sp>
          <p:sp>
            <p:nvSpPr>
              <p:cNvPr id="60" name="文本框 14">
                <a:extLst>
                  <a:ext uri="{FF2B5EF4-FFF2-40B4-BE49-F238E27FC236}">
                    <a16:creationId xmlns:a16="http://schemas.microsoft.com/office/drawing/2014/main" xmlns="" id="{09FDA778-B751-4C58-A392-1F30B2DA1522}"/>
                  </a:ext>
                </a:extLst>
              </p:cNvPr>
              <p:cNvSpPr txBox="1"/>
              <p:nvPr/>
            </p:nvSpPr>
            <p:spPr>
              <a:xfrm>
                <a:off x="6770824" y="5453165"/>
                <a:ext cx="493368" cy="238767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200" b="0" i="0" u="none" strike="noStrike" cap="none" spc="0" normalizeH="0" baseline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FillTx/>
                    <a:latin typeface="PingFang SC Light"/>
                    <a:sym typeface="Arial Black"/>
                  </a:rPr>
                  <a:t>V.S.</a:t>
                </a:r>
                <a:endPara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sym typeface="Arial Black"/>
                </a:endParaRPr>
              </a:p>
            </p:txBody>
          </p:sp>
          <p:cxnSp>
            <p:nvCxnSpPr>
              <p:cNvPr id="61" name="直接连接符 17">
                <a:extLst>
                  <a:ext uri="{FF2B5EF4-FFF2-40B4-BE49-F238E27FC236}">
                    <a16:creationId xmlns:a16="http://schemas.microsoft.com/office/drawing/2014/main" xmlns="" id="{195E2CC7-9571-4052-BD91-809B965C44B9}"/>
                  </a:ext>
                </a:extLst>
              </p:cNvPr>
              <p:cNvCxnSpPr/>
              <p:nvPr/>
            </p:nvCxnSpPr>
            <p:spPr>
              <a:xfrm>
                <a:off x="5588052" y="5731658"/>
                <a:ext cx="2727910" cy="0"/>
              </a:xfrm>
              <a:prstGeom prst="line">
                <a:avLst/>
              </a:prstGeom>
              <a:noFill/>
              <a:ln w="3175" cap="flat">
                <a:solidFill>
                  <a:srgbClr val="D4A344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2" name="直接连接符 86">
                <a:extLst>
                  <a:ext uri="{FF2B5EF4-FFF2-40B4-BE49-F238E27FC236}">
                    <a16:creationId xmlns:a16="http://schemas.microsoft.com/office/drawing/2014/main" xmlns="" id="{82A2D800-CE4D-4F9D-8F78-2EB3D4FD3375}"/>
                  </a:ext>
                </a:extLst>
              </p:cNvPr>
              <p:cNvCxnSpPr/>
              <p:nvPr/>
            </p:nvCxnSpPr>
            <p:spPr>
              <a:xfrm>
                <a:off x="5625279" y="6254165"/>
                <a:ext cx="2727910" cy="0"/>
              </a:xfrm>
              <a:prstGeom prst="line">
                <a:avLst/>
              </a:prstGeom>
              <a:noFill/>
              <a:ln w="3175" cap="flat">
                <a:solidFill>
                  <a:srgbClr val="D4A344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63" name="直接连接符 87">
                <a:extLst>
                  <a:ext uri="{FF2B5EF4-FFF2-40B4-BE49-F238E27FC236}">
                    <a16:creationId xmlns:a16="http://schemas.microsoft.com/office/drawing/2014/main" xmlns="" id="{E1732D48-9CA3-4CFD-9138-19FA64729F04}"/>
                  </a:ext>
                </a:extLst>
              </p:cNvPr>
              <p:cNvCxnSpPr/>
              <p:nvPr/>
            </p:nvCxnSpPr>
            <p:spPr>
              <a:xfrm>
                <a:off x="5617557" y="6754906"/>
                <a:ext cx="2727910" cy="0"/>
              </a:xfrm>
              <a:prstGeom prst="line">
                <a:avLst/>
              </a:prstGeom>
              <a:noFill/>
              <a:ln w="3175" cap="flat">
                <a:solidFill>
                  <a:srgbClr val="D4A344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71" name="文本框 19">
                <a:extLst>
                  <a:ext uri="{FF2B5EF4-FFF2-40B4-BE49-F238E27FC236}">
                    <a16:creationId xmlns:a16="http://schemas.microsoft.com/office/drawing/2014/main" xmlns="" id="{A65C711E-45CE-4AF7-9B3A-B4C979009FE1}"/>
                  </a:ext>
                </a:extLst>
              </p:cNvPr>
              <p:cNvSpPr txBox="1"/>
              <p:nvPr/>
            </p:nvSpPr>
            <p:spPr>
              <a:xfrm>
                <a:off x="9043569" y="5382052"/>
                <a:ext cx="2203486" cy="1605295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R="0" defTabSz="410765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</a:pPr>
                <a:r>
                  <a:rPr lang="zh-CN" altLang="en-US" sz="1200" dirty="0">
                    <a:solidFill>
                      <a:schemeClr val="bg2"/>
                    </a:solidFill>
                    <a:latin typeface="PingFang SC Light"/>
                  </a:rPr>
                  <a:t>变化举例</a:t>
                </a:r>
                <a:endParaRPr lang="en-US" altLang="zh-CN" sz="1200" dirty="0">
                  <a:solidFill>
                    <a:schemeClr val="bg2"/>
                  </a:solidFill>
                  <a:latin typeface="PingFang SC Light"/>
                </a:endParaRPr>
              </a:p>
              <a:p>
                <a:pPr marR="0" defTabSz="410765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</a:pPr>
                <a:endParaRPr lang="en-US" altLang="zh-CN" sz="1200" dirty="0">
                  <a:solidFill>
                    <a:schemeClr val="bg2"/>
                  </a:solidFill>
                  <a:latin typeface="PingFang SC Light"/>
                </a:endParaRPr>
              </a:p>
              <a:p>
                <a:pPr marL="171450" marR="0" indent="-171450" algn="l" defTabSz="410765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zh-CN" altLang="en-US" sz="1200" dirty="0">
                    <a:solidFill>
                      <a:schemeClr val="bg2"/>
                    </a:solidFill>
                    <a:latin typeface="PingFang SC Light"/>
                  </a:rPr>
                  <a:t>薪资上涨，调增固定额度</a:t>
                </a:r>
                <a:endParaRPr lang="en-US" altLang="zh-CN" sz="1200" dirty="0">
                  <a:solidFill>
                    <a:schemeClr val="bg2"/>
                  </a:solidFill>
                  <a:latin typeface="PingFang SC Light"/>
                </a:endParaRPr>
              </a:p>
              <a:p>
                <a:pPr marL="171450" marR="0" indent="-171450" algn="l" defTabSz="410765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zh-CN" altLang="en-US" sz="1200" dirty="0">
                    <a:solidFill>
                      <a:schemeClr val="bg2"/>
                    </a:solidFill>
                    <a:latin typeface="PingFang SC Light"/>
                  </a:rPr>
                  <a:t>节假日，调增临时额度</a:t>
                </a:r>
                <a:endParaRPr lang="en-US" altLang="zh-CN" sz="1200" dirty="0">
                  <a:solidFill>
                    <a:schemeClr val="bg2"/>
                  </a:solidFill>
                  <a:latin typeface="PingFang SC Light"/>
                </a:endParaRPr>
              </a:p>
              <a:p>
                <a:pPr marL="171450" marR="0" indent="-171450" algn="l" defTabSz="410765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zh-CN" altLang="en-US" sz="1200" dirty="0">
                    <a:solidFill>
                      <a:schemeClr val="bg2"/>
                    </a:solidFill>
                    <a:latin typeface="PingFang SC Light"/>
                  </a:rPr>
                  <a:t>信用状况变化，调减额度</a:t>
                </a:r>
                <a:endParaRPr lang="en-US" altLang="zh-CN" sz="1200" dirty="0">
                  <a:solidFill>
                    <a:schemeClr val="bg2"/>
                  </a:solidFill>
                  <a:latin typeface="PingFang SC Light"/>
                </a:endParaRPr>
              </a:p>
              <a:p>
                <a:pPr marL="171450" marR="0" indent="-171450" algn="l" defTabSz="410765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lang="zh-CN" altLang="en-US" sz="1200" dirty="0">
                    <a:solidFill>
                      <a:schemeClr val="bg2"/>
                    </a:solidFill>
                    <a:latin typeface="PingFang SC Light"/>
                  </a:rPr>
                  <a:t>大额交易后，推送分期</a:t>
                </a:r>
                <a:endParaRPr lang="en-US" altLang="zh-CN" sz="1200" dirty="0">
                  <a:solidFill>
                    <a:schemeClr val="bg2"/>
                  </a:solidFill>
                  <a:latin typeface="PingFang SC Light"/>
                </a:endParaRPr>
              </a:p>
              <a:p>
                <a:pPr marL="0" marR="0" indent="0" algn="ctr" defTabSz="410765" rtl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lang="en-US" altLang="zh-CN" sz="1200" dirty="0">
                  <a:solidFill>
                    <a:schemeClr val="bg2"/>
                  </a:solidFill>
                  <a:latin typeface="PingFang SC Light"/>
                </a:endParaRPr>
              </a:p>
            </p:txBody>
          </p:sp>
        </p:grpSp>
        <p:sp>
          <p:nvSpPr>
            <p:cNvPr id="34" name="矩形: 圆角 23">
              <a:extLst>
                <a:ext uri="{FF2B5EF4-FFF2-40B4-BE49-F238E27FC236}">
                  <a16:creationId xmlns:a16="http://schemas.microsoft.com/office/drawing/2014/main" xmlns="" id="{7F9FC19B-8C65-46AE-B516-8C91B062F3F4}"/>
                </a:ext>
              </a:extLst>
            </p:cNvPr>
            <p:cNvSpPr/>
            <p:nvPr/>
          </p:nvSpPr>
          <p:spPr>
            <a:xfrm>
              <a:off x="4192710" y="4966874"/>
              <a:ext cx="4235686" cy="1574241"/>
            </a:xfrm>
            <a:prstGeom prst="roundRect">
              <a:avLst/>
            </a:prstGeom>
            <a:noFill/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5" name="矩形: 圆角 26">
              <a:extLst>
                <a:ext uri="{FF2B5EF4-FFF2-40B4-BE49-F238E27FC236}">
                  <a16:creationId xmlns:a16="http://schemas.microsoft.com/office/drawing/2014/main" xmlns="" id="{75CD7407-183F-4FBA-9B02-CECE585282B7}"/>
                </a:ext>
              </a:extLst>
            </p:cNvPr>
            <p:cNvSpPr/>
            <p:nvPr/>
          </p:nvSpPr>
          <p:spPr>
            <a:xfrm>
              <a:off x="8893937" y="4966873"/>
              <a:ext cx="2134531" cy="1574241"/>
            </a:xfrm>
            <a:prstGeom prst="roundRect">
              <a:avLst/>
            </a:prstGeom>
            <a:noFill/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cxnSp>
          <p:nvCxnSpPr>
            <p:cNvPr id="36" name="直接连接符 28">
              <a:extLst>
                <a:ext uri="{FF2B5EF4-FFF2-40B4-BE49-F238E27FC236}">
                  <a16:creationId xmlns:a16="http://schemas.microsoft.com/office/drawing/2014/main" xmlns="" id="{F73E1F8E-1430-448B-8B12-EB583C5D83F8}"/>
                </a:ext>
              </a:extLst>
            </p:cNvPr>
            <p:cNvCxnSpPr/>
            <p:nvPr/>
          </p:nvCxnSpPr>
          <p:spPr>
            <a:xfrm>
              <a:off x="8893937" y="5402089"/>
              <a:ext cx="1944000" cy="0"/>
            </a:xfrm>
            <a:prstGeom prst="line">
              <a:avLst/>
            </a:prstGeom>
            <a:noFill/>
            <a:ln w="3175" cap="flat">
              <a:solidFill>
                <a:srgbClr val="D4A344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7" name="矩形: 圆角 30">
              <a:extLst>
                <a:ext uri="{FF2B5EF4-FFF2-40B4-BE49-F238E27FC236}">
                  <a16:creationId xmlns:a16="http://schemas.microsoft.com/office/drawing/2014/main" xmlns="" id="{5D888221-E446-4910-A0F2-EA0E06D42DEB}"/>
                </a:ext>
              </a:extLst>
            </p:cNvPr>
            <p:cNvSpPr/>
            <p:nvPr/>
          </p:nvSpPr>
          <p:spPr>
            <a:xfrm>
              <a:off x="1595045" y="4967915"/>
              <a:ext cx="2011133" cy="1476290"/>
            </a:xfrm>
            <a:prstGeom prst="roundRect">
              <a:avLst/>
            </a:prstGeom>
            <a:noFill/>
            <a:ln w="3175" cap="flat">
              <a:solidFill>
                <a:srgbClr val="D4A344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  <p:sp>
          <p:nvSpPr>
            <p:cNvPr id="38" name="箭头: 虚尾 98">
              <a:extLst>
                <a:ext uri="{FF2B5EF4-FFF2-40B4-BE49-F238E27FC236}">
                  <a16:creationId xmlns:a16="http://schemas.microsoft.com/office/drawing/2014/main" xmlns="" id="{BCE9F631-A185-43FC-80C5-E9F8689C5343}"/>
                </a:ext>
              </a:extLst>
            </p:cNvPr>
            <p:cNvSpPr/>
            <p:nvPr/>
          </p:nvSpPr>
          <p:spPr>
            <a:xfrm>
              <a:off x="3668350" y="5590550"/>
              <a:ext cx="396000" cy="252000"/>
            </a:xfrm>
            <a:prstGeom prst="stripedRightArrow">
              <a:avLst>
                <a:gd name="adj1" fmla="val 50000"/>
                <a:gd name="adj2" fmla="val 47246"/>
              </a:avLst>
            </a:prstGeom>
            <a:noFill/>
            <a:ln w="3175" cap="flat">
              <a:solidFill>
                <a:srgbClr val="D4A344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PingFang SC Light"/>
                <a:ea typeface="+mn-ea"/>
                <a:cs typeface="+mn-cs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34314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 txBox="1"/>
          <p:nvPr/>
        </p:nvSpPr>
        <p:spPr>
          <a:xfrm>
            <a:off x="411649" y="278280"/>
            <a:ext cx="4157789" cy="54654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38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kumimoji="1" lang="zh-CN" altLang="en-US" sz="3200" dirty="0" smtClean="0">
                <a:solidFill>
                  <a:schemeClr val="tx2">
                    <a:lumMod val="10000"/>
                  </a:schemeClr>
                </a:solidFill>
                <a:latin typeface="DengXian" charset="-122"/>
                <a:ea typeface="DengXian" charset="-122"/>
                <a:cs typeface="DengXian" charset="-122"/>
              </a:rPr>
              <a:t>核心</a:t>
            </a:r>
            <a:r>
              <a:rPr kumimoji="1" lang="zh-CN" altLang="en-US" sz="3200" dirty="0">
                <a:solidFill>
                  <a:schemeClr val="tx2">
                    <a:lumMod val="10000"/>
                  </a:schemeClr>
                </a:solidFill>
                <a:latin typeface="DengXian" charset="-122"/>
                <a:ea typeface="DengXian" charset="-122"/>
                <a:cs typeface="DengXian" charset="-122"/>
              </a:rPr>
              <a:t>风控：线上反欺诈</a:t>
            </a:r>
          </a:p>
        </p:txBody>
      </p:sp>
      <p:grpSp>
        <p:nvGrpSpPr>
          <p:cNvPr id="6" name="组 17"/>
          <p:cNvGrpSpPr/>
          <p:nvPr/>
        </p:nvGrpSpPr>
        <p:grpSpPr>
          <a:xfrm>
            <a:off x="411649" y="824824"/>
            <a:ext cx="6446261" cy="103887"/>
            <a:chOff x="1040299" y="852945"/>
            <a:chExt cx="6446261" cy="103887"/>
          </a:xfrm>
        </p:grpSpPr>
        <p:sp>
          <p:nvSpPr>
            <p:cNvPr id="7" name="矩形 18">
              <a:extLst>
                <a:ext uri="{FF2B5EF4-FFF2-40B4-BE49-F238E27FC236}">
                  <a16:creationId xmlns="" xmlns:a16="http://schemas.microsoft.com/office/drawing/2014/main" id="{07CCDA19-C78F-4FEF-9A33-1AEE922E976D}"/>
                </a:ext>
              </a:extLst>
            </p:cNvPr>
            <p:cNvSpPr/>
            <p:nvPr/>
          </p:nvSpPr>
          <p:spPr>
            <a:xfrm>
              <a:off x="1040299" y="852945"/>
              <a:ext cx="4071361" cy="103887"/>
            </a:xfrm>
            <a:prstGeom prst="rect">
              <a:avLst/>
            </a:prstGeom>
            <a:solidFill>
              <a:srgbClr val="991F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19">
              <a:extLst>
                <a:ext uri="{FF2B5EF4-FFF2-40B4-BE49-F238E27FC236}">
                  <a16:creationId xmlns="" xmlns:a16="http://schemas.microsoft.com/office/drawing/2014/main" id="{FD35F411-A1E5-4031-B455-0E2C81A8D091}"/>
                </a:ext>
              </a:extLst>
            </p:cNvPr>
            <p:cNvSpPr/>
            <p:nvPr/>
          </p:nvSpPr>
          <p:spPr>
            <a:xfrm>
              <a:off x="5113896" y="852945"/>
              <a:ext cx="2372664" cy="103887"/>
            </a:xfrm>
            <a:prstGeom prst="rect">
              <a:avLst/>
            </a:prstGeom>
            <a:solidFill>
              <a:srgbClr val="D2A1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右箭头标注 25"/>
          <p:cNvSpPr/>
          <p:nvPr/>
        </p:nvSpPr>
        <p:spPr>
          <a:xfrm>
            <a:off x="391451" y="1472009"/>
            <a:ext cx="2246884" cy="763155"/>
          </a:xfrm>
          <a:prstGeom prst="rightArrowCallout">
            <a:avLst>
              <a:gd name="adj1" fmla="val 34231"/>
              <a:gd name="adj2" fmla="val 25000"/>
              <a:gd name="adj3" fmla="val 36538"/>
              <a:gd name="adj4" fmla="val 8086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账户</a:t>
            </a:r>
            <a:endParaRPr lang="en-US" altLang="zh-CN" sz="20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r>
              <a:rPr lang="zh-CN" altLang="en-US" sz="20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注册</a:t>
            </a:r>
          </a:p>
        </p:txBody>
      </p:sp>
      <p:sp>
        <p:nvSpPr>
          <p:cNvPr id="11" name="右箭头标注 25"/>
          <p:cNvSpPr/>
          <p:nvPr/>
        </p:nvSpPr>
        <p:spPr>
          <a:xfrm>
            <a:off x="2829851" y="1455970"/>
            <a:ext cx="2246884" cy="763155"/>
          </a:xfrm>
          <a:prstGeom prst="rightArrowCallout">
            <a:avLst>
              <a:gd name="adj1" fmla="val 34231"/>
              <a:gd name="adj2" fmla="val 25000"/>
              <a:gd name="adj3" fmla="val 36538"/>
              <a:gd name="adj4" fmla="val 8086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账户</a:t>
            </a:r>
            <a:endParaRPr lang="en-US" altLang="zh-CN" sz="20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r>
              <a:rPr lang="zh-CN" altLang="en-US" sz="20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登录</a:t>
            </a:r>
            <a:endParaRPr lang="zh-CN" altLang="en-US" sz="2000" dirty="0">
              <a:latin typeface="Al Nile" charset="-78"/>
              <a:ea typeface="Al Nile" charset="-78"/>
              <a:cs typeface="Al Nile" charset="-78"/>
              <a:sym typeface="+mn-lt"/>
            </a:endParaRPr>
          </a:p>
        </p:txBody>
      </p:sp>
      <p:sp>
        <p:nvSpPr>
          <p:cNvPr id="12" name="右箭头标注 25"/>
          <p:cNvSpPr/>
          <p:nvPr/>
        </p:nvSpPr>
        <p:spPr>
          <a:xfrm>
            <a:off x="5268251" y="1455970"/>
            <a:ext cx="2246884" cy="763155"/>
          </a:xfrm>
          <a:prstGeom prst="rightArrowCallout">
            <a:avLst>
              <a:gd name="adj1" fmla="val 34231"/>
              <a:gd name="adj2" fmla="val 25000"/>
              <a:gd name="adj3" fmla="val 36538"/>
              <a:gd name="adj4" fmla="val 8086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贷款</a:t>
            </a:r>
            <a:endParaRPr lang="en-US" altLang="zh-CN" sz="20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r>
              <a:rPr lang="zh-CN" altLang="en-US" sz="20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申请</a:t>
            </a:r>
          </a:p>
        </p:txBody>
      </p:sp>
      <p:sp>
        <p:nvSpPr>
          <p:cNvPr id="13" name="右箭头标注 25"/>
          <p:cNvSpPr/>
          <p:nvPr/>
        </p:nvSpPr>
        <p:spPr>
          <a:xfrm>
            <a:off x="7706651" y="1482709"/>
            <a:ext cx="2246884" cy="763155"/>
          </a:xfrm>
          <a:prstGeom prst="rightArrowCallout">
            <a:avLst>
              <a:gd name="adj1" fmla="val 34231"/>
              <a:gd name="adj2" fmla="val 25000"/>
              <a:gd name="adj3" fmla="val 36538"/>
              <a:gd name="adj4" fmla="val 80862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支付</a:t>
            </a:r>
            <a:endParaRPr lang="en-US" altLang="zh-CN" sz="20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r>
              <a:rPr lang="zh-CN" altLang="en-US" sz="20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交易</a:t>
            </a:r>
          </a:p>
        </p:txBody>
      </p:sp>
      <p:sp>
        <p:nvSpPr>
          <p:cNvPr id="17" name="矩形 27"/>
          <p:cNvSpPr/>
          <p:nvPr/>
        </p:nvSpPr>
        <p:spPr>
          <a:xfrm>
            <a:off x="10145051" y="1455970"/>
            <a:ext cx="1811867" cy="763155"/>
          </a:xfrm>
          <a:prstGeom prst="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贷后</a:t>
            </a:r>
            <a:endParaRPr lang="en-US" altLang="zh-CN" sz="20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r>
              <a:rPr lang="zh-CN" altLang="en-US" sz="20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管理</a:t>
            </a:r>
          </a:p>
        </p:txBody>
      </p:sp>
      <p:sp>
        <p:nvSpPr>
          <p:cNvPr id="55" name="箭头: 虚尾 38">
            <a:extLst>
              <a:ext uri="{FF2B5EF4-FFF2-40B4-BE49-F238E27FC236}">
                <a16:creationId xmlns="" xmlns:a16="http://schemas.microsoft.com/office/drawing/2014/main" id="{2CCD05CF-2C61-40D6-B3B0-97F2130CACB5}"/>
              </a:ext>
            </a:extLst>
          </p:cNvPr>
          <p:cNvSpPr/>
          <p:nvPr/>
        </p:nvSpPr>
        <p:spPr>
          <a:xfrm rot="5400000" flipV="1">
            <a:off x="3269293" y="2779300"/>
            <a:ext cx="468000" cy="900000"/>
          </a:xfrm>
          <a:prstGeom prst="stripedRightArrow">
            <a:avLst/>
          </a:prstGeom>
          <a:noFill/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1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70" name="矩形 118">
            <a:extLst>
              <a:ext uri="{FF2B5EF4-FFF2-40B4-BE49-F238E27FC236}">
                <a16:creationId xmlns="" xmlns:a16="http://schemas.microsoft.com/office/drawing/2014/main" id="{9921EB6C-AFA5-483F-AC04-5E1C5B9D3034}"/>
              </a:ext>
            </a:extLst>
          </p:cNvPr>
          <p:cNvSpPr/>
          <p:nvPr/>
        </p:nvSpPr>
        <p:spPr>
          <a:xfrm>
            <a:off x="391451" y="1169038"/>
            <a:ext cx="11565467" cy="215684"/>
          </a:xfrm>
          <a:prstGeom prst="rect">
            <a:avLst/>
          </a:prstGeom>
          <a:solidFill>
            <a:srgbClr val="9B1F25"/>
          </a:solidFill>
          <a:ln w="3175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105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rPr>
              <a:t>金融欺诈呈现出：涉及业务环节多、手段多样、隐蔽性强的特点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2380" y="2366585"/>
            <a:ext cx="16190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伪造身份注册</a:t>
            </a:r>
            <a:endParaRPr lang="en-US" altLang="zh-CN" sz="12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冒用他人身份注册</a:t>
            </a:r>
            <a:endParaRPr lang="en-US" altLang="zh-CN" sz="12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自动化垃圾注册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75410" y="2283753"/>
            <a:ext cx="13616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账户盗用</a:t>
            </a:r>
            <a:endParaRPr lang="en-US" altLang="zh-CN" sz="12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账户冒用</a:t>
            </a:r>
            <a:endParaRPr lang="en-US" altLang="zh-CN" sz="12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账户异常共享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02476" y="2431527"/>
            <a:ext cx="17549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虚假申请信息</a:t>
            </a:r>
            <a:endParaRPr lang="en-US" altLang="zh-CN" sz="12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多头借贷</a:t>
            </a:r>
            <a:endParaRPr lang="en-US" sz="1200" dirty="0">
              <a:latin typeface="Al Nile" charset="-78"/>
              <a:ea typeface="Al Nile" charset="-78"/>
              <a:cs typeface="Al Nile" charset="-78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7746798" y="2527999"/>
            <a:ext cx="9733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非法盗刷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48000" y="2367171"/>
            <a:ext cx="16706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恶意套现</a:t>
            </a:r>
            <a:endParaRPr lang="en-US" altLang="zh-CN" sz="12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营销作弊</a:t>
            </a:r>
            <a:endParaRPr lang="en-US" altLang="zh-CN" sz="1200" dirty="0">
              <a:solidFill>
                <a:schemeClr val="bg2"/>
              </a:solidFill>
              <a:latin typeface="Al Nile" charset="-78"/>
              <a:ea typeface="Al Nile" charset="-78"/>
              <a:cs typeface="Al Nile" charset="-78"/>
            </a:endParaRPr>
          </a:p>
          <a:p>
            <a:pPr marL="171450" indent="-171450" algn="l">
              <a:buFont typeface="Arial" charset="0"/>
              <a:buChar char="•"/>
            </a:pPr>
            <a:r>
              <a:rPr lang="zh-CN" altLang="en-US" sz="1200" dirty="0">
                <a:solidFill>
                  <a:schemeClr val="bg2"/>
                </a:solidFill>
                <a:latin typeface="Al Nile" charset="-78"/>
                <a:ea typeface="Al Nile" charset="-78"/>
                <a:cs typeface="Al Nile" charset="-78"/>
              </a:rPr>
              <a:t>虚假交易</a:t>
            </a:r>
          </a:p>
        </p:txBody>
      </p:sp>
      <p:graphicFrame>
        <p:nvGraphicFramePr>
          <p:cNvPr id="78" name="Diagram 77"/>
          <p:cNvGraphicFramePr/>
          <p:nvPr/>
        </p:nvGraphicFramePr>
        <p:xfrm>
          <a:off x="777947" y="3728274"/>
          <a:ext cx="5741386" cy="2758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9" name="矩形 24">
            <a:extLst>
              <a:ext uri="{FF2B5EF4-FFF2-40B4-BE49-F238E27FC236}">
                <a16:creationId xmlns="" xmlns:a16="http://schemas.microsoft.com/office/drawing/2014/main" id="{33EA630C-A1DE-4D92-BC03-62689F269FC6}"/>
              </a:ext>
            </a:extLst>
          </p:cNvPr>
          <p:cNvSpPr/>
          <p:nvPr/>
        </p:nvSpPr>
        <p:spPr>
          <a:xfrm>
            <a:off x="391451" y="3479339"/>
            <a:ext cx="6726322" cy="215684"/>
          </a:xfrm>
          <a:prstGeom prst="rect">
            <a:avLst/>
          </a:prstGeom>
          <a:solidFill>
            <a:srgbClr val="D4A344"/>
          </a:solidFill>
          <a:ln w="3175" cap="flat">
            <a:solidFill>
              <a:srgbClr val="D4A344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sz="1050" dirty="0">
                <a:latin typeface="+mn-lt"/>
                <a:ea typeface="+mn-ea"/>
                <a:cs typeface="+mn-cs"/>
                <a:sym typeface="Helvetica Neue Medium"/>
              </a:rPr>
              <a:t>解决方案的演进</a:t>
            </a:r>
            <a:endParaRPr kumimoji="0" lang="zh-CN" altLang="en-US" sz="10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graphicFrame>
        <p:nvGraphicFramePr>
          <p:cNvPr id="80" name="Diagram 79"/>
          <p:cNvGraphicFramePr/>
          <p:nvPr/>
        </p:nvGraphicFramePr>
        <p:xfrm>
          <a:off x="7352854" y="3579638"/>
          <a:ext cx="4839146" cy="3273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82" name="Right Arrow 81"/>
          <p:cNvSpPr/>
          <p:nvPr/>
        </p:nvSpPr>
        <p:spPr>
          <a:xfrm>
            <a:off x="6957470" y="4605110"/>
            <a:ext cx="1001197" cy="965995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 w="3175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6789" tIns="26789" rIns="26789" bIns="26789" numCol="1" spcCol="38100" rtlCol="0" anchor="ctr">
            <a:spAutoFit/>
          </a:bodyPr>
          <a:lstStyle/>
          <a:p>
            <a:pPr marL="0" marR="0" indent="0" algn="ctr" defTabSz="41076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83" name="图像" descr="图像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0495918" y="475304"/>
            <a:ext cx="1253576" cy="332979"/>
          </a:xfrm>
          <a:prstGeom prst="rect">
            <a:avLst/>
          </a:prstGeom>
          <a:ln w="3175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344821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线条"/>
          <p:cNvSpPr/>
          <p:nvPr/>
        </p:nvSpPr>
        <p:spPr>
          <a:xfrm flipV="1">
            <a:off x="871205" y="-4019"/>
            <a:ext cx="1" cy="6866038"/>
          </a:xfrm>
          <a:prstGeom prst="line">
            <a:avLst/>
          </a:prstGeom>
          <a:ln>
            <a:solidFill>
              <a:srgbClr val="D6D5D5"/>
            </a:solidFill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7" name="矩形"/>
          <p:cNvSpPr/>
          <p:nvPr/>
        </p:nvSpPr>
        <p:spPr>
          <a:xfrm rot="5400000">
            <a:off x="265869" y="1178283"/>
            <a:ext cx="271170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58" name="矩形"/>
          <p:cNvSpPr/>
          <p:nvPr/>
        </p:nvSpPr>
        <p:spPr>
          <a:xfrm rot="5400000">
            <a:off x="315262" y="1178283"/>
            <a:ext cx="271171" cy="26790"/>
          </a:xfrm>
          <a:prstGeom prst="rect">
            <a:avLst/>
          </a:prstGeom>
          <a:solidFill>
            <a:srgbClr val="CAA354"/>
          </a:solidFill>
          <a:ln w="3175">
            <a:miter lim="400000"/>
          </a:ln>
        </p:spPr>
        <p:txBody>
          <a:bodyPr lIns="26789" tIns="26789" rIns="26789" bIns="26789" anchor="ctr"/>
          <a:lstStyle/>
          <a:p>
            <a:pPr>
              <a:defRPr sz="1400">
                <a:solidFill>
                  <a:srgbClr val="CAA354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95918" y="475304"/>
            <a:ext cx="1253576" cy="332979"/>
          </a:xfrm>
          <a:prstGeom prst="rect">
            <a:avLst/>
          </a:prstGeom>
          <a:ln w="3175">
            <a:miter lim="400000"/>
          </a:ln>
        </p:spPr>
      </p:pic>
      <p:sp>
        <p:nvSpPr>
          <p:cNvPr id="42" name="标题">
            <a:extLst>
              <a:ext uri="{FF2B5EF4-FFF2-40B4-BE49-F238E27FC236}">
                <a16:creationId xmlns:a16="http://schemas.microsoft.com/office/drawing/2014/main" xmlns="" id="{AE4BA4B2-976D-4444-9722-56B8CCD159A5}"/>
              </a:ext>
            </a:extLst>
          </p:cNvPr>
          <p:cNvSpPr txBox="1"/>
          <p:nvPr/>
        </p:nvSpPr>
        <p:spPr>
          <a:xfrm>
            <a:off x="1336722" y="460854"/>
            <a:ext cx="2362425" cy="36187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3800">
                <a:solidFill>
                  <a:srgbClr val="000000"/>
                </a:solidFill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</a:lstStyle>
          <a:p>
            <a:r>
              <a:rPr lang="zh-CN" altLang="en-US" sz="2000" dirty="0"/>
              <a:t>线上反欺诈流程分析</a:t>
            </a:r>
            <a:endParaRPr sz="2000" dirty="0"/>
          </a:p>
        </p:txBody>
      </p:sp>
      <p:grpSp>
        <p:nvGrpSpPr>
          <p:cNvPr id="111" name="组合 110">
            <a:extLst>
              <a:ext uri="{FF2B5EF4-FFF2-40B4-BE49-F238E27FC236}">
                <a16:creationId xmlns:a16="http://schemas.microsoft.com/office/drawing/2014/main" xmlns="" id="{65AA1F27-F959-47C9-A6EF-EC82381A3E09}"/>
              </a:ext>
            </a:extLst>
          </p:cNvPr>
          <p:cNvGrpSpPr/>
          <p:nvPr/>
        </p:nvGrpSpPr>
        <p:grpSpPr>
          <a:xfrm>
            <a:off x="1215255" y="1427753"/>
            <a:ext cx="10631192" cy="3248592"/>
            <a:chOff x="1373168" y="1427753"/>
            <a:chExt cx="10631192" cy="3248592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xmlns="" id="{8688BD25-C6B6-4E1A-B004-B9372C532764}"/>
                </a:ext>
              </a:extLst>
            </p:cNvPr>
            <p:cNvGrpSpPr/>
            <p:nvPr/>
          </p:nvGrpSpPr>
          <p:grpSpPr>
            <a:xfrm>
              <a:off x="9264010" y="2317808"/>
              <a:ext cx="2740350" cy="2358537"/>
              <a:chOff x="7719207" y="3452119"/>
              <a:chExt cx="3218629" cy="2358537"/>
            </a:xfrm>
          </p:grpSpPr>
          <p:sp>
            <p:nvSpPr>
              <p:cNvPr id="40" name="梯形 39">
                <a:extLst>
                  <a:ext uri="{FF2B5EF4-FFF2-40B4-BE49-F238E27FC236}">
                    <a16:creationId xmlns:a16="http://schemas.microsoft.com/office/drawing/2014/main" xmlns="" id="{55B8E553-9E6A-4813-8DA7-E324F954256A}"/>
                  </a:ext>
                </a:extLst>
              </p:cNvPr>
              <p:cNvSpPr/>
              <p:nvPr/>
            </p:nvSpPr>
            <p:spPr>
              <a:xfrm>
                <a:off x="7719207" y="3452119"/>
                <a:ext cx="3218629" cy="2358537"/>
              </a:xfrm>
              <a:prstGeom prst="trapezoid">
                <a:avLst/>
              </a:prstGeom>
              <a:noFill/>
              <a:ln w="3175" cap="flat">
                <a:solidFill>
                  <a:srgbClr val="D4A344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xmlns="" id="{3D79C9A5-0BEB-4BFC-A653-30CA7EAACB16}"/>
                  </a:ext>
                </a:extLst>
              </p:cNvPr>
              <p:cNvCxnSpPr/>
              <p:nvPr/>
            </p:nvCxnSpPr>
            <p:spPr>
              <a:xfrm>
                <a:off x="8270162" y="3944244"/>
                <a:ext cx="2114158" cy="0"/>
              </a:xfrm>
              <a:prstGeom prst="line">
                <a:avLst/>
              </a:prstGeom>
              <a:noFill/>
              <a:ln w="3175" cap="flat">
                <a:solidFill>
                  <a:srgbClr val="D4A344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xmlns="" id="{398E133A-D67B-4676-9AB4-58B90C9657DB}"/>
                  </a:ext>
                </a:extLst>
              </p:cNvPr>
              <p:cNvCxnSpPr/>
              <p:nvPr/>
            </p:nvCxnSpPr>
            <p:spPr>
              <a:xfrm>
                <a:off x="8122171" y="4460471"/>
                <a:ext cx="2410140" cy="0"/>
              </a:xfrm>
              <a:prstGeom prst="line">
                <a:avLst/>
              </a:prstGeom>
              <a:noFill/>
              <a:ln w="3175" cap="flat">
                <a:solidFill>
                  <a:srgbClr val="D4A344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8" name="直接连接符 167">
                <a:extLst>
                  <a:ext uri="{FF2B5EF4-FFF2-40B4-BE49-F238E27FC236}">
                    <a16:creationId xmlns:a16="http://schemas.microsoft.com/office/drawing/2014/main" xmlns="" id="{7188EE2A-6620-4907-A080-F8B19C699AAF}"/>
                  </a:ext>
                </a:extLst>
              </p:cNvPr>
              <p:cNvCxnSpPr/>
              <p:nvPr/>
            </p:nvCxnSpPr>
            <p:spPr>
              <a:xfrm>
                <a:off x="7984912" y="4909401"/>
                <a:ext cx="2663839" cy="0"/>
              </a:xfrm>
              <a:prstGeom prst="line">
                <a:avLst/>
              </a:prstGeom>
              <a:noFill/>
              <a:ln w="3175" cap="flat">
                <a:solidFill>
                  <a:srgbClr val="D4A344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cxnSp>
            <p:nvCxnSpPr>
              <p:cNvPr id="169" name="直接连接符 168">
                <a:extLst>
                  <a:ext uri="{FF2B5EF4-FFF2-40B4-BE49-F238E27FC236}">
                    <a16:creationId xmlns:a16="http://schemas.microsoft.com/office/drawing/2014/main" xmlns="" id="{544A5547-9924-421F-B864-D147DC633A3A}"/>
                  </a:ext>
                </a:extLst>
              </p:cNvPr>
              <p:cNvCxnSpPr/>
              <p:nvPr/>
            </p:nvCxnSpPr>
            <p:spPr>
              <a:xfrm>
                <a:off x="7842478" y="5362873"/>
                <a:ext cx="2952000" cy="0"/>
              </a:xfrm>
              <a:prstGeom prst="line">
                <a:avLst/>
              </a:prstGeom>
              <a:noFill/>
              <a:ln w="3175" cap="flat">
                <a:solidFill>
                  <a:srgbClr val="D4A344"/>
                </a:solidFill>
                <a:prstDash val="sysDash"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</p:cxn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xmlns="" id="{62D674AD-A897-436A-BA51-779947A6F59A}"/>
                  </a:ext>
                </a:extLst>
              </p:cNvPr>
              <p:cNvSpPr txBox="1"/>
              <p:nvPr/>
            </p:nvSpPr>
            <p:spPr>
              <a:xfrm>
                <a:off x="8270162" y="3622510"/>
                <a:ext cx="2106117" cy="207990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000" dirty="0">
                    <a:solidFill>
                      <a:schemeClr val="bg2"/>
                    </a:solidFill>
                    <a:latin typeface="PingFang SC Light"/>
                  </a:rPr>
                  <a:t>欺诈网络图谱</a:t>
                </a:r>
                <a:endParaRPr kumimoji="0" lang="zh-CN" altLang="en-US" sz="10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sym typeface="Arial Black"/>
                </a:endParaRPr>
              </a:p>
            </p:txBody>
          </p:sp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xmlns="" id="{1A67C391-43CF-407A-896B-5633E82F050B}"/>
                  </a:ext>
                </a:extLst>
              </p:cNvPr>
              <p:cNvSpPr txBox="1"/>
              <p:nvPr/>
            </p:nvSpPr>
            <p:spPr>
              <a:xfrm>
                <a:off x="8270162" y="4127834"/>
                <a:ext cx="2106117" cy="207990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000" dirty="0">
                    <a:solidFill>
                      <a:schemeClr val="bg2"/>
                    </a:solidFill>
                    <a:latin typeface="PingFang SC Light"/>
                  </a:rPr>
                  <a:t>业务时间异常度</a:t>
                </a:r>
                <a:endParaRPr kumimoji="0" lang="zh-CN" altLang="en-US" sz="10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sym typeface="Arial Black"/>
                </a:endParaRPr>
              </a:p>
            </p:txBody>
          </p:sp>
          <p:sp>
            <p:nvSpPr>
              <p:cNvPr id="173" name="文本框 172">
                <a:extLst>
                  <a:ext uri="{FF2B5EF4-FFF2-40B4-BE49-F238E27FC236}">
                    <a16:creationId xmlns:a16="http://schemas.microsoft.com/office/drawing/2014/main" xmlns="" id="{C14B70BC-1270-4321-861C-DD10F8B4B4E5}"/>
                  </a:ext>
                </a:extLst>
              </p:cNvPr>
              <p:cNvSpPr txBox="1"/>
              <p:nvPr/>
            </p:nvSpPr>
            <p:spPr>
              <a:xfrm>
                <a:off x="8270162" y="4593052"/>
                <a:ext cx="2106117" cy="207990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000" dirty="0">
                    <a:solidFill>
                      <a:schemeClr val="bg2"/>
                    </a:solidFill>
                    <a:latin typeface="PingFang SC Light"/>
                  </a:rPr>
                  <a:t>业务时间频次</a:t>
                </a:r>
                <a:endParaRPr kumimoji="0" lang="zh-CN" altLang="en-US" sz="100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sym typeface="Arial Black"/>
                </a:endParaRPr>
              </a:p>
            </p:txBody>
          </p:sp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xmlns="" id="{E18D00C8-B165-4BEB-9300-C534C55680A5}"/>
                  </a:ext>
                </a:extLst>
              </p:cNvPr>
              <p:cNvSpPr txBox="1"/>
              <p:nvPr/>
            </p:nvSpPr>
            <p:spPr>
              <a:xfrm>
                <a:off x="8270162" y="5058270"/>
                <a:ext cx="2106117" cy="207990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000" dirty="0">
                    <a:solidFill>
                      <a:schemeClr val="bg2"/>
                    </a:solidFill>
                    <a:latin typeface="PingFang SC Light"/>
                  </a:rPr>
                  <a:t>用户行为信息</a:t>
                </a:r>
                <a:endParaRPr kumimoji="0" lang="zh-CN" altLang="en-US" sz="10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sym typeface="Arial Black"/>
                </a:endParaRPr>
              </a:p>
            </p:txBody>
          </p:sp>
          <p:sp>
            <p:nvSpPr>
              <p:cNvPr id="175" name="文本框 174">
                <a:extLst>
                  <a:ext uri="{FF2B5EF4-FFF2-40B4-BE49-F238E27FC236}">
                    <a16:creationId xmlns:a16="http://schemas.microsoft.com/office/drawing/2014/main" xmlns="" id="{5FBDBC67-1FB0-4D87-BB6A-08D7B8D34488}"/>
                  </a:ext>
                </a:extLst>
              </p:cNvPr>
              <p:cNvSpPr txBox="1"/>
              <p:nvPr/>
            </p:nvSpPr>
            <p:spPr>
              <a:xfrm>
                <a:off x="8270162" y="5523488"/>
                <a:ext cx="2106117" cy="207990"/>
              </a:xfrm>
              <a:prstGeom prst="rect">
                <a:avLst/>
              </a:prstGeom>
              <a:noFill/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1000" dirty="0">
                    <a:solidFill>
                      <a:schemeClr val="bg2"/>
                    </a:solidFill>
                    <a:latin typeface="PingFang SC Light"/>
                  </a:rPr>
                  <a:t>设备终端与网络</a:t>
                </a:r>
                <a:endParaRPr kumimoji="0" lang="zh-CN" altLang="en-US" sz="10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sym typeface="Arial Black"/>
                </a:endParaRPr>
              </a:p>
            </p:txBody>
          </p:sp>
        </p:grp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xmlns="" id="{41948AD4-A453-46CA-A970-4DB8E6070BBA}"/>
                </a:ext>
              </a:extLst>
            </p:cNvPr>
            <p:cNvGrpSpPr/>
            <p:nvPr/>
          </p:nvGrpSpPr>
          <p:grpSpPr>
            <a:xfrm>
              <a:off x="1373168" y="1427753"/>
              <a:ext cx="7561968" cy="3248591"/>
              <a:chOff x="1389210" y="2662990"/>
              <a:chExt cx="7561968" cy="3248591"/>
            </a:xfrm>
          </p:grpSpPr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xmlns="" id="{FCB3D811-CA6C-4E49-9DA0-33718467CFD3}"/>
                  </a:ext>
                </a:extLst>
              </p:cNvPr>
              <p:cNvGrpSpPr/>
              <p:nvPr/>
            </p:nvGrpSpPr>
            <p:grpSpPr>
              <a:xfrm>
                <a:off x="1389210" y="2662990"/>
                <a:ext cx="7561968" cy="3248591"/>
                <a:chOff x="1827147" y="1636295"/>
                <a:chExt cx="7695962" cy="3327761"/>
              </a:xfrm>
            </p:grpSpPr>
            <p:grpSp>
              <p:nvGrpSpPr>
                <p:cNvPr id="4" name="组合 3">
                  <a:extLst>
                    <a:ext uri="{FF2B5EF4-FFF2-40B4-BE49-F238E27FC236}">
                      <a16:creationId xmlns:a16="http://schemas.microsoft.com/office/drawing/2014/main" xmlns="" id="{478D5CC4-8CF3-429C-A905-1E7DC9341FB3}"/>
                    </a:ext>
                  </a:extLst>
                </p:cNvPr>
                <p:cNvGrpSpPr/>
                <p:nvPr/>
              </p:nvGrpSpPr>
              <p:grpSpPr>
                <a:xfrm>
                  <a:off x="1827147" y="3062783"/>
                  <a:ext cx="648000" cy="648000"/>
                  <a:chOff x="1827147" y="4650952"/>
                  <a:chExt cx="648000" cy="648000"/>
                </a:xfrm>
              </p:grpSpPr>
              <p:sp>
                <p:nvSpPr>
                  <p:cNvPr id="2" name="椭圆 1">
                    <a:extLst>
                      <a:ext uri="{FF2B5EF4-FFF2-40B4-BE49-F238E27FC236}">
                        <a16:creationId xmlns:a16="http://schemas.microsoft.com/office/drawing/2014/main" xmlns="" id="{3AB5FAEB-9997-4CD2-8E86-1BFDF08A2E18}"/>
                      </a:ext>
                    </a:extLst>
                  </p:cNvPr>
                  <p:cNvSpPr/>
                  <p:nvPr/>
                </p:nvSpPr>
                <p:spPr>
                  <a:xfrm>
                    <a:off x="1827147" y="4650952"/>
                    <a:ext cx="648000" cy="648000"/>
                  </a:xfrm>
                  <a:prstGeom prst="ellipse">
                    <a:avLst/>
                  </a:prstGeom>
                  <a:noFill/>
                  <a:ln w="3175" cap="flat">
                    <a:solidFill>
                      <a:schemeClr val="bg2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 Medium"/>
                    </a:endParaRPr>
                  </a:p>
                </p:txBody>
              </p:sp>
              <p:sp>
                <p:nvSpPr>
                  <p:cNvPr id="3" name="文本框 2">
                    <a:extLst>
                      <a:ext uri="{FF2B5EF4-FFF2-40B4-BE49-F238E27FC236}">
                        <a16:creationId xmlns:a16="http://schemas.microsoft.com/office/drawing/2014/main" xmlns="" id="{363FFABA-F340-40D9-8EDA-A39148A4DA14}"/>
                      </a:ext>
                    </a:extLst>
                  </p:cNvPr>
                  <p:cNvSpPr txBox="1"/>
                  <p:nvPr/>
                </p:nvSpPr>
                <p:spPr>
                  <a:xfrm>
                    <a:off x="1833715" y="4777181"/>
                    <a:ext cx="607303" cy="370697"/>
                  </a:xfrm>
                  <a:prstGeom prst="rect">
                    <a:avLst/>
                  </a:prstGeom>
                  <a:noFill/>
                  <a:ln w="3175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zh-CN" altLang="en-US" sz="1000" dirty="0">
                        <a:solidFill>
                          <a:schemeClr val="bg2"/>
                        </a:solidFill>
                        <a:latin typeface="PingFang SC Light"/>
                      </a:rPr>
                      <a:t>交易</a:t>
                    </a:r>
                    <a:endParaRPr lang="en-US" altLang="zh-CN" sz="1000" dirty="0">
                      <a:solidFill>
                        <a:schemeClr val="bg2"/>
                      </a:solidFill>
                      <a:latin typeface="PingFang SC Light"/>
                    </a:endParaRPr>
                  </a:p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zh-CN" altLang="en-US" sz="1000" dirty="0">
                        <a:solidFill>
                          <a:schemeClr val="bg2"/>
                        </a:solidFill>
                        <a:latin typeface="PingFang SC Light"/>
                      </a:rPr>
                      <a:t>请求</a:t>
                    </a:r>
                    <a:endParaRPr kumimoji="0" lang="zh-CN" altLang="en-US" sz="10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endParaRPr>
                  </a:p>
                </p:txBody>
              </p:sp>
            </p:grpSp>
            <p:cxnSp>
              <p:nvCxnSpPr>
                <p:cNvPr id="6" name="连接符: 肘形 5">
                  <a:extLst>
                    <a:ext uri="{FF2B5EF4-FFF2-40B4-BE49-F238E27FC236}">
                      <a16:creationId xmlns:a16="http://schemas.microsoft.com/office/drawing/2014/main" xmlns="" id="{54B7CF05-2BBA-45EC-A41C-914062BB77F0}"/>
                    </a:ext>
                  </a:extLst>
                </p:cNvPr>
                <p:cNvCxnSpPr>
                  <a:cxnSpLocks/>
                  <a:stCxn id="2" idx="6"/>
                  <a:endCxn id="11" idx="1"/>
                </p:cNvCxnSpPr>
                <p:nvPr/>
              </p:nvCxnSpPr>
              <p:spPr>
                <a:xfrm flipV="1">
                  <a:off x="2475147" y="2512714"/>
                  <a:ext cx="637021" cy="874070"/>
                </a:xfrm>
                <a:prstGeom prst="bentConnector3">
                  <a:avLst>
                    <a:gd name="adj1" fmla="val 50000"/>
                  </a:avLst>
                </a:prstGeom>
                <a:noFill/>
                <a:ln w="3175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8" name="连接符: 肘形 7">
                  <a:extLst>
                    <a:ext uri="{FF2B5EF4-FFF2-40B4-BE49-F238E27FC236}">
                      <a16:creationId xmlns:a16="http://schemas.microsoft.com/office/drawing/2014/main" xmlns="" id="{B5C27FCA-FAAA-4FA7-B61D-2B3B38E1C5E1}"/>
                    </a:ext>
                  </a:extLst>
                </p:cNvPr>
                <p:cNvCxnSpPr>
                  <a:cxnSpLocks/>
                  <a:stCxn id="2" idx="6"/>
                  <a:endCxn id="74" idx="1"/>
                </p:cNvCxnSpPr>
                <p:nvPr/>
              </p:nvCxnSpPr>
              <p:spPr>
                <a:xfrm>
                  <a:off x="2475147" y="3386783"/>
                  <a:ext cx="868896" cy="864628"/>
                </a:xfrm>
                <a:prstGeom prst="bentConnector3">
                  <a:avLst>
                    <a:gd name="adj1" fmla="val 50000"/>
                  </a:avLst>
                </a:prstGeom>
                <a:noFill/>
                <a:ln w="3175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grpSp>
              <p:nvGrpSpPr>
                <p:cNvPr id="17" name="组合 16">
                  <a:extLst>
                    <a:ext uri="{FF2B5EF4-FFF2-40B4-BE49-F238E27FC236}">
                      <a16:creationId xmlns:a16="http://schemas.microsoft.com/office/drawing/2014/main" xmlns="" id="{C1B6ECBF-2540-4EC0-9C16-8AC738BF0C6E}"/>
                    </a:ext>
                  </a:extLst>
                </p:cNvPr>
                <p:cNvGrpSpPr/>
                <p:nvPr/>
              </p:nvGrpSpPr>
              <p:grpSpPr>
                <a:xfrm>
                  <a:off x="3112168" y="2278713"/>
                  <a:ext cx="1129592" cy="468000"/>
                  <a:chOff x="3112168" y="2278713"/>
                  <a:chExt cx="1129592" cy="468000"/>
                </a:xfrm>
              </p:grpSpPr>
              <p:sp>
                <p:nvSpPr>
                  <p:cNvPr id="9" name="矩形: 圆角 8">
                    <a:extLst>
                      <a:ext uri="{FF2B5EF4-FFF2-40B4-BE49-F238E27FC236}">
                        <a16:creationId xmlns:a16="http://schemas.microsoft.com/office/drawing/2014/main" xmlns="" id="{F6169036-9D5E-4B0C-922F-61B2B06A5362}"/>
                      </a:ext>
                    </a:extLst>
                  </p:cNvPr>
                  <p:cNvSpPr/>
                  <p:nvPr/>
                </p:nvSpPr>
                <p:spPr>
                  <a:xfrm>
                    <a:off x="3136964" y="2278713"/>
                    <a:ext cx="1080000" cy="468000"/>
                  </a:xfrm>
                  <a:prstGeom prst="roundRect">
                    <a:avLst/>
                  </a:prstGeom>
                  <a:noFill/>
                  <a:ln w="3175" cap="flat">
                    <a:solidFill>
                      <a:schemeClr val="bg2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 Medium"/>
                    </a:endParaRPr>
                  </a:p>
                </p:txBody>
              </p:sp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xmlns="" id="{C61AD34B-526E-41F1-9298-6F7B116C77F0}"/>
                      </a:ext>
                    </a:extLst>
                  </p:cNvPr>
                  <p:cNvSpPr txBox="1"/>
                  <p:nvPr/>
                </p:nvSpPr>
                <p:spPr>
                  <a:xfrm>
                    <a:off x="3112168" y="2327365"/>
                    <a:ext cx="1129592" cy="370697"/>
                  </a:xfrm>
                  <a:prstGeom prst="rect">
                    <a:avLst/>
                  </a:prstGeom>
                  <a:noFill/>
                  <a:ln w="3175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en-US" sz="10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FillTx/>
                        <a:latin typeface="PingFang SC Light"/>
                        <a:sym typeface="Arial Black"/>
                      </a:rPr>
                      <a:t>内部数据库</a:t>
                    </a:r>
                    <a:endParaRPr kumimoji="0" lang="en-US" altLang="zh-CN" sz="10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endParaRPr>
                  </a:p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zh-CN" altLang="en-US" sz="1000" dirty="0">
                        <a:solidFill>
                          <a:schemeClr val="bg2"/>
                        </a:solidFill>
                        <a:latin typeface="PingFang SC Light"/>
                      </a:rPr>
                      <a:t>匹配</a:t>
                    </a:r>
                    <a:endParaRPr kumimoji="0" lang="zh-CN" altLang="en-US" sz="10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endParaRPr>
                  </a:p>
                </p:txBody>
              </p:sp>
            </p:grpSp>
            <p:grpSp>
              <p:nvGrpSpPr>
                <p:cNvPr id="13" name="组合 12">
                  <a:extLst>
                    <a:ext uri="{FF2B5EF4-FFF2-40B4-BE49-F238E27FC236}">
                      <a16:creationId xmlns:a16="http://schemas.microsoft.com/office/drawing/2014/main" xmlns="" id="{3AE74B72-BC15-47EA-891F-0EE13D60B2A0}"/>
                    </a:ext>
                  </a:extLst>
                </p:cNvPr>
                <p:cNvGrpSpPr/>
                <p:nvPr/>
              </p:nvGrpSpPr>
              <p:grpSpPr>
                <a:xfrm>
                  <a:off x="4680463" y="2271553"/>
                  <a:ext cx="1541418" cy="468000"/>
                  <a:chOff x="5001303" y="2223427"/>
                  <a:chExt cx="1541418" cy="468000"/>
                </a:xfrm>
              </p:grpSpPr>
              <p:sp>
                <p:nvSpPr>
                  <p:cNvPr id="64" name="矩形: 圆角 63">
                    <a:extLst>
                      <a:ext uri="{FF2B5EF4-FFF2-40B4-BE49-F238E27FC236}">
                        <a16:creationId xmlns:a16="http://schemas.microsoft.com/office/drawing/2014/main" xmlns="" id="{7CF2120B-5766-4A1D-B90B-3417140E3166}"/>
                      </a:ext>
                    </a:extLst>
                  </p:cNvPr>
                  <p:cNvSpPr/>
                  <p:nvPr/>
                </p:nvSpPr>
                <p:spPr>
                  <a:xfrm>
                    <a:off x="5001303" y="2223427"/>
                    <a:ext cx="1541418" cy="468000"/>
                  </a:xfrm>
                  <a:prstGeom prst="roundRect">
                    <a:avLst/>
                  </a:prstGeom>
                  <a:noFill/>
                  <a:ln w="3175" cap="flat">
                    <a:solidFill>
                      <a:schemeClr val="bg2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 Medium"/>
                    </a:endParaRPr>
                  </a:p>
                </p:txBody>
              </p:sp>
              <p:sp>
                <p:nvSpPr>
                  <p:cNvPr id="69" name="文本框 68">
                    <a:extLst>
                      <a:ext uri="{FF2B5EF4-FFF2-40B4-BE49-F238E27FC236}">
                        <a16:creationId xmlns:a16="http://schemas.microsoft.com/office/drawing/2014/main" xmlns="" id="{C6F229F6-ED4E-4D3E-9C74-98E28E475C97}"/>
                      </a:ext>
                    </a:extLst>
                  </p:cNvPr>
                  <p:cNvSpPr txBox="1"/>
                  <p:nvPr/>
                </p:nvSpPr>
                <p:spPr>
                  <a:xfrm>
                    <a:off x="5101359" y="2272079"/>
                    <a:ext cx="1157458" cy="370697"/>
                  </a:xfrm>
                  <a:prstGeom prst="rect">
                    <a:avLst/>
                  </a:prstGeom>
                  <a:noFill/>
                  <a:ln w="3175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en-US" sz="10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FillTx/>
                        <a:latin typeface="PingFang SC Light"/>
                        <a:sym typeface="Arial Black"/>
                      </a:rPr>
                      <a:t>反欺诈规则</a:t>
                    </a:r>
                    <a:endParaRPr kumimoji="0" lang="en-US" altLang="zh-CN" sz="10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endParaRPr>
                  </a:p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en-US" sz="10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FillTx/>
                        <a:latin typeface="PingFang SC Light"/>
                        <a:sym typeface="Arial Black"/>
                      </a:rPr>
                      <a:t>机器学习算法模型</a:t>
                    </a:r>
                  </a:p>
                </p:txBody>
              </p:sp>
            </p:grpSp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xmlns="" id="{C04064E7-E3CF-4A3C-860E-1286ECD50DCC}"/>
                    </a:ext>
                  </a:extLst>
                </p:cNvPr>
                <p:cNvGrpSpPr/>
                <p:nvPr/>
              </p:nvGrpSpPr>
              <p:grpSpPr>
                <a:xfrm>
                  <a:off x="6670101" y="2271553"/>
                  <a:ext cx="1357571" cy="468000"/>
                  <a:chOff x="6830521" y="2223427"/>
                  <a:chExt cx="1357571" cy="468000"/>
                </a:xfrm>
              </p:grpSpPr>
              <p:sp>
                <p:nvSpPr>
                  <p:cNvPr id="65" name="矩形: 圆角 64">
                    <a:extLst>
                      <a:ext uri="{FF2B5EF4-FFF2-40B4-BE49-F238E27FC236}">
                        <a16:creationId xmlns:a16="http://schemas.microsoft.com/office/drawing/2014/main" xmlns="" id="{FD832C70-AB57-4526-BC4F-5642E07B461F}"/>
                      </a:ext>
                    </a:extLst>
                  </p:cNvPr>
                  <p:cNvSpPr/>
                  <p:nvPr/>
                </p:nvSpPr>
                <p:spPr>
                  <a:xfrm>
                    <a:off x="6830521" y="2223427"/>
                    <a:ext cx="1357571" cy="468000"/>
                  </a:xfrm>
                  <a:prstGeom prst="roundRect">
                    <a:avLst/>
                  </a:prstGeom>
                  <a:noFill/>
                  <a:ln w="3175" cap="flat">
                    <a:solidFill>
                      <a:schemeClr val="bg2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 Medium"/>
                    </a:endParaRPr>
                  </a:p>
                </p:txBody>
              </p:sp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xmlns="" id="{DD95A51C-B619-4A75-AAF0-6C3C783385C0}"/>
                      </a:ext>
                    </a:extLst>
                  </p:cNvPr>
                  <p:cNvSpPr txBox="1"/>
                  <p:nvPr/>
                </p:nvSpPr>
                <p:spPr>
                  <a:xfrm>
                    <a:off x="6930577" y="2272079"/>
                    <a:ext cx="1157458" cy="370697"/>
                  </a:xfrm>
                  <a:prstGeom prst="rect">
                    <a:avLst/>
                  </a:prstGeom>
                  <a:noFill/>
                  <a:ln w="3175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en-US" sz="10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FillTx/>
                        <a:latin typeface="PingFang SC Light"/>
                        <a:sym typeface="Arial Black"/>
                      </a:rPr>
                      <a:t>外部数据库</a:t>
                    </a:r>
                    <a:endParaRPr kumimoji="0" lang="en-US" altLang="zh-CN" sz="10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endParaRPr>
                  </a:p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zh-CN" altLang="en-US" sz="1000" dirty="0">
                        <a:solidFill>
                          <a:schemeClr val="bg2"/>
                        </a:solidFill>
                        <a:latin typeface="PingFang SC Light"/>
                      </a:rPr>
                      <a:t>匹配</a:t>
                    </a:r>
                    <a:endParaRPr kumimoji="0" lang="zh-CN" altLang="en-US" sz="10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endParaRPr>
                  </a:p>
                </p:txBody>
              </p:sp>
            </p:grpSp>
            <p:grpSp>
              <p:nvGrpSpPr>
                <p:cNvPr id="16" name="组合 15">
                  <a:extLst>
                    <a:ext uri="{FF2B5EF4-FFF2-40B4-BE49-F238E27FC236}">
                      <a16:creationId xmlns:a16="http://schemas.microsoft.com/office/drawing/2014/main" xmlns="" id="{227BC163-E34C-4E04-9881-53C333EE7707}"/>
                    </a:ext>
                  </a:extLst>
                </p:cNvPr>
                <p:cNvGrpSpPr/>
                <p:nvPr/>
              </p:nvGrpSpPr>
              <p:grpSpPr>
                <a:xfrm>
                  <a:off x="3344044" y="4017412"/>
                  <a:ext cx="1129592" cy="468000"/>
                  <a:chOff x="3087372" y="4017412"/>
                  <a:chExt cx="1129592" cy="468000"/>
                </a:xfrm>
              </p:grpSpPr>
              <p:sp>
                <p:nvSpPr>
                  <p:cNvPr id="73" name="矩形: 圆角 72">
                    <a:extLst>
                      <a:ext uri="{FF2B5EF4-FFF2-40B4-BE49-F238E27FC236}">
                        <a16:creationId xmlns:a16="http://schemas.microsoft.com/office/drawing/2014/main" xmlns="" id="{3CFA0B34-E3A9-468E-BB00-A18704AE36E9}"/>
                      </a:ext>
                    </a:extLst>
                  </p:cNvPr>
                  <p:cNvSpPr/>
                  <p:nvPr/>
                </p:nvSpPr>
                <p:spPr>
                  <a:xfrm>
                    <a:off x="3112168" y="4017412"/>
                    <a:ext cx="1080000" cy="468000"/>
                  </a:xfrm>
                  <a:prstGeom prst="roundRect">
                    <a:avLst/>
                  </a:prstGeom>
                  <a:noFill/>
                  <a:ln w="3175" cap="flat">
                    <a:solidFill>
                      <a:schemeClr val="bg2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 Medium"/>
                    </a:endParaRPr>
                  </a:p>
                </p:txBody>
              </p:sp>
              <p:sp>
                <p:nvSpPr>
                  <p:cNvPr id="74" name="文本框 73">
                    <a:extLst>
                      <a:ext uri="{FF2B5EF4-FFF2-40B4-BE49-F238E27FC236}">
                        <a16:creationId xmlns:a16="http://schemas.microsoft.com/office/drawing/2014/main" xmlns="" id="{C4078227-038A-4BAF-897B-AA2C96802B4E}"/>
                      </a:ext>
                    </a:extLst>
                  </p:cNvPr>
                  <p:cNvSpPr txBox="1"/>
                  <p:nvPr/>
                </p:nvSpPr>
                <p:spPr>
                  <a:xfrm>
                    <a:off x="3087372" y="4144883"/>
                    <a:ext cx="1129592" cy="213059"/>
                  </a:xfrm>
                  <a:prstGeom prst="rect">
                    <a:avLst/>
                  </a:prstGeom>
                  <a:noFill/>
                  <a:ln w="3175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zh-CN" altLang="en-US" sz="1000" dirty="0">
                        <a:solidFill>
                          <a:schemeClr val="bg2"/>
                        </a:solidFill>
                        <a:latin typeface="PingFang SC Light"/>
                      </a:rPr>
                      <a:t>异常检测</a:t>
                    </a:r>
                    <a:endParaRPr kumimoji="0" lang="zh-CN" altLang="en-US" sz="10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endParaRPr>
                  </a:p>
                </p:txBody>
              </p:sp>
            </p:grpSp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xmlns="" id="{03DA96CD-1957-46D4-8B3F-8045B7DECD79}"/>
                    </a:ext>
                  </a:extLst>
                </p:cNvPr>
                <p:cNvGrpSpPr/>
                <p:nvPr/>
              </p:nvGrpSpPr>
              <p:grpSpPr>
                <a:xfrm>
                  <a:off x="5212954" y="4017412"/>
                  <a:ext cx="1129592" cy="468000"/>
                  <a:chOff x="4908156" y="4073560"/>
                  <a:chExt cx="1129592" cy="468000"/>
                </a:xfrm>
              </p:grpSpPr>
              <p:sp>
                <p:nvSpPr>
                  <p:cNvPr id="75" name="矩形: 圆角 74">
                    <a:extLst>
                      <a:ext uri="{FF2B5EF4-FFF2-40B4-BE49-F238E27FC236}">
                        <a16:creationId xmlns:a16="http://schemas.microsoft.com/office/drawing/2014/main" xmlns="" id="{0155B6E5-0FE1-4F37-AD92-29822BA8E6D2}"/>
                      </a:ext>
                    </a:extLst>
                  </p:cNvPr>
                  <p:cNvSpPr/>
                  <p:nvPr/>
                </p:nvSpPr>
                <p:spPr>
                  <a:xfrm>
                    <a:off x="4932952" y="4073560"/>
                    <a:ext cx="1080000" cy="468000"/>
                  </a:xfrm>
                  <a:prstGeom prst="roundRect">
                    <a:avLst/>
                  </a:prstGeom>
                  <a:noFill/>
                  <a:ln w="3175" cap="flat">
                    <a:solidFill>
                      <a:schemeClr val="bg2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 Medium"/>
                    </a:endParaRPr>
                  </a:p>
                </p:txBody>
              </p:sp>
              <p:sp>
                <p:nvSpPr>
                  <p:cNvPr id="76" name="文本框 75">
                    <a:extLst>
                      <a:ext uri="{FF2B5EF4-FFF2-40B4-BE49-F238E27FC236}">
                        <a16:creationId xmlns:a16="http://schemas.microsoft.com/office/drawing/2014/main" xmlns="" id="{C6BF5900-E21A-4D7A-A661-2BBAAB28A5D5}"/>
                      </a:ext>
                    </a:extLst>
                  </p:cNvPr>
                  <p:cNvSpPr txBox="1"/>
                  <p:nvPr/>
                </p:nvSpPr>
                <p:spPr>
                  <a:xfrm>
                    <a:off x="4908156" y="4201031"/>
                    <a:ext cx="1129592" cy="213059"/>
                  </a:xfrm>
                  <a:prstGeom prst="rect">
                    <a:avLst/>
                  </a:prstGeom>
                  <a:noFill/>
                  <a:ln w="3175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zh-CN" altLang="en-US" sz="1000" dirty="0">
                        <a:solidFill>
                          <a:schemeClr val="bg2"/>
                        </a:solidFill>
                        <a:latin typeface="PingFang SC Light"/>
                      </a:rPr>
                      <a:t>人工审核</a:t>
                    </a:r>
                    <a:endParaRPr kumimoji="0" lang="zh-CN" altLang="en-US" sz="10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endParaRPr>
                  </a:p>
                </p:txBody>
              </p:sp>
            </p:grpSp>
            <p:grpSp>
              <p:nvGrpSpPr>
                <p:cNvPr id="80" name="组合 79">
                  <a:extLst>
                    <a:ext uri="{FF2B5EF4-FFF2-40B4-BE49-F238E27FC236}">
                      <a16:creationId xmlns:a16="http://schemas.microsoft.com/office/drawing/2014/main" xmlns="" id="{B33D1C8E-4BFA-4E03-8F5F-FCA4FF583D9C}"/>
                    </a:ext>
                  </a:extLst>
                </p:cNvPr>
                <p:cNvGrpSpPr/>
                <p:nvPr/>
              </p:nvGrpSpPr>
              <p:grpSpPr>
                <a:xfrm>
                  <a:off x="7975543" y="3062783"/>
                  <a:ext cx="692545" cy="648000"/>
                  <a:chOff x="896549" y="4650952"/>
                  <a:chExt cx="692545" cy="648000"/>
                </a:xfrm>
              </p:grpSpPr>
              <p:sp>
                <p:nvSpPr>
                  <p:cNvPr id="81" name="椭圆 80">
                    <a:extLst>
                      <a:ext uri="{FF2B5EF4-FFF2-40B4-BE49-F238E27FC236}">
                        <a16:creationId xmlns:a16="http://schemas.microsoft.com/office/drawing/2014/main" xmlns="" id="{7E215E18-CB8B-4F1A-AD92-23FFD89F6F64}"/>
                      </a:ext>
                    </a:extLst>
                  </p:cNvPr>
                  <p:cNvSpPr/>
                  <p:nvPr/>
                </p:nvSpPr>
                <p:spPr>
                  <a:xfrm>
                    <a:off x="896549" y="4650952"/>
                    <a:ext cx="648000" cy="648000"/>
                  </a:xfrm>
                  <a:prstGeom prst="ellipse">
                    <a:avLst/>
                  </a:prstGeom>
                  <a:noFill/>
                  <a:ln w="3175" cap="flat">
                    <a:solidFill>
                      <a:srgbClr val="C00000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 Medium"/>
                    </a:endParaRPr>
                  </a:p>
                </p:txBody>
              </p: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xmlns="" id="{C6808FCB-2AB4-4EBA-9B96-AE1EFAFE4020}"/>
                      </a:ext>
                    </a:extLst>
                  </p:cNvPr>
                  <p:cNvSpPr txBox="1"/>
                  <p:nvPr/>
                </p:nvSpPr>
                <p:spPr>
                  <a:xfrm>
                    <a:off x="911397" y="4885810"/>
                    <a:ext cx="677697" cy="213059"/>
                  </a:xfrm>
                  <a:prstGeom prst="rect">
                    <a:avLst/>
                  </a:prstGeom>
                  <a:noFill/>
                  <a:ln w="3175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en-US" sz="1000" b="0" i="0" u="none" strike="noStrike" cap="none" spc="0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FillTx/>
                        <a:latin typeface="PingFang SC Light"/>
                        <a:sym typeface="Arial Black"/>
                      </a:rPr>
                      <a:t>欺诈</a:t>
                    </a:r>
                  </a:p>
                </p:txBody>
              </p:sp>
            </p:grpSp>
            <p:grpSp>
              <p:nvGrpSpPr>
                <p:cNvPr id="83" name="组合 82">
                  <a:extLst>
                    <a:ext uri="{FF2B5EF4-FFF2-40B4-BE49-F238E27FC236}">
                      <a16:creationId xmlns:a16="http://schemas.microsoft.com/office/drawing/2014/main" xmlns="" id="{144EBC9D-6A4B-4E76-96D8-C61DDB1A50C8}"/>
                    </a:ext>
                  </a:extLst>
                </p:cNvPr>
                <p:cNvGrpSpPr/>
                <p:nvPr/>
              </p:nvGrpSpPr>
              <p:grpSpPr>
                <a:xfrm>
                  <a:off x="8845412" y="3056088"/>
                  <a:ext cx="677697" cy="648000"/>
                  <a:chOff x="881370" y="4650144"/>
                  <a:chExt cx="677697" cy="648000"/>
                </a:xfrm>
              </p:grpSpPr>
              <p:sp>
                <p:nvSpPr>
                  <p:cNvPr id="84" name="椭圆 83">
                    <a:extLst>
                      <a:ext uri="{FF2B5EF4-FFF2-40B4-BE49-F238E27FC236}">
                        <a16:creationId xmlns:a16="http://schemas.microsoft.com/office/drawing/2014/main" xmlns="" id="{2F176FD1-520F-410D-B02A-2D79367F54A7}"/>
                      </a:ext>
                    </a:extLst>
                  </p:cNvPr>
                  <p:cNvSpPr/>
                  <p:nvPr/>
                </p:nvSpPr>
                <p:spPr>
                  <a:xfrm>
                    <a:off x="902212" y="4650144"/>
                    <a:ext cx="648000" cy="648000"/>
                  </a:xfrm>
                  <a:prstGeom prst="ellipse">
                    <a:avLst/>
                  </a:prstGeom>
                  <a:noFill/>
                  <a:ln w="3175" cap="flat">
                    <a:solidFill>
                      <a:schemeClr val="bg2"/>
                    </a:solidFill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spc="0" normalizeH="0" baseline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 Medium"/>
                    </a:endParaRPr>
                  </a:p>
                </p:txBody>
              </p:sp>
              <p:sp>
                <p:nvSpPr>
                  <p:cNvPr id="85" name="文本框 84">
                    <a:extLst>
                      <a:ext uri="{FF2B5EF4-FFF2-40B4-BE49-F238E27FC236}">
                        <a16:creationId xmlns:a16="http://schemas.microsoft.com/office/drawing/2014/main" xmlns="" id="{816DF160-3FEB-4449-BC12-A5B5371570C1}"/>
                      </a:ext>
                    </a:extLst>
                  </p:cNvPr>
                  <p:cNvSpPr txBox="1"/>
                  <p:nvPr/>
                </p:nvSpPr>
                <p:spPr>
                  <a:xfrm>
                    <a:off x="881370" y="4789603"/>
                    <a:ext cx="677697" cy="370697"/>
                  </a:xfrm>
                  <a:prstGeom prst="rect">
                    <a:avLst/>
                  </a:prstGeom>
                  <a:noFill/>
                  <a:ln w="3175" cap="flat">
                    <a:noFill/>
                    <a:miter lim="400000"/>
                  </a:ln>
                  <a:effectLst/>
                  <a:sp3d/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none"/>
                </p:style>
                <p:txBody>
                  <a:bodyPr rot="0" spcFirstLastPara="1" vertOverflow="overflow" horzOverflow="overflow" vert="horz" wrap="square" lIns="26789" tIns="26789" rIns="26789" bIns="26789" numCol="1" spcCol="38100" rtlCol="0" anchor="ctr">
                    <a:spAutoFit/>
                  </a:bodyPr>
                  <a:lstStyle/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zh-CN" altLang="en-US" sz="1000" dirty="0">
                        <a:solidFill>
                          <a:schemeClr val="bg2"/>
                        </a:solidFill>
                        <a:latin typeface="PingFang SC Light"/>
                      </a:rPr>
                      <a:t>允许</a:t>
                    </a:r>
                    <a:endParaRPr lang="en-US" altLang="zh-CN" sz="1000" dirty="0">
                      <a:solidFill>
                        <a:schemeClr val="bg2"/>
                      </a:solidFill>
                      <a:latin typeface="PingFang SC Light"/>
                    </a:endParaRPr>
                  </a:p>
                  <a:p>
                    <a:pPr marL="0" marR="0" indent="0" algn="ctr" defTabSz="410765" rtl="0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zh-CN" altLang="en-US" sz="1000" b="0" i="0" u="none" strike="noStrike" cap="none" spc="0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uFillTx/>
                        <a:latin typeface="PingFang SC Light"/>
                        <a:sym typeface="Arial Black"/>
                      </a:rPr>
                      <a:t>交易</a:t>
                    </a:r>
                  </a:p>
                </p:txBody>
              </p:sp>
            </p:grpSp>
            <p:cxnSp>
              <p:nvCxnSpPr>
                <p:cNvPr id="19" name="直接箭头连接符 18">
                  <a:extLst>
                    <a:ext uri="{FF2B5EF4-FFF2-40B4-BE49-F238E27FC236}">
                      <a16:creationId xmlns:a16="http://schemas.microsoft.com/office/drawing/2014/main" xmlns="" id="{9F46A701-7112-467A-B226-22C78D4D310D}"/>
                    </a:ext>
                  </a:extLst>
                </p:cNvPr>
                <p:cNvCxnSpPr>
                  <a:cxnSpLocks/>
                  <a:stCxn id="11" idx="3"/>
                  <a:endCxn id="64" idx="1"/>
                </p:cNvCxnSpPr>
                <p:nvPr/>
              </p:nvCxnSpPr>
              <p:spPr>
                <a:xfrm flipV="1">
                  <a:off x="4241761" y="2505552"/>
                  <a:ext cx="438702" cy="7161"/>
                </a:xfrm>
                <a:prstGeom prst="straightConnector1">
                  <a:avLst/>
                </a:prstGeom>
                <a:noFill/>
                <a:ln w="3175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1" name="直接箭头连接符 20">
                  <a:extLst>
                    <a:ext uri="{FF2B5EF4-FFF2-40B4-BE49-F238E27FC236}">
                      <a16:creationId xmlns:a16="http://schemas.microsoft.com/office/drawing/2014/main" xmlns="" id="{F40AD0A9-513C-4349-87E8-8883D3A10A3C}"/>
                    </a:ext>
                  </a:extLst>
                </p:cNvPr>
                <p:cNvCxnSpPr>
                  <a:cxnSpLocks/>
                  <a:stCxn id="64" idx="3"/>
                  <a:endCxn id="65" idx="1"/>
                </p:cNvCxnSpPr>
                <p:nvPr/>
              </p:nvCxnSpPr>
              <p:spPr>
                <a:xfrm>
                  <a:off x="6221880" y="2505553"/>
                  <a:ext cx="448221" cy="0"/>
                </a:xfrm>
                <a:prstGeom prst="straightConnector1">
                  <a:avLst/>
                </a:prstGeom>
                <a:noFill/>
                <a:ln w="3175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6" name="直接箭头连接符 25">
                  <a:extLst>
                    <a:ext uri="{FF2B5EF4-FFF2-40B4-BE49-F238E27FC236}">
                      <a16:creationId xmlns:a16="http://schemas.microsoft.com/office/drawing/2014/main" xmlns="" id="{138F8AD7-CA45-498B-8CD9-4F6945DF93C8}"/>
                    </a:ext>
                  </a:extLst>
                </p:cNvPr>
                <p:cNvCxnSpPr>
                  <a:cxnSpLocks/>
                  <a:stCxn id="74" idx="3"/>
                  <a:endCxn id="76" idx="1"/>
                </p:cNvCxnSpPr>
                <p:nvPr/>
              </p:nvCxnSpPr>
              <p:spPr>
                <a:xfrm>
                  <a:off x="4473636" y="4251412"/>
                  <a:ext cx="739318" cy="0"/>
                </a:xfrm>
                <a:prstGeom prst="straightConnector1">
                  <a:avLst/>
                </a:prstGeom>
                <a:noFill/>
                <a:ln w="3175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29" name="连接符: 肘形 28">
                  <a:extLst>
                    <a:ext uri="{FF2B5EF4-FFF2-40B4-BE49-F238E27FC236}">
                      <a16:creationId xmlns:a16="http://schemas.microsoft.com/office/drawing/2014/main" xmlns="" id="{A48A9A73-FBF1-4560-BCD5-2F04CDEA5071}"/>
                    </a:ext>
                  </a:extLst>
                </p:cNvPr>
                <p:cNvCxnSpPr>
                  <a:cxnSpLocks/>
                  <a:stCxn id="65" idx="3"/>
                  <a:endCxn id="84" idx="0"/>
                </p:cNvCxnSpPr>
                <p:nvPr/>
              </p:nvCxnSpPr>
              <p:spPr>
                <a:xfrm>
                  <a:off x="8027672" y="2505553"/>
                  <a:ext cx="1162583" cy="550534"/>
                </a:xfrm>
                <a:prstGeom prst="bentConnector2">
                  <a:avLst/>
                </a:prstGeom>
                <a:noFill/>
                <a:ln w="3175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1" name="连接符: 肘形 30">
                  <a:extLst>
                    <a:ext uri="{FF2B5EF4-FFF2-40B4-BE49-F238E27FC236}">
                      <a16:creationId xmlns:a16="http://schemas.microsoft.com/office/drawing/2014/main" xmlns="" id="{B7FFC2D0-DDFB-4291-BB5C-B368D46478C1}"/>
                    </a:ext>
                  </a:extLst>
                </p:cNvPr>
                <p:cNvCxnSpPr>
                  <a:cxnSpLocks/>
                  <a:stCxn id="76" idx="3"/>
                  <a:endCxn id="84" idx="4"/>
                </p:cNvCxnSpPr>
                <p:nvPr/>
              </p:nvCxnSpPr>
              <p:spPr>
                <a:xfrm flipV="1">
                  <a:off x="6342546" y="3704088"/>
                  <a:ext cx="2847707" cy="547323"/>
                </a:xfrm>
                <a:prstGeom prst="bentConnector2">
                  <a:avLst/>
                </a:prstGeom>
                <a:noFill/>
                <a:ln w="3175" cap="flat">
                  <a:solidFill>
                    <a:srgbClr val="0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34" name="连接符: 肘形 33">
                  <a:extLst>
                    <a:ext uri="{FF2B5EF4-FFF2-40B4-BE49-F238E27FC236}">
                      <a16:creationId xmlns:a16="http://schemas.microsoft.com/office/drawing/2014/main" xmlns="" id="{4DF1DA4F-5C9B-4866-941C-CE3ECF6483A4}"/>
                    </a:ext>
                  </a:extLst>
                </p:cNvPr>
                <p:cNvCxnSpPr>
                  <a:cxnSpLocks/>
                  <a:stCxn id="9" idx="2"/>
                  <a:endCxn id="81" idx="2"/>
                </p:cNvCxnSpPr>
                <p:nvPr/>
              </p:nvCxnSpPr>
              <p:spPr>
                <a:xfrm rot="16200000" flipH="1">
                  <a:off x="5506218" y="917458"/>
                  <a:ext cx="640070" cy="4298579"/>
                </a:xfrm>
                <a:prstGeom prst="bentConnector2">
                  <a:avLst/>
                </a:prstGeom>
                <a:noFill/>
                <a:ln w="3175" cap="flat">
                  <a:solidFill>
                    <a:srgbClr val="C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xmlns="" id="{8B29EA2C-F237-4ECE-842C-E0437F7A6477}"/>
                    </a:ext>
                  </a:extLst>
                </p:cNvPr>
                <p:cNvCxnSpPr>
                  <a:endCxn id="73" idx="0"/>
                </p:cNvCxnSpPr>
                <p:nvPr/>
              </p:nvCxnSpPr>
              <p:spPr>
                <a:xfrm>
                  <a:off x="3908840" y="3387735"/>
                  <a:ext cx="0" cy="629677"/>
                </a:xfrm>
                <a:prstGeom prst="straightConnector1">
                  <a:avLst/>
                </a:prstGeom>
                <a:noFill/>
                <a:ln w="3175" cap="flat">
                  <a:solidFill>
                    <a:srgbClr val="C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47" name="直接箭头连接符 46">
                  <a:extLst>
                    <a:ext uri="{FF2B5EF4-FFF2-40B4-BE49-F238E27FC236}">
                      <a16:creationId xmlns:a16="http://schemas.microsoft.com/office/drawing/2014/main" xmlns="" id="{83C72B18-E667-4CFD-9D4E-0E11C7F35473}"/>
                    </a:ext>
                  </a:extLst>
                </p:cNvPr>
                <p:cNvCxnSpPr>
                  <a:cxnSpLocks/>
                  <a:endCxn id="64" idx="2"/>
                </p:cNvCxnSpPr>
                <p:nvPr/>
              </p:nvCxnSpPr>
              <p:spPr>
                <a:xfrm flipV="1">
                  <a:off x="5451171" y="2739553"/>
                  <a:ext cx="0" cy="640071"/>
                </a:xfrm>
                <a:prstGeom prst="straightConnector1">
                  <a:avLst/>
                </a:prstGeom>
                <a:noFill/>
                <a:ln w="3175" cap="flat">
                  <a:solidFill>
                    <a:srgbClr val="C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0" name="连接符: 肘形 49">
                  <a:extLst>
                    <a:ext uri="{FF2B5EF4-FFF2-40B4-BE49-F238E27FC236}">
                      <a16:creationId xmlns:a16="http://schemas.microsoft.com/office/drawing/2014/main" xmlns="" id="{8387DB78-01D6-4B02-BC6B-C8B595875E2A}"/>
                    </a:ext>
                  </a:extLst>
                </p:cNvPr>
                <p:cNvCxnSpPr>
                  <a:cxnSpLocks/>
                  <a:endCxn id="81" idx="4"/>
                </p:cNvCxnSpPr>
                <p:nvPr/>
              </p:nvCxnSpPr>
              <p:spPr>
                <a:xfrm flipV="1">
                  <a:off x="6363503" y="3710783"/>
                  <a:ext cx="1936040" cy="428012"/>
                </a:xfrm>
                <a:prstGeom prst="bentConnector2">
                  <a:avLst/>
                </a:prstGeom>
                <a:noFill/>
                <a:ln w="3175" cap="flat">
                  <a:solidFill>
                    <a:srgbClr val="C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cxnSp>
              <p:nvCxnSpPr>
                <p:cNvPr id="53" name="连接符: 肘形 52">
                  <a:extLst>
                    <a:ext uri="{FF2B5EF4-FFF2-40B4-BE49-F238E27FC236}">
                      <a16:creationId xmlns:a16="http://schemas.microsoft.com/office/drawing/2014/main" xmlns="" id="{735C648A-7355-42B4-B4EF-2313C1819C8E}"/>
                    </a:ext>
                  </a:extLst>
                </p:cNvPr>
                <p:cNvCxnSpPr>
                  <a:cxnSpLocks/>
                  <a:endCxn id="81" idx="0"/>
                </p:cNvCxnSpPr>
                <p:nvPr/>
              </p:nvCxnSpPr>
              <p:spPr>
                <a:xfrm rot="16200000" flipH="1">
                  <a:off x="7995449" y="2758688"/>
                  <a:ext cx="351164" cy="257024"/>
                </a:xfrm>
                <a:prstGeom prst="bentConnector3">
                  <a:avLst>
                    <a:gd name="adj1" fmla="val 3204"/>
                  </a:avLst>
                </a:prstGeom>
                <a:noFill/>
                <a:ln w="3175" cap="flat">
                  <a:solidFill>
                    <a:srgbClr val="C00000"/>
                  </a:solidFill>
                  <a:prstDash val="solid"/>
                  <a:miter lim="400000"/>
                  <a:tailEnd type="triangle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</p:cxnSp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xmlns="" id="{AAA9236B-F67B-4D7E-8D27-13B22FD6D7F0}"/>
                    </a:ext>
                  </a:extLst>
                </p:cNvPr>
                <p:cNvSpPr txBox="1"/>
                <p:nvPr/>
              </p:nvSpPr>
              <p:spPr>
                <a:xfrm>
                  <a:off x="2743201" y="1967378"/>
                  <a:ext cx="1712666" cy="213059"/>
                </a:xfrm>
                <a:prstGeom prst="rect">
                  <a:avLst/>
                </a:prstGeom>
                <a:noFill/>
                <a:ln w="3175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26789" tIns="26789" rIns="26789" bIns="26789" numCol="1" spcCol="38100" rtlCol="0" anchor="ctr">
                  <a:spAutoFit/>
                </a:bodyPr>
                <a:lstStyle/>
                <a:p>
                  <a:pPr marL="0" marR="0" indent="0" algn="ctr" defTabSz="41076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en-US" sz="10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rPr>
                    <a:t>发现已知模式欺诈</a:t>
                  </a:r>
                </a:p>
              </p:txBody>
            </p:sp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xmlns="" id="{15E4B3D4-32F4-49D3-8939-BBB25767EC25}"/>
                    </a:ext>
                  </a:extLst>
                </p:cNvPr>
                <p:cNvSpPr txBox="1"/>
                <p:nvPr/>
              </p:nvSpPr>
              <p:spPr>
                <a:xfrm>
                  <a:off x="2895601" y="4606307"/>
                  <a:ext cx="1712666" cy="213059"/>
                </a:xfrm>
                <a:prstGeom prst="rect">
                  <a:avLst/>
                </a:prstGeom>
                <a:noFill/>
                <a:ln w="3175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26789" tIns="26789" rIns="26789" bIns="26789" numCol="1" spcCol="38100" rtlCol="0" anchor="ctr">
                  <a:spAutoFit/>
                </a:bodyPr>
                <a:lstStyle/>
                <a:p>
                  <a:pPr marL="0" marR="0" indent="0" algn="ctr" defTabSz="41076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zh-CN" altLang="en-US" sz="1000" b="0" i="0" u="none" strike="noStrike" cap="none" spc="0" normalizeH="0" baseline="0" dirty="0">
                      <a:ln>
                        <a:noFill/>
                      </a:ln>
                      <a:solidFill>
                        <a:schemeClr val="bg2"/>
                      </a:solidFill>
                      <a:effectLst/>
                      <a:uFillTx/>
                      <a:latin typeface="PingFang SC Light"/>
                      <a:sym typeface="Arial Black"/>
                    </a:rPr>
                    <a:t>发现未知模式欺诈</a:t>
                  </a:r>
                </a:p>
              </p:txBody>
            </p:sp>
            <p:sp>
              <p:nvSpPr>
                <p:cNvPr id="56" name="矩形: 圆角 55">
                  <a:extLst>
                    <a:ext uri="{FF2B5EF4-FFF2-40B4-BE49-F238E27FC236}">
                      <a16:creationId xmlns:a16="http://schemas.microsoft.com/office/drawing/2014/main" xmlns="" id="{372CF765-5CE7-4356-8E4D-0FC53D660458}"/>
                    </a:ext>
                  </a:extLst>
                </p:cNvPr>
                <p:cNvSpPr/>
                <p:nvPr/>
              </p:nvSpPr>
              <p:spPr>
                <a:xfrm>
                  <a:off x="2895601" y="1636295"/>
                  <a:ext cx="5883214" cy="3327761"/>
                </a:xfrm>
                <a:prstGeom prst="roundRect">
                  <a:avLst/>
                </a:prstGeom>
                <a:noFill/>
                <a:ln w="3175" cap="flat">
                  <a:solidFill>
                    <a:srgbClr val="D4A344"/>
                  </a:solidFill>
                  <a:prstDash val="sysDash"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26789" tIns="26789" rIns="26789" bIns="26789" numCol="1" spcCol="38100" rtlCol="0" anchor="ctr">
                  <a:spAutoFit/>
                </a:bodyPr>
                <a:lstStyle/>
                <a:p>
                  <a:pPr marL="0" marR="0" indent="0" algn="ctr" defTabSz="410765" rtl="0" fontAlgn="auto" latinLnBrk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spc="0" normalizeH="0" baseline="0">
                    <a:ln>
                      <a:noFill/>
                    </a:ln>
                    <a:solidFill>
                      <a:srgbClr val="FFFFFF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 Medium"/>
                  </a:endParaRPr>
                </a:p>
              </p:txBody>
            </p:sp>
          </p:grpSp>
          <p:sp>
            <p:nvSpPr>
              <p:cNvPr id="58" name="动作按钮: 获取信息 57">
                <a:hlinkClick r:id="" action="ppaction://noaction" highlightClick="1"/>
                <a:extLst>
                  <a:ext uri="{FF2B5EF4-FFF2-40B4-BE49-F238E27FC236}">
                    <a16:creationId xmlns:a16="http://schemas.microsoft.com/office/drawing/2014/main" xmlns="" id="{69A27B9F-F1DC-49E2-90BB-4704C36F080E}"/>
                  </a:ext>
                </a:extLst>
              </p:cNvPr>
              <p:cNvSpPr/>
              <p:nvPr/>
            </p:nvSpPr>
            <p:spPr>
              <a:xfrm>
                <a:off x="5415688" y="3351640"/>
                <a:ext cx="268986" cy="319856"/>
              </a:xfrm>
              <a:prstGeom prst="actionButtonInformation">
                <a:avLst/>
              </a:prstGeom>
              <a:solidFill>
                <a:srgbClr val="D4A344"/>
              </a:solidFill>
              <a:ln w="3175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26789" tIns="26789" rIns="26789" bIns="26789" numCol="1" spcCol="38100" rtlCol="0" anchor="ctr">
                <a:spAutoFit/>
              </a:bodyPr>
              <a:lstStyle/>
              <a:p>
                <a:pPr marL="0" marR="0" indent="0" algn="ctr" defTabSz="410765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FillTx/>
                  <a:latin typeface="+mn-lt"/>
                  <a:ea typeface="+mn-ea"/>
                  <a:cs typeface="+mn-cs"/>
                  <a:sym typeface="Helvetica Neue Medium"/>
                </a:endParaRPr>
              </a:p>
            </p:txBody>
          </p:sp>
        </p:grp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xmlns="" id="{5E4BCD83-ED6E-4556-9D3E-D025E152BC94}"/>
                </a:ext>
              </a:extLst>
            </p:cNvPr>
            <p:cNvCxnSpPr>
              <a:cxnSpLocks/>
            </p:cNvCxnSpPr>
            <p:nvPr/>
          </p:nvCxnSpPr>
          <p:spPr>
            <a:xfrm>
              <a:off x="9047427" y="1427753"/>
              <a:ext cx="0" cy="3248592"/>
            </a:xfrm>
            <a:prstGeom prst="line">
              <a:avLst/>
            </a:prstGeom>
            <a:noFill/>
            <a:ln w="3175" cap="flat">
              <a:solidFill>
                <a:srgbClr val="D4A344"/>
              </a:solidFill>
              <a:prstDash val="sysDash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xmlns="" id="{06EB837F-5748-41FE-8D00-E9BC20D3F0B4}"/>
                </a:ext>
              </a:extLst>
            </p:cNvPr>
            <p:cNvSpPr txBox="1"/>
            <p:nvPr/>
          </p:nvSpPr>
          <p:spPr>
            <a:xfrm>
              <a:off x="9456514" y="1483618"/>
              <a:ext cx="2262235" cy="423433"/>
            </a:xfrm>
            <a:prstGeom prst="rect">
              <a:avLst/>
            </a:prstGeom>
            <a:noFill/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en-US" sz="1200" b="0" i="0" u="none" strike="noStrike" cap="none" spc="0" normalizeH="0" baseline="0" dirty="0">
                  <a:ln>
                    <a:noFill/>
                  </a:ln>
                  <a:solidFill>
                    <a:schemeClr val="bg2"/>
                  </a:solidFill>
                  <a:effectLst/>
                  <a:uFillTx/>
                  <a:latin typeface="PingFang SC Light"/>
                  <a:sym typeface="Arial Black"/>
                </a:rPr>
                <a:t>反欺诈规则和机器学习算法模型说明</a:t>
              </a:r>
            </a:p>
          </p:txBody>
        </p:sp>
        <p:sp>
          <p:nvSpPr>
            <p:cNvPr id="145" name="动作按钮: 获取信息 144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xmlns="" id="{BD1A0D41-3EC4-4C3A-8723-52C8E4C6B38D}"/>
                </a:ext>
              </a:extLst>
            </p:cNvPr>
            <p:cNvSpPr/>
            <p:nvPr/>
          </p:nvSpPr>
          <p:spPr>
            <a:xfrm>
              <a:off x="9159722" y="1531744"/>
              <a:ext cx="268986" cy="319856"/>
            </a:xfrm>
            <a:prstGeom prst="actionButtonInformation">
              <a:avLst/>
            </a:prstGeom>
            <a:solidFill>
              <a:srgbClr val="D4A344"/>
            </a:solidFill>
            <a:ln w="3175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26789" tIns="26789" rIns="26789" bIns="26789" numCol="1" spcCol="38100" rtlCol="0" anchor="ctr">
              <a:spAutoFit/>
            </a:bodyPr>
            <a:lstStyle/>
            <a:p>
              <a:pPr marL="0" marR="0" indent="0" algn="ctr" defTabSz="41076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630490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FFFFFF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6789" tIns="26789" rIns="26789" bIns="26789" numCol="1" spcCol="38100" rtlCol="0" anchor="ctr">
        <a:spAutoFit/>
      </a:bodyPr>
      <a:lstStyle>
        <a:defPPr marL="0" marR="0" indent="0" algn="ctr" defTabSz="41076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rial Black"/>
            <a:ea typeface="Arial Black"/>
            <a:cs typeface="Arial Black"/>
            <a:sym typeface="Arial Blac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9860</TotalTime>
  <Words>651</Words>
  <Application>Microsoft Macintosh PowerPoint</Application>
  <PresentationFormat>Widescreen</PresentationFormat>
  <Paragraphs>162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Al Nile</vt:lpstr>
      <vt:lpstr>Arial Black</vt:lpstr>
      <vt:lpstr>DengXian</vt:lpstr>
      <vt:lpstr>Helvetica Light</vt:lpstr>
      <vt:lpstr>Helvetica Neue</vt:lpstr>
      <vt:lpstr>Helvetica Neue Light</vt:lpstr>
      <vt:lpstr>Helvetica Neue Medium</vt:lpstr>
      <vt:lpstr>Helvetica Neue Thin</vt:lpstr>
      <vt:lpstr>NotoSansCJKsc</vt:lpstr>
      <vt:lpstr>PingFang SC Light</vt:lpstr>
      <vt:lpstr>PingFang SC Semibold</vt:lpstr>
      <vt:lpstr>微软雅黑</vt:lpstr>
      <vt:lpstr>Arial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fengyaxing</dc:creator>
  <cp:lastModifiedBy>Microsoft Office User</cp:lastModifiedBy>
  <cp:revision>832</cp:revision>
  <dcterms:modified xsi:type="dcterms:W3CDTF">2018-01-11T14:49:31Z</dcterms:modified>
</cp:coreProperties>
</file>