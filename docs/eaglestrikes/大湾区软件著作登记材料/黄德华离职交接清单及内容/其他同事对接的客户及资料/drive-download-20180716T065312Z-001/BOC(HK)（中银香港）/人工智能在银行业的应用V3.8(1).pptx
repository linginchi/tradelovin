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76" r:id="rId3"/>
    <p:sldId id="349" r:id="rId4"/>
    <p:sldId id="285" r:id="rId5"/>
    <p:sldId id="290" r:id="rId6"/>
    <p:sldId id="287" r:id="rId7"/>
    <p:sldId id="350" r:id="rId8"/>
    <p:sldId id="353" r:id="rId9"/>
    <p:sldId id="320" r:id="rId10"/>
    <p:sldId id="351" r:id="rId11"/>
    <p:sldId id="340" r:id="rId12"/>
    <p:sldId id="281" r:id="rId13"/>
    <p:sldId id="283" r:id="rId14"/>
    <p:sldId id="277" r:id="rId15"/>
    <p:sldId id="294" r:id="rId16"/>
    <p:sldId id="303" r:id="rId17"/>
    <p:sldId id="336" r:id="rId18"/>
    <p:sldId id="337" r:id="rId19"/>
    <p:sldId id="339" r:id="rId20"/>
    <p:sldId id="317" r:id="rId21"/>
    <p:sldId id="305" r:id="rId22"/>
    <p:sldId id="324" r:id="rId23"/>
    <p:sldId id="341" r:id="rId24"/>
    <p:sldId id="333" r:id="rId25"/>
    <p:sldId id="307" r:id="rId26"/>
    <p:sldId id="275" r:id="rId27"/>
    <p:sldId id="269" r:id="rId28"/>
    <p:sldId id="335" r:id="rId29"/>
    <p:sldId id="356" r:id="rId30"/>
    <p:sldId id="357" r:id="rId31"/>
    <p:sldId id="271" r:id="rId32"/>
    <p:sldId id="288" r:id="rId33"/>
    <p:sldId id="273" r:id="rId34"/>
    <p:sldId id="289" r:id="rId35"/>
    <p:sldId id="310" r:id="rId36"/>
    <p:sldId id="318" r:id="rId37"/>
    <p:sldId id="313" r:id="rId38"/>
    <p:sldId id="319" r:id="rId39"/>
    <p:sldId id="315" r:id="rId40"/>
    <p:sldId id="342" r:id="rId41"/>
    <p:sldId id="344" r:id="rId42"/>
    <p:sldId id="345" r:id="rId43"/>
    <p:sldId id="346" r:id="rId44"/>
    <p:sldId id="347" r:id="rId45"/>
    <p:sldId id="260" r:id="rId4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1pPr>
    <a:lvl2pPr marL="0" marR="0" indent="2286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2pPr>
    <a:lvl3pPr marL="0" marR="0" indent="4572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3pPr>
    <a:lvl4pPr marL="0" marR="0" indent="6858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4pPr>
    <a:lvl5pPr marL="0" marR="0" indent="9144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5pPr>
    <a:lvl6pPr marL="0" marR="0" indent="11430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6pPr>
    <a:lvl7pPr marL="0" marR="0" indent="13716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7pPr>
    <a:lvl8pPr marL="0" marR="0" indent="16002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8pPr>
    <a:lvl9pPr marL="0" marR="0" indent="182880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A344"/>
    <a:srgbClr val="F2F2F2"/>
    <a:srgbClr val="BCBDBC"/>
    <a:srgbClr val="F7F7F7"/>
    <a:srgbClr val="A0A0A0"/>
    <a:srgbClr val="9B1F25"/>
    <a:srgbClr val="232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1" autoAdjust="0"/>
    <p:restoredTop sz="95028" autoAdjust="0"/>
  </p:normalViewPr>
  <p:slideViewPr>
    <p:cSldViewPr snapToGrid="0">
      <p:cViewPr>
        <p:scale>
          <a:sx n="124" d="100"/>
          <a:sy n="124" d="100"/>
        </p:scale>
        <p:origin x="32"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Workbook1"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Work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HK"/>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2">
                    <a:lumMod val="50000"/>
                  </a:schemeClr>
                </a:solidFill>
                <a:latin typeface="+mn-lt"/>
                <a:ea typeface="+mn-ea"/>
                <a:cs typeface="+mn-cs"/>
              </a:defRPr>
            </a:pPr>
            <a:r>
              <a:rPr lang="zh-CN" altLang="en-US" sz="1200" dirty="0">
                <a:solidFill>
                  <a:schemeClr val="bg2">
                    <a:lumMod val="50000"/>
                  </a:schemeClr>
                </a:solidFill>
              </a:rPr>
              <a:t>响应渠道</a:t>
            </a:r>
            <a:endParaRPr lang="en-US" sz="1200" dirty="0">
              <a:solidFill>
                <a:schemeClr val="bg2">
                  <a:lumMod val="50000"/>
                </a:schemeClr>
              </a:solidFill>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2">
                  <a:lumMod val="50000"/>
                </a:schemeClr>
              </a:solidFill>
              <a:latin typeface="+mn-lt"/>
              <a:ea typeface="+mn-ea"/>
              <a:cs typeface="+mn-cs"/>
            </a:defRPr>
          </a:pPr>
          <a:endParaRPr lang="en-US"/>
        </a:p>
      </c:txPr>
    </c:title>
    <c:autoTitleDeleted val="0"/>
    <c:plotArea>
      <c:layout/>
      <c:barChart>
        <c:barDir val="bar"/>
        <c:grouping val="stacked"/>
        <c:varyColors val="0"/>
        <c:ser>
          <c:idx val="0"/>
          <c:order val="0"/>
          <c:spPr>
            <a:solidFill>
              <a:schemeClr val="accent1"/>
            </a:solidFill>
            <a:ln>
              <a:noFill/>
            </a:ln>
            <a:effectLst/>
          </c:spPr>
          <c:invertIfNegative val="0"/>
          <c:cat>
            <c:strRef>
              <c:f>Sheet1!$A$18:$A$21</c:f>
              <c:strCache>
                <c:ptCount val="4"/>
                <c:pt idx="0">
                  <c:v>物理网点</c:v>
                </c:pt>
                <c:pt idx="1">
                  <c:v>短信</c:v>
                </c:pt>
                <c:pt idx="2">
                  <c:v>电话</c:v>
                </c:pt>
                <c:pt idx="3">
                  <c:v>移动App</c:v>
                </c:pt>
              </c:strCache>
            </c:strRef>
          </c:cat>
          <c:val>
            <c:numRef>
              <c:f>Sheet1!$B$18:$B$21</c:f>
              <c:numCache>
                <c:formatCode>General</c:formatCode>
                <c:ptCount val="4"/>
                <c:pt idx="0">
                  <c:v>1.0</c:v>
                </c:pt>
                <c:pt idx="1">
                  <c:v>1.0</c:v>
                </c:pt>
                <c:pt idx="2">
                  <c:v>2.0</c:v>
                </c:pt>
                <c:pt idx="3">
                  <c:v>5.0</c:v>
                </c:pt>
              </c:numCache>
            </c:numRef>
          </c:val>
        </c:ser>
        <c:dLbls>
          <c:showLegendKey val="0"/>
          <c:showVal val="0"/>
          <c:showCatName val="0"/>
          <c:showSerName val="0"/>
          <c:showPercent val="0"/>
          <c:showBubbleSize val="0"/>
        </c:dLbls>
        <c:gapWidth val="150"/>
        <c:overlap val="100"/>
        <c:axId val="-2122537344"/>
        <c:axId val="-2073354176"/>
      </c:barChart>
      <c:catAx>
        <c:axId val="-21225373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lumMod val="50000"/>
                  </a:schemeClr>
                </a:solidFill>
                <a:latin typeface="+mn-lt"/>
                <a:ea typeface="+mn-ea"/>
                <a:cs typeface="+mn-cs"/>
              </a:defRPr>
            </a:pPr>
            <a:endParaRPr lang="en-US"/>
          </a:p>
        </c:txPr>
        <c:crossAx val="-2073354176"/>
        <c:crosses val="autoZero"/>
        <c:auto val="1"/>
        <c:lblAlgn val="ctr"/>
        <c:lblOffset val="100"/>
        <c:noMultiLvlLbl val="0"/>
      </c:catAx>
      <c:valAx>
        <c:axId val="-2073354176"/>
        <c:scaling>
          <c:orientation val="minMax"/>
        </c:scaling>
        <c:delete val="1"/>
        <c:axPos val="b"/>
        <c:majorGridlines>
          <c:spPr>
            <a:ln w="9525" cap="flat" cmpd="sng" algn="ctr">
              <a:noFill/>
              <a:round/>
            </a:ln>
            <a:effectLst/>
          </c:spPr>
        </c:majorGridlines>
        <c:numFmt formatCode="General" sourceLinked="0"/>
        <c:majorTickMark val="none"/>
        <c:minorTickMark val="none"/>
        <c:tickLblPos val="nextTo"/>
        <c:crossAx val="-21225373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HK"/>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baseline="0">
                <a:solidFill>
                  <a:schemeClr val="bg2">
                    <a:lumMod val="50000"/>
                  </a:schemeClr>
                </a:solidFill>
                <a:latin typeface="+mn-lt"/>
                <a:ea typeface="+mn-ea"/>
                <a:cs typeface="+mn-cs"/>
              </a:defRPr>
            </a:pPr>
            <a:r>
              <a:rPr lang="zh-CN" altLang="en-US" sz="1200" dirty="0" smtClean="0">
                <a:solidFill>
                  <a:schemeClr val="bg2">
                    <a:lumMod val="50000"/>
                  </a:schemeClr>
                </a:solidFill>
              </a:rPr>
              <a:t>支出分布</a:t>
            </a:r>
            <a:endParaRPr lang="en-US" sz="1200" dirty="0">
              <a:solidFill>
                <a:schemeClr val="bg2">
                  <a:lumMod val="50000"/>
                </a:schemeClr>
              </a:solidFill>
            </a:endParaRPr>
          </a:p>
        </c:rich>
      </c:tx>
      <c:layout>
        <c:manualLayout>
          <c:xMode val="edge"/>
          <c:yMode val="edge"/>
          <c:x val="0.341666666666667"/>
          <c:y val="0.0555555555555555"/>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bg2">
                  <a:lumMod val="50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dPt>
          <c:dPt>
            <c:idx val="1"/>
            <c:bubble3D val="0"/>
            <c:spPr>
              <a:solidFill>
                <a:schemeClr val="accent2"/>
              </a:solidFill>
              <a:ln>
                <a:noFill/>
              </a:ln>
              <a:effectLst>
                <a:outerShdw blurRad="254000" sx="102000" sy="102000" algn="ctr" rotWithShape="0">
                  <a:prstClr val="black">
                    <a:alpha val="20000"/>
                  </a:prstClr>
                </a:outerShdw>
              </a:effectLst>
            </c:spPr>
          </c:dPt>
          <c:dPt>
            <c:idx val="2"/>
            <c:bubble3D val="0"/>
            <c:spPr>
              <a:solidFill>
                <a:schemeClr val="accent3"/>
              </a:solidFill>
              <a:ln>
                <a:noFill/>
              </a:ln>
              <a:effectLst>
                <a:outerShdw blurRad="254000" sx="102000" sy="102000" algn="ctr" rotWithShape="0">
                  <a:prstClr val="black">
                    <a:alpha val="20000"/>
                  </a:prstClr>
                </a:outerShdw>
              </a:effectLst>
            </c:spPr>
          </c:dPt>
          <c:dPt>
            <c:idx val="3"/>
            <c:bubble3D val="0"/>
            <c:spPr>
              <a:solidFill>
                <a:schemeClr val="accent4"/>
              </a:solidFill>
              <a:ln>
                <a:noFill/>
              </a:ln>
              <a:effectLst>
                <a:outerShdw blurRad="254000" sx="102000" sy="102000" algn="ctr" rotWithShape="0">
                  <a:prstClr val="black">
                    <a:alpha val="20000"/>
                  </a:prstClr>
                </a:outerShdw>
              </a:effectLst>
            </c:spPr>
          </c:dPt>
          <c:dPt>
            <c:idx val="4"/>
            <c:bubble3D val="0"/>
            <c:spPr>
              <a:solidFill>
                <a:schemeClr val="accent5"/>
              </a:solidFill>
              <a:ln>
                <a:noFill/>
              </a:ln>
              <a:effectLst>
                <a:outerShdw blurRad="254000" sx="102000" sy="102000" algn="ctr" rotWithShape="0">
                  <a:prstClr val="black">
                    <a:alpha val="20000"/>
                  </a:prstClr>
                </a:outerShdw>
              </a:effectLst>
            </c:spPr>
          </c:dPt>
          <c:dPt>
            <c:idx val="5"/>
            <c:bubble3D val="0"/>
            <c:spPr>
              <a:solidFill>
                <a:schemeClr val="accent6"/>
              </a:solidFill>
              <a:ln>
                <a:noFill/>
              </a:ln>
              <a:effectLst>
                <a:outerShdw blurRad="254000" sx="102000" sy="102000" algn="ctr" rotWithShape="0">
                  <a:prstClr val="black">
                    <a:alpha val="20000"/>
                  </a:prstClr>
                </a:outerShdw>
              </a:effectLst>
            </c:spPr>
          </c:dPt>
          <c:dPt>
            <c:idx val="6"/>
            <c:bubble3D val="0"/>
            <c:spPr>
              <a:solidFill>
                <a:schemeClr val="accent1">
                  <a:lumMod val="60000"/>
                </a:schemeClr>
              </a:solidFill>
              <a:ln>
                <a:noFill/>
              </a:ln>
              <a:effectLst>
                <a:outerShdw blurRad="254000" sx="102000" sy="102000" algn="ctr" rotWithShape="0">
                  <a:prstClr val="black">
                    <a:alpha val="20000"/>
                  </a:prstClr>
                </a:outerShdw>
              </a:effectLst>
            </c:spPr>
          </c:dPt>
          <c:dPt>
            <c:idx val="7"/>
            <c:bubble3D val="0"/>
            <c:spPr>
              <a:solidFill>
                <a:schemeClr val="accent2">
                  <a:lumMod val="60000"/>
                </a:schemeClr>
              </a:solidFill>
              <a:ln>
                <a:noFill/>
              </a:ln>
              <a:effectLst>
                <a:outerShdw blurRad="254000" sx="102000" sy="102000" algn="ctr" rotWithShape="0">
                  <a:prstClr val="black">
                    <a:alpha val="20000"/>
                  </a:prstClr>
                </a:outerShdw>
              </a:effectLst>
            </c:spPr>
          </c:dPt>
          <c:cat>
            <c:strRef>
              <c:f>Sheet1!$A$24:$A$31</c:f>
              <c:strCache>
                <c:ptCount val="8"/>
                <c:pt idx="0">
                  <c:v>餐馆</c:v>
                </c:pt>
                <c:pt idx="1">
                  <c:v>旅游</c:v>
                </c:pt>
                <c:pt idx="2">
                  <c:v>娱乐</c:v>
                </c:pt>
                <c:pt idx="3">
                  <c:v>超市</c:v>
                </c:pt>
                <c:pt idx="4">
                  <c:v>教育</c:v>
                </c:pt>
                <c:pt idx="5">
                  <c:v>房贷</c:v>
                </c:pt>
                <c:pt idx="6">
                  <c:v>商场</c:v>
                </c:pt>
                <c:pt idx="7">
                  <c:v>其他</c:v>
                </c:pt>
              </c:strCache>
            </c:strRef>
          </c:cat>
          <c:val>
            <c:numRef>
              <c:f>Sheet1!$B$24:$B$31</c:f>
              <c:numCache>
                <c:formatCode>General</c:formatCode>
                <c:ptCount val="8"/>
                <c:pt idx="0">
                  <c:v>0.06</c:v>
                </c:pt>
                <c:pt idx="1">
                  <c:v>0.12</c:v>
                </c:pt>
                <c:pt idx="2">
                  <c:v>0.08</c:v>
                </c:pt>
                <c:pt idx="3">
                  <c:v>0.07</c:v>
                </c:pt>
                <c:pt idx="4">
                  <c:v>0.18</c:v>
                </c:pt>
                <c:pt idx="5">
                  <c:v>0.25</c:v>
                </c:pt>
                <c:pt idx="6">
                  <c:v>0.09</c:v>
                </c:pt>
                <c:pt idx="7">
                  <c:v>0.15</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49705721425549"/>
          <c:y val="0.176815199744731"/>
          <c:w val="0.187945631101178"/>
          <c:h val="0.699078448527267"/>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000" b="0" i="0" u="none" strike="noStrike" kern="1200" baseline="0">
              <a:solidFill>
                <a:schemeClr val="bg2">
                  <a:lumMod val="50000"/>
                </a:schemeClr>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diagrams/_rels/data2.xml.rels><?xml version="1.0" encoding="UTF-8" standalone="yes"?>
<Relationships xmlns="http://schemas.openxmlformats.org/package/2006/relationships"><Relationship Id="rId1" Type="http://schemas.openxmlformats.org/officeDocument/2006/relationships/image" Target="../media/image20.png"/></Relationships>
</file>

<file path=ppt/diagrams/_rels/data3.xml.rels><?xml version="1.0" encoding="UTF-8" standalone="yes"?>
<Relationships xmlns="http://schemas.openxmlformats.org/package/2006/relationships"><Relationship Id="rId1" Type="http://schemas.openxmlformats.org/officeDocument/2006/relationships/image" Target="../media/image21.png"/></Relationships>
</file>

<file path=ppt/diagrams/_rels/data4.xml.rels><?xml version="1.0" encoding="UTF-8" standalone="yes"?>
<Relationships xmlns="http://schemas.openxmlformats.org/package/2006/relationships"><Relationship Id="rId1" Type="http://schemas.openxmlformats.org/officeDocument/2006/relationships/image" Target="../media/image20.png"/></Relationships>
</file>

<file path=ppt/diagrams/_rels/data5.xml.rels><?xml version="1.0" encoding="UTF-8" standalone="yes"?>
<Relationships xmlns="http://schemas.openxmlformats.org/package/2006/relationships"><Relationship Id="rId1" Type="http://schemas.openxmlformats.org/officeDocument/2006/relationships/image" Target="../media/image21.png"/></Relationships>
</file>

<file path=ppt/diagrams/_rels/drawing2.xml.rels><?xml version="1.0" encoding="UTF-8" standalone="yes"?>
<Relationships xmlns="http://schemas.openxmlformats.org/package/2006/relationships"><Relationship Id="rId1" Type="http://schemas.openxmlformats.org/officeDocument/2006/relationships/image" Target="../media/image20.png"/></Relationships>
</file>

<file path=ppt/diagrams/_rels/drawing3.xml.rels><?xml version="1.0" encoding="UTF-8" standalone="yes"?>
<Relationships xmlns="http://schemas.openxmlformats.org/package/2006/relationships"><Relationship Id="rId1" Type="http://schemas.openxmlformats.org/officeDocument/2006/relationships/image" Target="../media/image21.png"/></Relationships>
</file>

<file path=ppt/diagrams/_rels/drawing4.xml.rels><?xml version="1.0" encoding="UTF-8" standalone="yes"?>
<Relationships xmlns="http://schemas.openxmlformats.org/package/2006/relationships"><Relationship Id="rId1" Type="http://schemas.openxmlformats.org/officeDocument/2006/relationships/image" Target="../media/image20.png"/></Relationships>
</file>

<file path=ppt/diagrams/_rels/drawing5.xml.rels><?xml version="1.0" encoding="UTF-8" standalone="yes"?>
<Relationships xmlns="http://schemas.openxmlformats.org/package/2006/relationships"><Relationship Id="rId1"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904D85-881A-A64F-AF50-C99CDBFBF07A}" type="doc">
      <dgm:prSet loTypeId="urn:microsoft.com/office/officeart/2005/8/layout/radial1" loCatId="" qsTypeId="urn:microsoft.com/office/officeart/2005/8/quickstyle/3D1" qsCatId="3D" csTypeId="urn:microsoft.com/office/officeart/2005/8/colors/accent1_2" csCatId="accent1" phldr="1"/>
      <dgm:spPr/>
      <dgm:t>
        <a:bodyPr/>
        <a:lstStyle/>
        <a:p>
          <a:endParaRPr lang="en-US"/>
        </a:p>
      </dgm:t>
    </dgm:pt>
    <dgm:pt modelId="{4D2A5138-3A4E-CB4E-8B06-D71B0D671118}">
      <dgm:prSet phldrT="[Text]"/>
      <dgm:spPr/>
      <dgm:t>
        <a:bodyPr/>
        <a:lstStyle/>
        <a:p>
          <a:r>
            <a:rPr lang="zh-CN" altLang="en-US" dirty="0"/>
            <a:t>解决方案</a:t>
          </a:r>
          <a:endParaRPr lang="en-US" dirty="0"/>
        </a:p>
      </dgm:t>
    </dgm:pt>
    <dgm:pt modelId="{2B78236E-B41A-B54B-B069-E5AFC1D13394}" type="parTrans" cxnId="{596B270B-6EC4-0D4A-9904-D682DCA5CD23}">
      <dgm:prSet/>
      <dgm:spPr/>
      <dgm:t>
        <a:bodyPr/>
        <a:lstStyle/>
        <a:p>
          <a:endParaRPr lang="en-US"/>
        </a:p>
      </dgm:t>
    </dgm:pt>
    <dgm:pt modelId="{630CB9F8-D459-144B-9459-E578247AF21D}" type="sibTrans" cxnId="{596B270B-6EC4-0D4A-9904-D682DCA5CD23}">
      <dgm:prSet/>
      <dgm:spPr/>
      <dgm:t>
        <a:bodyPr/>
        <a:lstStyle/>
        <a:p>
          <a:endParaRPr lang="en-US"/>
        </a:p>
      </dgm:t>
    </dgm:pt>
    <dgm:pt modelId="{968D9C49-4023-6743-BDB9-2ABE606387DB}">
      <dgm:prSet phldrT="[Text]"/>
      <dgm:spPr/>
      <dgm:t>
        <a:bodyPr/>
        <a:lstStyle/>
        <a:p>
          <a:r>
            <a:rPr lang="zh-CN" altLang="en-US" dirty="0"/>
            <a:t>算法</a:t>
          </a:r>
          <a:endParaRPr lang="en-US" dirty="0"/>
        </a:p>
      </dgm:t>
    </dgm:pt>
    <dgm:pt modelId="{F064966B-49DA-D14A-8D17-E14DC3F1A9DD}" type="parTrans" cxnId="{A16F45C0-BB0E-F749-99AA-D8C7B6F76884}">
      <dgm:prSet/>
      <dgm:spPr/>
      <dgm:t>
        <a:bodyPr/>
        <a:lstStyle/>
        <a:p>
          <a:endParaRPr lang="en-US"/>
        </a:p>
      </dgm:t>
    </dgm:pt>
    <dgm:pt modelId="{043485D6-1594-4141-9D46-895E20CDB563}" type="sibTrans" cxnId="{A16F45C0-BB0E-F749-99AA-D8C7B6F76884}">
      <dgm:prSet/>
      <dgm:spPr/>
      <dgm:t>
        <a:bodyPr/>
        <a:lstStyle/>
        <a:p>
          <a:endParaRPr lang="en-US"/>
        </a:p>
      </dgm:t>
    </dgm:pt>
    <dgm:pt modelId="{F26C0815-388B-8F4B-88F5-EC5DF4257B8E}">
      <dgm:prSet phldrT="[Text]"/>
      <dgm:spPr/>
      <dgm:t>
        <a:bodyPr/>
        <a:lstStyle/>
        <a:p>
          <a:r>
            <a:rPr lang="zh-CN" altLang="en-US" dirty="0"/>
            <a:t>客户管理</a:t>
          </a:r>
          <a:endParaRPr lang="en-US" dirty="0"/>
        </a:p>
      </dgm:t>
    </dgm:pt>
    <dgm:pt modelId="{E76566FE-D6F5-BA4C-94C0-8D0566E5B259}" type="parTrans" cxnId="{A942157D-153B-3548-92EC-0555BE2B8721}">
      <dgm:prSet/>
      <dgm:spPr/>
      <dgm:t>
        <a:bodyPr/>
        <a:lstStyle/>
        <a:p>
          <a:endParaRPr lang="en-US"/>
        </a:p>
      </dgm:t>
    </dgm:pt>
    <dgm:pt modelId="{83C5103D-F621-9448-9BCB-981C2863301C}" type="sibTrans" cxnId="{A942157D-153B-3548-92EC-0555BE2B8721}">
      <dgm:prSet/>
      <dgm:spPr/>
      <dgm:t>
        <a:bodyPr/>
        <a:lstStyle/>
        <a:p>
          <a:endParaRPr lang="en-US"/>
        </a:p>
      </dgm:t>
    </dgm:pt>
    <dgm:pt modelId="{FAF93CE2-F1B4-3440-B6CD-0EC0083C0099}">
      <dgm:prSet phldrT="[Text]"/>
      <dgm:spPr/>
      <dgm:t>
        <a:bodyPr/>
        <a:lstStyle/>
        <a:p>
          <a:r>
            <a:rPr lang="zh-CN" altLang="en-US" dirty="0"/>
            <a:t>网上交易</a:t>
          </a:r>
          <a:endParaRPr lang="en-US" dirty="0"/>
        </a:p>
      </dgm:t>
    </dgm:pt>
    <dgm:pt modelId="{501AE358-D9D8-5D47-8E12-571B526B57C4}" type="parTrans" cxnId="{A6BE4D5A-18E0-3646-B671-E10FFDA4B807}">
      <dgm:prSet/>
      <dgm:spPr/>
      <dgm:t>
        <a:bodyPr/>
        <a:lstStyle/>
        <a:p>
          <a:endParaRPr lang="en-US"/>
        </a:p>
      </dgm:t>
    </dgm:pt>
    <dgm:pt modelId="{03FCAB33-4F1A-E543-AD3B-0C64CD40DD71}" type="sibTrans" cxnId="{A6BE4D5A-18E0-3646-B671-E10FFDA4B807}">
      <dgm:prSet/>
      <dgm:spPr/>
      <dgm:t>
        <a:bodyPr/>
        <a:lstStyle/>
        <a:p>
          <a:endParaRPr lang="en-US"/>
        </a:p>
      </dgm:t>
    </dgm:pt>
    <dgm:pt modelId="{1A5D90B7-C2B3-FD4E-9BA0-5ED0652D118F}">
      <dgm:prSet phldrT="[Text]"/>
      <dgm:spPr/>
      <dgm:t>
        <a:bodyPr/>
        <a:lstStyle/>
        <a:p>
          <a:r>
            <a:rPr lang="zh-CN" altLang="en-US" dirty="0"/>
            <a:t>产品管理</a:t>
          </a:r>
          <a:endParaRPr lang="en-US" dirty="0"/>
        </a:p>
      </dgm:t>
    </dgm:pt>
    <dgm:pt modelId="{D849157D-C43E-EC40-A998-5C36648B7E2A}" type="parTrans" cxnId="{F9DC20E8-62D3-874D-B344-BAB38188096F}">
      <dgm:prSet/>
      <dgm:spPr/>
      <dgm:t>
        <a:bodyPr/>
        <a:lstStyle/>
        <a:p>
          <a:endParaRPr lang="en-US"/>
        </a:p>
      </dgm:t>
    </dgm:pt>
    <dgm:pt modelId="{E309E9FD-C983-CB4D-A227-81D96D74386B}" type="sibTrans" cxnId="{F9DC20E8-62D3-874D-B344-BAB38188096F}">
      <dgm:prSet/>
      <dgm:spPr/>
      <dgm:t>
        <a:bodyPr/>
        <a:lstStyle/>
        <a:p>
          <a:endParaRPr lang="en-US"/>
        </a:p>
      </dgm:t>
    </dgm:pt>
    <dgm:pt modelId="{F0F95538-CD0B-2F4A-9279-F8120ED4226B}">
      <dgm:prSet phldrT="[Text]"/>
      <dgm:spPr/>
      <dgm:t>
        <a:bodyPr/>
        <a:lstStyle/>
        <a:p>
          <a:r>
            <a:rPr lang="zh-CN" altLang="en-US" dirty="0"/>
            <a:t>客户端</a:t>
          </a:r>
          <a:endParaRPr lang="en-US" dirty="0"/>
        </a:p>
      </dgm:t>
    </dgm:pt>
    <dgm:pt modelId="{42B8857D-2B97-784D-85CD-770EED54D9DF}" type="parTrans" cxnId="{14625294-C110-844F-AA75-AFDB5BA56C99}">
      <dgm:prSet/>
      <dgm:spPr/>
      <dgm:t>
        <a:bodyPr/>
        <a:lstStyle/>
        <a:p>
          <a:endParaRPr lang="en-US"/>
        </a:p>
      </dgm:t>
    </dgm:pt>
    <dgm:pt modelId="{D91DBB30-D7EB-A543-98D3-576FF7D5504C}" type="sibTrans" cxnId="{14625294-C110-844F-AA75-AFDB5BA56C99}">
      <dgm:prSet/>
      <dgm:spPr/>
      <dgm:t>
        <a:bodyPr/>
        <a:lstStyle/>
        <a:p>
          <a:endParaRPr lang="en-US"/>
        </a:p>
      </dgm:t>
    </dgm:pt>
    <dgm:pt modelId="{E7B1FE11-AC88-9444-85EF-6F4955E7C715}" type="pres">
      <dgm:prSet presAssocID="{38904D85-881A-A64F-AF50-C99CDBFBF07A}" presName="cycle" presStyleCnt="0">
        <dgm:presLayoutVars>
          <dgm:chMax val="1"/>
          <dgm:dir/>
          <dgm:animLvl val="ctr"/>
          <dgm:resizeHandles val="exact"/>
        </dgm:presLayoutVars>
      </dgm:prSet>
      <dgm:spPr/>
      <dgm:t>
        <a:bodyPr/>
        <a:lstStyle/>
        <a:p>
          <a:endParaRPr lang="en-US"/>
        </a:p>
      </dgm:t>
    </dgm:pt>
    <dgm:pt modelId="{31E634D2-0693-8F44-B03F-F9C600C7BCE7}" type="pres">
      <dgm:prSet presAssocID="{4D2A5138-3A4E-CB4E-8B06-D71B0D671118}" presName="centerShape" presStyleLbl="node0" presStyleIdx="0" presStyleCnt="1" custScaleX="125524" custScaleY="122568"/>
      <dgm:spPr/>
      <dgm:t>
        <a:bodyPr/>
        <a:lstStyle/>
        <a:p>
          <a:endParaRPr lang="en-US"/>
        </a:p>
      </dgm:t>
    </dgm:pt>
    <dgm:pt modelId="{B8E79EA6-2F00-7848-945F-F1E906E910D7}" type="pres">
      <dgm:prSet presAssocID="{F064966B-49DA-D14A-8D17-E14DC3F1A9DD}" presName="Name9" presStyleLbl="parChTrans1D2" presStyleIdx="0" presStyleCnt="5"/>
      <dgm:spPr/>
      <dgm:t>
        <a:bodyPr/>
        <a:lstStyle/>
        <a:p>
          <a:endParaRPr lang="en-US"/>
        </a:p>
      </dgm:t>
    </dgm:pt>
    <dgm:pt modelId="{C623C3B8-6E79-734B-A126-594B050742F9}" type="pres">
      <dgm:prSet presAssocID="{F064966B-49DA-D14A-8D17-E14DC3F1A9DD}" presName="connTx" presStyleLbl="parChTrans1D2" presStyleIdx="0" presStyleCnt="5"/>
      <dgm:spPr/>
      <dgm:t>
        <a:bodyPr/>
        <a:lstStyle/>
        <a:p>
          <a:endParaRPr lang="en-US"/>
        </a:p>
      </dgm:t>
    </dgm:pt>
    <dgm:pt modelId="{9B817FBC-FE9B-8342-B8AC-F615C21213C4}" type="pres">
      <dgm:prSet presAssocID="{968D9C49-4023-6743-BDB9-2ABE606387DB}" presName="node" presStyleLbl="node1" presStyleIdx="0" presStyleCnt="5">
        <dgm:presLayoutVars>
          <dgm:bulletEnabled val="1"/>
        </dgm:presLayoutVars>
      </dgm:prSet>
      <dgm:spPr/>
      <dgm:t>
        <a:bodyPr/>
        <a:lstStyle/>
        <a:p>
          <a:endParaRPr lang="en-US"/>
        </a:p>
      </dgm:t>
    </dgm:pt>
    <dgm:pt modelId="{2C3A1E0D-13A6-B646-9DD3-4AA766260A3C}" type="pres">
      <dgm:prSet presAssocID="{E76566FE-D6F5-BA4C-94C0-8D0566E5B259}" presName="Name9" presStyleLbl="parChTrans1D2" presStyleIdx="1" presStyleCnt="5"/>
      <dgm:spPr/>
      <dgm:t>
        <a:bodyPr/>
        <a:lstStyle/>
        <a:p>
          <a:endParaRPr lang="en-US"/>
        </a:p>
      </dgm:t>
    </dgm:pt>
    <dgm:pt modelId="{9EF1EFFB-37CC-D049-B140-240791E5ADC5}" type="pres">
      <dgm:prSet presAssocID="{E76566FE-D6F5-BA4C-94C0-8D0566E5B259}" presName="connTx" presStyleLbl="parChTrans1D2" presStyleIdx="1" presStyleCnt="5"/>
      <dgm:spPr/>
      <dgm:t>
        <a:bodyPr/>
        <a:lstStyle/>
        <a:p>
          <a:endParaRPr lang="en-US"/>
        </a:p>
      </dgm:t>
    </dgm:pt>
    <dgm:pt modelId="{118CBDA6-673F-2741-AAA7-D3F75CACA783}" type="pres">
      <dgm:prSet presAssocID="{F26C0815-388B-8F4B-88F5-EC5DF4257B8E}" presName="node" presStyleLbl="node1" presStyleIdx="1" presStyleCnt="5">
        <dgm:presLayoutVars>
          <dgm:bulletEnabled val="1"/>
        </dgm:presLayoutVars>
      </dgm:prSet>
      <dgm:spPr/>
      <dgm:t>
        <a:bodyPr/>
        <a:lstStyle/>
        <a:p>
          <a:endParaRPr lang="en-US"/>
        </a:p>
      </dgm:t>
    </dgm:pt>
    <dgm:pt modelId="{92467B99-B390-404E-A587-E80FC2CC1BAE}" type="pres">
      <dgm:prSet presAssocID="{501AE358-D9D8-5D47-8E12-571B526B57C4}" presName="Name9" presStyleLbl="parChTrans1D2" presStyleIdx="2" presStyleCnt="5"/>
      <dgm:spPr/>
      <dgm:t>
        <a:bodyPr/>
        <a:lstStyle/>
        <a:p>
          <a:endParaRPr lang="en-US"/>
        </a:p>
      </dgm:t>
    </dgm:pt>
    <dgm:pt modelId="{33140DD9-8222-2E4A-8C5D-B6600129D757}" type="pres">
      <dgm:prSet presAssocID="{501AE358-D9D8-5D47-8E12-571B526B57C4}" presName="connTx" presStyleLbl="parChTrans1D2" presStyleIdx="2" presStyleCnt="5"/>
      <dgm:spPr/>
      <dgm:t>
        <a:bodyPr/>
        <a:lstStyle/>
        <a:p>
          <a:endParaRPr lang="en-US"/>
        </a:p>
      </dgm:t>
    </dgm:pt>
    <dgm:pt modelId="{36041342-0D7E-4548-85F7-A931C96DC94C}" type="pres">
      <dgm:prSet presAssocID="{FAF93CE2-F1B4-3440-B6CD-0EC0083C0099}" presName="node" presStyleLbl="node1" presStyleIdx="2" presStyleCnt="5">
        <dgm:presLayoutVars>
          <dgm:bulletEnabled val="1"/>
        </dgm:presLayoutVars>
      </dgm:prSet>
      <dgm:spPr/>
      <dgm:t>
        <a:bodyPr/>
        <a:lstStyle/>
        <a:p>
          <a:endParaRPr lang="en-US"/>
        </a:p>
      </dgm:t>
    </dgm:pt>
    <dgm:pt modelId="{02B031A4-F0A4-404F-AFE6-80903DA4B245}" type="pres">
      <dgm:prSet presAssocID="{D849157D-C43E-EC40-A998-5C36648B7E2A}" presName="Name9" presStyleLbl="parChTrans1D2" presStyleIdx="3" presStyleCnt="5"/>
      <dgm:spPr/>
      <dgm:t>
        <a:bodyPr/>
        <a:lstStyle/>
        <a:p>
          <a:endParaRPr lang="en-US"/>
        </a:p>
      </dgm:t>
    </dgm:pt>
    <dgm:pt modelId="{37F4C2AA-6FE5-A544-8DFC-B5E83FB1E643}" type="pres">
      <dgm:prSet presAssocID="{D849157D-C43E-EC40-A998-5C36648B7E2A}" presName="connTx" presStyleLbl="parChTrans1D2" presStyleIdx="3" presStyleCnt="5"/>
      <dgm:spPr/>
      <dgm:t>
        <a:bodyPr/>
        <a:lstStyle/>
        <a:p>
          <a:endParaRPr lang="en-US"/>
        </a:p>
      </dgm:t>
    </dgm:pt>
    <dgm:pt modelId="{34F48557-B00D-DA42-B1DB-703E2B7A8191}" type="pres">
      <dgm:prSet presAssocID="{1A5D90B7-C2B3-FD4E-9BA0-5ED0652D118F}" presName="node" presStyleLbl="node1" presStyleIdx="3" presStyleCnt="5">
        <dgm:presLayoutVars>
          <dgm:bulletEnabled val="1"/>
        </dgm:presLayoutVars>
      </dgm:prSet>
      <dgm:spPr/>
      <dgm:t>
        <a:bodyPr/>
        <a:lstStyle/>
        <a:p>
          <a:endParaRPr lang="en-US"/>
        </a:p>
      </dgm:t>
    </dgm:pt>
    <dgm:pt modelId="{FA2BD146-130C-4C48-B640-7D26CDB92E2C}" type="pres">
      <dgm:prSet presAssocID="{42B8857D-2B97-784D-85CD-770EED54D9DF}" presName="Name9" presStyleLbl="parChTrans1D2" presStyleIdx="4" presStyleCnt="5"/>
      <dgm:spPr/>
      <dgm:t>
        <a:bodyPr/>
        <a:lstStyle/>
        <a:p>
          <a:endParaRPr lang="en-US"/>
        </a:p>
      </dgm:t>
    </dgm:pt>
    <dgm:pt modelId="{9D4350BF-A92B-9B4B-8D7B-041A021C5D56}" type="pres">
      <dgm:prSet presAssocID="{42B8857D-2B97-784D-85CD-770EED54D9DF}" presName="connTx" presStyleLbl="parChTrans1D2" presStyleIdx="4" presStyleCnt="5"/>
      <dgm:spPr/>
      <dgm:t>
        <a:bodyPr/>
        <a:lstStyle/>
        <a:p>
          <a:endParaRPr lang="en-US"/>
        </a:p>
      </dgm:t>
    </dgm:pt>
    <dgm:pt modelId="{4F1ED65C-A9BA-954E-B571-4351693BA48B}" type="pres">
      <dgm:prSet presAssocID="{F0F95538-CD0B-2F4A-9279-F8120ED4226B}" presName="node" presStyleLbl="node1" presStyleIdx="4" presStyleCnt="5">
        <dgm:presLayoutVars>
          <dgm:bulletEnabled val="1"/>
        </dgm:presLayoutVars>
      </dgm:prSet>
      <dgm:spPr/>
      <dgm:t>
        <a:bodyPr/>
        <a:lstStyle/>
        <a:p>
          <a:endParaRPr lang="en-US"/>
        </a:p>
      </dgm:t>
    </dgm:pt>
  </dgm:ptLst>
  <dgm:cxnLst>
    <dgm:cxn modelId="{A36B4E57-4AE7-C341-9368-20ADF832BA55}" type="presOf" srcId="{42B8857D-2B97-784D-85CD-770EED54D9DF}" destId="{FA2BD146-130C-4C48-B640-7D26CDB92E2C}" srcOrd="0" destOrd="0" presId="urn:microsoft.com/office/officeart/2005/8/layout/radial1"/>
    <dgm:cxn modelId="{14625294-C110-844F-AA75-AFDB5BA56C99}" srcId="{4D2A5138-3A4E-CB4E-8B06-D71B0D671118}" destId="{F0F95538-CD0B-2F4A-9279-F8120ED4226B}" srcOrd="4" destOrd="0" parTransId="{42B8857D-2B97-784D-85CD-770EED54D9DF}" sibTransId="{D91DBB30-D7EB-A543-98D3-576FF7D5504C}"/>
    <dgm:cxn modelId="{F9DC20E8-62D3-874D-B344-BAB38188096F}" srcId="{4D2A5138-3A4E-CB4E-8B06-D71B0D671118}" destId="{1A5D90B7-C2B3-FD4E-9BA0-5ED0652D118F}" srcOrd="3" destOrd="0" parTransId="{D849157D-C43E-EC40-A998-5C36648B7E2A}" sibTransId="{E309E9FD-C983-CB4D-A227-81D96D74386B}"/>
    <dgm:cxn modelId="{1A3D515D-6913-204C-8084-040D1E01694E}" type="presOf" srcId="{42B8857D-2B97-784D-85CD-770EED54D9DF}" destId="{9D4350BF-A92B-9B4B-8D7B-041A021C5D56}" srcOrd="1" destOrd="0" presId="urn:microsoft.com/office/officeart/2005/8/layout/radial1"/>
    <dgm:cxn modelId="{96604CCD-46D2-604E-ADE0-6C29B747514A}" type="presOf" srcId="{D849157D-C43E-EC40-A998-5C36648B7E2A}" destId="{02B031A4-F0A4-404F-AFE6-80903DA4B245}" srcOrd="0" destOrd="0" presId="urn:microsoft.com/office/officeart/2005/8/layout/radial1"/>
    <dgm:cxn modelId="{40796A4F-B5CE-F542-96DF-E48BEAA1AAC3}" type="presOf" srcId="{FAF93CE2-F1B4-3440-B6CD-0EC0083C0099}" destId="{36041342-0D7E-4548-85F7-A931C96DC94C}" srcOrd="0" destOrd="0" presId="urn:microsoft.com/office/officeart/2005/8/layout/radial1"/>
    <dgm:cxn modelId="{A6BE4D5A-18E0-3646-B671-E10FFDA4B807}" srcId="{4D2A5138-3A4E-CB4E-8B06-D71B0D671118}" destId="{FAF93CE2-F1B4-3440-B6CD-0EC0083C0099}" srcOrd="2" destOrd="0" parTransId="{501AE358-D9D8-5D47-8E12-571B526B57C4}" sibTransId="{03FCAB33-4F1A-E543-AD3B-0C64CD40DD71}"/>
    <dgm:cxn modelId="{71D99A0D-C3D1-1348-951D-8A99FCE09521}" type="presOf" srcId="{4D2A5138-3A4E-CB4E-8B06-D71B0D671118}" destId="{31E634D2-0693-8F44-B03F-F9C600C7BCE7}" srcOrd="0" destOrd="0" presId="urn:microsoft.com/office/officeart/2005/8/layout/radial1"/>
    <dgm:cxn modelId="{6FDB009C-617F-684F-8C94-D535C54C9478}" type="presOf" srcId="{F0F95538-CD0B-2F4A-9279-F8120ED4226B}" destId="{4F1ED65C-A9BA-954E-B571-4351693BA48B}" srcOrd="0" destOrd="0" presId="urn:microsoft.com/office/officeart/2005/8/layout/radial1"/>
    <dgm:cxn modelId="{0EB4E01C-6ACC-B64D-B334-3C3FAB0C4439}" type="presOf" srcId="{F064966B-49DA-D14A-8D17-E14DC3F1A9DD}" destId="{C623C3B8-6E79-734B-A126-594B050742F9}" srcOrd="1" destOrd="0" presId="urn:microsoft.com/office/officeart/2005/8/layout/radial1"/>
    <dgm:cxn modelId="{7C7FAA98-C154-1C4D-8BE8-1EC0D36CE206}" type="presOf" srcId="{F26C0815-388B-8F4B-88F5-EC5DF4257B8E}" destId="{118CBDA6-673F-2741-AAA7-D3F75CACA783}" srcOrd="0" destOrd="0" presId="urn:microsoft.com/office/officeart/2005/8/layout/radial1"/>
    <dgm:cxn modelId="{21CA472F-3F13-6845-813B-F49E55CBF7F3}" type="presOf" srcId="{38904D85-881A-A64F-AF50-C99CDBFBF07A}" destId="{E7B1FE11-AC88-9444-85EF-6F4955E7C715}" srcOrd="0" destOrd="0" presId="urn:microsoft.com/office/officeart/2005/8/layout/radial1"/>
    <dgm:cxn modelId="{71E78588-8DA6-314F-9BC0-26149AD597C5}" type="presOf" srcId="{D849157D-C43E-EC40-A998-5C36648B7E2A}" destId="{37F4C2AA-6FE5-A544-8DFC-B5E83FB1E643}" srcOrd="1" destOrd="0" presId="urn:microsoft.com/office/officeart/2005/8/layout/radial1"/>
    <dgm:cxn modelId="{9F5DC56D-D809-1D40-9353-B600E85EA619}" type="presOf" srcId="{E76566FE-D6F5-BA4C-94C0-8D0566E5B259}" destId="{9EF1EFFB-37CC-D049-B140-240791E5ADC5}" srcOrd="1" destOrd="0" presId="urn:microsoft.com/office/officeart/2005/8/layout/radial1"/>
    <dgm:cxn modelId="{3C907D88-50A5-A04A-B152-370EA6BE8366}" type="presOf" srcId="{501AE358-D9D8-5D47-8E12-571B526B57C4}" destId="{33140DD9-8222-2E4A-8C5D-B6600129D757}" srcOrd="1" destOrd="0" presId="urn:microsoft.com/office/officeart/2005/8/layout/radial1"/>
    <dgm:cxn modelId="{A942157D-153B-3548-92EC-0555BE2B8721}" srcId="{4D2A5138-3A4E-CB4E-8B06-D71B0D671118}" destId="{F26C0815-388B-8F4B-88F5-EC5DF4257B8E}" srcOrd="1" destOrd="0" parTransId="{E76566FE-D6F5-BA4C-94C0-8D0566E5B259}" sibTransId="{83C5103D-F621-9448-9BCB-981C2863301C}"/>
    <dgm:cxn modelId="{A16F45C0-BB0E-F749-99AA-D8C7B6F76884}" srcId="{4D2A5138-3A4E-CB4E-8B06-D71B0D671118}" destId="{968D9C49-4023-6743-BDB9-2ABE606387DB}" srcOrd="0" destOrd="0" parTransId="{F064966B-49DA-D14A-8D17-E14DC3F1A9DD}" sibTransId="{043485D6-1594-4141-9D46-895E20CDB563}"/>
    <dgm:cxn modelId="{5BF80A01-7F60-A04D-A437-97D19BBB6FF2}" type="presOf" srcId="{501AE358-D9D8-5D47-8E12-571B526B57C4}" destId="{92467B99-B390-404E-A587-E80FC2CC1BAE}" srcOrd="0" destOrd="0" presId="urn:microsoft.com/office/officeart/2005/8/layout/radial1"/>
    <dgm:cxn modelId="{1BC82C5E-53BC-504D-BDA4-94CFEFEECB92}" type="presOf" srcId="{1A5D90B7-C2B3-FD4E-9BA0-5ED0652D118F}" destId="{34F48557-B00D-DA42-B1DB-703E2B7A8191}" srcOrd="0" destOrd="0" presId="urn:microsoft.com/office/officeart/2005/8/layout/radial1"/>
    <dgm:cxn modelId="{596B270B-6EC4-0D4A-9904-D682DCA5CD23}" srcId="{38904D85-881A-A64F-AF50-C99CDBFBF07A}" destId="{4D2A5138-3A4E-CB4E-8B06-D71B0D671118}" srcOrd="0" destOrd="0" parTransId="{2B78236E-B41A-B54B-B069-E5AFC1D13394}" sibTransId="{630CB9F8-D459-144B-9459-E578247AF21D}"/>
    <dgm:cxn modelId="{1A63B2A3-6DD2-8040-B7D9-7D0FA905A031}" type="presOf" srcId="{F064966B-49DA-D14A-8D17-E14DC3F1A9DD}" destId="{B8E79EA6-2F00-7848-945F-F1E906E910D7}" srcOrd="0" destOrd="0" presId="urn:microsoft.com/office/officeart/2005/8/layout/radial1"/>
    <dgm:cxn modelId="{5CA7EA66-3ECD-DC41-B248-F28A825AB752}" type="presOf" srcId="{E76566FE-D6F5-BA4C-94C0-8D0566E5B259}" destId="{2C3A1E0D-13A6-B646-9DD3-4AA766260A3C}" srcOrd="0" destOrd="0" presId="urn:microsoft.com/office/officeart/2005/8/layout/radial1"/>
    <dgm:cxn modelId="{36E27EFC-E1E7-C248-91FD-91FF5DF4FD19}" type="presOf" srcId="{968D9C49-4023-6743-BDB9-2ABE606387DB}" destId="{9B817FBC-FE9B-8342-B8AC-F615C21213C4}" srcOrd="0" destOrd="0" presId="urn:microsoft.com/office/officeart/2005/8/layout/radial1"/>
    <dgm:cxn modelId="{B3D62023-89C2-764B-8604-220BAD4DF589}" type="presParOf" srcId="{E7B1FE11-AC88-9444-85EF-6F4955E7C715}" destId="{31E634D2-0693-8F44-B03F-F9C600C7BCE7}" srcOrd="0" destOrd="0" presId="urn:microsoft.com/office/officeart/2005/8/layout/radial1"/>
    <dgm:cxn modelId="{E150E6BA-8C32-0746-A6B3-57A7A22AB8B3}" type="presParOf" srcId="{E7B1FE11-AC88-9444-85EF-6F4955E7C715}" destId="{B8E79EA6-2F00-7848-945F-F1E906E910D7}" srcOrd="1" destOrd="0" presId="urn:microsoft.com/office/officeart/2005/8/layout/radial1"/>
    <dgm:cxn modelId="{39DA119B-578F-B843-88B3-4455938C842B}" type="presParOf" srcId="{B8E79EA6-2F00-7848-945F-F1E906E910D7}" destId="{C623C3B8-6E79-734B-A126-594B050742F9}" srcOrd="0" destOrd="0" presId="urn:microsoft.com/office/officeart/2005/8/layout/radial1"/>
    <dgm:cxn modelId="{463BADB9-99E7-2248-B879-4E95855E0B2D}" type="presParOf" srcId="{E7B1FE11-AC88-9444-85EF-6F4955E7C715}" destId="{9B817FBC-FE9B-8342-B8AC-F615C21213C4}" srcOrd="2" destOrd="0" presId="urn:microsoft.com/office/officeart/2005/8/layout/radial1"/>
    <dgm:cxn modelId="{4CFB1208-315A-B642-BAA3-CB521C370738}" type="presParOf" srcId="{E7B1FE11-AC88-9444-85EF-6F4955E7C715}" destId="{2C3A1E0D-13A6-B646-9DD3-4AA766260A3C}" srcOrd="3" destOrd="0" presId="urn:microsoft.com/office/officeart/2005/8/layout/radial1"/>
    <dgm:cxn modelId="{171D9013-41FC-A74D-B73B-5EBE8EA5DE85}" type="presParOf" srcId="{2C3A1E0D-13A6-B646-9DD3-4AA766260A3C}" destId="{9EF1EFFB-37CC-D049-B140-240791E5ADC5}" srcOrd="0" destOrd="0" presId="urn:microsoft.com/office/officeart/2005/8/layout/radial1"/>
    <dgm:cxn modelId="{24A2479A-9737-894A-8CD7-242928B0CFC6}" type="presParOf" srcId="{E7B1FE11-AC88-9444-85EF-6F4955E7C715}" destId="{118CBDA6-673F-2741-AAA7-D3F75CACA783}" srcOrd="4" destOrd="0" presId="urn:microsoft.com/office/officeart/2005/8/layout/radial1"/>
    <dgm:cxn modelId="{9D0C93EA-3876-CE43-8BB5-97024C8D7270}" type="presParOf" srcId="{E7B1FE11-AC88-9444-85EF-6F4955E7C715}" destId="{92467B99-B390-404E-A587-E80FC2CC1BAE}" srcOrd="5" destOrd="0" presId="urn:microsoft.com/office/officeart/2005/8/layout/radial1"/>
    <dgm:cxn modelId="{BEE53B5F-7A91-5040-9382-A7CF2D835A83}" type="presParOf" srcId="{92467B99-B390-404E-A587-E80FC2CC1BAE}" destId="{33140DD9-8222-2E4A-8C5D-B6600129D757}" srcOrd="0" destOrd="0" presId="urn:microsoft.com/office/officeart/2005/8/layout/radial1"/>
    <dgm:cxn modelId="{4BC01ED8-4253-B840-9ED7-4869CB41B6C9}" type="presParOf" srcId="{E7B1FE11-AC88-9444-85EF-6F4955E7C715}" destId="{36041342-0D7E-4548-85F7-A931C96DC94C}" srcOrd="6" destOrd="0" presId="urn:microsoft.com/office/officeart/2005/8/layout/radial1"/>
    <dgm:cxn modelId="{91B35CA6-E29B-E146-924A-2469FB569EFE}" type="presParOf" srcId="{E7B1FE11-AC88-9444-85EF-6F4955E7C715}" destId="{02B031A4-F0A4-404F-AFE6-80903DA4B245}" srcOrd="7" destOrd="0" presId="urn:microsoft.com/office/officeart/2005/8/layout/radial1"/>
    <dgm:cxn modelId="{98C5979F-A4C6-6E4C-9743-999E3D6B151B}" type="presParOf" srcId="{02B031A4-F0A4-404F-AFE6-80903DA4B245}" destId="{37F4C2AA-6FE5-A544-8DFC-B5E83FB1E643}" srcOrd="0" destOrd="0" presId="urn:microsoft.com/office/officeart/2005/8/layout/radial1"/>
    <dgm:cxn modelId="{95B14A0C-1F60-1743-A51E-0978A8D138DE}" type="presParOf" srcId="{E7B1FE11-AC88-9444-85EF-6F4955E7C715}" destId="{34F48557-B00D-DA42-B1DB-703E2B7A8191}" srcOrd="8" destOrd="0" presId="urn:microsoft.com/office/officeart/2005/8/layout/radial1"/>
    <dgm:cxn modelId="{9F851FD9-6C04-2347-8B47-CFD268B1F984}" type="presParOf" srcId="{E7B1FE11-AC88-9444-85EF-6F4955E7C715}" destId="{FA2BD146-130C-4C48-B640-7D26CDB92E2C}" srcOrd="9" destOrd="0" presId="urn:microsoft.com/office/officeart/2005/8/layout/radial1"/>
    <dgm:cxn modelId="{DA205385-30E9-2445-B5F9-CF6528234A85}" type="presParOf" srcId="{FA2BD146-130C-4C48-B640-7D26CDB92E2C}" destId="{9D4350BF-A92B-9B4B-8D7B-041A021C5D56}" srcOrd="0" destOrd="0" presId="urn:microsoft.com/office/officeart/2005/8/layout/radial1"/>
    <dgm:cxn modelId="{885CF13C-7581-EB48-834E-60ADB265D020}" type="presParOf" srcId="{E7B1FE11-AC88-9444-85EF-6F4955E7C715}" destId="{4F1ED65C-A9BA-954E-B571-4351693BA48B}" srcOrd="10"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071DB9-6780-4144-B656-6D7ADEB38642}" type="doc">
      <dgm:prSet loTypeId="urn:microsoft.com/office/officeart/2005/8/layout/lProcess2" loCatId="" qsTypeId="urn:microsoft.com/office/officeart/2005/8/quickstyle/simple4" qsCatId="simple" csTypeId="urn:microsoft.com/office/officeart/2005/8/colors/accent1_2" csCatId="accent1" phldr="1"/>
      <dgm:spPr/>
      <dgm:t>
        <a:bodyPr/>
        <a:lstStyle/>
        <a:p>
          <a:endParaRPr lang="en-US"/>
        </a:p>
      </dgm:t>
    </dgm:pt>
    <dgm:pt modelId="{5F4A2363-B802-6B46-85E8-0096DE78DE52}">
      <dgm:prSet phldrT="[Text]"/>
      <dgm:spPr>
        <a:blipFill rotWithShape="0">
          <a:blip xmlns:r="http://schemas.openxmlformats.org/officeDocument/2006/relationships" r:embed="rId1"/>
          <a:tile tx="0" ty="0" sx="100000" sy="100000" flip="y" algn="tl"/>
        </a:blipFill>
      </dgm:spPr>
      <dgm:t>
        <a:bodyPr/>
        <a:lstStyle/>
        <a:p>
          <a:r>
            <a:rPr lang="zh-CN" altLang="en-US" dirty="0">
              <a:solidFill>
                <a:schemeClr val="accent6">
                  <a:lumMod val="50000"/>
                </a:schemeClr>
              </a:solidFill>
            </a:rPr>
            <a:t>模型和</a:t>
          </a:r>
        </a:p>
        <a:p>
          <a:r>
            <a:rPr lang="zh-CN" altLang="en-US" dirty="0">
              <a:solidFill>
                <a:schemeClr val="accent6">
                  <a:lumMod val="50000"/>
                </a:schemeClr>
              </a:solidFill>
            </a:rPr>
            <a:t>算法</a:t>
          </a:r>
        </a:p>
      </dgm:t>
    </dgm:pt>
    <dgm:pt modelId="{76173810-6CFE-9349-991D-F049CBB9786B}" type="parTrans" cxnId="{CB4468E5-EF5A-0742-B5BB-C695BDCD8B15}">
      <dgm:prSet/>
      <dgm:spPr/>
      <dgm:t>
        <a:bodyPr/>
        <a:lstStyle/>
        <a:p>
          <a:endParaRPr lang="en-US"/>
        </a:p>
      </dgm:t>
    </dgm:pt>
    <dgm:pt modelId="{E1D8E10D-B85F-B340-BEF3-134891455FAD}" type="sibTrans" cxnId="{CB4468E5-EF5A-0742-B5BB-C695BDCD8B15}">
      <dgm:prSet/>
      <dgm:spPr/>
      <dgm:t>
        <a:bodyPr/>
        <a:lstStyle/>
        <a:p>
          <a:endParaRPr lang="en-US"/>
        </a:p>
      </dgm:t>
    </dgm:pt>
    <dgm:pt modelId="{DE012349-D5E1-204F-9635-9EE518C0B3C3}">
      <dgm:prSet phldrT="[Text]"/>
      <dgm:spPr/>
      <dgm:t>
        <a:bodyPr/>
        <a:lstStyle/>
        <a:p>
          <a:r>
            <a:rPr lang="zh-CN" altLang="en-US" dirty="0"/>
            <a:t>资产管理模型</a:t>
          </a:r>
        </a:p>
      </dgm:t>
    </dgm:pt>
    <dgm:pt modelId="{2E5AC47C-8DEF-E546-998B-7B058D87B298}" type="parTrans" cxnId="{84BFFC7A-E711-4F41-8DEC-1CAA8FE757EF}">
      <dgm:prSet/>
      <dgm:spPr/>
      <dgm:t>
        <a:bodyPr/>
        <a:lstStyle/>
        <a:p>
          <a:endParaRPr lang="en-US"/>
        </a:p>
      </dgm:t>
    </dgm:pt>
    <dgm:pt modelId="{EFCBC898-1470-784F-BB43-70B2DF7A548A}" type="sibTrans" cxnId="{84BFFC7A-E711-4F41-8DEC-1CAA8FE757EF}">
      <dgm:prSet/>
      <dgm:spPr/>
      <dgm:t>
        <a:bodyPr/>
        <a:lstStyle/>
        <a:p>
          <a:endParaRPr lang="en-US"/>
        </a:p>
      </dgm:t>
    </dgm:pt>
    <dgm:pt modelId="{AA53CE32-A63F-5741-8E42-F26CB43AB58D}">
      <dgm:prSet phldrT="[Text]"/>
      <dgm:spPr/>
      <dgm:t>
        <a:bodyPr/>
        <a:lstStyle/>
        <a:p>
          <a:r>
            <a:rPr lang="zh-CN" altLang="en-US" dirty="0"/>
            <a:t>基金排序算法</a:t>
          </a:r>
          <a:endParaRPr lang="en-US" dirty="0"/>
        </a:p>
      </dgm:t>
    </dgm:pt>
    <dgm:pt modelId="{C66BB966-BEF6-E342-8671-193BDFC5E478}" type="parTrans" cxnId="{778CD1C0-49E1-6642-815C-C243B7AD0921}">
      <dgm:prSet/>
      <dgm:spPr/>
      <dgm:t>
        <a:bodyPr/>
        <a:lstStyle/>
        <a:p>
          <a:endParaRPr lang="en-US"/>
        </a:p>
      </dgm:t>
    </dgm:pt>
    <dgm:pt modelId="{17BCA70E-2A38-EF4C-9777-AFC1FB4A4E10}" type="sibTrans" cxnId="{778CD1C0-49E1-6642-815C-C243B7AD0921}">
      <dgm:prSet/>
      <dgm:spPr/>
      <dgm:t>
        <a:bodyPr/>
        <a:lstStyle/>
        <a:p>
          <a:endParaRPr lang="en-US"/>
        </a:p>
      </dgm:t>
    </dgm:pt>
    <dgm:pt modelId="{D17A2948-5FD0-A54E-9B1E-759C26D5C2E9}">
      <dgm:prSet/>
      <dgm:spPr/>
      <dgm:t>
        <a:bodyPr/>
        <a:lstStyle/>
        <a:p>
          <a:r>
            <a:rPr lang="zh-CN" altLang="en-US" dirty="0"/>
            <a:t>动态资产管理</a:t>
          </a:r>
          <a:endParaRPr lang="en-US" dirty="0"/>
        </a:p>
      </dgm:t>
    </dgm:pt>
    <dgm:pt modelId="{A6BCC49E-7483-FD47-8D9B-0C53BB59D4F3}" type="parTrans" cxnId="{DDDD4375-50B7-D448-BF32-05764B0C4302}">
      <dgm:prSet/>
      <dgm:spPr/>
      <dgm:t>
        <a:bodyPr/>
        <a:lstStyle/>
        <a:p>
          <a:endParaRPr lang="en-US"/>
        </a:p>
      </dgm:t>
    </dgm:pt>
    <dgm:pt modelId="{276E7CEA-4027-9F4F-98B6-9C0BEEEA5724}" type="sibTrans" cxnId="{DDDD4375-50B7-D448-BF32-05764B0C4302}">
      <dgm:prSet/>
      <dgm:spPr/>
      <dgm:t>
        <a:bodyPr/>
        <a:lstStyle/>
        <a:p>
          <a:endParaRPr lang="en-US"/>
        </a:p>
      </dgm:t>
    </dgm:pt>
    <dgm:pt modelId="{EFD85B5C-69B2-6C43-BE53-E27AFD30BD39}">
      <dgm:prSet/>
      <dgm:spPr/>
      <dgm:t>
        <a:bodyPr/>
        <a:lstStyle/>
        <a:p>
          <a:r>
            <a:rPr lang="zh-CN" altLang="en-US" dirty="0"/>
            <a:t>基金评价</a:t>
          </a:r>
          <a:endParaRPr lang="en-US" dirty="0"/>
        </a:p>
      </dgm:t>
    </dgm:pt>
    <dgm:pt modelId="{B393A4C9-10B6-D347-A7C6-50B6770C45B5}" type="parTrans" cxnId="{81B3A2C5-03E6-984C-80FA-72516E61203F}">
      <dgm:prSet/>
      <dgm:spPr/>
      <dgm:t>
        <a:bodyPr/>
        <a:lstStyle/>
        <a:p>
          <a:endParaRPr lang="en-US"/>
        </a:p>
      </dgm:t>
    </dgm:pt>
    <dgm:pt modelId="{D1CFCA4F-BA53-CB43-8E49-B802480AB08E}" type="sibTrans" cxnId="{81B3A2C5-03E6-984C-80FA-72516E61203F}">
      <dgm:prSet/>
      <dgm:spPr/>
      <dgm:t>
        <a:bodyPr/>
        <a:lstStyle/>
        <a:p>
          <a:endParaRPr lang="en-US"/>
        </a:p>
      </dgm:t>
    </dgm:pt>
    <dgm:pt modelId="{3594BCB7-D54A-884E-98C8-99B9DBB08B50}">
      <dgm:prSet/>
      <dgm:spPr/>
      <dgm:t>
        <a:bodyPr/>
        <a:lstStyle/>
        <a:p>
          <a:r>
            <a:rPr lang="zh-CN" altLang="en-US" dirty="0"/>
            <a:t>用户分析模型</a:t>
          </a:r>
          <a:endParaRPr lang="en-US" dirty="0"/>
        </a:p>
      </dgm:t>
    </dgm:pt>
    <dgm:pt modelId="{53027ED7-62F4-9D46-A6B0-FB9749BA8795}" type="parTrans" cxnId="{DC168FBA-76F4-484A-AA84-A6D01149E5C0}">
      <dgm:prSet/>
      <dgm:spPr/>
      <dgm:t>
        <a:bodyPr/>
        <a:lstStyle/>
        <a:p>
          <a:endParaRPr lang="en-US"/>
        </a:p>
      </dgm:t>
    </dgm:pt>
    <dgm:pt modelId="{03450CF3-89D3-2E4A-B632-D450A9B64A42}" type="sibTrans" cxnId="{DC168FBA-76F4-484A-AA84-A6D01149E5C0}">
      <dgm:prSet/>
      <dgm:spPr/>
      <dgm:t>
        <a:bodyPr/>
        <a:lstStyle/>
        <a:p>
          <a:endParaRPr lang="en-US"/>
        </a:p>
      </dgm:t>
    </dgm:pt>
    <dgm:pt modelId="{63DB5F7A-12AF-D04C-A518-4198DF991254}" type="pres">
      <dgm:prSet presAssocID="{9F071DB9-6780-4144-B656-6D7ADEB38642}" presName="theList" presStyleCnt="0">
        <dgm:presLayoutVars>
          <dgm:dir/>
          <dgm:animLvl val="lvl"/>
          <dgm:resizeHandles val="exact"/>
        </dgm:presLayoutVars>
      </dgm:prSet>
      <dgm:spPr/>
      <dgm:t>
        <a:bodyPr/>
        <a:lstStyle/>
        <a:p>
          <a:endParaRPr lang="en-US"/>
        </a:p>
      </dgm:t>
    </dgm:pt>
    <dgm:pt modelId="{E20B0C32-3CDA-AA4D-94DA-433B99A0D5AA}" type="pres">
      <dgm:prSet presAssocID="{5F4A2363-B802-6B46-85E8-0096DE78DE52}" presName="compNode" presStyleCnt="0"/>
      <dgm:spPr/>
    </dgm:pt>
    <dgm:pt modelId="{0D40A4F1-E5CB-1341-A3DD-975E209A2065}" type="pres">
      <dgm:prSet presAssocID="{5F4A2363-B802-6B46-85E8-0096DE78DE52}" presName="aNode" presStyleLbl="bgShp" presStyleIdx="0" presStyleCnt="1" custLinFactNeighborX="11629" custLinFactNeighborY="-10924"/>
      <dgm:spPr/>
      <dgm:t>
        <a:bodyPr/>
        <a:lstStyle/>
        <a:p>
          <a:endParaRPr lang="en-US"/>
        </a:p>
      </dgm:t>
    </dgm:pt>
    <dgm:pt modelId="{FF946862-CF2D-C443-B80B-31DB3D8F7D23}" type="pres">
      <dgm:prSet presAssocID="{5F4A2363-B802-6B46-85E8-0096DE78DE52}" presName="textNode" presStyleLbl="bgShp" presStyleIdx="0" presStyleCnt="1"/>
      <dgm:spPr/>
      <dgm:t>
        <a:bodyPr/>
        <a:lstStyle/>
        <a:p>
          <a:endParaRPr lang="en-US"/>
        </a:p>
      </dgm:t>
    </dgm:pt>
    <dgm:pt modelId="{7EC07FAF-3E3F-4844-9987-32013718AC2A}" type="pres">
      <dgm:prSet presAssocID="{5F4A2363-B802-6B46-85E8-0096DE78DE52}" presName="compChildNode" presStyleCnt="0"/>
      <dgm:spPr/>
    </dgm:pt>
    <dgm:pt modelId="{FFE07433-2284-B146-AB0A-A718F1565119}" type="pres">
      <dgm:prSet presAssocID="{5F4A2363-B802-6B46-85E8-0096DE78DE52}" presName="theInnerList" presStyleCnt="0"/>
      <dgm:spPr/>
    </dgm:pt>
    <dgm:pt modelId="{0D77EAEB-56D9-154D-B5D3-ABBDAD9675F2}" type="pres">
      <dgm:prSet presAssocID="{DE012349-D5E1-204F-9635-9EE518C0B3C3}" presName="childNode" presStyleLbl="node1" presStyleIdx="0" presStyleCnt="5">
        <dgm:presLayoutVars>
          <dgm:bulletEnabled val="1"/>
        </dgm:presLayoutVars>
      </dgm:prSet>
      <dgm:spPr/>
      <dgm:t>
        <a:bodyPr/>
        <a:lstStyle/>
        <a:p>
          <a:endParaRPr lang="en-US"/>
        </a:p>
      </dgm:t>
    </dgm:pt>
    <dgm:pt modelId="{B2966C3A-D6F9-B34B-A5D7-A1B309DDB2C7}" type="pres">
      <dgm:prSet presAssocID="{DE012349-D5E1-204F-9635-9EE518C0B3C3}" presName="aSpace2" presStyleCnt="0"/>
      <dgm:spPr/>
    </dgm:pt>
    <dgm:pt modelId="{A100A236-7603-5941-95D1-06ABA1DCAFA2}" type="pres">
      <dgm:prSet presAssocID="{D17A2948-5FD0-A54E-9B1E-759C26D5C2E9}" presName="childNode" presStyleLbl="node1" presStyleIdx="1" presStyleCnt="5">
        <dgm:presLayoutVars>
          <dgm:bulletEnabled val="1"/>
        </dgm:presLayoutVars>
      </dgm:prSet>
      <dgm:spPr/>
      <dgm:t>
        <a:bodyPr/>
        <a:lstStyle/>
        <a:p>
          <a:endParaRPr lang="en-US"/>
        </a:p>
      </dgm:t>
    </dgm:pt>
    <dgm:pt modelId="{D503CEFC-8FD9-5A4F-AEEE-03E9C9CBD7D9}" type="pres">
      <dgm:prSet presAssocID="{D17A2948-5FD0-A54E-9B1E-759C26D5C2E9}" presName="aSpace2" presStyleCnt="0"/>
      <dgm:spPr/>
    </dgm:pt>
    <dgm:pt modelId="{3676C6CD-E265-564C-A811-32E92C51C22E}" type="pres">
      <dgm:prSet presAssocID="{EFD85B5C-69B2-6C43-BE53-E27AFD30BD39}" presName="childNode" presStyleLbl="node1" presStyleIdx="2" presStyleCnt="5">
        <dgm:presLayoutVars>
          <dgm:bulletEnabled val="1"/>
        </dgm:presLayoutVars>
      </dgm:prSet>
      <dgm:spPr/>
      <dgm:t>
        <a:bodyPr/>
        <a:lstStyle/>
        <a:p>
          <a:endParaRPr lang="en-US"/>
        </a:p>
      </dgm:t>
    </dgm:pt>
    <dgm:pt modelId="{2056D147-807C-7C45-B7E4-B5D08F7DF9C2}" type="pres">
      <dgm:prSet presAssocID="{EFD85B5C-69B2-6C43-BE53-E27AFD30BD39}" presName="aSpace2" presStyleCnt="0"/>
      <dgm:spPr/>
    </dgm:pt>
    <dgm:pt modelId="{59A2D5FE-647C-AF42-970C-99CA0DA62219}" type="pres">
      <dgm:prSet presAssocID="{AA53CE32-A63F-5741-8E42-F26CB43AB58D}" presName="childNode" presStyleLbl="node1" presStyleIdx="3" presStyleCnt="5">
        <dgm:presLayoutVars>
          <dgm:bulletEnabled val="1"/>
        </dgm:presLayoutVars>
      </dgm:prSet>
      <dgm:spPr/>
      <dgm:t>
        <a:bodyPr/>
        <a:lstStyle/>
        <a:p>
          <a:endParaRPr lang="en-US"/>
        </a:p>
      </dgm:t>
    </dgm:pt>
    <dgm:pt modelId="{A8E61F0A-0543-7F4A-832E-501B803721A8}" type="pres">
      <dgm:prSet presAssocID="{AA53CE32-A63F-5741-8E42-F26CB43AB58D}" presName="aSpace2" presStyleCnt="0"/>
      <dgm:spPr/>
    </dgm:pt>
    <dgm:pt modelId="{CA7FD8C5-A9BF-3749-9F2B-70E062B0CA5A}" type="pres">
      <dgm:prSet presAssocID="{3594BCB7-D54A-884E-98C8-99B9DBB08B50}" presName="childNode" presStyleLbl="node1" presStyleIdx="4" presStyleCnt="5">
        <dgm:presLayoutVars>
          <dgm:bulletEnabled val="1"/>
        </dgm:presLayoutVars>
      </dgm:prSet>
      <dgm:spPr/>
      <dgm:t>
        <a:bodyPr/>
        <a:lstStyle/>
        <a:p>
          <a:endParaRPr lang="en-US"/>
        </a:p>
      </dgm:t>
    </dgm:pt>
  </dgm:ptLst>
  <dgm:cxnLst>
    <dgm:cxn modelId="{A2A781C6-5946-2443-BF5A-441A4E2A25B4}" type="presOf" srcId="{9F071DB9-6780-4144-B656-6D7ADEB38642}" destId="{63DB5F7A-12AF-D04C-A518-4198DF991254}" srcOrd="0" destOrd="0" presId="urn:microsoft.com/office/officeart/2005/8/layout/lProcess2"/>
    <dgm:cxn modelId="{DDDD4375-50B7-D448-BF32-05764B0C4302}" srcId="{5F4A2363-B802-6B46-85E8-0096DE78DE52}" destId="{D17A2948-5FD0-A54E-9B1E-759C26D5C2E9}" srcOrd="1" destOrd="0" parTransId="{A6BCC49E-7483-FD47-8D9B-0C53BB59D4F3}" sibTransId="{276E7CEA-4027-9F4F-98B6-9C0BEEEA5724}"/>
    <dgm:cxn modelId="{CB4468E5-EF5A-0742-B5BB-C695BDCD8B15}" srcId="{9F071DB9-6780-4144-B656-6D7ADEB38642}" destId="{5F4A2363-B802-6B46-85E8-0096DE78DE52}" srcOrd="0" destOrd="0" parTransId="{76173810-6CFE-9349-991D-F049CBB9786B}" sibTransId="{E1D8E10D-B85F-B340-BEF3-134891455FAD}"/>
    <dgm:cxn modelId="{13B3216F-8318-BB4A-9E1A-57016F2CB75E}" type="presOf" srcId="{EFD85B5C-69B2-6C43-BE53-E27AFD30BD39}" destId="{3676C6CD-E265-564C-A811-32E92C51C22E}" srcOrd="0" destOrd="0" presId="urn:microsoft.com/office/officeart/2005/8/layout/lProcess2"/>
    <dgm:cxn modelId="{258B9B66-3E36-C34A-BA0B-4AF5FF93243C}" type="presOf" srcId="{5F4A2363-B802-6B46-85E8-0096DE78DE52}" destId="{FF946862-CF2D-C443-B80B-31DB3D8F7D23}" srcOrd="1" destOrd="0" presId="urn:microsoft.com/office/officeart/2005/8/layout/lProcess2"/>
    <dgm:cxn modelId="{84BFFC7A-E711-4F41-8DEC-1CAA8FE757EF}" srcId="{5F4A2363-B802-6B46-85E8-0096DE78DE52}" destId="{DE012349-D5E1-204F-9635-9EE518C0B3C3}" srcOrd="0" destOrd="0" parTransId="{2E5AC47C-8DEF-E546-998B-7B058D87B298}" sibTransId="{EFCBC898-1470-784F-BB43-70B2DF7A548A}"/>
    <dgm:cxn modelId="{6C7C90F1-ACEC-ED44-AD1B-33E2A4FBB87A}" type="presOf" srcId="{D17A2948-5FD0-A54E-9B1E-759C26D5C2E9}" destId="{A100A236-7603-5941-95D1-06ABA1DCAFA2}" srcOrd="0" destOrd="0" presId="urn:microsoft.com/office/officeart/2005/8/layout/lProcess2"/>
    <dgm:cxn modelId="{B21B18DD-ABCD-964D-AD39-7EBC97F94F87}" type="presOf" srcId="{5F4A2363-B802-6B46-85E8-0096DE78DE52}" destId="{0D40A4F1-E5CB-1341-A3DD-975E209A2065}" srcOrd="0" destOrd="0" presId="urn:microsoft.com/office/officeart/2005/8/layout/lProcess2"/>
    <dgm:cxn modelId="{1CBE23F2-9242-2442-AB25-D3A269EFB893}" type="presOf" srcId="{3594BCB7-D54A-884E-98C8-99B9DBB08B50}" destId="{CA7FD8C5-A9BF-3749-9F2B-70E062B0CA5A}" srcOrd="0" destOrd="0" presId="urn:microsoft.com/office/officeart/2005/8/layout/lProcess2"/>
    <dgm:cxn modelId="{778CD1C0-49E1-6642-815C-C243B7AD0921}" srcId="{5F4A2363-B802-6B46-85E8-0096DE78DE52}" destId="{AA53CE32-A63F-5741-8E42-F26CB43AB58D}" srcOrd="3" destOrd="0" parTransId="{C66BB966-BEF6-E342-8671-193BDFC5E478}" sibTransId="{17BCA70E-2A38-EF4C-9777-AFC1FB4A4E10}"/>
    <dgm:cxn modelId="{86BAF7F7-C072-7343-9EE7-3BF1CD9C9607}" type="presOf" srcId="{DE012349-D5E1-204F-9635-9EE518C0B3C3}" destId="{0D77EAEB-56D9-154D-B5D3-ABBDAD9675F2}" srcOrd="0" destOrd="0" presId="urn:microsoft.com/office/officeart/2005/8/layout/lProcess2"/>
    <dgm:cxn modelId="{81B3A2C5-03E6-984C-80FA-72516E61203F}" srcId="{5F4A2363-B802-6B46-85E8-0096DE78DE52}" destId="{EFD85B5C-69B2-6C43-BE53-E27AFD30BD39}" srcOrd="2" destOrd="0" parTransId="{B393A4C9-10B6-D347-A7C6-50B6770C45B5}" sibTransId="{D1CFCA4F-BA53-CB43-8E49-B802480AB08E}"/>
    <dgm:cxn modelId="{255A25D5-5A52-264B-AF83-65D102F816F6}" type="presOf" srcId="{AA53CE32-A63F-5741-8E42-F26CB43AB58D}" destId="{59A2D5FE-647C-AF42-970C-99CA0DA62219}" srcOrd="0" destOrd="0" presId="urn:microsoft.com/office/officeart/2005/8/layout/lProcess2"/>
    <dgm:cxn modelId="{DC168FBA-76F4-484A-AA84-A6D01149E5C0}" srcId="{5F4A2363-B802-6B46-85E8-0096DE78DE52}" destId="{3594BCB7-D54A-884E-98C8-99B9DBB08B50}" srcOrd="4" destOrd="0" parTransId="{53027ED7-62F4-9D46-A6B0-FB9749BA8795}" sibTransId="{03450CF3-89D3-2E4A-B632-D450A9B64A42}"/>
    <dgm:cxn modelId="{7878B1C1-D96B-4A49-9B4D-A8F3DBCA380E}" type="presParOf" srcId="{63DB5F7A-12AF-D04C-A518-4198DF991254}" destId="{E20B0C32-3CDA-AA4D-94DA-433B99A0D5AA}" srcOrd="0" destOrd="0" presId="urn:microsoft.com/office/officeart/2005/8/layout/lProcess2"/>
    <dgm:cxn modelId="{8C9EE20F-98AB-E842-A25D-F5DF3A00A1D3}" type="presParOf" srcId="{E20B0C32-3CDA-AA4D-94DA-433B99A0D5AA}" destId="{0D40A4F1-E5CB-1341-A3DD-975E209A2065}" srcOrd="0" destOrd="0" presId="urn:microsoft.com/office/officeart/2005/8/layout/lProcess2"/>
    <dgm:cxn modelId="{E96D9945-0E6D-634C-9FD8-1ECEAF19270B}" type="presParOf" srcId="{E20B0C32-3CDA-AA4D-94DA-433B99A0D5AA}" destId="{FF946862-CF2D-C443-B80B-31DB3D8F7D23}" srcOrd="1" destOrd="0" presId="urn:microsoft.com/office/officeart/2005/8/layout/lProcess2"/>
    <dgm:cxn modelId="{0F7677A3-4AFC-FA40-B3DB-9DFA5871B522}" type="presParOf" srcId="{E20B0C32-3CDA-AA4D-94DA-433B99A0D5AA}" destId="{7EC07FAF-3E3F-4844-9987-32013718AC2A}" srcOrd="2" destOrd="0" presId="urn:microsoft.com/office/officeart/2005/8/layout/lProcess2"/>
    <dgm:cxn modelId="{61A64327-DDA3-D340-B492-249B56908A25}" type="presParOf" srcId="{7EC07FAF-3E3F-4844-9987-32013718AC2A}" destId="{FFE07433-2284-B146-AB0A-A718F1565119}" srcOrd="0" destOrd="0" presId="urn:microsoft.com/office/officeart/2005/8/layout/lProcess2"/>
    <dgm:cxn modelId="{B72FC37C-0B90-0C4F-8E13-3BCCFDE0D9B5}" type="presParOf" srcId="{FFE07433-2284-B146-AB0A-A718F1565119}" destId="{0D77EAEB-56D9-154D-B5D3-ABBDAD9675F2}" srcOrd="0" destOrd="0" presId="urn:microsoft.com/office/officeart/2005/8/layout/lProcess2"/>
    <dgm:cxn modelId="{A036BC16-C833-A245-8D3B-14623946E4A1}" type="presParOf" srcId="{FFE07433-2284-B146-AB0A-A718F1565119}" destId="{B2966C3A-D6F9-B34B-A5D7-A1B309DDB2C7}" srcOrd="1" destOrd="0" presId="urn:microsoft.com/office/officeart/2005/8/layout/lProcess2"/>
    <dgm:cxn modelId="{99413023-39AC-3A41-A8A4-BB52E3C24E6D}" type="presParOf" srcId="{FFE07433-2284-B146-AB0A-A718F1565119}" destId="{A100A236-7603-5941-95D1-06ABA1DCAFA2}" srcOrd="2" destOrd="0" presId="urn:microsoft.com/office/officeart/2005/8/layout/lProcess2"/>
    <dgm:cxn modelId="{FCB01E0B-C775-D84B-8E79-007F5693C558}" type="presParOf" srcId="{FFE07433-2284-B146-AB0A-A718F1565119}" destId="{D503CEFC-8FD9-5A4F-AEEE-03E9C9CBD7D9}" srcOrd="3" destOrd="0" presId="urn:microsoft.com/office/officeart/2005/8/layout/lProcess2"/>
    <dgm:cxn modelId="{BDFA72A7-8252-384A-8350-787BBC9BA46A}" type="presParOf" srcId="{FFE07433-2284-B146-AB0A-A718F1565119}" destId="{3676C6CD-E265-564C-A811-32E92C51C22E}" srcOrd="4" destOrd="0" presId="urn:microsoft.com/office/officeart/2005/8/layout/lProcess2"/>
    <dgm:cxn modelId="{808AA966-1DF8-3041-9E09-868949B48F40}" type="presParOf" srcId="{FFE07433-2284-B146-AB0A-A718F1565119}" destId="{2056D147-807C-7C45-B7E4-B5D08F7DF9C2}" srcOrd="5" destOrd="0" presId="urn:microsoft.com/office/officeart/2005/8/layout/lProcess2"/>
    <dgm:cxn modelId="{0F01FDFB-5A65-644E-BE99-8B311CF686DD}" type="presParOf" srcId="{FFE07433-2284-B146-AB0A-A718F1565119}" destId="{59A2D5FE-647C-AF42-970C-99CA0DA62219}" srcOrd="6" destOrd="0" presId="urn:microsoft.com/office/officeart/2005/8/layout/lProcess2"/>
    <dgm:cxn modelId="{5023AE63-D3F6-EC4A-953A-9FB1000940AA}" type="presParOf" srcId="{FFE07433-2284-B146-AB0A-A718F1565119}" destId="{A8E61F0A-0543-7F4A-832E-501B803721A8}" srcOrd="7" destOrd="0" presId="urn:microsoft.com/office/officeart/2005/8/layout/lProcess2"/>
    <dgm:cxn modelId="{E374E266-CBA3-EA4D-8018-ED55F5A99780}" type="presParOf" srcId="{FFE07433-2284-B146-AB0A-A718F1565119}" destId="{CA7FD8C5-A9BF-3749-9F2B-70E062B0CA5A}" srcOrd="8" destOrd="0" presId="urn:microsoft.com/office/officeart/2005/8/layout/lProcess2"/>
  </dgm:cxnLst>
  <dgm:bg>
    <a:solidFill>
      <a:srgbClr val="FFFFFF"/>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071DB9-6780-4144-B656-6D7ADEB38642}" type="doc">
      <dgm:prSet loTypeId="urn:microsoft.com/office/officeart/2005/8/layout/lProcess2" loCatId="" qsTypeId="urn:microsoft.com/office/officeart/2005/8/quickstyle/simple4" qsCatId="simple" csTypeId="urn:microsoft.com/office/officeart/2005/8/colors/accent1_2" csCatId="accent1" phldr="1"/>
      <dgm:spPr/>
      <dgm:t>
        <a:bodyPr/>
        <a:lstStyle/>
        <a:p>
          <a:endParaRPr lang="en-US"/>
        </a:p>
      </dgm:t>
    </dgm:pt>
    <dgm:pt modelId="{5F4A2363-B802-6B46-85E8-0096DE78DE52}">
      <dgm:prSet phldrT="[Text]"/>
      <dgm:spPr>
        <a:blipFill rotWithShape="0">
          <a:blip xmlns:r="http://schemas.openxmlformats.org/officeDocument/2006/relationships" r:embed="rId1"/>
          <a:tile tx="0" ty="0" sx="100000" sy="100000" flip="y" algn="tl"/>
        </a:blipFill>
        <a:effectLst>
          <a:outerShdw blurRad="50800" dist="50800" dir="5400000" algn="ctr" rotWithShape="0">
            <a:srgbClr val="000000">
              <a:alpha val="0"/>
            </a:srgbClr>
          </a:outerShdw>
        </a:effectLst>
      </dgm:spPr>
      <dgm:t>
        <a:bodyPr/>
        <a:lstStyle/>
        <a:p>
          <a:r>
            <a:rPr lang="zh-CN" altLang="en-US" b="0" i="0" dirty="0">
              <a:solidFill>
                <a:schemeClr val="accent6">
                  <a:lumMod val="50000"/>
                </a:schemeClr>
              </a:solidFill>
            </a:rPr>
            <a:t>客户</a:t>
          </a:r>
        </a:p>
        <a:p>
          <a:r>
            <a:rPr lang="zh-CN" altLang="en-US" b="0" i="0" dirty="0">
              <a:solidFill>
                <a:schemeClr val="accent6">
                  <a:lumMod val="50000"/>
                </a:schemeClr>
              </a:solidFill>
            </a:rPr>
            <a:t>管理</a:t>
          </a:r>
        </a:p>
      </dgm:t>
    </dgm:pt>
    <dgm:pt modelId="{76173810-6CFE-9349-991D-F049CBB9786B}" type="parTrans" cxnId="{CB4468E5-EF5A-0742-B5BB-C695BDCD8B15}">
      <dgm:prSet/>
      <dgm:spPr/>
      <dgm:t>
        <a:bodyPr/>
        <a:lstStyle/>
        <a:p>
          <a:endParaRPr lang="en-US"/>
        </a:p>
      </dgm:t>
    </dgm:pt>
    <dgm:pt modelId="{E1D8E10D-B85F-B340-BEF3-134891455FAD}" type="sibTrans" cxnId="{CB4468E5-EF5A-0742-B5BB-C695BDCD8B15}">
      <dgm:prSet/>
      <dgm:spPr/>
      <dgm:t>
        <a:bodyPr/>
        <a:lstStyle/>
        <a:p>
          <a:endParaRPr lang="en-US"/>
        </a:p>
      </dgm:t>
    </dgm:pt>
    <dgm:pt modelId="{DE012349-D5E1-204F-9635-9EE518C0B3C3}">
      <dgm:prSet phldrT="[Text]"/>
      <dgm:spPr/>
      <dgm:t>
        <a:bodyPr/>
        <a:lstStyle/>
        <a:p>
          <a:r>
            <a:rPr lang="zh-CN" altLang="en-US" dirty="0"/>
            <a:t>客户管理</a:t>
          </a:r>
        </a:p>
      </dgm:t>
    </dgm:pt>
    <dgm:pt modelId="{2E5AC47C-8DEF-E546-998B-7B058D87B298}" type="parTrans" cxnId="{84BFFC7A-E711-4F41-8DEC-1CAA8FE757EF}">
      <dgm:prSet/>
      <dgm:spPr/>
      <dgm:t>
        <a:bodyPr/>
        <a:lstStyle/>
        <a:p>
          <a:endParaRPr lang="en-US"/>
        </a:p>
      </dgm:t>
    </dgm:pt>
    <dgm:pt modelId="{EFCBC898-1470-784F-BB43-70B2DF7A548A}" type="sibTrans" cxnId="{84BFFC7A-E711-4F41-8DEC-1CAA8FE757EF}">
      <dgm:prSet/>
      <dgm:spPr/>
      <dgm:t>
        <a:bodyPr/>
        <a:lstStyle/>
        <a:p>
          <a:endParaRPr lang="en-US"/>
        </a:p>
      </dgm:t>
    </dgm:pt>
    <dgm:pt modelId="{AA53CE32-A63F-5741-8E42-F26CB43AB58D}">
      <dgm:prSet phldrT="[Text]"/>
      <dgm:spPr/>
      <dgm:t>
        <a:bodyPr/>
        <a:lstStyle/>
        <a:p>
          <a:r>
            <a:rPr lang="zh-CN" altLang="en-US" dirty="0"/>
            <a:t>客户结单</a:t>
          </a:r>
          <a:endParaRPr lang="en-US" dirty="0"/>
        </a:p>
      </dgm:t>
    </dgm:pt>
    <dgm:pt modelId="{C66BB966-BEF6-E342-8671-193BDFC5E478}" type="parTrans" cxnId="{778CD1C0-49E1-6642-815C-C243B7AD0921}">
      <dgm:prSet/>
      <dgm:spPr/>
      <dgm:t>
        <a:bodyPr/>
        <a:lstStyle/>
        <a:p>
          <a:endParaRPr lang="en-US"/>
        </a:p>
      </dgm:t>
    </dgm:pt>
    <dgm:pt modelId="{17BCA70E-2A38-EF4C-9777-AFC1FB4A4E10}" type="sibTrans" cxnId="{778CD1C0-49E1-6642-815C-C243B7AD0921}">
      <dgm:prSet/>
      <dgm:spPr/>
      <dgm:t>
        <a:bodyPr/>
        <a:lstStyle/>
        <a:p>
          <a:endParaRPr lang="en-US"/>
        </a:p>
      </dgm:t>
    </dgm:pt>
    <dgm:pt modelId="{D17A2948-5FD0-A54E-9B1E-759C26D5C2E9}">
      <dgm:prSet/>
      <dgm:spPr/>
      <dgm:t>
        <a:bodyPr/>
        <a:lstStyle/>
        <a:p>
          <a:r>
            <a:rPr lang="zh-CN" altLang="en-US" dirty="0"/>
            <a:t>客户资产</a:t>
          </a:r>
          <a:endParaRPr lang="en-US" dirty="0"/>
        </a:p>
      </dgm:t>
    </dgm:pt>
    <dgm:pt modelId="{A6BCC49E-7483-FD47-8D9B-0C53BB59D4F3}" type="parTrans" cxnId="{DDDD4375-50B7-D448-BF32-05764B0C4302}">
      <dgm:prSet/>
      <dgm:spPr/>
      <dgm:t>
        <a:bodyPr/>
        <a:lstStyle/>
        <a:p>
          <a:endParaRPr lang="en-US"/>
        </a:p>
      </dgm:t>
    </dgm:pt>
    <dgm:pt modelId="{276E7CEA-4027-9F4F-98B6-9C0BEEEA5724}" type="sibTrans" cxnId="{DDDD4375-50B7-D448-BF32-05764B0C4302}">
      <dgm:prSet/>
      <dgm:spPr/>
      <dgm:t>
        <a:bodyPr/>
        <a:lstStyle/>
        <a:p>
          <a:endParaRPr lang="en-US"/>
        </a:p>
      </dgm:t>
    </dgm:pt>
    <dgm:pt modelId="{EFD85B5C-69B2-6C43-BE53-E27AFD30BD39}">
      <dgm:prSet/>
      <dgm:spPr/>
      <dgm:t>
        <a:bodyPr/>
        <a:lstStyle/>
        <a:p>
          <a:r>
            <a:rPr lang="zh-CN" altLang="en-US" dirty="0"/>
            <a:t>客户统计</a:t>
          </a:r>
          <a:endParaRPr lang="en-US" dirty="0"/>
        </a:p>
      </dgm:t>
    </dgm:pt>
    <dgm:pt modelId="{B393A4C9-10B6-D347-A7C6-50B6770C45B5}" type="parTrans" cxnId="{81B3A2C5-03E6-984C-80FA-72516E61203F}">
      <dgm:prSet/>
      <dgm:spPr/>
      <dgm:t>
        <a:bodyPr/>
        <a:lstStyle/>
        <a:p>
          <a:endParaRPr lang="en-US"/>
        </a:p>
      </dgm:t>
    </dgm:pt>
    <dgm:pt modelId="{D1CFCA4F-BA53-CB43-8E49-B802480AB08E}" type="sibTrans" cxnId="{81B3A2C5-03E6-984C-80FA-72516E61203F}">
      <dgm:prSet/>
      <dgm:spPr/>
      <dgm:t>
        <a:bodyPr/>
        <a:lstStyle/>
        <a:p>
          <a:endParaRPr lang="en-US"/>
        </a:p>
      </dgm:t>
    </dgm:pt>
    <dgm:pt modelId="{3594BCB7-D54A-884E-98C8-99B9DBB08B50}">
      <dgm:prSet/>
      <dgm:spPr/>
      <dgm:t>
        <a:bodyPr/>
        <a:lstStyle/>
        <a:p>
          <a:r>
            <a:rPr lang="zh-CN" altLang="en-US" dirty="0"/>
            <a:t>客户分析</a:t>
          </a:r>
          <a:endParaRPr lang="en-US" dirty="0"/>
        </a:p>
      </dgm:t>
    </dgm:pt>
    <dgm:pt modelId="{53027ED7-62F4-9D46-A6B0-FB9749BA8795}" type="parTrans" cxnId="{DC168FBA-76F4-484A-AA84-A6D01149E5C0}">
      <dgm:prSet/>
      <dgm:spPr/>
      <dgm:t>
        <a:bodyPr/>
        <a:lstStyle/>
        <a:p>
          <a:endParaRPr lang="en-US"/>
        </a:p>
      </dgm:t>
    </dgm:pt>
    <dgm:pt modelId="{03450CF3-89D3-2E4A-B632-D450A9B64A42}" type="sibTrans" cxnId="{DC168FBA-76F4-484A-AA84-A6D01149E5C0}">
      <dgm:prSet/>
      <dgm:spPr/>
      <dgm:t>
        <a:bodyPr/>
        <a:lstStyle/>
        <a:p>
          <a:endParaRPr lang="en-US"/>
        </a:p>
      </dgm:t>
    </dgm:pt>
    <dgm:pt modelId="{63DB5F7A-12AF-D04C-A518-4198DF991254}" type="pres">
      <dgm:prSet presAssocID="{9F071DB9-6780-4144-B656-6D7ADEB38642}" presName="theList" presStyleCnt="0">
        <dgm:presLayoutVars>
          <dgm:dir/>
          <dgm:animLvl val="lvl"/>
          <dgm:resizeHandles val="exact"/>
        </dgm:presLayoutVars>
      </dgm:prSet>
      <dgm:spPr/>
      <dgm:t>
        <a:bodyPr/>
        <a:lstStyle/>
        <a:p>
          <a:endParaRPr lang="en-US"/>
        </a:p>
      </dgm:t>
    </dgm:pt>
    <dgm:pt modelId="{E20B0C32-3CDA-AA4D-94DA-433B99A0D5AA}" type="pres">
      <dgm:prSet presAssocID="{5F4A2363-B802-6B46-85E8-0096DE78DE52}" presName="compNode" presStyleCnt="0"/>
      <dgm:spPr/>
    </dgm:pt>
    <dgm:pt modelId="{0D40A4F1-E5CB-1341-A3DD-975E209A2065}" type="pres">
      <dgm:prSet presAssocID="{5F4A2363-B802-6B46-85E8-0096DE78DE52}" presName="aNode" presStyleLbl="bgShp" presStyleIdx="0" presStyleCnt="1" custLinFactNeighborX="-3986" custLinFactNeighborY="0"/>
      <dgm:spPr/>
      <dgm:t>
        <a:bodyPr/>
        <a:lstStyle/>
        <a:p>
          <a:endParaRPr lang="en-US"/>
        </a:p>
      </dgm:t>
    </dgm:pt>
    <dgm:pt modelId="{FF946862-CF2D-C443-B80B-31DB3D8F7D23}" type="pres">
      <dgm:prSet presAssocID="{5F4A2363-B802-6B46-85E8-0096DE78DE52}" presName="textNode" presStyleLbl="bgShp" presStyleIdx="0" presStyleCnt="1"/>
      <dgm:spPr/>
      <dgm:t>
        <a:bodyPr/>
        <a:lstStyle/>
        <a:p>
          <a:endParaRPr lang="en-US"/>
        </a:p>
      </dgm:t>
    </dgm:pt>
    <dgm:pt modelId="{7EC07FAF-3E3F-4844-9987-32013718AC2A}" type="pres">
      <dgm:prSet presAssocID="{5F4A2363-B802-6B46-85E8-0096DE78DE52}" presName="compChildNode" presStyleCnt="0"/>
      <dgm:spPr/>
    </dgm:pt>
    <dgm:pt modelId="{FFE07433-2284-B146-AB0A-A718F1565119}" type="pres">
      <dgm:prSet presAssocID="{5F4A2363-B802-6B46-85E8-0096DE78DE52}" presName="theInnerList" presStyleCnt="0"/>
      <dgm:spPr/>
    </dgm:pt>
    <dgm:pt modelId="{0D77EAEB-56D9-154D-B5D3-ABBDAD9675F2}" type="pres">
      <dgm:prSet presAssocID="{DE012349-D5E1-204F-9635-9EE518C0B3C3}" presName="childNode" presStyleLbl="node1" presStyleIdx="0" presStyleCnt="5">
        <dgm:presLayoutVars>
          <dgm:bulletEnabled val="1"/>
        </dgm:presLayoutVars>
      </dgm:prSet>
      <dgm:spPr/>
      <dgm:t>
        <a:bodyPr/>
        <a:lstStyle/>
        <a:p>
          <a:endParaRPr lang="en-US"/>
        </a:p>
      </dgm:t>
    </dgm:pt>
    <dgm:pt modelId="{B2966C3A-D6F9-B34B-A5D7-A1B309DDB2C7}" type="pres">
      <dgm:prSet presAssocID="{DE012349-D5E1-204F-9635-9EE518C0B3C3}" presName="aSpace2" presStyleCnt="0"/>
      <dgm:spPr/>
    </dgm:pt>
    <dgm:pt modelId="{A100A236-7603-5941-95D1-06ABA1DCAFA2}" type="pres">
      <dgm:prSet presAssocID="{D17A2948-5FD0-A54E-9B1E-759C26D5C2E9}" presName="childNode" presStyleLbl="node1" presStyleIdx="1" presStyleCnt="5">
        <dgm:presLayoutVars>
          <dgm:bulletEnabled val="1"/>
        </dgm:presLayoutVars>
      </dgm:prSet>
      <dgm:spPr/>
      <dgm:t>
        <a:bodyPr/>
        <a:lstStyle/>
        <a:p>
          <a:endParaRPr lang="en-US"/>
        </a:p>
      </dgm:t>
    </dgm:pt>
    <dgm:pt modelId="{D503CEFC-8FD9-5A4F-AEEE-03E9C9CBD7D9}" type="pres">
      <dgm:prSet presAssocID="{D17A2948-5FD0-A54E-9B1E-759C26D5C2E9}" presName="aSpace2" presStyleCnt="0"/>
      <dgm:spPr/>
    </dgm:pt>
    <dgm:pt modelId="{3676C6CD-E265-564C-A811-32E92C51C22E}" type="pres">
      <dgm:prSet presAssocID="{EFD85B5C-69B2-6C43-BE53-E27AFD30BD39}" presName="childNode" presStyleLbl="node1" presStyleIdx="2" presStyleCnt="5">
        <dgm:presLayoutVars>
          <dgm:bulletEnabled val="1"/>
        </dgm:presLayoutVars>
      </dgm:prSet>
      <dgm:spPr/>
      <dgm:t>
        <a:bodyPr/>
        <a:lstStyle/>
        <a:p>
          <a:endParaRPr lang="en-US"/>
        </a:p>
      </dgm:t>
    </dgm:pt>
    <dgm:pt modelId="{2056D147-807C-7C45-B7E4-B5D08F7DF9C2}" type="pres">
      <dgm:prSet presAssocID="{EFD85B5C-69B2-6C43-BE53-E27AFD30BD39}" presName="aSpace2" presStyleCnt="0"/>
      <dgm:spPr/>
    </dgm:pt>
    <dgm:pt modelId="{59A2D5FE-647C-AF42-970C-99CA0DA62219}" type="pres">
      <dgm:prSet presAssocID="{AA53CE32-A63F-5741-8E42-F26CB43AB58D}" presName="childNode" presStyleLbl="node1" presStyleIdx="3" presStyleCnt="5">
        <dgm:presLayoutVars>
          <dgm:bulletEnabled val="1"/>
        </dgm:presLayoutVars>
      </dgm:prSet>
      <dgm:spPr/>
      <dgm:t>
        <a:bodyPr/>
        <a:lstStyle/>
        <a:p>
          <a:endParaRPr lang="en-US"/>
        </a:p>
      </dgm:t>
    </dgm:pt>
    <dgm:pt modelId="{A8E61F0A-0543-7F4A-832E-501B803721A8}" type="pres">
      <dgm:prSet presAssocID="{AA53CE32-A63F-5741-8E42-F26CB43AB58D}" presName="aSpace2" presStyleCnt="0"/>
      <dgm:spPr/>
    </dgm:pt>
    <dgm:pt modelId="{CA7FD8C5-A9BF-3749-9F2B-70E062B0CA5A}" type="pres">
      <dgm:prSet presAssocID="{3594BCB7-D54A-884E-98C8-99B9DBB08B50}" presName="childNode" presStyleLbl="node1" presStyleIdx="4" presStyleCnt="5">
        <dgm:presLayoutVars>
          <dgm:bulletEnabled val="1"/>
        </dgm:presLayoutVars>
      </dgm:prSet>
      <dgm:spPr/>
      <dgm:t>
        <a:bodyPr/>
        <a:lstStyle/>
        <a:p>
          <a:endParaRPr lang="en-US"/>
        </a:p>
      </dgm:t>
    </dgm:pt>
  </dgm:ptLst>
  <dgm:cxnLst>
    <dgm:cxn modelId="{56B2FADB-4548-3E4E-A5D2-8F1CE1F164B7}" type="presOf" srcId="{AA53CE32-A63F-5741-8E42-F26CB43AB58D}" destId="{59A2D5FE-647C-AF42-970C-99CA0DA62219}" srcOrd="0" destOrd="0" presId="urn:microsoft.com/office/officeart/2005/8/layout/lProcess2"/>
    <dgm:cxn modelId="{748C8348-D81E-1E40-9651-6ED6DB5D9B64}" type="presOf" srcId="{EFD85B5C-69B2-6C43-BE53-E27AFD30BD39}" destId="{3676C6CD-E265-564C-A811-32E92C51C22E}" srcOrd="0" destOrd="0" presId="urn:microsoft.com/office/officeart/2005/8/layout/lProcess2"/>
    <dgm:cxn modelId="{DDDD4375-50B7-D448-BF32-05764B0C4302}" srcId="{5F4A2363-B802-6B46-85E8-0096DE78DE52}" destId="{D17A2948-5FD0-A54E-9B1E-759C26D5C2E9}" srcOrd="1" destOrd="0" parTransId="{A6BCC49E-7483-FD47-8D9B-0C53BB59D4F3}" sibTransId="{276E7CEA-4027-9F4F-98B6-9C0BEEEA5724}"/>
    <dgm:cxn modelId="{CB4468E5-EF5A-0742-B5BB-C695BDCD8B15}" srcId="{9F071DB9-6780-4144-B656-6D7ADEB38642}" destId="{5F4A2363-B802-6B46-85E8-0096DE78DE52}" srcOrd="0" destOrd="0" parTransId="{76173810-6CFE-9349-991D-F049CBB9786B}" sibTransId="{E1D8E10D-B85F-B340-BEF3-134891455FAD}"/>
    <dgm:cxn modelId="{84BFFC7A-E711-4F41-8DEC-1CAA8FE757EF}" srcId="{5F4A2363-B802-6B46-85E8-0096DE78DE52}" destId="{DE012349-D5E1-204F-9635-9EE518C0B3C3}" srcOrd="0" destOrd="0" parTransId="{2E5AC47C-8DEF-E546-998B-7B058D87B298}" sibTransId="{EFCBC898-1470-784F-BB43-70B2DF7A548A}"/>
    <dgm:cxn modelId="{30F690DE-92F3-E940-BDF7-F753D92F31D8}" type="presOf" srcId="{DE012349-D5E1-204F-9635-9EE518C0B3C3}" destId="{0D77EAEB-56D9-154D-B5D3-ABBDAD9675F2}" srcOrd="0" destOrd="0" presId="urn:microsoft.com/office/officeart/2005/8/layout/lProcess2"/>
    <dgm:cxn modelId="{61EA4557-CD9B-E645-8108-18343449599D}" type="presOf" srcId="{5F4A2363-B802-6B46-85E8-0096DE78DE52}" destId="{FF946862-CF2D-C443-B80B-31DB3D8F7D23}" srcOrd="1" destOrd="0" presId="urn:microsoft.com/office/officeart/2005/8/layout/lProcess2"/>
    <dgm:cxn modelId="{778CD1C0-49E1-6642-815C-C243B7AD0921}" srcId="{5F4A2363-B802-6B46-85E8-0096DE78DE52}" destId="{AA53CE32-A63F-5741-8E42-F26CB43AB58D}" srcOrd="3" destOrd="0" parTransId="{C66BB966-BEF6-E342-8671-193BDFC5E478}" sibTransId="{17BCA70E-2A38-EF4C-9777-AFC1FB4A4E10}"/>
    <dgm:cxn modelId="{81B3A2C5-03E6-984C-80FA-72516E61203F}" srcId="{5F4A2363-B802-6B46-85E8-0096DE78DE52}" destId="{EFD85B5C-69B2-6C43-BE53-E27AFD30BD39}" srcOrd="2" destOrd="0" parTransId="{B393A4C9-10B6-D347-A7C6-50B6770C45B5}" sibTransId="{D1CFCA4F-BA53-CB43-8E49-B802480AB08E}"/>
    <dgm:cxn modelId="{FDB13C86-66BC-AC43-8477-701B5A8B9312}" type="presOf" srcId="{5F4A2363-B802-6B46-85E8-0096DE78DE52}" destId="{0D40A4F1-E5CB-1341-A3DD-975E209A2065}" srcOrd="0" destOrd="0" presId="urn:microsoft.com/office/officeart/2005/8/layout/lProcess2"/>
    <dgm:cxn modelId="{7A0527CE-8922-074C-8350-FD8424E04CE1}" type="presOf" srcId="{9F071DB9-6780-4144-B656-6D7ADEB38642}" destId="{63DB5F7A-12AF-D04C-A518-4198DF991254}" srcOrd="0" destOrd="0" presId="urn:microsoft.com/office/officeart/2005/8/layout/lProcess2"/>
    <dgm:cxn modelId="{92812721-A501-6C4C-9A7F-9266EBD8AA49}" type="presOf" srcId="{3594BCB7-D54A-884E-98C8-99B9DBB08B50}" destId="{CA7FD8C5-A9BF-3749-9F2B-70E062B0CA5A}" srcOrd="0" destOrd="0" presId="urn:microsoft.com/office/officeart/2005/8/layout/lProcess2"/>
    <dgm:cxn modelId="{DC168FBA-76F4-484A-AA84-A6D01149E5C0}" srcId="{5F4A2363-B802-6B46-85E8-0096DE78DE52}" destId="{3594BCB7-D54A-884E-98C8-99B9DBB08B50}" srcOrd="4" destOrd="0" parTransId="{53027ED7-62F4-9D46-A6B0-FB9749BA8795}" sibTransId="{03450CF3-89D3-2E4A-B632-D450A9B64A42}"/>
    <dgm:cxn modelId="{985DFD60-45F5-BF43-801B-BB727CAE0167}" type="presOf" srcId="{D17A2948-5FD0-A54E-9B1E-759C26D5C2E9}" destId="{A100A236-7603-5941-95D1-06ABA1DCAFA2}" srcOrd="0" destOrd="0" presId="urn:microsoft.com/office/officeart/2005/8/layout/lProcess2"/>
    <dgm:cxn modelId="{AB7C76CA-23FC-8943-B14A-4CD27223C104}" type="presParOf" srcId="{63DB5F7A-12AF-D04C-A518-4198DF991254}" destId="{E20B0C32-3CDA-AA4D-94DA-433B99A0D5AA}" srcOrd="0" destOrd="0" presId="urn:microsoft.com/office/officeart/2005/8/layout/lProcess2"/>
    <dgm:cxn modelId="{FFC90493-8ED1-3A47-B70A-4A3DBB12572D}" type="presParOf" srcId="{E20B0C32-3CDA-AA4D-94DA-433B99A0D5AA}" destId="{0D40A4F1-E5CB-1341-A3DD-975E209A2065}" srcOrd="0" destOrd="0" presId="urn:microsoft.com/office/officeart/2005/8/layout/lProcess2"/>
    <dgm:cxn modelId="{4B68F820-9097-4045-BA8C-39D0FC26BF52}" type="presParOf" srcId="{E20B0C32-3CDA-AA4D-94DA-433B99A0D5AA}" destId="{FF946862-CF2D-C443-B80B-31DB3D8F7D23}" srcOrd="1" destOrd="0" presId="urn:microsoft.com/office/officeart/2005/8/layout/lProcess2"/>
    <dgm:cxn modelId="{409C7288-EFA1-6C46-83C5-7481AF50DD5B}" type="presParOf" srcId="{E20B0C32-3CDA-AA4D-94DA-433B99A0D5AA}" destId="{7EC07FAF-3E3F-4844-9987-32013718AC2A}" srcOrd="2" destOrd="0" presId="urn:microsoft.com/office/officeart/2005/8/layout/lProcess2"/>
    <dgm:cxn modelId="{35C2F91A-968F-C644-92A2-3BE6959AF768}" type="presParOf" srcId="{7EC07FAF-3E3F-4844-9987-32013718AC2A}" destId="{FFE07433-2284-B146-AB0A-A718F1565119}" srcOrd="0" destOrd="0" presId="urn:microsoft.com/office/officeart/2005/8/layout/lProcess2"/>
    <dgm:cxn modelId="{50E97D79-5C7E-5E40-8701-46127F7856F2}" type="presParOf" srcId="{FFE07433-2284-B146-AB0A-A718F1565119}" destId="{0D77EAEB-56D9-154D-B5D3-ABBDAD9675F2}" srcOrd="0" destOrd="0" presId="urn:microsoft.com/office/officeart/2005/8/layout/lProcess2"/>
    <dgm:cxn modelId="{EE7D7ED9-E369-E349-A22E-FC89882869E1}" type="presParOf" srcId="{FFE07433-2284-B146-AB0A-A718F1565119}" destId="{B2966C3A-D6F9-B34B-A5D7-A1B309DDB2C7}" srcOrd="1" destOrd="0" presId="urn:microsoft.com/office/officeart/2005/8/layout/lProcess2"/>
    <dgm:cxn modelId="{0D0D6CC1-BF06-2F4B-BCAD-2AC8C7791A55}" type="presParOf" srcId="{FFE07433-2284-B146-AB0A-A718F1565119}" destId="{A100A236-7603-5941-95D1-06ABA1DCAFA2}" srcOrd="2" destOrd="0" presId="urn:microsoft.com/office/officeart/2005/8/layout/lProcess2"/>
    <dgm:cxn modelId="{ECC6A0A2-6416-4643-B3B1-E4D3449FFE4E}" type="presParOf" srcId="{FFE07433-2284-B146-AB0A-A718F1565119}" destId="{D503CEFC-8FD9-5A4F-AEEE-03E9C9CBD7D9}" srcOrd="3" destOrd="0" presId="urn:microsoft.com/office/officeart/2005/8/layout/lProcess2"/>
    <dgm:cxn modelId="{DE378BBB-8E38-7F4A-8366-DC6A573B6B61}" type="presParOf" srcId="{FFE07433-2284-B146-AB0A-A718F1565119}" destId="{3676C6CD-E265-564C-A811-32E92C51C22E}" srcOrd="4" destOrd="0" presId="urn:microsoft.com/office/officeart/2005/8/layout/lProcess2"/>
    <dgm:cxn modelId="{306C5D62-FDFE-0D47-82CB-1D9B965F8188}" type="presParOf" srcId="{FFE07433-2284-B146-AB0A-A718F1565119}" destId="{2056D147-807C-7C45-B7E4-B5D08F7DF9C2}" srcOrd="5" destOrd="0" presId="urn:microsoft.com/office/officeart/2005/8/layout/lProcess2"/>
    <dgm:cxn modelId="{9863C4BB-3F5A-0845-B4EB-B3CFA98127E5}" type="presParOf" srcId="{FFE07433-2284-B146-AB0A-A718F1565119}" destId="{59A2D5FE-647C-AF42-970C-99CA0DA62219}" srcOrd="6" destOrd="0" presId="urn:microsoft.com/office/officeart/2005/8/layout/lProcess2"/>
    <dgm:cxn modelId="{5D90FFEA-076D-324D-B4D2-E592EEF82D86}" type="presParOf" srcId="{FFE07433-2284-B146-AB0A-A718F1565119}" destId="{A8E61F0A-0543-7F4A-832E-501B803721A8}" srcOrd="7" destOrd="0" presId="urn:microsoft.com/office/officeart/2005/8/layout/lProcess2"/>
    <dgm:cxn modelId="{AFC1A80F-D06B-7E40-9F6E-2999EE0B5D57}" type="presParOf" srcId="{FFE07433-2284-B146-AB0A-A718F1565119}" destId="{CA7FD8C5-A9BF-3749-9F2B-70E062B0CA5A}" srcOrd="8" destOrd="0" presId="urn:microsoft.com/office/officeart/2005/8/layout/lProcess2"/>
  </dgm:cxnLst>
  <dgm:bg>
    <a:solidFill>
      <a:srgbClr val="FFFFFF"/>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071DB9-6780-4144-B656-6D7ADEB38642}" type="doc">
      <dgm:prSet loTypeId="urn:microsoft.com/office/officeart/2005/8/layout/lProcess2" loCatId="" qsTypeId="urn:microsoft.com/office/officeart/2005/8/quickstyle/simple4" qsCatId="simple" csTypeId="urn:microsoft.com/office/officeart/2005/8/colors/accent1_2" csCatId="accent1" phldr="1"/>
      <dgm:spPr/>
      <dgm:t>
        <a:bodyPr/>
        <a:lstStyle/>
        <a:p>
          <a:endParaRPr lang="en-US"/>
        </a:p>
      </dgm:t>
    </dgm:pt>
    <dgm:pt modelId="{5F4A2363-B802-6B46-85E8-0096DE78DE52}">
      <dgm:prSet phldrT="[Text]"/>
      <dgm:spPr>
        <a:blipFill rotWithShape="0">
          <a:blip xmlns:r="http://schemas.openxmlformats.org/officeDocument/2006/relationships" r:embed="rId1"/>
          <a:tile tx="0" ty="0" sx="100000" sy="100000" flip="y" algn="tl"/>
        </a:blipFill>
      </dgm:spPr>
      <dgm:t>
        <a:bodyPr/>
        <a:lstStyle/>
        <a:p>
          <a:r>
            <a:rPr lang="zh-CN" altLang="en-US" dirty="0">
              <a:solidFill>
                <a:schemeClr val="accent6">
                  <a:lumMod val="50000"/>
                </a:schemeClr>
              </a:solidFill>
            </a:rPr>
            <a:t>客户端</a:t>
          </a:r>
        </a:p>
      </dgm:t>
    </dgm:pt>
    <dgm:pt modelId="{76173810-6CFE-9349-991D-F049CBB9786B}" type="parTrans" cxnId="{CB4468E5-EF5A-0742-B5BB-C695BDCD8B15}">
      <dgm:prSet/>
      <dgm:spPr/>
      <dgm:t>
        <a:bodyPr/>
        <a:lstStyle/>
        <a:p>
          <a:endParaRPr lang="en-US"/>
        </a:p>
      </dgm:t>
    </dgm:pt>
    <dgm:pt modelId="{E1D8E10D-B85F-B340-BEF3-134891455FAD}" type="sibTrans" cxnId="{CB4468E5-EF5A-0742-B5BB-C695BDCD8B15}">
      <dgm:prSet/>
      <dgm:spPr/>
      <dgm:t>
        <a:bodyPr/>
        <a:lstStyle/>
        <a:p>
          <a:endParaRPr lang="en-US"/>
        </a:p>
      </dgm:t>
    </dgm:pt>
    <dgm:pt modelId="{DE012349-D5E1-204F-9635-9EE518C0B3C3}">
      <dgm:prSet phldrT="[Text]"/>
      <dgm:spPr/>
      <dgm:t>
        <a:bodyPr/>
        <a:lstStyle/>
        <a:p>
          <a:r>
            <a:rPr lang="zh-CN" altLang="en-US" dirty="0"/>
            <a:t>手机</a:t>
          </a:r>
          <a:r>
            <a:rPr lang="en-US" altLang="zh-CN" dirty="0"/>
            <a:t>App</a:t>
          </a:r>
          <a:endParaRPr lang="zh-CN" altLang="en-US" dirty="0"/>
        </a:p>
      </dgm:t>
    </dgm:pt>
    <dgm:pt modelId="{2E5AC47C-8DEF-E546-998B-7B058D87B298}" type="parTrans" cxnId="{84BFFC7A-E711-4F41-8DEC-1CAA8FE757EF}">
      <dgm:prSet/>
      <dgm:spPr/>
      <dgm:t>
        <a:bodyPr/>
        <a:lstStyle/>
        <a:p>
          <a:endParaRPr lang="en-US"/>
        </a:p>
      </dgm:t>
    </dgm:pt>
    <dgm:pt modelId="{EFCBC898-1470-784F-BB43-70B2DF7A548A}" type="sibTrans" cxnId="{84BFFC7A-E711-4F41-8DEC-1CAA8FE757EF}">
      <dgm:prSet/>
      <dgm:spPr/>
      <dgm:t>
        <a:bodyPr/>
        <a:lstStyle/>
        <a:p>
          <a:endParaRPr lang="en-US"/>
        </a:p>
      </dgm:t>
    </dgm:pt>
    <dgm:pt modelId="{AA53CE32-A63F-5741-8E42-F26CB43AB58D}">
      <dgm:prSet phldrT="[Text]"/>
      <dgm:spPr/>
      <dgm:t>
        <a:bodyPr/>
        <a:lstStyle/>
        <a:p>
          <a:r>
            <a:rPr lang="zh-CN" altLang="en-US" dirty="0"/>
            <a:t>产品统计分析</a:t>
          </a:r>
          <a:endParaRPr lang="en-US" dirty="0"/>
        </a:p>
      </dgm:t>
    </dgm:pt>
    <dgm:pt modelId="{C66BB966-BEF6-E342-8671-193BDFC5E478}" type="parTrans" cxnId="{778CD1C0-49E1-6642-815C-C243B7AD0921}">
      <dgm:prSet/>
      <dgm:spPr/>
      <dgm:t>
        <a:bodyPr/>
        <a:lstStyle/>
        <a:p>
          <a:endParaRPr lang="en-US"/>
        </a:p>
      </dgm:t>
    </dgm:pt>
    <dgm:pt modelId="{17BCA70E-2A38-EF4C-9777-AFC1FB4A4E10}" type="sibTrans" cxnId="{778CD1C0-49E1-6642-815C-C243B7AD0921}">
      <dgm:prSet/>
      <dgm:spPr/>
      <dgm:t>
        <a:bodyPr/>
        <a:lstStyle/>
        <a:p>
          <a:endParaRPr lang="en-US"/>
        </a:p>
      </dgm:t>
    </dgm:pt>
    <dgm:pt modelId="{D17A2948-5FD0-A54E-9B1E-759C26D5C2E9}">
      <dgm:prSet/>
      <dgm:spPr/>
      <dgm:t>
        <a:bodyPr/>
        <a:lstStyle/>
        <a:p>
          <a:r>
            <a:rPr lang="en-US" altLang="zh-CN" dirty="0"/>
            <a:t>Web</a:t>
          </a:r>
          <a:r>
            <a:rPr lang="zh-CN" altLang="en-US" dirty="0"/>
            <a:t>开发</a:t>
          </a:r>
          <a:endParaRPr lang="en-US" dirty="0"/>
        </a:p>
      </dgm:t>
    </dgm:pt>
    <dgm:pt modelId="{A6BCC49E-7483-FD47-8D9B-0C53BB59D4F3}" type="parTrans" cxnId="{DDDD4375-50B7-D448-BF32-05764B0C4302}">
      <dgm:prSet/>
      <dgm:spPr/>
      <dgm:t>
        <a:bodyPr/>
        <a:lstStyle/>
        <a:p>
          <a:endParaRPr lang="en-US"/>
        </a:p>
      </dgm:t>
    </dgm:pt>
    <dgm:pt modelId="{276E7CEA-4027-9F4F-98B6-9C0BEEEA5724}" type="sibTrans" cxnId="{DDDD4375-50B7-D448-BF32-05764B0C4302}">
      <dgm:prSet/>
      <dgm:spPr/>
      <dgm:t>
        <a:bodyPr/>
        <a:lstStyle/>
        <a:p>
          <a:endParaRPr lang="en-US"/>
        </a:p>
      </dgm:t>
    </dgm:pt>
    <dgm:pt modelId="{EFD85B5C-69B2-6C43-BE53-E27AFD30BD39}">
      <dgm:prSet/>
      <dgm:spPr/>
      <dgm:t>
        <a:bodyPr/>
        <a:lstStyle/>
        <a:p>
          <a:r>
            <a:rPr lang="zh-CN" altLang="en-US" dirty="0"/>
            <a:t>产品管理</a:t>
          </a:r>
          <a:endParaRPr lang="en-US" dirty="0"/>
        </a:p>
      </dgm:t>
    </dgm:pt>
    <dgm:pt modelId="{B393A4C9-10B6-D347-A7C6-50B6770C45B5}" type="parTrans" cxnId="{81B3A2C5-03E6-984C-80FA-72516E61203F}">
      <dgm:prSet/>
      <dgm:spPr/>
      <dgm:t>
        <a:bodyPr/>
        <a:lstStyle/>
        <a:p>
          <a:endParaRPr lang="en-US"/>
        </a:p>
      </dgm:t>
    </dgm:pt>
    <dgm:pt modelId="{D1CFCA4F-BA53-CB43-8E49-B802480AB08E}" type="sibTrans" cxnId="{81B3A2C5-03E6-984C-80FA-72516E61203F}">
      <dgm:prSet/>
      <dgm:spPr/>
      <dgm:t>
        <a:bodyPr/>
        <a:lstStyle/>
        <a:p>
          <a:endParaRPr lang="en-US"/>
        </a:p>
      </dgm:t>
    </dgm:pt>
    <dgm:pt modelId="{3594BCB7-D54A-884E-98C8-99B9DBB08B50}">
      <dgm:prSet/>
      <dgm:spPr/>
      <dgm:t>
        <a:bodyPr/>
        <a:lstStyle/>
        <a:p>
          <a:r>
            <a:rPr lang="zh-CN" altLang="en-US" dirty="0"/>
            <a:t>数据服务</a:t>
          </a:r>
          <a:endParaRPr lang="en-US" dirty="0"/>
        </a:p>
      </dgm:t>
    </dgm:pt>
    <dgm:pt modelId="{53027ED7-62F4-9D46-A6B0-FB9749BA8795}" type="parTrans" cxnId="{DC168FBA-76F4-484A-AA84-A6D01149E5C0}">
      <dgm:prSet/>
      <dgm:spPr/>
      <dgm:t>
        <a:bodyPr/>
        <a:lstStyle/>
        <a:p>
          <a:endParaRPr lang="en-US"/>
        </a:p>
      </dgm:t>
    </dgm:pt>
    <dgm:pt modelId="{03450CF3-89D3-2E4A-B632-D450A9B64A42}" type="sibTrans" cxnId="{DC168FBA-76F4-484A-AA84-A6D01149E5C0}">
      <dgm:prSet/>
      <dgm:spPr/>
      <dgm:t>
        <a:bodyPr/>
        <a:lstStyle/>
        <a:p>
          <a:endParaRPr lang="en-US"/>
        </a:p>
      </dgm:t>
    </dgm:pt>
    <dgm:pt modelId="{63DB5F7A-12AF-D04C-A518-4198DF991254}" type="pres">
      <dgm:prSet presAssocID="{9F071DB9-6780-4144-B656-6D7ADEB38642}" presName="theList" presStyleCnt="0">
        <dgm:presLayoutVars>
          <dgm:dir/>
          <dgm:animLvl val="lvl"/>
          <dgm:resizeHandles val="exact"/>
        </dgm:presLayoutVars>
      </dgm:prSet>
      <dgm:spPr/>
      <dgm:t>
        <a:bodyPr/>
        <a:lstStyle/>
        <a:p>
          <a:endParaRPr lang="en-US"/>
        </a:p>
      </dgm:t>
    </dgm:pt>
    <dgm:pt modelId="{E20B0C32-3CDA-AA4D-94DA-433B99A0D5AA}" type="pres">
      <dgm:prSet presAssocID="{5F4A2363-B802-6B46-85E8-0096DE78DE52}" presName="compNode" presStyleCnt="0"/>
      <dgm:spPr/>
    </dgm:pt>
    <dgm:pt modelId="{0D40A4F1-E5CB-1341-A3DD-975E209A2065}" type="pres">
      <dgm:prSet presAssocID="{5F4A2363-B802-6B46-85E8-0096DE78DE52}" presName="aNode" presStyleLbl="bgShp" presStyleIdx="0" presStyleCnt="1"/>
      <dgm:spPr/>
      <dgm:t>
        <a:bodyPr/>
        <a:lstStyle/>
        <a:p>
          <a:endParaRPr lang="en-US"/>
        </a:p>
      </dgm:t>
    </dgm:pt>
    <dgm:pt modelId="{FF946862-CF2D-C443-B80B-31DB3D8F7D23}" type="pres">
      <dgm:prSet presAssocID="{5F4A2363-B802-6B46-85E8-0096DE78DE52}" presName="textNode" presStyleLbl="bgShp" presStyleIdx="0" presStyleCnt="1"/>
      <dgm:spPr/>
      <dgm:t>
        <a:bodyPr/>
        <a:lstStyle/>
        <a:p>
          <a:endParaRPr lang="en-US"/>
        </a:p>
      </dgm:t>
    </dgm:pt>
    <dgm:pt modelId="{7EC07FAF-3E3F-4844-9987-32013718AC2A}" type="pres">
      <dgm:prSet presAssocID="{5F4A2363-B802-6B46-85E8-0096DE78DE52}" presName="compChildNode" presStyleCnt="0"/>
      <dgm:spPr/>
    </dgm:pt>
    <dgm:pt modelId="{FFE07433-2284-B146-AB0A-A718F1565119}" type="pres">
      <dgm:prSet presAssocID="{5F4A2363-B802-6B46-85E8-0096DE78DE52}" presName="theInnerList" presStyleCnt="0"/>
      <dgm:spPr/>
    </dgm:pt>
    <dgm:pt modelId="{0D77EAEB-56D9-154D-B5D3-ABBDAD9675F2}" type="pres">
      <dgm:prSet presAssocID="{DE012349-D5E1-204F-9635-9EE518C0B3C3}" presName="childNode" presStyleLbl="node1" presStyleIdx="0" presStyleCnt="5">
        <dgm:presLayoutVars>
          <dgm:bulletEnabled val="1"/>
        </dgm:presLayoutVars>
      </dgm:prSet>
      <dgm:spPr/>
      <dgm:t>
        <a:bodyPr/>
        <a:lstStyle/>
        <a:p>
          <a:endParaRPr lang="en-US"/>
        </a:p>
      </dgm:t>
    </dgm:pt>
    <dgm:pt modelId="{B2966C3A-D6F9-B34B-A5D7-A1B309DDB2C7}" type="pres">
      <dgm:prSet presAssocID="{DE012349-D5E1-204F-9635-9EE518C0B3C3}" presName="aSpace2" presStyleCnt="0"/>
      <dgm:spPr/>
    </dgm:pt>
    <dgm:pt modelId="{A100A236-7603-5941-95D1-06ABA1DCAFA2}" type="pres">
      <dgm:prSet presAssocID="{D17A2948-5FD0-A54E-9B1E-759C26D5C2E9}" presName="childNode" presStyleLbl="node1" presStyleIdx="1" presStyleCnt="5">
        <dgm:presLayoutVars>
          <dgm:bulletEnabled val="1"/>
        </dgm:presLayoutVars>
      </dgm:prSet>
      <dgm:spPr/>
      <dgm:t>
        <a:bodyPr/>
        <a:lstStyle/>
        <a:p>
          <a:endParaRPr lang="en-US"/>
        </a:p>
      </dgm:t>
    </dgm:pt>
    <dgm:pt modelId="{D503CEFC-8FD9-5A4F-AEEE-03E9C9CBD7D9}" type="pres">
      <dgm:prSet presAssocID="{D17A2948-5FD0-A54E-9B1E-759C26D5C2E9}" presName="aSpace2" presStyleCnt="0"/>
      <dgm:spPr/>
    </dgm:pt>
    <dgm:pt modelId="{3676C6CD-E265-564C-A811-32E92C51C22E}" type="pres">
      <dgm:prSet presAssocID="{EFD85B5C-69B2-6C43-BE53-E27AFD30BD39}" presName="childNode" presStyleLbl="node1" presStyleIdx="2" presStyleCnt="5">
        <dgm:presLayoutVars>
          <dgm:bulletEnabled val="1"/>
        </dgm:presLayoutVars>
      </dgm:prSet>
      <dgm:spPr/>
      <dgm:t>
        <a:bodyPr/>
        <a:lstStyle/>
        <a:p>
          <a:endParaRPr lang="en-US"/>
        </a:p>
      </dgm:t>
    </dgm:pt>
    <dgm:pt modelId="{2056D147-807C-7C45-B7E4-B5D08F7DF9C2}" type="pres">
      <dgm:prSet presAssocID="{EFD85B5C-69B2-6C43-BE53-E27AFD30BD39}" presName="aSpace2" presStyleCnt="0"/>
      <dgm:spPr/>
    </dgm:pt>
    <dgm:pt modelId="{59A2D5FE-647C-AF42-970C-99CA0DA62219}" type="pres">
      <dgm:prSet presAssocID="{AA53CE32-A63F-5741-8E42-F26CB43AB58D}" presName="childNode" presStyleLbl="node1" presStyleIdx="3" presStyleCnt="5">
        <dgm:presLayoutVars>
          <dgm:bulletEnabled val="1"/>
        </dgm:presLayoutVars>
      </dgm:prSet>
      <dgm:spPr/>
      <dgm:t>
        <a:bodyPr/>
        <a:lstStyle/>
        <a:p>
          <a:endParaRPr lang="en-US"/>
        </a:p>
      </dgm:t>
    </dgm:pt>
    <dgm:pt modelId="{A8E61F0A-0543-7F4A-832E-501B803721A8}" type="pres">
      <dgm:prSet presAssocID="{AA53CE32-A63F-5741-8E42-F26CB43AB58D}" presName="aSpace2" presStyleCnt="0"/>
      <dgm:spPr/>
    </dgm:pt>
    <dgm:pt modelId="{CA7FD8C5-A9BF-3749-9F2B-70E062B0CA5A}" type="pres">
      <dgm:prSet presAssocID="{3594BCB7-D54A-884E-98C8-99B9DBB08B50}" presName="childNode" presStyleLbl="node1" presStyleIdx="4" presStyleCnt="5">
        <dgm:presLayoutVars>
          <dgm:bulletEnabled val="1"/>
        </dgm:presLayoutVars>
      </dgm:prSet>
      <dgm:spPr/>
      <dgm:t>
        <a:bodyPr/>
        <a:lstStyle/>
        <a:p>
          <a:endParaRPr lang="en-US"/>
        </a:p>
      </dgm:t>
    </dgm:pt>
  </dgm:ptLst>
  <dgm:cxnLst>
    <dgm:cxn modelId="{067E7D36-968C-454F-BB34-551CCDA49D96}" type="presOf" srcId="{5F4A2363-B802-6B46-85E8-0096DE78DE52}" destId="{FF946862-CF2D-C443-B80B-31DB3D8F7D23}" srcOrd="1" destOrd="0" presId="urn:microsoft.com/office/officeart/2005/8/layout/lProcess2"/>
    <dgm:cxn modelId="{CB4468E5-EF5A-0742-B5BB-C695BDCD8B15}" srcId="{9F071DB9-6780-4144-B656-6D7ADEB38642}" destId="{5F4A2363-B802-6B46-85E8-0096DE78DE52}" srcOrd="0" destOrd="0" parTransId="{76173810-6CFE-9349-991D-F049CBB9786B}" sibTransId="{E1D8E10D-B85F-B340-BEF3-134891455FAD}"/>
    <dgm:cxn modelId="{DDDD4375-50B7-D448-BF32-05764B0C4302}" srcId="{5F4A2363-B802-6B46-85E8-0096DE78DE52}" destId="{D17A2948-5FD0-A54E-9B1E-759C26D5C2E9}" srcOrd="1" destOrd="0" parTransId="{A6BCC49E-7483-FD47-8D9B-0C53BB59D4F3}" sibTransId="{276E7CEA-4027-9F4F-98B6-9C0BEEEA5724}"/>
    <dgm:cxn modelId="{A71D0B03-532D-7E42-A4AD-12964BB08D91}" type="presOf" srcId="{EFD85B5C-69B2-6C43-BE53-E27AFD30BD39}" destId="{3676C6CD-E265-564C-A811-32E92C51C22E}" srcOrd="0" destOrd="0" presId="urn:microsoft.com/office/officeart/2005/8/layout/lProcess2"/>
    <dgm:cxn modelId="{84BFFC7A-E711-4F41-8DEC-1CAA8FE757EF}" srcId="{5F4A2363-B802-6B46-85E8-0096DE78DE52}" destId="{DE012349-D5E1-204F-9635-9EE518C0B3C3}" srcOrd="0" destOrd="0" parTransId="{2E5AC47C-8DEF-E546-998B-7B058D87B298}" sibTransId="{EFCBC898-1470-784F-BB43-70B2DF7A548A}"/>
    <dgm:cxn modelId="{FC0FDA59-FDEF-5144-B0B0-21359FC8E67D}" type="presOf" srcId="{9F071DB9-6780-4144-B656-6D7ADEB38642}" destId="{63DB5F7A-12AF-D04C-A518-4198DF991254}" srcOrd="0" destOrd="0" presId="urn:microsoft.com/office/officeart/2005/8/layout/lProcess2"/>
    <dgm:cxn modelId="{8D5BAC8F-7341-EC4E-968C-EF5FB4176727}" type="presOf" srcId="{AA53CE32-A63F-5741-8E42-F26CB43AB58D}" destId="{59A2D5FE-647C-AF42-970C-99CA0DA62219}" srcOrd="0" destOrd="0" presId="urn:microsoft.com/office/officeart/2005/8/layout/lProcess2"/>
    <dgm:cxn modelId="{8084CFCC-ACF0-474A-B6DB-A6CB96401AF5}" type="presOf" srcId="{DE012349-D5E1-204F-9635-9EE518C0B3C3}" destId="{0D77EAEB-56D9-154D-B5D3-ABBDAD9675F2}" srcOrd="0" destOrd="0" presId="urn:microsoft.com/office/officeart/2005/8/layout/lProcess2"/>
    <dgm:cxn modelId="{778CD1C0-49E1-6642-815C-C243B7AD0921}" srcId="{5F4A2363-B802-6B46-85E8-0096DE78DE52}" destId="{AA53CE32-A63F-5741-8E42-F26CB43AB58D}" srcOrd="3" destOrd="0" parTransId="{C66BB966-BEF6-E342-8671-193BDFC5E478}" sibTransId="{17BCA70E-2A38-EF4C-9777-AFC1FB4A4E10}"/>
    <dgm:cxn modelId="{1A3AC332-8BE3-5542-8B1F-EC04BDB37616}" type="presOf" srcId="{3594BCB7-D54A-884E-98C8-99B9DBB08B50}" destId="{CA7FD8C5-A9BF-3749-9F2B-70E062B0CA5A}" srcOrd="0" destOrd="0" presId="urn:microsoft.com/office/officeart/2005/8/layout/lProcess2"/>
    <dgm:cxn modelId="{81B3A2C5-03E6-984C-80FA-72516E61203F}" srcId="{5F4A2363-B802-6B46-85E8-0096DE78DE52}" destId="{EFD85B5C-69B2-6C43-BE53-E27AFD30BD39}" srcOrd="2" destOrd="0" parTransId="{B393A4C9-10B6-D347-A7C6-50B6770C45B5}" sibTransId="{D1CFCA4F-BA53-CB43-8E49-B802480AB08E}"/>
    <dgm:cxn modelId="{DC168FBA-76F4-484A-AA84-A6D01149E5C0}" srcId="{5F4A2363-B802-6B46-85E8-0096DE78DE52}" destId="{3594BCB7-D54A-884E-98C8-99B9DBB08B50}" srcOrd="4" destOrd="0" parTransId="{53027ED7-62F4-9D46-A6B0-FB9749BA8795}" sibTransId="{03450CF3-89D3-2E4A-B632-D450A9B64A42}"/>
    <dgm:cxn modelId="{5F814448-6424-A44C-B10A-BB6699B3CC8E}" type="presOf" srcId="{D17A2948-5FD0-A54E-9B1E-759C26D5C2E9}" destId="{A100A236-7603-5941-95D1-06ABA1DCAFA2}" srcOrd="0" destOrd="0" presId="urn:microsoft.com/office/officeart/2005/8/layout/lProcess2"/>
    <dgm:cxn modelId="{0F3F57A8-A77C-264E-91AB-ECB15978A8C0}" type="presOf" srcId="{5F4A2363-B802-6B46-85E8-0096DE78DE52}" destId="{0D40A4F1-E5CB-1341-A3DD-975E209A2065}" srcOrd="0" destOrd="0" presId="urn:microsoft.com/office/officeart/2005/8/layout/lProcess2"/>
    <dgm:cxn modelId="{57F768BD-747F-DD42-865C-520CB6A0ADAA}" type="presParOf" srcId="{63DB5F7A-12AF-D04C-A518-4198DF991254}" destId="{E20B0C32-3CDA-AA4D-94DA-433B99A0D5AA}" srcOrd="0" destOrd="0" presId="urn:microsoft.com/office/officeart/2005/8/layout/lProcess2"/>
    <dgm:cxn modelId="{6ACF4BB3-F767-D041-AE8C-3A928F773D6E}" type="presParOf" srcId="{E20B0C32-3CDA-AA4D-94DA-433B99A0D5AA}" destId="{0D40A4F1-E5CB-1341-A3DD-975E209A2065}" srcOrd="0" destOrd="0" presId="urn:microsoft.com/office/officeart/2005/8/layout/lProcess2"/>
    <dgm:cxn modelId="{A7CCC848-A783-0F41-8F1B-BA0F177B863A}" type="presParOf" srcId="{E20B0C32-3CDA-AA4D-94DA-433B99A0D5AA}" destId="{FF946862-CF2D-C443-B80B-31DB3D8F7D23}" srcOrd="1" destOrd="0" presId="urn:microsoft.com/office/officeart/2005/8/layout/lProcess2"/>
    <dgm:cxn modelId="{6FAD872E-CED3-5040-B5EA-DDA68B8FCFF8}" type="presParOf" srcId="{E20B0C32-3CDA-AA4D-94DA-433B99A0D5AA}" destId="{7EC07FAF-3E3F-4844-9987-32013718AC2A}" srcOrd="2" destOrd="0" presId="urn:microsoft.com/office/officeart/2005/8/layout/lProcess2"/>
    <dgm:cxn modelId="{A6CF66E2-6E46-1749-85AB-6BF681F3E1C7}" type="presParOf" srcId="{7EC07FAF-3E3F-4844-9987-32013718AC2A}" destId="{FFE07433-2284-B146-AB0A-A718F1565119}" srcOrd="0" destOrd="0" presId="urn:microsoft.com/office/officeart/2005/8/layout/lProcess2"/>
    <dgm:cxn modelId="{E58CBC38-9A4E-1B4E-A5A9-FEEF35B09AEA}" type="presParOf" srcId="{FFE07433-2284-B146-AB0A-A718F1565119}" destId="{0D77EAEB-56D9-154D-B5D3-ABBDAD9675F2}" srcOrd="0" destOrd="0" presId="urn:microsoft.com/office/officeart/2005/8/layout/lProcess2"/>
    <dgm:cxn modelId="{81B7536E-C024-6F48-8FFC-FBCCFFCE733F}" type="presParOf" srcId="{FFE07433-2284-B146-AB0A-A718F1565119}" destId="{B2966C3A-D6F9-B34B-A5D7-A1B309DDB2C7}" srcOrd="1" destOrd="0" presId="urn:microsoft.com/office/officeart/2005/8/layout/lProcess2"/>
    <dgm:cxn modelId="{3FF8C30C-2BE7-1244-BF6F-639A2260B9BA}" type="presParOf" srcId="{FFE07433-2284-B146-AB0A-A718F1565119}" destId="{A100A236-7603-5941-95D1-06ABA1DCAFA2}" srcOrd="2" destOrd="0" presId="urn:microsoft.com/office/officeart/2005/8/layout/lProcess2"/>
    <dgm:cxn modelId="{BA43222C-1BD4-A942-912D-65FD6EF24EBB}" type="presParOf" srcId="{FFE07433-2284-B146-AB0A-A718F1565119}" destId="{D503CEFC-8FD9-5A4F-AEEE-03E9C9CBD7D9}" srcOrd="3" destOrd="0" presId="urn:microsoft.com/office/officeart/2005/8/layout/lProcess2"/>
    <dgm:cxn modelId="{25CA9B8B-974E-0C4B-A6A7-45F672AFF6FE}" type="presParOf" srcId="{FFE07433-2284-B146-AB0A-A718F1565119}" destId="{3676C6CD-E265-564C-A811-32E92C51C22E}" srcOrd="4" destOrd="0" presId="urn:microsoft.com/office/officeart/2005/8/layout/lProcess2"/>
    <dgm:cxn modelId="{6C573F46-E801-384A-B99A-3D212C44E6B2}" type="presParOf" srcId="{FFE07433-2284-B146-AB0A-A718F1565119}" destId="{2056D147-807C-7C45-B7E4-B5D08F7DF9C2}" srcOrd="5" destOrd="0" presId="urn:microsoft.com/office/officeart/2005/8/layout/lProcess2"/>
    <dgm:cxn modelId="{F7DFDDD3-EC4B-C945-BE3D-EC1F1208B625}" type="presParOf" srcId="{FFE07433-2284-B146-AB0A-A718F1565119}" destId="{59A2D5FE-647C-AF42-970C-99CA0DA62219}" srcOrd="6" destOrd="0" presId="urn:microsoft.com/office/officeart/2005/8/layout/lProcess2"/>
    <dgm:cxn modelId="{044F9999-BD95-0541-B47B-0F0FEBD01D17}" type="presParOf" srcId="{FFE07433-2284-B146-AB0A-A718F1565119}" destId="{A8E61F0A-0543-7F4A-832E-501B803721A8}" srcOrd="7" destOrd="0" presId="urn:microsoft.com/office/officeart/2005/8/layout/lProcess2"/>
    <dgm:cxn modelId="{9AC11888-3B7A-D844-80C4-9419F446C21F}" type="presParOf" srcId="{FFE07433-2284-B146-AB0A-A718F1565119}" destId="{CA7FD8C5-A9BF-3749-9F2B-70E062B0CA5A}" srcOrd="8" destOrd="0" presId="urn:microsoft.com/office/officeart/2005/8/layout/lProcess2"/>
  </dgm:cxnLst>
  <dgm:bg>
    <a:solidFill>
      <a:srgbClr val="FFFFFF"/>
    </a:solidFill>
  </dgm:bg>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F071DB9-6780-4144-B656-6D7ADEB38642}" type="doc">
      <dgm:prSet loTypeId="urn:microsoft.com/office/officeart/2005/8/layout/lProcess2" loCatId="" qsTypeId="urn:microsoft.com/office/officeart/2005/8/quickstyle/simple4" qsCatId="simple" csTypeId="urn:microsoft.com/office/officeart/2005/8/colors/accent1_2" csCatId="accent1" phldr="1"/>
      <dgm:spPr/>
      <dgm:t>
        <a:bodyPr/>
        <a:lstStyle/>
        <a:p>
          <a:endParaRPr lang="en-US"/>
        </a:p>
      </dgm:t>
    </dgm:pt>
    <dgm:pt modelId="{5F4A2363-B802-6B46-85E8-0096DE78DE52}">
      <dgm:prSet phldrT="[Text]"/>
      <dgm:spPr>
        <a:blipFill rotWithShape="0">
          <a:blip xmlns:r="http://schemas.openxmlformats.org/officeDocument/2006/relationships" r:embed="rId1"/>
          <a:tile tx="0" ty="0" sx="100000" sy="100000" flip="none" algn="tl"/>
        </a:blipFill>
      </dgm:spPr>
      <dgm:t>
        <a:bodyPr/>
        <a:lstStyle/>
        <a:p>
          <a:r>
            <a:rPr lang="zh-CN" altLang="en-US" dirty="0">
              <a:solidFill>
                <a:schemeClr val="accent6">
                  <a:lumMod val="50000"/>
                </a:schemeClr>
              </a:solidFill>
            </a:rPr>
            <a:t>网上</a:t>
          </a:r>
        </a:p>
        <a:p>
          <a:r>
            <a:rPr lang="zh-CN" altLang="en-US" dirty="0">
              <a:solidFill>
                <a:schemeClr val="accent6">
                  <a:lumMod val="50000"/>
                </a:schemeClr>
              </a:solidFill>
            </a:rPr>
            <a:t>交易</a:t>
          </a:r>
        </a:p>
      </dgm:t>
    </dgm:pt>
    <dgm:pt modelId="{76173810-6CFE-9349-991D-F049CBB9786B}" type="parTrans" cxnId="{CB4468E5-EF5A-0742-B5BB-C695BDCD8B15}">
      <dgm:prSet/>
      <dgm:spPr/>
      <dgm:t>
        <a:bodyPr/>
        <a:lstStyle/>
        <a:p>
          <a:endParaRPr lang="en-US"/>
        </a:p>
      </dgm:t>
    </dgm:pt>
    <dgm:pt modelId="{E1D8E10D-B85F-B340-BEF3-134891455FAD}" type="sibTrans" cxnId="{CB4468E5-EF5A-0742-B5BB-C695BDCD8B15}">
      <dgm:prSet/>
      <dgm:spPr/>
      <dgm:t>
        <a:bodyPr/>
        <a:lstStyle/>
        <a:p>
          <a:endParaRPr lang="en-US"/>
        </a:p>
      </dgm:t>
    </dgm:pt>
    <dgm:pt modelId="{DE012349-D5E1-204F-9635-9EE518C0B3C3}">
      <dgm:prSet phldrT="[Text]"/>
      <dgm:spPr/>
      <dgm:t>
        <a:bodyPr/>
        <a:lstStyle/>
        <a:p>
          <a:r>
            <a:rPr lang="zh-CN" altLang="en-US" dirty="0"/>
            <a:t>认购／赎回／基金转换</a:t>
          </a:r>
        </a:p>
      </dgm:t>
    </dgm:pt>
    <dgm:pt modelId="{2E5AC47C-8DEF-E546-998B-7B058D87B298}" type="parTrans" cxnId="{84BFFC7A-E711-4F41-8DEC-1CAA8FE757EF}">
      <dgm:prSet/>
      <dgm:spPr/>
      <dgm:t>
        <a:bodyPr/>
        <a:lstStyle/>
        <a:p>
          <a:endParaRPr lang="en-US"/>
        </a:p>
      </dgm:t>
    </dgm:pt>
    <dgm:pt modelId="{EFCBC898-1470-784F-BB43-70B2DF7A548A}" type="sibTrans" cxnId="{84BFFC7A-E711-4F41-8DEC-1CAA8FE757EF}">
      <dgm:prSet/>
      <dgm:spPr/>
      <dgm:t>
        <a:bodyPr/>
        <a:lstStyle/>
        <a:p>
          <a:endParaRPr lang="en-US"/>
        </a:p>
      </dgm:t>
    </dgm:pt>
    <dgm:pt modelId="{AA53CE32-A63F-5741-8E42-F26CB43AB58D}">
      <dgm:prSet phldrT="[Text]"/>
      <dgm:spPr/>
      <dgm:t>
        <a:bodyPr/>
        <a:lstStyle/>
        <a:p>
          <a:r>
            <a:rPr lang="zh-CN" altLang="en-US" dirty="0"/>
            <a:t>基金展示公告</a:t>
          </a:r>
          <a:endParaRPr lang="en-US" dirty="0"/>
        </a:p>
      </dgm:t>
    </dgm:pt>
    <dgm:pt modelId="{C66BB966-BEF6-E342-8671-193BDFC5E478}" type="parTrans" cxnId="{778CD1C0-49E1-6642-815C-C243B7AD0921}">
      <dgm:prSet/>
      <dgm:spPr/>
      <dgm:t>
        <a:bodyPr/>
        <a:lstStyle/>
        <a:p>
          <a:endParaRPr lang="en-US"/>
        </a:p>
      </dgm:t>
    </dgm:pt>
    <dgm:pt modelId="{17BCA70E-2A38-EF4C-9777-AFC1FB4A4E10}" type="sibTrans" cxnId="{778CD1C0-49E1-6642-815C-C243B7AD0921}">
      <dgm:prSet/>
      <dgm:spPr/>
      <dgm:t>
        <a:bodyPr/>
        <a:lstStyle/>
        <a:p>
          <a:endParaRPr lang="en-US"/>
        </a:p>
      </dgm:t>
    </dgm:pt>
    <dgm:pt modelId="{D17A2948-5FD0-A54E-9B1E-759C26D5C2E9}">
      <dgm:prSet/>
      <dgm:spPr/>
      <dgm:t>
        <a:bodyPr/>
        <a:lstStyle/>
        <a:p>
          <a:r>
            <a:rPr lang="zh-CN" altLang="en-US" dirty="0"/>
            <a:t>批量交易</a:t>
          </a:r>
          <a:endParaRPr lang="en-US" dirty="0"/>
        </a:p>
      </dgm:t>
    </dgm:pt>
    <dgm:pt modelId="{A6BCC49E-7483-FD47-8D9B-0C53BB59D4F3}" type="parTrans" cxnId="{DDDD4375-50B7-D448-BF32-05764B0C4302}">
      <dgm:prSet/>
      <dgm:spPr/>
      <dgm:t>
        <a:bodyPr/>
        <a:lstStyle/>
        <a:p>
          <a:endParaRPr lang="en-US"/>
        </a:p>
      </dgm:t>
    </dgm:pt>
    <dgm:pt modelId="{276E7CEA-4027-9F4F-98B6-9C0BEEEA5724}" type="sibTrans" cxnId="{DDDD4375-50B7-D448-BF32-05764B0C4302}">
      <dgm:prSet/>
      <dgm:spPr/>
      <dgm:t>
        <a:bodyPr/>
        <a:lstStyle/>
        <a:p>
          <a:endParaRPr lang="en-US"/>
        </a:p>
      </dgm:t>
    </dgm:pt>
    <dgm:pt modelId="{EFD85B5C-69B2-6C43-BE53-E27AFD30BD39}">
      <dgm:prSet/>
      <dgm:spPr/>
      <dgm:t>
        <a:bodyPr/>
        <a:lstStyle/>
        <a:p>
          <a:r>
            <a:rPr lang="zh-CN" altLang="en-US" dirty="0"/>
            <a:t>交易搜索器</a:t>
          </a:r>
          <a:endParaRPr lang="en-US" dirty="0"/>
        </a:p>
      </dgm:t>
    </dgm:pt>
    <dgm:pt modelId="{B393A4C9-10B6-D347-A7C6-50B6770C45B5}" type="parTrans" cxnId="{81B3A2C5-03E6-984C-80FA-72516E61203F}">
      <dgm:prSet/>
      <dgm:spPr/>
      <dgm:t>
        <a:bodyPr/>
        <a:lstStyle/>
        <a:p>
          <a:endParaRPr lang="en-US"/>
        </a:p>
      </dgm:t>
    </dgm:pt>
    <dgm:pt modelId="{D1CFCA4F-BA53-CB43-8E49-B802480AB08E}" type="sibTrans" cxnId="{81B3A2C5-03E6-984C-80FA-72516E61203F}">
      <dgm:prSet/>
      <dgm:spPr/>
      <dgm:t>
        <a:bodyPr/>
        <a:lstStyle/>
        <a:p>
          <a:endParaRPr lang="en-US"/>
        </a:p>
      </dgm:t>
    </dgm:pt>
    <dgm:pt modelId="{3594BCB7-D54A-884E-98C8-99B9DBB08B50}">
      <dgm:prSet/>
      <dgm:spPr/>
      <dgm:t>
        <a:bodyPr/>
        <a:lstStyle/>
        <a:p>
          <a:r>
            <a:rPr lang="zh-CN" altLang="en-US" dirty="0"/>
            <a:t>交易结算</a:t>
          </a:r>
          <a:endParaRPr lang="en-US" dirty="0"/>
        </a:p>
      </dgm:t>
    </dgm:pt>
    <dgm:pt modelId="{53027ED7-62F4-9D46-A6B0-FB9749BA8795}" type="parTrans" cxnId="{DC168FBA-76F4-484A-AA84-A6D01149E5C0}">
      <dgm:prSet/>
      <dgm:spPr/>
      <dgm:t>
        <a:bodyPr/>
        <a:lstStyle/>
        <a:p>
          <a:endParaRPr lang="en-US"/>
        </a:p>
      </dgm:t>
    </dgm:pt>
    <dgm:pt modelId="{03450CF3-89D3-2E4A-B632-D450A9B64A42}" type="sibTrans" cxnId="{DC168FBA-76F4-484A-AA84-A6D01149E5C0}">
      <dgm:prSet/>
      <dgm:spPr/>
      <dgm:t>
        <a:bodyPr/>
        <a:lstStyle/>
        <a:p>
          <a:endParaRPr lang="en-US"/>
        </a:p>
      </dgm:t>
    </dgm:pt>
    <dgm:pt modelId="{63DB5F7A-12AF-D04C-A518-4198DF991254}" type="pres">
      <dgm:prSet presAssocID="{9F071DB9-6780-4144-B656-6D7ADEB38642}" presName="theList" presStyleCnt="0">
        <dgm:presLayoutVars>
          <dgm:dir/>
          <dgm:animLvl val="lvl"/>
          <dgm:resizeHandles val="exact"/>
        </dgm:presLayoutVars>
      </dgm:prSet>
      <dgm:spPr/>
      <dgm:t>
        <a:bodyPr/>
        <a:lstStyle/>
        <a:p>
          <a:endParaRPr lang="en-US"/>
        </a:p>
      </dgm:t>
    </dgm:pt>
    <dgm:pt modelId="{E20B0C32-3CDA-AA4D-94DA-433B99A0D5AA}" type="pres">
      <dgm:prSet presAssocID="{5F4A2363-B802-6B46-85E8-0096DE78DE52}" presName="compNode" presStyleCnt="0"/>
      <dgm:spPr/>
    </dgm:pt>
    <dgm:pt modelId="{0D40A4F1-E5CB-1341-A3DD-975E209A2065}" type="pres">
      <dgm:prSet presAssocID="{5F4A2363-B802-6B46-85E8-0096DE78DE52}" presName="aNode" presStyleLbl="bgShp" presStyleIdx="0" presStyleCnt="1"/>
      <dgm:spPr/>
      <dgm:t>
        <a:bodyPr/>
        <a:lstStyle/>
        <a:p>
          <a:endParaRPr lang="en-US"/>
        </a:p>
      </dgm:t>
    </dgm:pt>
    <dgm:pt modelId="{FF946862-CF2D-C443-B80B-31DB3D8F7D23}" type="pres">
      <dgm:prSet presAssocID="{5F4A2363-B802-6B46-85E8-0096DE78DE52}" presName="textNode" presStyleLbl="bgShp" presStyleIdx="0" presStyleCnt="1"/>
      <dgm:spPr/>
      <dgm:t>
        <a:bodyPr/>
        <a:lstStyle/>
        <a:p>
          <a:endParaRPr lang="en-US"/>
        </a:p>
      </dgm:t>
    </dgm:pt>
    <dgm:pt modelId="{7EC07FAF-3E3F-4844-9987-32013718AC2A}" type="pres">
      <dgm:prSet presAssocID="{5F4A2363-B802-6B46-85E8-0096DE78DE52}" presName="compChildNode" presStyleCnt="0"/>
      <dgm:spPr/>
    </dgm:pt>
    <dgm:pt modelId="{FFE07433-2284-B146-AB0A-A718F1565119}" type="pres">
      <dgm:prSet presAssocID="{5F4A2363-B802-6B46-85E8-0096DE78DE52}" presName="theInnerList" presStyleCnt="0"/>
      <dgm:spPr/>
    </dgm:pt>
    <dgm:pt modelId="{0D77EAEB-56D9-154D-B5D3-ABBDAD9675F2}" type="pres">
      <dgm:prSet presAssocID="{DE012349-D5E1-204F-9635-9EE518C0B3C3}" presName="childNode" presStyleLbl="node1" presStyleIdx="0" presStyleCnt="5">
        <dgm:presLayoutVars>
          <dgm:bulletEnabled val="1"/>
        </dgm:presLayoutVars>
      </dgm:prSet>
      <dgm:spPr/>
      <dgm:t>
        <a:bodyPr/>
        <a:lstStyle/>
        <a:p>
          <a:endParaRPr lang="en-US"/>
        </a:p>
      </dgm:t>
    </dgm:pt>
    <dgm:pt modelId="{B2966C3A-D6F9-B34B-A5D7-A1B309DDB2C7}" type="pres">
      <dgm:prSet presAssocID="{DE012349-D5E1-204F-9635-9EE518C0B3C3}" presName="aSpace2" presStyleCnt="0"/>
      <dgm:spPr/>
    </dgm:pt>
    <dgm:pt modelId="{A100A236-7603-5941-95D1-06ABA1DCAFA2}" type="pres">
      <dgm:prSet presAssocID="{D17A2948-5FD0-A54E-9B1E-759C26D5C2E9}" presName="childNode" presStyleLbl="node1" presStyleIdx="1" presStyleCnt="5">
        <dgm:presLayoutVars>
          <dgm:bulletEnabled val="1"/>
        </dgm:presLayoutVars>
      </dgm:prSet>
      <dgm:spPr/>
      <dgm:t>
        <a:bodyPr/>
        <a:lstStyle/>
        <a:p>
          <a:endParaRPr lang="en-US"/>
        </a:p>
      </dgm:t>
    </dgm:pt>
    <dgm:pt modelId="{D503CEFC-8FD9-5A4F-AEEE-03E9C9CBD7D9}" type="pres">
      <dgm:prSet presAssocID="{D17A2948-5FD0-A54E-9B1E-759C26D5C2E9}" presName="aSpace2" presStyleCnt="0"/>
      <dgm:spPr/>
    </dgm:pt>
    <dgm:pt modelId="{3676C6CD-E265-564C-A811-32E92C51C22E}" type="pres">
      <dgm:prSet presAssocID="{EFD85B5C-69B2-6C43-BE53-E27AFD30BD39}" presName="childNode" presStyleLbl="node1" presStyleIdx="2" presStyleCnt="5">
        <dgm:presLayoutVars>
          <dgm:bulletEnabled val="1"/>
        </dgm:presLayoutVars>
      </dgm:prSet>
      <dgm:spPr/>
      <dgm:t>
        <a:bodyPr/>
        <a:lstStyle/>
        <a:p>
          <a:endParaRPr lang="en-US"/>
        </a:p>
      </dgm:t>
    </dgm:pt>
    <dgm:pt modelId="{2056D147-807C-7C45-B7E4-B5D08F7DF9C2}" type="pres">
      <dgm:prSet presAssocID="{EFD85B5C-69B2-6C43-BE53-E27AFD30BD39}" presName="aSpace2" presStyleCnt="0"/>
      <dgm:spPr/>
    </dgm:pt>
    <dgm:pt modelId="{59A2D5FE-647C-AF42-970C-99CA0DA62219}" type="pres">
      <dgm:prSet presAssocID="{AA53CE32-A63F-5741-8E42-F26CB43AB58D}" presName="childNode" presStyleLbl="node1" presStyleIdx="3" presStyleCnt="5">
        <dgm:presLayoutVars>
          <dgm:bulletEnabled val="1"/>
        </dgm:presLayoutVars>
      </dgm:prSet>
      <dgm:spPr/>
      <dgm:t>
        <a:bodyPr/>
        <a:lstStyle/>
        <a:p>
          <a:endParaRPr lang="en-US"/>
        </a:p>
      </dgm:t>
    </dgm:pt>
    <dgm:pt modelId="{A8E61F0A-0543-7F4A-832E-501B803721A8}" type="pres">
      <dgm:prSet presAssocID="{AA53CE32-A63F-5741-8E42-F26CB43AB58D}" presName="aSpace2" presStyleCnt="0"/>
      <dgm:spPr/>
    </dgm:pt>
    <dgm:pt modelId="{CA7FD8C5-A9BF-3749-9F2B-70E062B0CA5A}" type="pres">
      <dgm:prSet presAssocID="{3594BCB7-D54A-884E-98C8-99B9DBB08B50}" presName="childNode" presStyleLbl="node1" presStyleIdx="4" presStyleCnt="5">
        <dgm:presLayoutVars>
          <dgm:bulletEnabled val="1"/>
        </dgm:presLayoutVars>
      </dgm:prSet>
      <dgm:spPr/>
      <dgm:t>
        <a:bodyPr/>
        <a:lstStyle/>
        <a:p>
          <a:endParaRPr lang="en-US"/>
        </a:p>
      </dgm:t>
    </dgm:pt>
  </dgm:ptLst>
  <dgm:cxnLst>
    <dgm:cxn modelId="{DDDD4375-50B7-D448-BF32-05764B0C4302}" srcId="{5F4A2363-B802-6B46-85E8-0096DE78DE52}" destId="{D17A2948-5FD0-A54E-9B1E-759C26D5C2E9}" srcOrd="1" destOrd="0" parTransId="{A6BCC49E-7483-FD47-8D9B-0C53BB59D4F3}" sibTransId="{276E7CEA-4027-9F4F-98B6-9C0BEEEA5724}"/>
    <dgm:cxn modelId="{CB4468E5-EF5A-0742-B5BB-C695BDCD8B15}" srcId="{9F071DB9-6780-4144-B656-6D7ADEB38642}" destId="{5F4A2363-B802-6B46-85E8-0096DE78DE52}" srcOrd="0" destOrd="0" parTransId="{76173810-6CFE-9349-991D-F049CBB9786B}" sibTransId="{E1D8E10D-B85F-B340-BEF3-134891455FAD}"/>
    <dgm:cxn modelId="{B3936490-E796-C84A-A1E3-9D5C3E82712F}" type="presOf" srcId="{5F4A2363-B802-6B46-85E8-0096DE78DE52}" destId="{FF946862-CF2D-C443-B80B-31DB3D8F7D23}" srcOrd="1" destOrd="0" presId="urn:microsoft.com/office/officeart/2005/8/layout/lProcess2"/>
    <dgm:cxn modelId="{FE856EB3-7BD7-8B48-A69D-E183FB157E27}" type="presOf" srcId="{EFD85B5C-69B2-6C43-BE53-E27AFD30BD39}" destId="{3676C6CD-E265-564C-A811-32E92C51C22E}" srcOrd="0" destOrd="0" presId="urn:microsoft.com/office/officeart/2005/8/layout/lProcess2"/>
    <dgm:cxn modelId="{84BFFC7A-E711-4F41-8DEC-1CAA8FE757EF}" srcId="{5F4A2363-B802-6B46-85E8-0096DE78DE52}" destId="{DE012349-D5E1-204F-9635-9EE518C0B3C3}" srcOrd="0" destOrd="0" parTransId="{2E5AC47C-8DEF-E546-998B-7B058D87B298}" sibTransId="{EFCBC898-1470-784F-BB43-70B2DF7A548A}"/>
    <dgm:cxn modelId="{4AB5B0C4-9159-D641-911F-CABCE27B7A5F}" type="presOf" srcId="{5F4A2363-B802-6B46-85E8-0096DE78DE52}" destId="{0D40A4F1-E5CB-1341-A3DD-975E209A2065}" srcOrd="0" destOrd="0" presId="urn:microsoft.com/office/officeart/2005/8/layout/lProcess2"/>
    <dgm:cxn modelId="{C0020309-7191-4543-AC68-841252D6C263}" type="presOf" srcId="{DE012349-D5E1-204F-9635-9EE518C0B3C3}" destId="{0D77EAEB-56D9-154D-B5D3-ABBDAD9675F2}" srcOrd="0" destOrd="0" presId="urn:microsoft.com/office/officeart/2005/8/layout/lProcess2"/>
    <dgm:cxn modelId="{778CD1C0-49E1-6642-815C-C243B7AD0921}" srcId="{5F4A2363-B802-6B46-85E8-0096DE78DE52}" destId="{AA53CE32-A63F-5741-8E42-F26CB43AB58D}" srcOrd="3" destOrd="0" parTransId="{C66BB966-BEF6-E342-8671-193BDFC5E478}" sibTransId="{17BCA70E-2A38-EF4C-9777-AFC1FB4A4E10}"/>
    <dgm:cxn modelId="{81B3A2C5-03E6-984C-80FA-72516E61203F}" srcId="{5F4A2363-B802-6B46-85E8-0096DE78DE52}" destId="{EFD85B5C-69B2-6C43-BE53-E27AFD30BD39}" srcOrd="2" destOrd="0" parTransId="{B393A4C9-10B6-D347-A7C6-50B6770C45B5}" sibTransId="{D1CFCA4F-BA53-CB43-8E49-B802480AB08E}"/>
    <dgm:cxn modelId="{BF350979-84FA-B241-AF34-56029EC40D2D}" type="presOf" srcId="{AA53CE32-A63F-5741-8E42-F26CB43AB58D}" destId="{59A2D5FE-647C-AF42-970C-99CA0DA62219}" srcOrd="0" destOrd="0" presId="urn:microsoft.com/office/officeart/2005/8/layout/lProcess2"/>
    <dgm:cxn modelId="{DC168FBA-76F4-484A-AA84-A6D01149E5C0}" srcId="{5F4A2363-B802-6B46-85E8-0096DE78DE52}" destId="{3594BCB7-D54A-884E-98C8-99B9DBB08B50}" srcOrd="4" destOrd="0" parTransId="{53027ED7-62F4-9D46-A6B0-FB9749BA8795}" sibTransId="{03450CF3-89D3-2E4A-B632-D450A9B64A42}"/>
    <dgm:cxn modelId="{25B9B0F4-98EC-7C4F-B0AA-E0F72B56166C}" type="presOf" srcId="{3594BCB7-D54A-884E-98C8-99B9DBB08B50}" destId="{CA7FD8C5-A9BF-3749-9F2B-70E062B0CA5A}" srcOrd="0" destOrd="0" presId="urn:microsoft.com/office/officeart/2005/8/layout/lProcess2"/>
    <dgm:cxn modelId="{BF45F7C0-028E-EC42-832B-7959C55DE348}" type="presOf" srcId="{9F071DB9-6780-4144-B656-6D7ADEB38642}" destId="{63DB5F7A-12AF-D04C-A518-4198DF991254}" srcOrd="0" destOrd="0" presId="urn:microsoft.com/office/officeart/2005/8/layout/lProcess2"/>
    <dgm:cxn modelId="{3FA1DD53-9EBA-A644-81F5-A5C34CD8D6C5}" type="presOf" srcId="{D17A2948-5FD0-A54E-9B1E-759C26D5C2E9}" destId="{A100A236-7603-5941-95D1-06ABA1DCAFA2}" srcOrd="0" destOrd="0" presId="urn:microsoft.com/office/officeart/2005/8/layout/lProcess2"/>
    <dgm:cxn modelId="{883A0BA8-6015-954F-B096-E422CE1004BC}" type="presParOf" srcId="{63DB5F7A-12AF-D04C-A518-4198DF991254}" destId="{E20B0C32-3CDA-AA4D-94DA-433B99A0D5AA}" srcOrd="0" destOrd="0" presId="urn:microsoft.com/office/officeart/2005/8/layout/lProcess2"/>
    <dgm:cxn modelId="{36FCF1AD-EBA8-A645-9739-E93DC2952CD7}" type="presParOf" srcId="{E20B0C32-3CDA-AA4D-94DA-433B99A0D5AA}" destId="{0D40A4F1-E5CB-1341-A3DD-975E209A2065}" srcOrd="0" destOrd="0" presId="urn:microsoft.com/office/officeart/2005/8/layout/lProcess2"/>
    <dgm:cxn modelId="{A9FAA2FA-BF4E-DC4F-8A40-A34A44FAD4EB}" type="presParOf" srcId="{E20B0C32-3CDA-AA4D-94DA-433B99A0D5AA}" destId="{FF946862-CF2D-C443-B80B-31DB3D8F7D23}" srcOrd="1" destOrd="0" presId="urn:microsoft.com/office/officeart/2005/8/layout/lProcess2"/>
    <dgm:cxn modelId="{CD9F0A9B-3AEB-A041-BF74-3EE689972483}" type="presParOf" srcId="{E20B0C32-3CDA-AA4D-94DA-433B99A0D5AA}" destId="{7EC07FAF-3E3F-4844-9987-32013718AC2A}" srcOrd="2" destOrd="0" presId="urn:microsoft.com/office/officeart/2005/8/layout/lProcess2"/>
    <dgm:cxn modelId="{9F5C38E5-5EFE-B94B-AC4F-C23F3B3E38CC}" type="presParOf" srcId="{7EC07FAF-3E3F-4844-9987-32013718AC2A}" destId="{FFE07433-2284-B146-AB0A-A718F1565119}" srcOrd="0" destOrd="0" presId="urn:microsoft.com/office/officeart/2005/8/layout/lProcess2"/>
    <dgm:cxn modelId="{0E72654D-4219-DC45-A834-3EF56A75F080}" type="presParOf" srcId="{FFE07433-2284-B146-AB0A-A718F1565119}" destId="{0D77EAEB-56D9-154D-B5D3-ABBDAD9675F2}" srcOrd="0" destOrd="0" presId="urn:microsoft.com/office/officeart/2005/8/layout/lProcess2"/>
    <dgm:cxn modelId="{763ABF57-4603-DF40-B2C9-DEF27B805AC4}" type="presParOf" srcId="{FFE07433-2284-B146-AB0A-A718F1565119}" destId="{B2966C3A-D6F9-B34B-A5D7-A1B309DDB2C7}" srcOrd="1" destOrd="0" presId="urn:microsoft.com/office/officeart/2005/8/layout/lProcess2"/>
    <dgm:cxn modelId="{2CDFB18C-5728-EA4A-BA76-D2B7123CAF3B}" type="presParOf" srcId="{FFE07433-2284-B146-AB0A-A718F1565119}" destId="{A100A236-7603-5941-95D1-06ABA1DCAFA2}" srcOrd="2" destOrd="0" presId="urn:microsoft.com/office/officeart/2005/8/layout/lProcess2"/>
    <dgm:cxn modelId="{D594EF86-2DF7-5A46-BBE2-872FCBAD94BD}" type="presParOf" srcId="{FFE07433-2284-B146-AB0A-A718F1565119}" destId="{D503CEFC-8FD9-5A4F-AEEE-03E9C9CBD7D9}" srcOrd="3" destOrd="0" presId="urn:microsoft.com/office/officeart/2005/8/layout/lProcess2"/>
    <dgm:cxn modelId="{FC347E0F-A34B-954B-8118-CDCCB9815EFA}" type="presParOf" srcId="{FFE07433-2284-B146-AB0A-A718F1565119}" destId="{3676C6CD-E265-564C-A811-32E92C51C22E}" srcOrd="4" destOrd="0" presId="urn:microsoft.com/office/officeart/2005/8/layout/lProcess2"/>
    <dgm:cxn modelId="{0848CF02-CEF7-DE47-91E5-D9ABF6D89327}" type="presParOf" srcId="{FFE07433-2284-B146-AB0A-A718F1565119}" destId="{2056D147-807C-7C45-B7E4-B5D08F7DF9C2}" srcOrd="5" destOrd="0" presId="urn:microsoft.com/office/officeart/2005/8/layout/lProcess2"/>
    <dgm:cxn modelId="{BE1F78B2-313B-5C4C-8BA6-BA96196E211E}" type="presParOf" srcId="{FFE07433-2284-B146-AB0A-A718F1565119}" destId="{59A2D5FE-647C-AF42-970C-99CA0DA62219}" srcOrd="6" destOrd="0" presId="urn:microsoft.com/office/officeart/2005/8/layout/lProcess2"/>
    <dgm:cxn modelId="{7C7B34EB-8B37-5A4C-9974-9B32F57CE690}" type="presParOf" srcId="{FFE07433-2284-B146-AB0A-A718F1565119}" destId="{A8E61F0A-0543-7F4A-832E-501B803721A8}" srcOrd="7" destOrd="0" presId="urn:microsoft.com/office/officeart/2005/8/layout/lProcess2"/>
    <dgm:cxn modelId="{E835D684-83EF-0D4B-B289-D0842C897452}" type="presParOf" srcId="{FFE07433-2284-B146-AB0A-A718F1565119}" destId="{CA7FD8C5-A9BF-3749-9F2B-70E062B0CA5A}" srcOrd="8" destOrd="0" presId="urn:microsoft.com/office/officeart/2005/8/layout/lProcess2"/>
  </dgm:cxnLst>
  <dgm:bg>
    <a:solidFill>
      <a:srgbClr val="FFFFFF"/>
    </a:solidFill>
  </dgm:bg>
  <dgm:whole/>
  <dgm:extLst>
    <a:ext uri="http://schemas.microsoft.com/office/drawing/2008/diagram">
      <dsp:dataModelExt xmlns:dsp="http://schemas.microsoft.com/office/drawing/2008/diagram" relId="rId2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232D987-D20C-9249-B3AF-DD60DE7F0E03}" type="doc">
      <dgm:prSet loTypeId="urn:microsoft.com/office/officeart/2005/8/layout/hierarchy3" loCatId="" qsTypeId="urn:microsoft.com/office/officeart/2005/8/quickstyle/simple1" qsCatId="simple" csTypeId="urn:microsoft.com/office/officeart/2005/8/colors/accent0_2" csCatId="mainScheme" phldr="1"/>
      <dgm:spPr/>
      <dgm:t>
        <a:bodyPr/>
        <a:lstStyle/>
        <a:p>
          <a:endParaRPr lang="en-US"/>
        </a:p>
      </dgm:t>
    </dgm:pt>
    <dgm:pt modelId="{2C1893DD-E56E-D34D-A5FA-38828914AEF9}">
      <dgm:prSet phldrT="[Text]"/>
      <dgm:spPr/>
      <dgm:t>
        <a:bodyPr/>
        <a:lstStyle/>
        <a:p>
          <a:r>
            <a:rPr lang="zh-CN" altLang="en-US" dirty="0" smtClean="0"/>
            <a:t>准入模型</a:t>
          </a:r>
          <a:endParaRPr lang="en-US" dirty="0"/>
        </a:p>
      </dgm:t>
    </dgm:pt>
    <dgm:pt modelId="{06E0ABDA-FD2D-BE4A-83E5-D07038368025}" type="parTrans" cxnId="{2C32F030-5CD4-4348-8C8E-4F2D676755A1}">
      <dgm:prSet/>
      <dgm:spPr/>
      <dgm:t>
        <a:bodyPr/>
        <a:lstStyle/>
        <a:p>
          <a:endParaRPr lang="en-US"/>
        </a:p>
      </dgm:t>
    </dgm:pt>
    <dgm:pt modelId="{11909144-BCA0-8146-B349-E0BF8C7F31C2}" type="sibTrans" cxnId="{2C32F030-5CD4-4348-8C8E-4F2D676755A1}">
      <dgm:prSet/>
      <dgm:spPr/>
      <dgm:t>
        <a:bodyPr/>
        <a:lstStyle/>
        <a:p>
          <a:endParaRPr lang="en-US"/>
        </a:p>
      </dgm:t>
    </dgm:pt>
    <dgm:pt modelId="{3BD6F3A1-0FEF-9047-A25A-DA34E45169CB}">
      <dgm:prSet phldrT="[Text]"/>
      <dgm:spPr>
        <a:solidFill>
          <a:schemeClr val="accent5">
            <a:lumMod val="20000"/>
            <a:lumOff val="80000"/>
            <a:alpha val="90000"/>
          </a:schemeClr>
        </a:solidFill>
      </dgm:spPr>
      <dgm:t>
        <a:bodyPr/>
        <a:lstStyle/>
        <a:p>
          <a:r>
            <a:rPr lang="zh-CN" altLang="en-US" dirty="0" smtClean="0"/>
            <a:t>线下为主</a:t>
          </a:r>
          <a:endParaRPr lang="en-US" altLang="zh-CN" dirty="0" smtClean="0"/>
        </a:p>
        <a:p>
          <a:r>
            <a:rPr lang="zh-CN" altLang="en-US" dirty="0" smtClean="0"/>
            <a:t>流程较长</a:t>
          </a:r>
          <a:endParaRPr lang="en-US" dirty="0"/>
        </a:p>
      </dgm:t>
    </dgm:pt>
    <dgm:pt modelId="{F1C330E5-7642-3748-91A5-6AFE196E0E64}" type="parTrans" cxnId="{E2769203-2F6B-8741-B7FD-DD7EE1B04A40}">
      <dgm:prSet/>
      <dgm:spPr/>
      <dgm:t>
        <a:bodyPr/>
        <a:lstStyle/>
        <a:p>
          <a:endParaRPr lang="en-US"/>
        </a:p>
      </dgm:t>
    </dgm:pt>
    <dgm:pt modelId="{8FA42CFD-484A-D847-979D-8107E6C06B26}" type="sibTrans" cxnId="{E2769203-2F6B-8741-B7FD-DD7EE1B04A40}">
      <dgm:prSet/>
      <dgm:spPr/>
      <dgm:t>
        <a:bodyPr/>
        <a:lstStyle/>
        <a:p>
          <a:endParaRPr lang="en-US"/>
        </a:p>
      </dgm:t>
    </dgm:pt>
    <dgm:pt modelId="{41F91A12-FD34-AD48-8D75-76D51D4131AC}">
      <dgm:prSet phldrT="[Text]"/>
      <dgm:spPr>
        <a:solidFill>
          <a:schemeClr val="accent3">
            <a:lumMod val="40000"/>
            <a:lumOff val="60000"/>
            <a:alpha val="90000"/>
          </a:schemeClr>
        </a:solidFill>
      </dgm:spPr>
      <dgm:t>
        <a:bodyPr/>
        <a:lstStyle/>
        <a:p>
          <a:r>
            <a:rPr lang="zh-CN" altLang="en-US" dirty="0" smtClean="0"/>
            <a:t>线上为主</a:t>
          </a:r>
          <a:endParaRPr lang="en-US" altLang="zh-CN" dirty="0" smtClean="0"/>
        </a:p>
        <a:p>
          <a:r>
            <a:rPr lang="zh-CN" altLang="en-US" dirty="0" smtClean="0"/>
            <a:t>快速审批</a:t>
          </a:r>
          <a:endParaRPr lang="en-US" dirty="0"/>
        </a:p>
      </dgm:t>
    </dgm:pt>
    <dgm:pt modelId="{B2A16ED4-761A-1F49-8D7B-EF13A369DA15}" type="parTrans" cxnId="{5D86D604-BC80-6D46-B608-DCC4E3B58EDC}">
      <dgm:prSet/>
      <dgm:spPr/>
      <dgm:t>
        <a:bodyPr/>
        <a:lstStyle/>
        <a:p>
          <a:endParaRPr lang="en-US"/>
        </a:p>
      </dgm:t>
    </dgm:pt>
    <dgm:pt modelId="{ED33BCC7-67AC-D84E-8C2B-1C607DD75270}" type="sibTrans" cxnId="{5D86D604-BC80-6D46-B608-DCC4E3B58EDC}">
      <dgm:prSet/>
      <dgm:spPr/>
      <dgm:t>
        <a:bodyPr/>
        <a:lstStyle/>
        <a:p>
          <a:endParaRPr lang="en-US"/>
        </a:p>
      </dgm:t>
    </dgm:pt>
    <dgm:pt modelId="{D8834906-C248-5040-A00D-722084346EB1}">
      <dgm:prSet phldrT="[Text]"/>
      <dgm:spPr/>
      <dgm:t>
        <a:bodyPr/>
        <a:lstStyle/>
        <a:p>
          <a:r>
            <a:rPr lang="zh-CN" altLang="en-US" smtClean="0">
              <a:latin typeface="PingFang SC Light"/>
            </a:rPr>
            <a:t>初始授信额度模型</a:t>
          </a:r>
          <a:endParaRPr lang="en-US" dirty="0"/>
        </a:p>
      </dgm:t>
    </dgm:pt>
    <dgm:pt modelId="{50F6F9EC-0F5E-CF4A-8FB5-2EA1F5D1B362}" type="parTrans" cxnId="{8DDBEDB4-753E-F549-8174-CFF0AB7767D1}">
      <dgm:prSet/>
      <dgm:spPr/>
      <dgm:t>
        <a:bodyPr/>
        <a:lstStyle/>
        <a:p>
          <a:endParaRPr lang="en-US"/>
        </a:p>
      </dgm:t>
    </dgm:pt>
    <dgm:pt modelId="{7E4AA6FF-A9F3-5C43-A038-AADEC876C118}" type="sibTrans" cxnId="{8DDBEDB4-753E-F549-8174-CFF0AB7767D1}">
      <dgm:prSet/>
      <dgm:spPr/>
      <dgm:t>
        <a:bodyPr/>
        <a:lstStyle/>
        <a:p>
          <a:endParaRPr lang="en-US"/>
        </a:p>
      </dgm:t>
    </dgm:pt>
    <dgm:pt modelId="{8AA9458D-AE47-E945-874F-5E185F743924}">
      <dgm:prSet phldrT="[Text]"/>
      <dgm:spPr>
        <a:solidFill>
          <a:schemeClr val="accent5">
            <a:lumMod val="20000"/>
            <a:lumOff val="80000"/>
            <a:alpha val="90000"/>
          </a:schemeClr>
        </a:solidFill>
      </dgm:spPr>
      <dgm:t>
        <a:bodyPr/>
        <a:lstStyle/>
        <a:p>
          <a:r>
            <a:rPr lang="zh-CN" altLang="en-US" dirty="0" smtClean="0"/>
            <a:t>人工经验</a:t>
          </a:r>
          <a:endParaRPr lang="en-US" altLang="zh-CN" dirty="0" smtClean="0"/>
        </a:p>
        <a:p>
          <a:r>
            <a:rPr lang="zh-CN" altLang="en-US" dirty="0" smtClean="0"/>
            <a:t>有限参考</a:t>
          </a:r>
          <a:endParaRPr lang="en-US" dirty="0"/>
        </a:p>
      </dgm:t>
    </dgm:pt>
    <dgm:pt modelId="{836FC46D-481C-F74E-BAB0-B67AA694D836}" type="parTrans" cxnId="{0498FC05-5DD1-5E4B-A745-7C2EADA8B3AA}">
      <dgm:prSet/>
      <dgm:spPr/>
      <dgm:t>
        <a:bodyPr/>
        <a:lstStyle/>
        <a:p>
          <a:endParaRPr lang="en-US"/>
        </a:p>
      </dgm:t>
    </dgm:pt>
    <dgm:pt modelId="{7A0737E5-BCDC-3946-8A36-6ADD1D5E1F72}" type="sibTrans" cxnId="{0498FC05-5DD1-5E4B-A745-7C2EADA8B3AA}">
      <dgm:prSet/>
      <dgm:spPr/>
      <dgm:t>
        <a:bodyPr/>
        <a:lstStyle/>
        <a:p>
          <a:endParaRPr lang="en-US"/>
        </a:p>
      </dgm:t>
    </dgm:pt>
    <dgm:pt modelId="{667EBDAD-2094-2E4B-A891-871CF48A9B0A}">
      <dgm:prSet phldrT="[Text]"/>
      <dgm:spPr>
        <a:solidFill>
          <a:schemeClr val="accent3">
            <a:lumMod val="40000"/>
            <a:lumOff val="60000"/>
            <a:alpha val="90000"/>
          </a:schemeClr>
        </a:solidFill>
      </dgm:spPr>
      <dgm:t>
        <a:bodyPr/>
        <a:lstStyle/>
        <a:p>
          <a:r>
            <a:rPr lang="zh-CN" altLang="en-US" dirty="0" smtClean="0"/>
            <a:t>多维特征</a:t>
          </a:r>
          <a:endParaRPr lang="en-US" altLang="zh-CN" dirty="0" smtClean="0"/>
        </a:p>
        <a:p>
          <a:r>
            <a:rPr lang="zh-CN" altLang="en-US" dirty="0" smtClean="0"/>
            <a:t>快速放贷</a:t>
          </a:r>
          <a:endParaRPr lang="en-US" dirty="0"/>
        </a:p>
      </dgm:t>
    </dgm:pt>
    <dgm:pt modelId="{5D8E56D2-B870-A149-B45D-D41E4726C947}" type="parTrans" cxnId="{53C9B968-5B6A-FF45-A60E-8D7642C7FA79}">
      <dgm:prSet/>
      <dgm:spPr/>
      <dgm:t>
        <a:bodyPr/>
        <a:lstStyle/>
        <a:p>
          <a:endParaRPr lang="en-US"/>
        </a:p>
      </dgm:t>
    </dgm:pt>
    <dgm:pt modelId="{00F47559-9751-1F40-9727-0B64E359D22E}" type="sibTrans" cxnId="{53C9B968-5B6A-FF45-A60E-8D7642C7FA79}">
      <dgm:prSet/>
      <dgm:spPr/>
      <dgm:t>
        <a:bodyPr/>
        <a:lstStyle/>
        <a:p>
          <a:endParaRPr lang="en-US"/>
        </a:p>
      </dgm:t>
    </dgm:pt>
    <dgm:pt modelId="{B52E87D9-8E21-2C45-BE85-56B12CA908F1}">
      <dgm:prSet phldrT="[Text]"/>
      <dgm:spPr/>
      <dgm:t>
        <a:bodyPr/>
        <a:lstStyle/>
        <a:p>
          <a:r>
            <a:rPr lang="zh-CN" altLang="en-US" smtClean="0">
              <a:latin typeface="PingFang SC Light"/>
            </a:rPr>
            <a:t>存量客户收益模型</a:t>
          </a:r>
          <a:endParaRPr lang="en-US" dirty="0"/>
        </a:p>
      </dgm:t>
    </dgm:pt>
    <dgm:pt modelId="{1548F432-C497-6847-B778-1E0A6E3256C6}" type="parTrans" cxnId="{DE617248-26AD-5D4E-A146-2EBADF0A3838}">
      <dgm:prSet/>
      <dgm:spPr/>
      <dgm:t>
        <a:bodyPr/>
        <a:lstStyle/>
        <a:p>
          <a:endParaRPr lang="en-US"/>
        </a:p>
      </dgm:t>
    </dgm:pt>
    <dgm:pt modelId="{D99C40F3-F006-0545-A20E-FD377DA7124F}" type="sibTrans" cxnId="{DE617248-26AD-5D4E-A146-2EBADF0A3838}">
      <dgm:prSet/>
      <dgm:spPr/>
      <dgm:t>
        <a:bodyPr/>
        <a:lstStyle/>
        <a:p>
          <a:endParaRPr lang="en-US"/>
        </a:p>
      </dgm:t>
    </dgm:pt>
    <dgm:pt modelId="{6D575660-F74E-BF43-A9D3-962EAFD72D6A}">
      <dgm:prSet phldrT="[Text]"/>
      <dgm:spPr/>
      <dgm:t>
        <a:bodyPr/>
        <a:lstStyle/>
        <a:p>
          <a:r>
            <a:rPr lang="zh-CN" altLang="en-US" smtClean="0">
              <a:latin typeface="PingFang SC Light"/>
            </a:rPr>
            <a:t>新客户估价模型</a:t>
          </a:r>
          <a:endParaRPr lang="en-US" dirty="0"/>
        </a:p>
      </dgm:t>
    </dgm:pt>
    <dgm:pt modelId="{5964609E-AF6A-724A-98CA-C55E9AFEF46B}" type="parTrans" cxnId="{A550BF57-0492-224E-ABD3-42CC3E936138}">
      <dgm:prSet/>
      <dgm:spPr/>
      <dgm:t>
        <a:bodyPr/>
        <a:lstStyle/>
        <a:p>
          <a:endParaRPr lang="en-US"/>
        </a:p>
      </dgm:t>
    </dgm:pt>
    <dgm:pt modelId="{1251C5DB-48AC-B145-B946-ACA47743A2F8}" type="sibTrans" cxnId="{A550BF57-0492-224E-ABD3-42CC3E936138}">
      <dgm:prSet/>
      <dgm:spPr/>
      <dgm:t>
        <a:bodyPr/>
        <a:lstStyle/>
        <a:p>
          <a:endParaRPr lang="en-US"/>
        </a:p>
      </dgm:t>
    </dgm:pt>
    <dgm:pt modelId="{21EB6C75-1F29-3340-9D43-6E8DF3215C64}">
      <dgm:prSet phldrT="[Text]"/>
      <dgm:spPr>
        <a:solidFill>
          <a:schemeClr val="accent5">
            <a:lumMod val="20000"/>
            <a:lumOff val="80000"/>
            <a:alpha val="90000"/>
          </a:schemeClr>
        </a:solidFill>
      </dgm:spPr>
      <dgm:t>
        <a:bodyPr/>
        <a:lstStyle/>
        <a:p>
          <a:r>
            <a:rPr lang="zh-CN" altLang="en-US" dirty="0" smtClean="0"/>
            <a:t>传统经验</a:t>
          </a:r>
          <a:endParaRPr lang="en-US" altLang="zh-CN" dirty="0" smtClean="0"/>
        </a:p>
        <a:p>
          <a:r>
            <a:rPr lang="zh-CN" altLang="en-US" dirty="0" smtClean="0"/>
            <a:t>缺乏细分</a:t>
          </a:r>
          <a:endParaRPr lang="en-US" dirty="0"/>
        </a:p>
      </dgm:t>
    </dgm:pt>
    <dgm:pt modelId="{8D4937FB-7199-3841-B9E9-9490000BD72C}" type="parTrans" cxnId="{63F51747-733D-094F-BC29-29A100B07192}">
      <dgm:prSet/>
      <dgm:spPr/>
      <dgm:t>
        <a:bodyPr/>
        <a:lstStyle/>
        <a:p>
          <a:endParaRPr lang="en-US"/>
        </a:p>
      </dgm:t>
    </dgm:pt>
    <dgm:pt modelId="{0396ED8D-84EC-C84C-9257-58FE87C70E8D}" type="sibTrans" cxnId="{63F51747-733D-094F-BC29-29A100B07192}">
      <dgm:prSet/>
      <dgm:spPr/>
      <dgm:t>
        <a:bodyPr/>
        <a:lstStyle/>
        <a:p>
          <a:endParaRPr lang="en-US"/>
        </a:p>
      </dgm:t>
    </dgm:pt>
    <dgm:pt modelId="{9586343B-58C5-F947-B9D9-4C9E4E88C8E3}">
      <dgm:prSet phldrT="[Text]"/>
      <dgm:spPr>
        <a:solidFill>
          <a:schemeClr val="accent3">
            <a:lumMod val="40000"/>
            <a:lumOff val="60000"/>
            <a:alpha val="90000"/>
          </a:schemeClr>
        </a:solidFill>
      </dgm:spPr>
      <dgm:t>
        <a:bodyPr/>
        <a:lstStyle/>
        <a:p>
          <a:r>
            <a:rPr lang="zh-CN" altLang="en-US" dirty="0" smtClean="0"/>
            <a:t>消费还款</a:t>
          </a:r>
          <a:endParaRPr lang="en-US" altLang="zh-CN" dirty="0" smtClean="0"/>
        </a:p>
        <a:p>
          <a:r>
            <a:rPr lang="zh-CN" altLang="en-US" dirty="0" smtClean="0"/>
            <a:t>预估价值</a:t>
          </a:r>
          <a:endParaRPr lang="en-US" dirty="0"/>
        </a:p>
      </dgm:t>
    </dgm:pt>
    <dgm:pt modelId="{5B28ED55-2D05-EB45-8E78-5BA82CFE6104}" type="parTrans" cxnId="{E38591D5-6D32-554C-B524-14211CFEBA25}">
      <dgm:prSet/>
      <dgm:spPr/>
      <dgm:t>
        <a:bodyPr/>
        <a:lstStyle/>
        <a:p>
          <a:endParaRPr lang="en-US"/>
        </a:p>
      </dgm:t>
    </dgm:pt>
    <dgm:pt modelId="{4D62D470-8F26-1148-B1F4-2C885404CE64}" type="sibTrans" cxnId="{E38591D5-6D32-554C-B524-14211CFEBA25}">
      <dgm:prSet/>
      <dgm:spPr/>
      <dgm:t>
        <a:bodyPr/>
        <a:lstStyle/>
        <a:p>
          <a:endParaRPr lang="en-US"/>
        </a:p>
      </dgm:t>
    </dgm:pt>
    <dgm:pt modelId="{085A7D33-5609-F347-99CD-9308F39BC429}">
      <dgm:prSet phldrT="[Text]"/>
      <dgm:spPr/>
      <dgm:t>
        <a:bodyPr/>
        <a:lstStyle/>
        <a:p>
          <a:r>
            <a:rPr lang="zh-CN" altLang="en-US" smtClean="0">
              <a:latin typeface="PingFang SC Light"/>
            </a:rPr>
            <a:t>贷后额度管理模型</a:t>
          </a:r>
          <a:endParaRPr lang="en-US" dirty="0"/>
        </a:p>
      </dgm:t>
    </dgm:pt>
    <dgm:pt modelId="{B0FA65F2-0089-834E-8165-CD260281690C}" type="parTrans" cxnId="{AF742CD2-8C0F-1347-82B8-989F353C9D9E}">
      <dgm:prSet/>
      <dgm:spPr/>
      <dgm:t>
        <a:bodyPr/>
        <a:lstStyle/>
        <a:p>
          <a:endParaRPr lang="en-US"/>
        </a:p>
      </dgm:t>
    </dgm:pt>
    <dgm:pt modelId="{EDC64140-A9AD-C54E-ABE6-F4771E75F831}" type="sibTrans" cxnId="{AF742CD2-8C0F-1347-82B8-989F353C9D9E}">
      <dgm:prSet/>
      <dgm:spPr/>
      <dgm:t>
        <a:bodyPr/>
        <a:lstStyle/>
        <a:p>
          <a:endParaRPr lang="en-US"/>
        </a:p>
      </dgm:t>
    </dgm:pt>
    <dgm:pt modelId="{DB510ED0-1C2E-6E40-93EA-A2E6EFEFD5B9}">
      <dgm:prSet phldrT="[Text]"/>
      <dgm:spPr>
        <a:solidFill>
          <a:schemeClr val="accent5">
            <a:lumMod val="20000"/>
            <a:lumOff val="80000"/>
            <a:alpha val="90000"/>
          </a:schemeClr>
        </a:solidFill>
      </dgm:spPr>
      <dgm:t>
        <a:bodyPr/>
        <a:lstStyle/>
        <a:p>
          <a:r>
            <a:rPr lang="zh-CN" altLang="en-US" dirty="0" smtClean="0"/>
            <a:t>固定额度</a:t>
          </a:r>
          <a:endParaRPr lang="en-US" altLang="zh-CN" dirty="0" smtClean="0"/>
        </a:p>
        <a:p>
          <a:r>
            <a:rPr lang="zh-CN" altLang="en-US" dirty="0" smtClean="0"/>
            <a:t>被动调整</a:t>
          </a:r>
          <a:endParaRPr lang="en-US" dirty="0"/>
        </a:p>
      </dgm:t>
    </dgm:pt>
    <dgm:pt modelId="{A1493C49-22E4-A741-A173-3F5D77D0A2A9}" type="parTrans" cxnId="{76EDDDE9-DBB2-4641-B914-E2CBE3520D33}">
      <dgm:prSet/>
      <dgm:spPr/>
      <dgm:t>
        <a:bodyPr/>
        <a:lstStyle/>
        <a:p>
          <a:endParaRPr lang="en-US"/>
        </a:p>
      </dgm:t>
    </dgm:pt>
    <dgm:pt modelId="{843C10C7-D970-9144-85B1-ADE564868E6B}" type="sibTrans" cxnId="{76EDDDE9-DBB2-4641-B914-E2CBE3520D33}">
      <dgm:prSet/>
      <dgm:spPr/>
      <dgm:t>
        <a:bodyPr/>
        <a:lstStyle/>
        <a:p>
          <a:endParaRPr lang="en-US"/>
        </a:p>
      </dgm:t>
    </dgm:pt>
    <dgm:pt modelId="{ECFACE8A-D0AB-B046-A274-C81B2EA72775}">
      <dgm:prSet phldrT="[Text]"/>
      <dgm:spPr>
        <a:solidFill>
          <a:schemeClr val="accent3">
            <a:lumMod val="40000"/>
            <a:lumOff val="60000"/>
            <a:alpha val="90000"/>
          </a:schemeClr>
        </a:solidFill>
      </dgm:spPr>
      <dgm:t>
        <a:bodyPr/>
        <a:lstStyle/>
        <a:p>
          <a:r>
            <a:rPr lang="zh-CN" altLang="en-US" dirty="0" smtClean="0"/>
            <a:t>发掘潜力</a:t>
          </a:r>
          <a:endParaRPr lang="en-US" altLang="zh-CN" dirty="0" smtClean="0"/>
        </a:p>
        <a:p>
          <a:r>
            <a:rPr lang="zh-CN" altLang="en-US" dirty="0" smtClean="0"/>
            <a:t>主动调整</a:t>
          </a:r>
          <a:endParaRPr lang="en-US" dirty="0"/>
        </a:p>
      </dgm:t>
    </dgm:pt>
    <dgm:pt modelId="{A0FEAE3D-2303-A942-9912-548C35444945}" type="parTrans" cxnId="{250385B2-1BD8-2247-B8C4-04F5B93AC55B}">
      <dgm:prSet/>
      <dgm:spPr/>
      <dgm:t>
        <a:bodyPr/>
        <a:lstStyle/>
        <a:p>
          <a:endParaRPr lang="en-US"/>
        </a:p>
      </dgm:t>
    </dgm:pt>
    <dgm:pt modelId="{70C4D7B7-8460-0745-B4F7-8AB05C695FEB}" type="sibTrans" cxnId="{250385B2-1BD8-2247-B8C4-04F5B93AC55B}">
      <dgm:prSet/>
      <dgm:spPr/>
      <dgm:t>
        <a:bodyPr/>
        <a:lstStyle/>
        <a:p>
          <a:endParaRPr lang="en-US"/>
        </a:p>
      </dgm:t>
    </dgm:pt>
    <dgm:pt modelId="{35ED5F24-E76D-8644-A7F3-64AE0B4471C1}">
      <dgm:prSet phldrT="[Text]"/>
      <dgm:spPr/>
      <dgm:t>
        <a:bodyPr/>
        <a:lstStyle/>
        <a:p>
          <a:r>
            <a:rPr lang="zh-CN" altLang="en-US" smtClean="0">
              <a:latin typeface="PingFang SC Light"/>
            </a:rPr>
            <a:t>贷后风险管理模型</a:t>
          </a:r>
          <a:endParaRPr lang="en-US" dirty="0"/>
        </a:p>
      </dgm:t>
    </dgm:pt>
    <dgm:pt modelId="{041B6956-3BEC-A748-BEBC-9EF3D121A981}" type="parTrans" cxnId="{FD55A696-87BE-DF44-B1E9-6B295D36DF7C}">
      <dgm:prSet/>
      <dgm:spPr/>
      <dgm:t>
        <a:bodyPr/>
        <a:lstStyle/>
        <a:p>
          <a:endParaRPr lang="en-US"/>
        </a:p>
      </dgm:t>
    </dgm:pt>
    <dgm:pt modelId="{B8F6D245-F4A1-BF49-B083-BA2BC0EC8CC2}" type="sibTrans" cxnId="{FD55A696-87BE-DF44-B1E9-6B295D36DF7C}">
      <dgm:prSet/>
      <dgm:spPr/>
      <dgm:t>
        <a:bodyPr/>
        <a:lstStyle/>
        <a:p>
          <a:endParaRPr lang="en-US"/>
        </a:p>
      </dgm:t>
    </dgm:pt>
    <dgm:pt modelId="{E7057B63-14ED-7144-B8D7-31E6A7878AB7}">
      <dgm:prSet phldrT="[Text]"/>
      <dgm:spPr>
        <a:solidFill>
          <a:schemeClr val="accent3">
            <a:lumMod val="40000"/>
            <a:lumOff val="60000"/>
            <a:alpha val="90000"/>
          </a:schemeClr>
        </a:solidFill>
      </dgm:spPr>
      <dgm:t>
        <a:bodyPr/>
        <a:lstStyle/>
        <a:p>
          <a:r>
            <a:rPr lang="zh-CN" altLang="en-US" dirty="0" smtClean="0"/>
            <a:t>行为挖掘</a:t>
          </a:r>
          <a:endParaRPr lang="en-US" altLang="zh-CN" dirty="0" smtClean="0"/>
        </a:p>
        <a:p>
          <a:r>
            <a:rPr lang="zh-CN" altLang="en-US" dirty="0" smtClean="0"/>
            <a:t>盘活用户</a:t>
          </a:r>
          <a:endParaRPr lang="en-US" dirty="0"/>
        </a:p>
      </dgm:t>
    </dgm:pt>
    <dgm:pt modelId="{7AF0E521-0140-1D4E-8F41-583EEF075E48}" type="parTrans" cxnId="{ECA0F360-E2B1-5F4C-A5E2-11176FEF155E}">
      <dgm:prSet/>
      <dgm:spPr/>
      <dgm:t>
        <a:bodyPr/>
        <a:lstStyle/>
        <a:p>
          <a:endParaRPr lang="en-US"/>
        </a:p>
      </dgm:t>
    </dgm:pt>
    <dgm:pt modelId="{13FAB976-C719-5246-B96A-71C7E1B53F9A}" type="sibTrans" cxnId="{ECA0F360-E2B1-5F4C-A5E2-11176FEF155E}">
      <dgm:prSet/>
      <dgm:spPr/>
      <dgm:t>
        <a:bodyPr/>
        <a:lstStyle/>
        <a:p>
          <a:endParaRPr lang="en-US"/>
        </a:p>
      </dgm:t>
    </dgm:pt>
    <dgm:pt modelId="{ECEAD47D-D5FE-9B41-A306-8980DED47DF5}">
      <dgm:prSet phldrT="[Text]"/>
      <dgm:spPr>
        <a:solidFill>
          <a:schemeClr val="accent5">
            <a:lumMod val="20000"/>
            <a:lumOff val="80000"/>
            <a:alpha val="90000"/>
          </a:schemeClr>
        </a:solidFill>
      </dgm:spPr>
      <dgm:t>
        <a:bodyPr/>
        <a:lstStyle/>
        <a:p>
          <a:r>
            <a:rPr lang="zh-CN" altLang="en-US" dirty="0" smtClean="0"/>
            <a:t>随机访问</a:t>
          </a:r>
          <a:endParaRPr lang="en-US" altLang="zh-CN" dirty="0" smtClean="0"/>
        </a:p>
        <a:p>
          <a:r>
            <a:rPr lang="zh-CN" altLang="en-US" dirty="0" smtClean="0"/>
            <a:t>响应率低</a:t>
          </a:r>
          <a:endParaRPr lang="en-US" dirty="0"/>
        </a:p>
      </dgm:t>
    </dgm:pt>
    <dgm:pt modelId="{46376D37-2EEF-1644-8B15-E56B748FB168}" type="parTrans" cxnId="{153A28DD-BED6-2648-99C7-026A2920FF1B}">
      <dgm:prSet/>
      <dgm:spPr/>
      <dgm:t>
        <a:bodyPr/>
        <a:lstStyle/>
        <a:p>
          <a:endParaRPr lang="en-US"/>
        </a:p>
      </dgm:t>
    </dgm:pt>
    <dgm:pt modelId="{0B0B60E7-098A-B146-B1DA-7859D85FA2BE}" type="sibTrans" cxnId="{153A28DD-BED6-2648-99C7-026A2920FF1B}">
      <dgm:prSet/>
      <dgm:spPr/>
      <dgm:t>
        <a:bodyPr/>
        <a:lstStyle/>
        <a:p>
          <a:endParaRPr lang="en-US"/>
        </a:p>
      </dgm:t>
    </dgm:pt>
    <dgm:pt modelId="{C91112A6-5C68-0948-9E38-F821A1733400}">
      <dgm:prSet phldrT="[Text]"/>
      <dgm:spPr>
        <a:solidFill>
          <a:schemeClr val="accent3">
            <a:lumMod val="40000"/>
            <a:lumOff val="60000"/>
            <a:alpha val="90000"/>
          </a:schemeClr>
        </a:solidFill>
      </dgm:spPr>
      <dgm:t>
        <a:bodyPr/>
        <a:lstStyle/>
        <a:p>
          <a:r>
            <a:rPr lang="zh-CN" altLang="en-US" dirty="0" smtClean="0"/>
            <a:t>数据追踪</a:t>
          </a:r>
          <a:endParaRPr lang="en-US" altLang="zh-CN" dirty="0" smtClean="0"/>
        </a:p>
        <a:p>
          <a:r>
            <a:rPr lang="zh-CN" altLang="en-US" dirty="0" smtClean="0"/>
            <a:t>预警风险</a:t>
          </a:r>
          <a:endParaRPr lang="en-US" dirty="0"/>
        </a:p>
      </dgm:t>
    </dgm:pt>
    <dgm:pt modelId="{D8300932-1253-224B-B5C9-700B4576A9BA}" type="parTrans" cxnId="{1D0FC0C4-93FC-E240-83A0-36E0879E0DAD}">
      <dgm:prSet/>
      <dgm:spPr/>
      <dgm:t>
        <a:bodyPr/>
        <a:lstStyle/>
        <a:p>
          <a:endParaRPr lang="en-US"/>
        </a:p>
      </dgm:t>
    </dgm:pt>
    <dgm:pt modelId="{F1734376-1ECC-FA4A-B85B-7315000891DD}" type="sibTrans" cxnId="{1D0FC0C4-93FC-E240-83A0-36E0879E0DAD}">
      <dgm:prSet/>
      <dgm:spPr/>
      <dgm:t>
        <a:bodyPr/>
        <a:lstStyle/>
        <a:p>
          <a:endParaRPr lang="en-US"/>
        </a:p>
      </dgm:t>
    </dgm:pt>
    <dgm:pt modelId="{75F22857-41E5-B747-B5A1-2BA8D1872FBE}">
      <dgm:prSet phldrT="[Text]"/>
      <dgm:spPr>
        <a:solidFill>
          <a:schemeClr val="accent5">
            <a:lumMod val="20000"/>
            <a:lumOff val="80000"/>
            <a:alpha val="90000"/>
          </a:schemeClr>
        </a:solidFill>
      </dgm:spPr>
      <dgm:t>
        <a:bodyPr/>
        <a:lstStyle/>
        <a:p>
          <a:r>
            <a:rPr lang="zh-CN" altLang="en-US" dirty="0" smtClean="0"/>
            <a:t>规则为主</a:t>
          </a:r>
          <a:endParaRPr lang="en-US" altLang="zh-CN" dirty="0" smtClean="0"/>
        </a:p>
        <a:p>
          <a:r>
            <a:rPr lang="zh-CN" altLang="en-US" dirty="0" smtClean="0"/>
            <a:t>常有漏网</a:t>
          </a:r>
          <a:endParaRPr lang="en-US" dirty="0"/>
        </a:p>
      </dgm:t>
    </dgm:pt>
    <dgm:pt modelId="{4A1B23BF-3FA5-5B48-9FE4-B8AA32AD6A46}" type="parTrans" cxnId="{7D4BE591-1AED-A542-840C-2A0F14D6BD6C}">
      <dgm:prSet/>
      <dgm:spPr/>
      <dgm:t>
        <a:bodyPr/>
        <a:lstStyle/>
        <a:p>
          <a:endParaRPr lang="en-US"/>
        </a:p>
      </dgm:t>
    </dgm:pt>
    <dgm:pt modelId="{6C89093E-24A4-3642-8D76-DEC7AFE4AC11}" type="sibTrans" cxnId="{7D4BE591-1AED-A542-840C-2A0F14D6BD6C}">
      <dgm:prSet/>
      <dgm:spPr/>
      <dgm:t>
        <a:bodyPr/>
        <a:lstStyle/>
        <a:p>
          <a:endParaRPr lang="en-US"/>
        </a:p>
      </dgm:t>
    </dgm:pt>
    <dgm:pt modelId="{EA010E42-F1D7-844D-A4BC-3BD68B6A1370}" type="pres">
      <dgm:prSet presAssocID="{C232D987-D20C-9249-B3AF-DD60DE7F0E03}" presName="diagram" presStyleCnt="0">
        <dgm:presLayoutVars>
          <dgm:chPref val="1"/>
          <dgm:dir/>
          <dgm:animOne val="branch"/>
          <dgm:animLvl val="lvl"/>
          <dgm:resizeHandles/>
        </dgm:presLayoutVars>
      </dgm:prSet>
      <dgm:spPr/>
    </dgm:pt>
    <dgm:pt modelId="{715CE84D-1CB9-8B45-A60D-7173FD28818E}" type="pres">
      <dgm:prSet presAssocID="{2C1893DD-E56E-D34D-A5FA-38828914AEF9}" presName="root" presStyleCnt="0"/>
      <dgm:spPr/>
    </dgm:pt>
    <dgm:pt modelId="{F96F1BFE-6A03-294B-A8D6-ADC084CB8FE2}" type="pres">
      <dgm:prSet presAssocID="{2C1893DD-E56E-D34D-A5FA-38828914AEF9}" presName="rootComposite" presStyleCnt="0"/>
      <dgm:spPr/>
    </dgm:pt>
    <dgm:pt modelId="{838F93B4-5A55-DD4A-8D42-EC865E210762}" type="pres">
      <dgm:prSet presAssocID="{2C1893DD-E56E-D34D-A5FA-38828914AEF9}" presName="rootText" presStyleLbl="node1" presStyleIdx="0" presStyleCnt="6" custLinFactY="-13641" custLinFactNeighborX="17641" custLinFactNeighborY="-100000"/>
      <dgm:spPr/>
    </dgm:pt>
    <dgm:pt modelId="{CC3B4FA0-C3C5-9148-A762-0A94CA0EF07D}" type="pres">
      <dgm:prSet presAssocID="{2C1893DD-E56E-D34D-A5FA-38828914AEF9}" presName="rootConnector" presStyleLbl="node1" presStyleIdx="0" presStyleCnt="6"/>
      <dgm:spPr/>
    </dgm:pt>
    <dgm:pt modelId="{C5D48515-701B-7A43-9E62-A9C0B6112F64}" type="pres">
      <dgm:prSet presAssocID="{2C1893DD-E56E-D34D-A5FA-38828914AEF9}" presName="childShape" presStyleCnt="0"/>
      <dgm:spPr/>
    </dgm:pt>
    <dgm:pt modelId="{9BFAF468-2FC0-8149-8BD8-16682673CEC4}" type="pres">
      <dgm:prSet presAssocID="{F1C330E5-7642-3748-91A5-6AFE196E0E64}" presName="Name13" presStyleLbl="parChTrans1D2" presStyleIdx="0" presStyleCnt="12"/>
      <dgm:spPr/>
    </dgm:pt>
    <dgm:pt modelId="{1F65B41B-9ADE-1F48-BB7D-3ED8AF5E5945}" type="pres">
      <dgm:prSet presAssocID="{3BD6F3A1-0FEF-9047-A25A-DA34E45169CB}" presName="childText" presStyleLbl="bgAcc1" presStyleIdx="0" presStyleCnt="12" custLinFactY="-13641" custLinFactNeighborX="22051" custLinFactNeighborY="-100000">
        <dgm:presLayoutVars>
          <dgm:bulletEnabled val="1"/>
        </dgm:presLayoutVars>
      </dgm:prSet>
      <dgm:spPr/>
    </dgm:pt>
    <dgm:pt modelId="{5A313AB4-74A9-1E45-8DD2-6EA86D6D7CFA}" type="pres">
      <dgm:prSet presAssocID="{B2A16ED4-761A-1F49-8D7B-EF13A369DA15}" presName="Name13" presStyleLbl="parChTrans1D2" presStyleIdx="1" presStyleCnt="12"/>
      <dgm:spPr/>
    </dgm:pt>
    <dgm:pt modelId="{83D327C4-209F-FE4B-843C-9431E01BE1AF}" type="pres">
      <dgm:prSet presAssocID="{41F91A12-FD34-AD48-8D75-76D51D4131AC}" presName="childText" presStyleLbl="bgAcc1" presStyleIdx="1" presStyleCnt="12" custLinFactY="-13641" custLinFactNeighborX="22051" custLinFactNeighborY="-100000">
        <dgm:presLayoutVars>
          <dgm:bulletEnabled val="1"/>
        </dgm:presLayoutVars>
      </dgm:prSet>
      <dgm:spPr/>
    </dgm:pt>
    <dgm:pt modelId="{2BDFE6A1-9EFA-424E-8D45-E76921080039}" type="pres">
      <dgm:prSet presAssocID="{D8834906-C248-5040-A00D-722084346EB1}" presName="root" presStyleCnt="0"/>
      <dgm:spPr/>
    </dgm:pt>
    <dgm:pt modelId="{5C7C8975-C0EE-E84D-8CA8-1B8FD76E233E}" type="pres">
      <dgm:prSet presAssocID="{D8834906-C248-5040-A00D-722084346EB1}" presName="rootComposite" presStyleCnt="0"/>
      <dgm:spPr/>
    </dgm:pt>
    <dgm:pt modelId="{06300884-7CAD-0344-AA42-F99D1AE921B0}" type="pres">
      <dgm:prSet presAssocID="{D8834906-C248-5040-A00D-722084346EB1}" presName="rootText" presStyleLbl="node1" presStyleIdx="1" presStyleCnt="6" custLinFactY="-5653" custLinFactNeighborX="87618" custLinFactNeighborY="-100000"/>
      <dgm:spPr/>
      <dgm:t>
        <a:bodyPr/>
        <a:lstStyle/>
        <a:p>
          <a:endParaRPr lang="en-US"/>
        </a:p>
      </dgm:t>
    </dgm:pt>
    <dgm:pt modelId="{84E5EC63-79DE-CF4C-97EE-678C89E392F7}" type="pres">
      <dgm:prSet presAssocID="{D8834906-C248-5040-A00D-722084346EB1}" presName="rootConnector" presStyleLbl="node1" presStyleIdx="1" presStyleCnt="6"/>
      <dgm:spPr/>
    </dgm:pt>
    <dgm:pt modelId="{C7757CEB-6BB2-B145-97BA-1336096C1794}" type="pres">
      <dgm:prSet presAssocID="{D8834906-C248-5040-A00D-722084346EB1}" presName="childShape" presStyleCnt="0"/>
      <dgm:spPr/>
    </dgm:pt>
    <dgm:pt modelId="{ABB2CD52-E88A-EC4A-8AFF-49103BA2656B}" type="pres">
      <dgm:prSet presAssocID="{836FC46D-481C-F74E-BAB0-B67AA694D836}" presName="Name13" presStyleLbl="parChTrans1D2" presStyleIdx="2" presStyleCnt="12"/>
      <dgm:spPr/>
    </dgm:pt>
    <dgm:pt modelId="{793B03E0-E5B9-1748-A4F1-57108B9F3265}" type="pres">
      <dgm:prSet presAssocID="{8AA9458D-AE47-E945-874F-5E185F743924}" presName="childText" presStyleLbl="bgAcc1" presStyleIdx="2" presStyleCnt="12" custLinFactX="9522" custLinFactY="-5653" custLinFactNeighborX="100000" custLinFactNeighborY="-100000">
        <dgm:presLayoutVars>
          <dgm:bulletEnabled val="1"/>
        </dgm:presLayoutVars>
      </dgm:prSet>
      <dgm:spPr/>
    </dgm:pt>
    <dgm:pt modelId="{99773D79-FDAD-0141-9858-4E1AEFE79E4C}" type="pres">
      <dgm:prSet presAssocID="{5D8E56D2-B870-A149-B45D-D41E4726C947}" presName="Name13" presStyleLbl="parChTrans1D2" presStyleIdx="3" presStyleCnt="12"/>
      <dgm:spPr/>
    </dgm:pt>
    <dgm:pt modelId="{A8BCF408-4D28-1744-9D0F-DDAAD76B038B}" type="pres">
      <dgm:prSet presAssocID="{667EBDAD-2094-2E4B-A891-871CF48A9B0A}" presName="childText" presStyleLbl="bgAcc1" presStyleIdx="3" presStyleCnt="12" custLinFactX="9522" custLinFactY="-5653" custLinFactNeighborX="100000" custLinFactNeighborY="-100000">
        <dgm:presLayoutVars>
          <dgm:bulletEnabled val="1"/>
        </dgm:presLayoutVars>
      </dgm:prSet>
      <dgm:spPr/>
    </dgm:pt>
    <dgm:pt modelId="{9789A759-223D-A149-8085-D83C8022E166}" type="pres">
      <dgm:prSet presAssocID="{6D575660-F74E-BF43-A9D3-962EAFD72D6A}" presName="root" presStyleCnt="0"/>
      <dgm:spPr/>
    </dgm:pt>
    <dgm:pt modelId="{C9EB83E6-0298-9B4D-BA04-FCF962F92A60}" type="pres">
      <dgm:prSet presAssocID="{6D575660-F74E-BF43-A9D3-962EAFD72D6A}" presName="rootComposite" presStyleCnt="0"/>
      <dgm:spPr/>
    </dgm:pt>
    <dgm:pt modelId="{937DC8A8-401A-C54C-9D1C-5B9BFDDC531D}" type="pres">
      <dgm:prSet presAssocID="{6D575660-F74E-BF43-A9D3-962EAFD72D6A}" presName="rootText" presStyleLbl="node1" presStyleIdx="2" presStyleCnt="6" custLinFactX="58954" custLinFactY="-8594" custLinFactNeighborX="100000" custLinFactNeighborY="-100000"/>
      <dgm:spPr/>
      <dgm:t>
        <a:bodyPr/>
        <a:lstStyle/>
        <a:p>
          <a:endParaRPr lang="en-US"/>
        </a:p>
      </dgm:t>
    </dgm:pt>
    <dgm:pt modelId="{904B7212-7BCD-E34E-90FD-4744DF29D30D}" type="pres">
      <dgm:prSet presAssocID="{6D575660-F74E-BF43-A9D3-962EAFD72D6A}" presName="rootConnector" presStyleLbl="node1" presStyleIdx="2" presStyleCnt="6"/>
      <dgm:spPr/>
    </dgm:pt>
    <dgm:pt modelId="{91E0B136-2929-6A4A-BF34-E87F203C3FA6}" type="pres">
      <dgm:prSet presAssocID="{6D575660-F74E-BF43-A9D3-962EAFD72D6A}" presName="childShape" presStyleCnt="0"/>
      <dgm:spPr/>
    </dgm:pt>
    <dgm:pt modelId="{6660CF19-D45C-644E-948D-1A93D3D81BCA}" type="pres">
      <dgm:prSet presAssocID="{8D4937FB-7199-3841-B9E9-9490000BD72C}" presName="Name13" presStyleLbl="parChTrans1D2" presStyleIdx="4" presStyleCnt="12"/>
      <dgm:spPr/>
    </dgm:pt>
    <dgm:pt modelId="{4CE93792-D7F2-F747-A2AE-93A3BAA5139E}" type="pres">
      <dgm:prSet presAssocID="{21EB6C75-1F29-3340-9D43-6E8DF3215C64}" presName="childText" presStyleLbl="bgAcc1" presStyleIdx="4" presStyleCnt="12" custLinFactX="100000" custLinFactY="-5329" custLinFactNeighborX="100103" custLinFactNeighborY="-100000">
        <dgm:presLayoutVars>
          <dgm:bulletEnabled val="1"/>
        </dgm:presLayoutVars>
      </dgm:prSet>
      <dgm:spPr/>
    </dgm:pt>
    <dgm:pt modelId="{37BBBD76-9E78-2C45-80FA-8D18A2BF66EF}" type="pres">
      <dgm:prSet presAssocID="{5B28ED55-2D05-EB45-8E78-5BA82CFE6104}" presName="Name13" presStyleLbl="parChTrans1D2" presStyleIdx="5" presStyleCnt="12"/>
      <dgm:spPr/>
    </dgm:pt>
    <dgm:pt modelId="{31B90382-2491-BE4D-B60C-349083FEE83B}" type="pres">
      <dgm:prSet presAssocID="{9586343B-58C5-F947-B9D9-4C9E4E88C8E3}" presName="childText" presStyleLbl="bgAcc1" presStyleIdx="5" presStyleCnt="12" custScaleX="103225" custLinFactX="97722" custLinFactY="-5491" custLinFactNeighborX="100000" custLinFactNeighborY="-100000">
        <dgm:presLayoutVars>
          <dgm:bulletEnabled val="1"/>
        </dgm:presLayoutVars>
      </dgm:prSet>
      <dgm:spPr/>
    </dgm:pt>
    <dgm:pt modelId="{B241749C-A5E4-0747-9DC1-4050EB23E82F}" type="pres">
      <dgm:prSet presAssocID="{085A7D33-5609-F347-99CD-9308F39BC429}" presName="root" presStyleCnt="0"/>
      <dgm:spPr/>
    </dgm:pt>
    <dgm:pt modelId="{46FD615A-31C4-4746-9C5B-C15D6E14A60C}" type="pres">
      <dgm:prSet presAssocID="{085A7D33-5609-F347-99CD-9308F39BC429}" presName="rootComposite" presStyleCnt="0"/>
      <dgm:spPr/>
    </dgm:pt>
    <dgm:pt modelId="{69184A84-0202-3745-BBC2-0B411CEBF052}" type="pres">
      <dgm:prSet presAssocID="{085A7D33-5609-F347-99CD-9308F39BC429}" presName="rootText" presStyleLbl="node1" presStyleIdx="3" presStyleCnt="6" custLinFactX="-157003" custLinFactY="100000" custLinFactNeighborX="-200000" custLinFactNeighborY="185405"/>
      <dgm:spPr/>
      <dgm:t>
        <a:bodyPr/>
        <a:lstStyle/>
        <a:p>
          <a:endParaRPr lang="en-US"/>
        </a:p>
      </dgm:t>
    </dgm:pt>
    <dgm:pt modelId="{089E9F1F-A90D-294E-9BFE-1AE7825E11F0}" type="pres">
      <dgm:prSet presAssocID="{085A7D33-5609-F347-99CD-9308F39BC429}" presName="rootConnector" presStyleLbl="node1" presStyleIdx="3" presStyleCnt="6"/>
      <dgm:spPr/>
    </dgm:pt>
    <dgm:pt modelId="{1165E010-3C46-1545-8428-B62E792DA66B}" type="pres">
      <dgm:prSet presAssocID="{085A7D33-5609-F347-99CD-9308F39BC429}" presName="childShape" presStyleCnt="0"/>
      <dgm:spPr/>
    </dgm:pt>
    <dgm:pt modelId="{EEA1A23B-F1A1-3A42-A38C-593F75DF129B}" type="pres">
      <dgm:prSet presAssocID="{A1493C49-22E4-A741-A173-3F5D77D0A2A9}" presName="Name13" presStyleLbl="parChTrans1D2" presStyleIdx="6" presStyleCnt="12"/>
      <dgm:spPr/>
    </dgm:pt>
    <dgm:pt modelId="{5821AB21-D1F1-4540-AD88-72993D36F1F3}" type="pres">
      <dgm:prSet presAssocID="{DB510ED0-1C2E-6E40-93EA-A2E6EFEFD5B9}" presName="childText" presStyleLbl="bgAcc1" presStyleIdx="6" presStyleCnt="12" custLinFactX="-200000" custLinFactY="100000" custLinFactNeighborX="-248702" custLinFactNeighborY="186956">
        <dgm:presLayoutVars>
          <dgm:bulletEnabled val="1"/>
        </dgm:presLayoutVars>
      </dgm:prSet>
      <dgm:spPr/>
      <dgm:t>
        <a:bodyPr/>
        <a:lstStyle/>
        <a:p>
          <a:endParaRPr lang="en-US"/>
        </a:p>
      </dgm:t>
    </dgm:pt>
    <dgm:pt modelId="{48E9C3A8-9ADD-E842-9E8E-E1ECBF973C48}" type="pres">
      <dgm:prSet presAssocID="{A0FEAE3D-2303-A942-9912-548C35444945}" presName="Name13" presStyleLbl="parChTrans1D2" presStyleIdx="7" presStyleCnt="12"/>
      <dgm:spPr/>
    </dgm:pt>
    <dgm:pt modelId="{566BA3F6-28D5-5044-9957-617D2C06680F}" type="pres">
      <dgm:prSet presAssocID="{ECFACE8A-D0AB-B046-A274-C81B2EA72775}" presName="childText" presStyleLbl="bgAcc1" presStyleIdx="7" presStyleCnt="12" custLinFactX="-200000" custLinFactY="100000" custLinFactNeighborX="-252530" custLinFactNeighborY="184672">
        <dgm:presLayoutVars>
          <dgm:bulletEnabled val="1"/>
        </dgm:presLayoutVars>
      </dgm:prSet>
      <dgm:spPr/>
    </dgm:pt>
    <dgm:pt modelId="{5E283A6C-0C4E-F94D-8EB8-8E5F0B72EAE9}" type="pres">
      <dgm:prSet presAssocID="{B52E87D9-8E21-2C45-BE85-56B12CA908F1}" presName="root" presStyleCnt="0"/>
      <dgm:spPr/>
    </dgm:pt>
    <dgm:pt modelId="{31C4D77C-9FA3-5143-B2CE-1DBFAF644422}" type="pres">
      <dgm:prSet presAssocID="{B52E87D9-8E21-2C45-BE85-56B12CA908F1}" presName="rootComposite" presStyleCnt="0"/>
      <dgm:spPr/>
    </dgm:pt>
    <dgm:pt modelId="{C7C9784B-B1A1-1E4B-9D80-886B3B777CC6}" type="pres">
      <dgm:prSet presAssocID="{B52E87D9-8E21-2C45-BE85-56B12CA908F1}" presName="rootText" presStyleLbl="node1" presStyleIdx="4" presStyleCnt="6" custLinFactX="-100000" custLinFactY="100000" custLinFactNeighborX="-186658" custLinFactNeighborY="191842"/>
      <dgm:spPr/>
      <dgm:t>
        <a:bodyPr/>
        <a:lstStyle/>
        <a:p>
          <a:endParaRPr lang="en-US"/>
        </a:p>
      </dgm:t>
    </dgm:pt>
    <dgm:pt modelId="{79A08DD5-C7B5-0F4E-B15E-09BB94CA82C4}" type="pres">
      <dgm:prSet presAssocID="{B52E87D9-8E21-2C45-BE85-56B12CA908F1}" presName="rootConnector" presStyleLbl="node1" presStyleIdx="4" presStyleCnt="6"/>
      <dgm:spPr/>
    </dgm:pt>
    <dgm:pt modelId="{505803BB-A119-5346-AA4C-9EDAA868DE2C}" type="pres">
      <dgm:prSet presAssocID="{B52E87D9-8E21-2C45-BE85-56B12CA908F1}" presName="childShape" presStyleCnt="0"/>
      <dgm:spPr/>
    </dgm:pt>
    <dgm:pt modelId="{D2BEA262-F32B-4946-953D-8D634EF8AE45}" type="pres">
      <dgm:prSet presAssocID="{46376D37-2EEF-1644-8B15-E56B748FB168}" presName="Name13" presStyleLbl="parChTrans1D2" presStyleIdx="8" presStyleCnt="12"/>
      <dgm:spPr/>
    </dgm:pt>
    <dgm:pt modelId="{55B6B1AA-D433-C64D-9D36-6614B6324C83}" type="pres">
      <dgm:prSet presAssocID="{ECEAD47D-D5FE-9B41-A306-8980DED47DF5}" presName="childText" presStyleLbl="bgAcc1" presStyleIdx="8" presStyleCnt="12" custLinFactX="-158323" custLinFactY="100000" custLinFactNeighborX="-200000" custLinFactNeighborY="191842">
        <dgm:presLayoutVars>
          <dgm:bulletEnabled val="1"/>
        </dgm:presLayoutVars>
      </dgm:prSet>
      <dgm:spPr/>
    </dgm:pt>
    <dgm:pt modelId="{EB67657E-ABF0-7E47-AD08-065205066E84}" type="pres">
      <dgm:prSet presAssocID="{7AF0E521-0140-1D4E-8F41-583EEF075E48}" presName="Name13" presStyleLbl="parChTrans1D2" presStyleIdx="9" presStyleCnt="12"/>
      <dgm:spPr/>
    </dgm:pt>
    <dgm:pt modelId="{6B096F59-7ABD-A849-886A-B4C5C4664006}" type="pres">
      <dgm:prSet presAssocID="{E7057B63-14ED-7144-B8D7-31E6A7878AB7}" presName="childText" presStyleLbl="bgAcc1" presStyleIdx="9" presStyleCnt="12" custLinFactX="-156427" custLinFactY="100000" custLinFactNeighborX="-200000" custLinFactNeighborY="188099">
        <dgm:presLayoutVars>
          <dgm:bulletEnabled val="1"/>
        </dgm:presLayoutVars>
      </dgm:prSet>
      <dgm:spPr/>
    </dgm:pt>
    <dgm:pt modelId="{F9E56209-F5DB-B24F-8D84-8223273D3166}" type="pres">
      <dgm:prSet presAssocID="{35ED5F24-E76D-8644-A7F3-64AE0B4471C1}" presName="root" presStyleCnt="0"/>
      <dgm:spPr/>
    </dgm:pt>
    <dgm:pt modelId="{68291E61-71E1-2745-8830-88487E3A55C9}" type="pres">
      <dgm:prSet presAssocID="{35ED5F24-E76D-8644-A7F3-64AE0B4471C1}" presName="rootComposite" presStyleCnt="0"/>
      <dgm:spPr/>
    </dgm:pt>
    <dgm:pt modelId="{93A707EA-4350-F04F-8EC6-00464FF67962}" type="pres">
      <dgm:prSet presAssocID="{35ED5F24-E76D-8644-A7F3-64AE0B4471C1}" presName="rootText" presStyleLbl="node1" presStyleIdx="5" presStyleCnt="6" custLinFactX="-100000" custLinFactY="100000" custLinFactNeighborX="-118425" custLinFactNeighborY="195107"/>
      <dgm:spPr/>
      <dgm:t>
        <a:bodyPr/>
        <a:lstStyle/>
        <a:p>
          <a:endParaRPr lang="en-US"/>
        </a:p>
      </dgm:t>
    </dgm:pt>
    <dgm:pt modelId="{9298FAA7-BB1A-1447-99FD-8761523158BF}" type="pres">
      <dgm:prSet presAssocID="{35ED5F24-E76D-8644-A7F3-64AE0B4471C1}" presName="rootConnector" presStyleLbl="node1" presStyleIdx="5" presStyleCnt="6"/>
      <dgm:spPr/>
    </dgm:pt>
    <dgm:pt modelId="{483446B9-F9FE-264D-89ED-E539BF22F18F}" type="pres">
      <dgm:prSet presAssocID="{35ED5F24-E76D-8644-A7F3-64AE0B4471C1}" presName="childShape" presStyleCnt="0"/>
      <dgm:spPr/>
    </dgm:pt>
    <dgm:pt modelId="{A340B6FB-ABE8-AA49-B313-62202D981799}" type="pres">
      <dgm:prSet presAssocID="{4A1B23BF-3FA5-5B48-9FE4-B8AA32AD6A46}" presName="Name13" presStyleLbl="parChTrans1D2" presStyleIdx="10" presStyleCnt="12"/>
      <dgm:spPr/>
    </dgm:pt>
    <dgm:pt modelId="{6A567647-46CC-884E-9EB0-192C0500520B}" type="pres">
      <dgm:prSet presAssocID="{75F22857-41E5-B747-B5A1-2BA8D1872FBE}" presName="childText" presStyleLbl="bgAcc1" presStyleIdx="10" presStyleCnt="12" custLinFactX="-100000" custLinFactY="101637" custLinFactNeighborX="-174050" custLinFactNeighborY="200000">
        <dgm:presLayoutVars>
          <dgm:bulletEnabled val="1"/>
        </dgm:presLayoutVars>
      </dgm:prSet>
      <dgm:spPr/>
    </dgm:pt>
    <dgm:pt modelId="{2C6E93C8-1A5E-7B46-B07A-BA4479ACF2D7}" type="pres">
      <dgm:prSet presAssocID="{D8300932-1253-224B-B5C9-700B4576A9BA}" presName="Name13" presStyleLbl="parChTrans1D2" presStyleIdx="11" presStyleCnt="12"/>
      <dgm:spPr/>
    </dgm:pt>
    <dgm:pt modelId="{1720056B-3890-324D-BB8D-3F8F0220F76A}" type="pres">
      <dgm:prSet presAssocID="{C91112A6-5C68-0948-9E38-F821A1733400}" presName="childText" presStyleLbl="bgAcc1" presStyleIdx="11" presStyleCnt="12" custLinFactX="-100000" custLinFactY="100000" custLinFactNeighborX="-176243" custLinFactNeighborY="198785">
        <dgm:presLayoutVars>
          <dgm:bulletEnabled val="1"/>
        </dgm:presLayoutVars>
      </dgm:prSet>
      <dgm:spPr/>
    </dgm:pt>
  </dgm:ptLst>
  <dgm:cxnLst>
    <dgm:cxn modelId="{F9A7ECD2-F872-594D-877D-2BE38CE23F4B}" type="presOf" srcId="{3BD6F3A1-0FEF-9047-A25A-DA34E45169CB}" destId="{1F65B41B-9ADE-1F48-BB7D-3ED8AF5E5945}" srcOrd="0" destOrd="0" presId="urn:microsoft.com/office/officeart/2005/8/layout/hierarchy3"/>
    <dgm:cxn modelId="{B12B3FE2-86C6-1F4D-8F07-9B8688370CE4}" type="presOf" srcId="{B52E87D9-8E21-2C45-BE85-56B12CA908F1}" destId="{79A08DD5-C7B5-0F4E-B15E-09BB94CA82C4}" srcOrd="1" destOrd="0" presId="urn:microsoft.com/office/officeart/2005/8/layout/hierarchy3"/>
    <dgm:cxn modelId="{7D4BE591-1AED-A542-840C-2A0F14D6BD6C}" srcId="{35ED5F24-E76D-8644-A7F3-64AE0B4471C1}" destId="{75F22857-41E5-B747-B5A1-2BA8D1872FBE}" srcOrd="0" destOrd="0" parTransId="{4A1B23BF-3FA5-5B48-9FE4-B8AA32AD6A46}" sibTransId="{6C89093E-24A4-3642-8D76-DEC7AFE4AC11}"/>
    <dgm:cxn modelId="{2872A18F-C8CC-2647-A9FB-7E93D86782C4}" type="presOf" srcId="{46376D37-2EEF-1644-8B15-E56B748FB168}" destId="{D2BEA262-F32B-4946-953D-8D634EF8AE45}" srcOrd="0" destOrd="0" presId="urn:microsoft.com/office/officeart/2005/8/layout/hierarchy3"/>
    <dgm:cxn modelId="{DC740E7A-ADBE-E749-B9D2-CF7F3335497C}" type="presOf" srcId="{B52E87D9-8E21-2C45-BE85-56B12CA908F1}" destId="{C7C9784B-B1A1-1E4B-9D80-886B3B777CC6}" srcOrd="0" destOrd="0" presId="urn:microsoft.com/office/officeart/2005/8/layout/hierarchy3"/>
    <dgm:cxn modelId="{2C32F030-5CD4-4348-8C8E-4F2D676755A1}" srcId="{C232D987-D20C-9249-B3AF-DD60DE7F0E03}" destId="{2C1893DD-E56E-D34D-A5FA-38828914AEF9}" srcOrd="0" destOrd="0" parTransId="{06E0ABDA-FD2D-BE4A-83E5-D07038368025}" sibTransId="{11909144-BCA0-8146-B349-E0BF8C7F31C2}"/>
    <dgm:cxn modelId="{F4BDFC97-F4A1-2C46-8F8A-2EBFAD672615}" type="presOf" srcId="{21EB6C75-1F29-3340-9D43-6E8DF3215C64}" destId="{4CE93792-D7F2-F747-A2AE-93A3BAA5139E}" srcOrd="0" destOrd="0" presId="urn:microsoft.com/office/officeart/2005/8/layout/hierarchy3"/>
    <dgm:cxn modelId="{A4B8E78E-FA7B-2141-8B05-DE6B251403D4}" type="presOf" srcId="{4A1B23BF-3FA5-5B48-9FE4-B8AA32AD6A46}" destId="{A340B6FB-ABE8-AA49-B313-62202D981799}" srcOrd="0" destOrd="0" presId="urn:microsoft.com/office/officeart/2005/8/layout/hierarchy3"/>
    <dgm:cxn modelId="{A1323D12-C77B-6E41-A230-4C8565604262}" type="presOf" srcId="{D8300932-1253-224B-B5C9-700B4576A9BA}" destId="{2C6E93C8-1A5E-7B46-B07A-BA4479ACF2D7}" srcOrd="0" destOrd="0" presId="urn:microsoft.com/office/officeart/2005/8/layout/hierarchy3"/>
    <dgm:cxn modelId="{3B8F6DCF-D854-7D4E-98E5-12C1F8D2CD30}" type="presOf" srcId="{2C1893DD-E56E-D34D-A5FA-38828914AEF9}" destId="{838F93B4-5A55-DD4A-8D42-EC865E210762}" srcOrd="0" destOrd="0" presId="urn:microsoft.com/office/officeart/2005/8/layout/hierarchy3"/>
    <dgm:cxn modelId="{8256A090-B056-EB41-845C-94B4475C07C0}" type="presOf" srcId="{6D575660-F74E-BF43-A9D3-962EAFD72D6A}" destId="{904B7212-7BCD-E34E-90FD-4744DF29D30D}" srcOrd="1" destOrd="0" presId="urn:microsoft.com/office/officeart/2005/8/layout/hierarchy3"/>
    <dgm:cxn modelId="{BEC7ECB2-4FAB-D34F-883D-3B78EBBB6062}" type="presOf" srcId="{A0FEAE3D-2303-A942-9912-548C35444945}" destId="{48E9C3A8-9ADD-E842-9E8E-E1ECBF973C48}" srcOrd="0" destOrd="0" presId="urn:microsoft.com/office/officeart/2005/8/layout/hierarchy3"/>
    <dgm:cxn modelId="{250385B2-1BD8-2247-B8C4-04F5B93AC55B}" srcId="{085A7D33-5609-F347-99CD-9308F39BC429}" destId="{ECFACE8A-D0AB-B046-A274-C81B2EA72775}" srcOrd="1" destOrd="0" parTransId="{A0FEAE3D-2303-A942-9912-548C35444945}" sibTransId="{70C4D7B7-8460-0745-B4F7-8AB05C695FEB}"/>
    <dgm:cxn modelId="{DC33DBBC-1DB4-9D48-A745-F46C5E3B42AD}" type="presOf" srcId="{D8834906-C248-5040-A00D-722084346EB1}" destId="{06300884-7CAD-0344-AA42-F99D1AE921B0}" srcOrd="0" destOrd="0" presId="urn:microsoft.com/office/officeart/2005/8/layout/hierarchy3"/>
    <dgm:cxn modelId="{96F5C2D6-5410-2F46-AA15-810BCA2B7720}" type="presOf" srcId="{836FC46D-481C-F74E-BAB0-B67AA694D836}" destId="{ABB2CD52-E88A-EC4A-8AFF-49103BA2656B}" srcOrd="0" destOrd="0" presId="urn:microsoft.com/office/officeart/2005/8/layout/hierarchy3"/>
    <dgm:cxn modelId="{71FD5DA1-C69A-B141-8653-7AEB4E5AF2CF}" type="presOf" srcId="{9586343B-58C5-F947-B9D9-4C9E4E88C8E3}" destId="{31B90382-2491-BE4D-B60C-349083FEE83B}" srcOrd="0" destOrd="0" presId="urn:microsoft.com/office/officeart/2005/8/layout/hierarchy3"/>
    <dgm:cxn modelId="{153A28DD-BED6-2648-99C7-026A2920FF1B}" srcId="{B52E87D9-8E21-2C45-BE85-56B12CA908F1}" destId="{ECEAD47D-D5FE-9B41-A306-8980DED47DF5}" srcOrd="0" destOrd="0" parTransId="{46376D37-2EEF-1644-8B15-E56B748FB168}" sibTransId="{0B0B60E7-098A-B146-B1DA-7859D85FA2BE}"/>
    <dgm:cxn modelId="{BFCC8964-9D1C-2241-8AD7-FA99174606D0}" type="presOf" srcId="{667EBDAD-2094-2E4B-A891-871CF48A9B0A}" destId="{A8BCF408-4D28-1744-9D0F-DDAAD76B038B}" srcOrd="0" destOrd="0" presId="urn:microsoft.com/office/officeart/2005/8/layout/hierarchy3"/>
    <dgm:cxn modelId="{EA777C9B-83DE-0E48-8AE3-F74A391BC3B7}" type="presOf" srcId="{5D8E56D2-B870-A149-B45D-D41E4726C947}" destId="{99773D79-FDAD-0141-9858-4E1AEFE79E4C}" srcOrd="0" destOrd="0" presId="urn:microsoft.com/office/officeart/2005/8/layout/hierarchy3"/>
    <dgm:cxn modelId="{1D0FC0C4-93FC-E240-83A0-36E0879E0DAD}" srcId="{35ED5F24-E76D-8644-A7F3-64AE0B4471C1}" destId="{C91112A6-5C68-0948-9E38-F821A1733400}" srcOrd="1" destOrd="0" parTransId="{D8300932-1253-224B-B5C9-700B4576A9BA}" sibTransId="{F1734376-1ECC-FA4A-B85B-7315000891DD}"/>
    <dgm:cxn modelId="{B3BCD0C4-9380-9E4D-A7E7-E750649118FE}" type="presOf" srcId="{085A7D33-5609-F347-99CD-9308F39BC429}" destId="{69184A84-0202-3745-BBC2-0B411CEBF052}" srcOrd="0" destOrd="0" presId="urn:microsoft.com/office/officeart/2005/8/layout/hierarchy3"/>
    <dgm:cxn modelId="{4A817F41-478B-9847-A034-23AC6F3344A5}" type="presOf" srcId="{ECFACE8A-D0AB-B046-A274-C81B2EA72775}" destId="{566BA3F6-28D5-5044-9957-617D2C06680F}" srcOrd="0" destOrd="0" presId="urn:microsoft.com/office/officeart/2005/8/layout/hierarchy3"/>
    <dgm:cxn modelId="{63F51747-733D-094F-BC29-29A100B07192}" srcId="{6D575660-F74E-BF43-A9D3-962EAFD72D6A}" destId="{21EB6C75-1F29-3340-9D43-6E8DF3215C64}" srcOrd="0" destOrd="0" parTransId="{8D4937FB-7199-3841-B9E9-9490000BD72C}" sibTransId="{0396ED8D-84EC-C84C-9257-58FE87C70E8D}"/>
    <dgm:cxn modelId="{7EF3A5B7-7EC4-E049-9D9B-914BFCFECD82}" type="presOf" srcId="{B2A16ED4-761A-1F49-8D7B-EF13A369DA15}" destId="{5A313AB4-74A9-1E45-8DD2-6EA86D6D7CFA}" srcOrd="0" destOrd="0" presId="urn:microsoft.com/office/officeart/2005/8/layout/hierarchy3"/>
    <dgm:cxn modelId="{FD55A696-87BE-DF44-B1E9-6B295D36DF7C}" srcId="{C232D987-D20C-9249-B3AF-DD60DE7F0E03}" destId="{35ED5F24-E76D-8644-A7F3-64AE0B4471C1}" srcOrd="5" destOrd="0" parTransId="{041B6956-3BEC-A748-BEBC-9EF3D121A981}" sibTransId="{B8F6D245-F4A1-BF49-B083-BA2BC0EC8CC2}"/>
    <dgm:cxn modelId="{E2769203-2F6B-8741-B7FD-DD7EE1B04A40}" srcId="{2C1893DD-E56E-D34D-A5FA-38828914AEF9}" destId="{3BD6F3A1-0FEF-9047-A25A-DA34E45169CB}" srcOrd="0" destOrd="0" parTransId="{F1C330E5-7642-3748-91A5-6AFE196E0E64}" sibTransId="{8FA42CFD-484A-D847-979D-8107E6C06B26}"/>
    <dgm:cxn modelId="{53C9B968-5B6A-FF45-A60E-8D7642C7FA79}" srcId="{D8834906-C248-5040-A00D-722084346EB1}" destId="{667EBDAD-2094-2E4B-A891-871CF48A9B0A}" srcOrd="1" destOrd="0" parTransId="{5D8E56D2-B870-A149-B45D-D41E4726C947}" sibTransId="{00F47559-9751-1F40-9727-0B64E359D22E}"/>
    <dgm:cxn modelId="{CBCE2DA8-188E-CC49-800B-ABA19C37CA11}" type="presOf" srcId="{8D4937FB-7199-3841-B9E9-9490000BD72C}" destId="{6660CF19-D45C-644E-948D-1A93D3D81BCA}" srcOrd="0" destOrd="0" presId="urn:microsoft.com/office/officeart/2005/8/layout/hierarchy3"/>
    <dgm:cxn modelId="{76EDDDE9-DBB2-4641-B914-E2CBE3520D33}" srcId="{085A7D33-5609-F347-99CD-9308F39BC429}" destId="{DB510ED0-1C2E-6E40-93EA-A2E6EFEFD5B9}" srcOrd="0" destOrd="0" parTransId="{A1493C49-22E4-A741-A173-3F5D77D0A2A9}" sibTransId="{843C10C7-D970-9144-85B1-ADE564868E6B}"/>
    <dgm:cxn modelId="{EC1505E7-7113-244E-84D7-90FA6F6AD951}" type="presOf" srcId="{8AA9458D-AE47-E945-874F-5E185F743924}" destId="{793B03E0-E5B9-1748-A4F1-57108B9F3265}" srcOrd="0" destOrd="0" presId="urn:microsoft.com/office/officeart/2005/8/layout/hierarchy3"/>
    <dgm:cxn modelId="{5A2FB03B-8AD0-C54D-A27E-F80A19721E39}" type="presOf" srcId="{ECEAD47D-D5FE-9B41-A306-8980DED47DF5}" destId="{55B6B1AA-D433-C64D-9D36-6614B6324C83}" srcOrd="0" destOrd="0" presId="urn:microsoft.com/office/officeart/2005/8/layout/hierarchy3"/>
    <dgm:cxn modelId="{89501667-674D-DF4A-8C85-4BB2901607F8}" type="presOf" srcId="{35ED5F24-E76D-8644-A7F3-64AE0B4471C1}" destId="{93A707EA-4350-F04F-8EC6-00464FF67962}" srcOrd="0" destOrd="0" presId="urn:microsoft.com/office/officeart/2005/8/layout/hierarchy3"/>
    <dgm:cxn modelId="{9DD5E8AB-0770-FD4A-A8CA-F967DAFCE0DE}" type="presOf" srcId="{E7057B63-14ED-7144-B8D7-31E6A7878AB7}" destId="{6B096F59-7ABD-A849-886A-B4C5C4664006}" srcOrd="0" destOrd="0" presId="urn:microsoft.com/office/officeart/2005/8/layout/hierarchy3"/>
    <dgm:cxn modelId="{EB7253F3-5697-8E44-89DB-899CBB6588DA}" type="presOf" srcId="{C232D987-D20C-9249-B3AF-DD60DE7F0E03}" destId="{EA010E42-F1D7-844D-A4BC-3BD68B6A1370}" srcOrd="0" destOrd="0" presId="urn:microsoft.com/office/officeart/2005/8/layout/hierarchy3"/>
    <dgm:cxn modelId="{BE38A29D-5EEA-9D49-A715-C88C3BC70125}" type="presOf" srcId="{6D575660-F74E-BF43-A9D3-962EAFD72D6A}" destId="{937DC8A8-401A-C54C-9D1C-5B9BFDDC531D}" srcOrd="0" destOrd="0" presId="urn:microsoft.com/office/officeart/2005/8/layout/hierarchy3"/>
    <dgm:cxn modelId="{E38591D5-6D32-554C-B524-14211CFEBA25}" srcId="{6D575660-F74E-BF43-A9D3-962EAFD72D6A}" destId="{9586343B-58C5-F947-B9D9-4C9E4E88C8E3}" srcOrd="1" destOrd="0" parTransId="{5B28ED55-2D05-EB45-8E78-5BA82CFE6104}" sibTransId="{4D62D470-8F26-1148-B1F4-2C885404CE64}"/>
    <dgm:cxn modelId="{C661A828-5832-A64C-B866-7148E8AE3F5F}" type="presOf" srcId="{7AF0E521-0140-1D4E-8F41-583EEF075E48}" destId="{EB67657E-ABF0-7E47-AD08-065205066E84}" srcOrd="0" destOrd="0" presId="urn:microsoft.com/office/officeart/2005/8/layout/hierarchy3"/>
    <dgm:cxn modelId="{4EA745A2-E407-2747-BB3B-FC6CF6ECBC6E}" type="presOf" srcId="{41F91A12-FD34-AD48-8D75-76D51D4131AC}" destId="{83D327C4-209F-FE4B-843C-9431E01BE1AF}" srcOrd="0" destOrd="0" presId="urn:microsoft.com/office/officeart/2005/8/layout/hierarchy3"/>
    <dgm:cxn modelId="{6E2CD7FE-8BBF-D843-BB85-F88DFC84C857}" type="presOf" srcId="{75F22857-41E5-B747-B5A1-2BA8D1872FBE}" destId="{6A567647-46CC-884E-9EB0-192C0500520B}" srcOrd="0" destOrd="0" presId="urn:microsoft.com/office/officeart/2005/8/layout/hierarchy3"/>
    <dgm:cxn modelId="{DE617248-26AD-5D4E-A146-2EBADF0A3838}" srcId="{C232D987-D20C-9249-B3AF-DD60DE7F0E03}" destId="{B52E87D9-8E21-2C45-BE85-56B12CA908F1}" srcOrd="4" destOrd="0" parTransId="{1548F432-C497-6847-B778-1E0A6E3256C6}" sibTransId="{D99C40F3-F006-0545-A20E-FD377DA7124F}"/>
    <dgm:cxn modelId="{C39262E4-5279-144E-9B96-B375E28CCC6F}" type="presOf" srcId="{F1C330E5-7642-3748-91A5-6AFE196E0E64}" destId="{9BFAF468-2FC0-8149-8BD8-16682673CEC4}" srcOrd="0" destOrd="0" presId="urn:microsoft.com/office/officeart/2005/8/layout/hierarchy3"/>
    <dgm:cxn modelId="{E052AC59-461E-EF43-BCF5-2E453A84E73A}" type="presOf" srcId="{DB510ED0-1C2E-6E40-93EA-A2E6EFEFD5B9}" destId="{5821AB21-D1F1-4540-AD88-72993D36F1F3}" srcOrd="0" destOrd="0" presId="urn:microsoft.com/office/officeart/2005/8/layout/hierarchy3"/>
    <dgm:cxn modelId="{DA4E80F3-C4C4-2646-94F3-7D1FC53661D7}" type="presOf" srcId="{C91112A6-5C68-0948-9E38-F821A1733400}" destId="{1720056B-3890-324D-BB8D-3F8F0220F76A}" srcOrd="0" destOrd="0" presId="urn:microsoft.com/office/officeart/2005/8/layout/hierarchy3"/>
    <dgm:cxn modelId="{0498FC05-5DD1-5E4B-A745-7C2EADA8B3AA}" srcId="{D8834906-C248-5040-A00D-722084346EB1}" destId="{8AA9458D-AE47-E945-874F-5E185F743924}" srcOrd="0" destOrd="0" parTransId="{836FC46D-481C-F74E-BAB0-B67AA694D836}" sibTransId="{7A0737E5-BCDC-3946-8A36-6ADD1D5E1F72}"/>
    <dgm:cxn modelId="{E021FF5B-F20C-9943-B8DD-740320DE0E35}" type="presOf" srcId="{35ED5F24-E76D-8644-A7F3-64AE0B4471C1}" destId="{9298FAA7-BB1A-1447-99FD-8761523158BF}" srcOrd="1" destOrd="0" presId="urn:microsoft.com/office/officeart/2005/8/layout/hierarchy3"/>
    <dgm:cxn modelId="{AF742CD2-8C0F-1347-82B8-989F353C9D9E}" srcId="{C232D987-D20C-9249-B3AF-DD60DE7F0E03}" destId="{085A7D33-5609-F347-99CD-9308F39BC429}" srcOrd="3" destOrd="0" parTransId="{B0FA65F2-0089-834E-8165-CD260281690C}" sibTransId="{EDC64140-A9AD-C54E-ABE6-F4771E75F831}"/>
    <dgm:cxn modelId="{A550BF57-0492-224E-ABD3-42CC3E936138}" srcId="{C232D987-D20C-9249-B3AF-DD60DE7F0E03}" destId="{6D575660-F74E-BF43-A9D3-962EAFD72D6A}" srcOrd="2" destOrd="0" parTransId="{5964609E-AF6A-724A-98CA-C55E9AFEF46B}" sibTransId="{1251C5DB-48AC-B145-B946-ACA47743A2F8}"/>
    <dgm:cxn modelId="{ECA0F360-E2B1-5F4C-A5E2-11176FEF155E}" srcId="{B52E87D9-8E21-2C45-BE85-56B12CA908F1}" destId="{E7057B63-14ED-7144-B8D7-31E6A7878AB7}" srcOrd="1" destOrd="0" parTransId="{7AF0E521-0140-1D4E-8F41-583EEF075E48}" sibTransId="{13FAB976-C719-5246-B96A-71C7E1B53F9A}"/>
    <dgm:cxn modelId="{314FD68E-0DAE-B64F-99C9-573AA8543FF6}" type="presOf" srcId="{D8834906-C248-5040-A00D-722084346EB1}" destId="{84E5EC63-79DE-CF4C-97EE-678C89E392F7}" srcOrd="1" destOrd="0" presId="urn:microsoft.com/office/officeart/2005/8/layout/hierarchy3"/>
    <dgm:cxn modelId="{5D86D604-BC80-6D46-B608-DCC4E3B58EDC}" srcId="{2C1893DD-E56E-D34D-A5FA-38828914AEF9}" destId="{41F91A12-FD34-AD48-8D75-76D51D4131AC}" srcOrd="1" destOrd="0" parTransId="{B2A16ED4-761A-1F49-8D7B-EF13A369DA15}" sibTransId="{ED33BCC7-67AC-D84E-8C2B-1C607DD75270}"/>
    <dgm:cxn modelId="{DFF91F93-B1BE-054A-ACBF-0E754F001F4C}" type="presOf" srcId="{A1493C49-22E4-A741-A173-3F5D77D0A2A9}" destId="{EEA1A23B-F1A1-3A42-A38C-593F75DF129B}" srcOrd="0" destOrd="0" presId="urn:microsoft.com/office/officeart/2005/8/layout/hierarchy3"/>
    <dgm:cxn modelId="{7533D08D-EB43-9F42-B22B-776AD1033188}" type="presOf" srcId="{5B28ED55-2D05-EB45-8E78-5BA82CFE6104}" destId="{37BBBD76-9E78-2C45-80FA-8D18A2BF66EF}" srcOrd="0" destOrd="0" presId="urn:microsoft.com/office/officeart/2005/8/layout/hierarchy3"/>
    <dgm:cxn modelId="{6F51F9CF-AB0A-5845-B00B-B517E23C7EE5}" type="presOf" srcId="{2C1893DD-E56E-D34D-A5FA-38828914AEF9}" destId="{CC3B4FA0-C3C5-9148-A762-0A94CA0EF07D}" srcOrd="1" destOrd="0" presId="urn:microsoft.com/office/officeart/2005/8/layout/hierarchy3"/>
    <dgm:cxn modelId="{67E14739-DC32-6248-9E94-E911E2965CDC}" type="presOf" srcId="{085A7D33-5609-F347-99CD-9308F39BC429}" destId="{089E9F1F-A90D-294E-9BFE-1AE7825E11F0}" srcOrd="1" destOrd="0" presId="urn:microsoft.com/office/officeart/2005/8/layout/hierarchy3"/>
    <dgm:cxn modelId="{8DDBEDB4-753E-F549-8174-CFF0AB7767D1}" srcId="{C232D987-D20C-9249-B3AF-DD60DE7F0E03}" destId="{D8834906-C248-5040-A00D-722084346EB1}" srcOrd="1" destOrd="0" parTransId="{50F6F9EC-0F5E-CF4A-8FB5-2EA1F5D1B362}" sibTransId="{7E4AA6FF-A9F3-5C43-A038-AADEC876C118}"/>
    <dgm:cxn modelId="{2FE576CC-A41F-414E-9CB5-106149A382DC}" type="presParOf" srcId="{EA010E42-F1D7-844D-A4BC-3BD68B6A1370}" destId="{715CE84D-1CB9-8B45-A60D-7173FD28818E}" srcOrd="0" destOrd="0" presId="urn:microsoft.com/office/officeart/2005/8/layout/hierarchy3"/>
    <dgm:cxn modelId="{9EC125BB-316D-E547-950A-4D13B405E24D}" type="presParOf" srcId="{715CE84D-1CB9-8B45-A60D-7173FD28818E}" destId="{F96F1BFE-6A03-294B-A8D6-ADC084CB8FE2}" srcOrd="0" destOrd="0" presId="urn:microsoft.com/office/officeart/2005/8/layout/hierarchy3"/>
    <dgm:cxn modelId="{E5BC7ABC-16FD-D746-A81F-44CF9F3C78FD}" type="presParOf" srcId="{F96F1BFE-6A03-294B-A8D6-ADC084CB8FE2}" destId="{838F93B4-5A55-DD4A-8D42-EC865E210762}" srcOrd="0" destOrd="0" presId="urn:microsoft.com/office/officeart/2005/8/layout/hierarchy3"/>
    <dgm:cxn modelId="{D3FDE659-2DC8-574A-B751-F803ABCE4A7D}" type="presParOf" srcId="{F96F1BFE-6A03-294B-A8D6-ADC084CB8FE2}" destId="{CC3B4FA0-C3C5-9148-A762-0A94CA0EF07D}" srcOrd="1" destOrd="0" presId="urn:microsoft.com/office/officeart/2005/8/layout/hierarchy3"/>
    <dgm:cxn modelId="{5C710407-4256-1C4E-909C-1F0835DAEA49}" type="presParOf" srcId="{715CE84D-1CB9-8B45-A60D-7173FD28818E}" destId="{C5D48515-701B-7A43-9E62-A9C0B6112F64}" srcOrd="1" destOrd="0" presId="urn:microsoft.com/office/officeart/2005/8/layout/hierarchy3"/>
    <dgm:cxn modelId="{F310238F-4F03-5140-9077-9E192B713A08}" type="presParOf" srcId="{C5D48515-701B-7A43-9E62-A9C0B6112F64}" destId="{9BFAF468-2FC0-8149-8BD8-16682673CEC4}" srcOrd="0" destOrd="0" presId="urn:microsoft.com/office/officeart/2005/8/layout/hierarchy3"/>
    <dgm:cxn modelId="{9357A1F4-524A-A048-B04B-123B7971BA9B}" type="presParOf" srcId="{C5D48515-701B-7A43-9E62-A9C0B6112F64}" destId="{1F65B41B-9ADE-1F48-BB7D-3ED8AF5E5945}" srcOrd="1" destOrd="0" presId="urn:microsoft.com/office/officeart/2005/8/layout/hierarchy3"/>
    <dgm:cxn modelId="{A4EA2575-9055-674D-A979-50340A471DC9}" type="presParOf" srcId="{C5D48515-701B-7A43-9E62-A9C0B6112F64}" destId="{5A313AB4-74A9-1E45-8DD2-6EA86D6D7CFA}" srcOrd="2" destOrd="0" presId="urn:microsoft.com/office/officeart/2005/8/layout/hierarchy3"/>
    <dgm:cxn modelId="{127CC9CE-77FA-0648-BB3A-C32883468369}" type="presParOf" srcId="{C5D48515-701B-7A43-9E62-A9C0B6112F64}" destId="{83D327C4-209F-FE4B-843C-9431E01BE1AF}" srcOrd="3" destOrd="0" presId="urn:microsoft.com/office/officeart/2005/8/layout/hierarchy3"/>
    <dgm:cxn modelId="{D0BCE561-D302-8947-A61D-6B963381DBED}" type="presParOf" srcId="{EA010E42-F1D7-844D-A4BC-3BD68B6A1370}" destId="{2BDFE6A1-9EFA-424E-8D45-E76921080039}" srcOrd="1" destOrd="0" presId="urn:microsoft.com/office/officeart/2005/8/layout/hierarchy3"/>
    <dgm:cxn modelId="{4D5AD00E-7252-E843-A8C1-0AB4339F60AA}" type="presParOf" srcId="{2BDFE6A1-9EFA-424E-8D45-E76921080039}" destId="{5C7C8975-C0EE-E84D-8CA8-1B8FD76E233E}" srcOrd="0" destOrd="0" presId="urn:microsoft.com/office/officeart/2005/8/layout/hierarchy3"/>
    <dgm:cxn modelId="{74FD6A0A-2A25-B740-8F7D-94A6CE8319BA}" type="presParOf" srcId="{5C7C8975-C0EE-E84D-8CA8-1B8FD76E233E}" destId="{06300884-7CAD-0344-AA42-F99D1AE921B0}" srcOrd="0" destOrd="0" presId="urn:microsoft.com/office/officeart/2005/8/layout/hierarchy3"/>
    <dgm:cxn modelId="{C38870A0-F3A9-654C-9F9D-A43E9AF4106E}" type="presParOf" srcId="{5C7C8975-C0EE-E84D-8CA8-1B8FD76E233E}" destId="{84E5EC63-79DE-CF4C-97EE-678C89E392F7}" srcOrd="1" destOrd="0" presId="urn:microsoft.com/office/officeart/2005/8/layout/hierarchy3"/>
    <dgm:cxn modelId="{79C155A7-58DF-9647-BA92-5A7933D85C4C}" type="presParOf" srcId="{2BDFE6A1-9EFA-424E-8D45-E76921080039}" destId="{C7757CEB-6BB2-B145-97BA-1336096C1794}" srcOrd="1" destOrd="0" presId="urn:microsoft.com/office/officeart/2005/8/layout/hierarchy3"/>
    <dgm:cxn modelId="{8202C2DA-510E-8C46-A896-9CA0DF090685}" type="presParOf" srcId="{C7757CEB-6BB2-B145-97BA-1336096C1794}" destId="{ABB2CD52-E88A-EC4A-8AFF-49103BA2656B}" srcOrd="0" destOrd="0" presId="urn:microsoft.com/office/officeart/2005/8/layout/hierarchy3"/>
    <dgm:cxn modelId="{B540F8EE-0772-4646-BDBA-2E9FCEF6B357}" type="presParOf" srcId="{C7757CEB-6BB2-B145-97BA-1336096C1794}" destId="{793B03E0-E5B9-1748-A4F1-57108B9F3265}" srcOrd="1" destOrd="0" presId="urn:microsoft.com/office/officeart/2005/8/layout/hierarchy3"/>
    <dgm:cxn modelId="{90C17732-D89E-2B4D-8088-8491E6E33A5A}" type="presParOf" srcId="{C7757CEB-6BB2-B145-97BA-1336096C1794}" destId="{99773D79-FDAD-0141-9858-4E1AEFE79E4C}" srcOrd="2" destOrd="0" presId="urn:microsoft.com/office/officeart/2005/8/layout/hierarchy3"/>
    <dgm:cxn modelId="{3FC9AF4F-0416-5441-9460-F230E8397420}" type="presParOf" srcId="{C7757CEB-6BB2-B145-97BA-1336096C1794}" destId="{A8BCF408-4D28-1744-9D0F-DDAAD76B038B}" srcOrd="3" destOrd="0" presId="urn:microsoft.com/office/officeart/2005/8/layout/hierarchy3"/>
    <dgm:cxn modelId="{EA7E3AB6-A663-4840-B311-986D9865F31E}" type="presParOf" srcId="{EA010E42-F1D7-844D-A4BC-3BD68B6A1370}" destId="{9789A759-223D-A149-8085-D83C8022E166}" srcOrd="2" destOrd="0" presId="urn:microsoft.com/office/officeart/2005/8/layout/hierarchy3"/>
    <dgm:cxn modelId="{E9C06C68-F475-4640-852A-AAA04B61A09F}" type="presParOf" srcId="{9789A759-223D-A149-8085-D83C8022E166}" destId="{C9EB83E6-0298-9B4D-BA04-FCF962F92A60}" srcOrd="0" destOrd="0" presId="urn:microsoft.com/office/officeart/2005/8/layout/hierarchy3"/>
    <dgm:cxn modelId="{85F2D921-DC06-6348-97AB-E7B7DC64F1EA}" type="presParOf" srcId="{C9EB83E6-0298-9B4D-BA04-FCF962F92A60}" destId="{937DC8A8-401A-C54C-9D1C-5B9BFDDC531D}" srcOrd="0" destOrd="0" presId="urn:microsoft.com/office/officeart/2005/8/layout/hierarchy3"/>
    <dgm:cxn modelId="{5266FADD-5097-774D-9514-B8E29E801417}" type="presParOf" srcId="{C9EB83E6-0298-9B4D-BA04-FCF962F92A60}" destId="{904B7212-7BCD-E34E-90FD-4744DF29D30D}" srcOrd="1" destOrd="0" presId="urn:microsoft.com/office/officeart/2005/8/layout/hierarchy3"/>
    <dgm:cxn modelId="{410A72EC-7A4F-E64D-96C2-5CA556526D06}" type="presParOf" srcId="{9789A759-223D-A149-8085-D83C8022E166}" destId="{91E0B136-2929-6A4A-BF34-E87F203C3FA6}" srcOrd="1" destOrd="0" presId="urn:microsoft.com/office/officeart/2005/8/layout/hierarchy3"/>
    <dgm:cxn modelId="{0D1BB186-C122-F343-94E2-6D57BE98A5AA}" type="presParOf" srcId="{91E0B136-2929-6A4A-BF34-E87F203C3FA6}" destId="{6660CF19-D45C-644E-948D-1A93D3D81BCA}" srcOrd="0" destOrd="0" presId="urn:microsoft.com/office/officeart/2005/8/layout/hierarchy3"/>
    <dgm:cxn modelId="{39F14776-A990-2948-ABD3-56BE76CC86A2}" type="presParOf" srcId="{91E0B136-2929-6A4A-BF34-E87F203C3FA6}" destId="{4CE93792-D7F2-F747-A2AE-93A3BAA5139E}" srcOrd="1" destOrd="0" presId="urn:microsoft.com/office/officeart/2005/8/layout/hierarchy3"/>
    <dgm:cxn modelId="{93B15C81-26E7-6146-8F8E-66078ABE4937}" type="presParOf" srcId="{91E0B136-2929-6A4A-BF34-E87F203C3FA6}" destId="{37BBBD76-9E78-2C45-80FA-8D18A2BF66EF}" srcOrd="2" destOrd="0" presId="urn:microsoft.com/office/officeart/2005/8/layout/hierarchy3"/>
    <dgm:cxn modelId="{A275B25F-F28D-774B-97B9-3186ABB01D85}" type="presParOf" srcId="{91E0B136-2929-6A4A-BF34-E87F203C3FA6}" destId="{31B90382-2491-BE4D-B60C-349083FEE83B}" srcOrd="3" destOrd="0" presId="urn:microsoft.com/office/officeart/2005/8/layout/hierarchy3"/>
    <dgm:cxn modelId="{83A7BEEF-0C0D-F74B-93AA-57E6693BEC81}" type="presParOf" srcId="{EA010E42-F1D7-844D-A4BC-3BD68B6A1370}" destId="{B241749C-A5E4-0747-9DC1-4050EB23E82F}" srcOrd="3" destOrd="0" presId="urn:microsoft.com/office/officeart/2005/8/layout/hierarchy3"/>
    <dgm:cxn modelId="{80BD8719-C0D6-0E4F-8322-CCB2AAED3DBD}" type="presParOf" srcId="{B241749C-A5E4-0747-9DC1-4050EB23E82F}" destId="{46FD615A-31C4-4746-9C5B-C15D6E14A60C}" srcOrd="0" destOrd="0" presId="urn:microsoft.com/office/officeart/2005/8/layout/hierarchy3"/>
    <dgm:cxn modelId="{4AF2A495-C064-C44D-9B39-02E3B1076D10}" type="presParOf" srcId="{46FD615A-31C4-4746-9C5B-C15D6E14A60C}" destId="{69184A84-0202-3745-BBC2-0B411CEBF052}" srcOrd="0" destOrd="0" presId="urn:microsoft.com/office/officeart/2005/8/layout/hierarchy3"/>
    <dgm:cxn modelId="{E9467501-B22A-CF48-889A-FCE82D7853FC}" type="presParOf" srcId="{46FD615A-31C4-4746-9C5B-C15D6E14A60C}" destId="{089E9F1F-A90D-294E-9BFE-1AE7825E11F0}" srcOrd="1" destOrd="0" presId="urn:microsoft.com/office/officeart/2005/8/layout/hierarchy3"/>
    <dgm:cxn modelId="{B42DF8F7-91E0-D845-9BD3-34B812E2B79F}" type="presParOf" srcId="{B241749C-A5E4-0747-9DC1-4050EB23E82F}" destId="{1165E010-3C46-1545-8428-B62E792DA66B}" srcOrd="1" destOrd="0" presId="urn:microsoft.com/office/officeart/2005/8/layout/hierarchy3"/>
    <dgm:cxn modelId="{A0DBF773-051A-F946-9672-522A27478C0B}" type="presParOf" srcId="{1165E010-3C46-1545-8428-B62E792DA66B}" destId="{EEA1A23B-F1A1-3A42-A38C-593F75DF129B}" srcOrd="0" destOrd="0" presId="urn:microsoft.com/office/officeart/2005/8/layout/hierarchy3"/>
    <dgm:cxn modelId="{7A77C177-C947-1848-A482-4831DD2571ED}" type="presParOf" srcId="{1165E010-3C46-1545-8428-B62E792DA66B}" destId="{5821AB21-D1F1-4540-AD88-72993D36F1F3}" srcOrd="1" destOrd="0" presId="urn:microsoft.com/office/officeart/2005/8/layout/hierarchy3"/>
    <dgm:cxn modelId="{D3FE3E2D-AD29-BF4A-9926-0DCA2CC98501}" type="presParOf" srcId="{1165E010-3C46-1545-8428-B62E792DA66B}" destId="{48E9C3A8-9ADD-E842-9E8E-E1ECBF973C48}" srcOrd="2" destOrd="0" presId="urn:microsoft.com/office/officeart/2005/8/layout/hierarchy3"/>
    <dgm:cxn modelId="{D2E3C00A-724E-984A-B663-0E05707B0B04}" type="presParOf" srcId="{1165E010-3C46-1545-8428-B62E792DA66B}" destId="{566BA3F6-28D5-5044-9957-617D2C06680F}" srcOrd="3" destOrd="0" presId="urn:microsoft.com/office/officeart/2005/8/layout/hierarchy3"/>
    <dgm:cxn modelId="{A0F6E8B2-0FFA-4A46-9C54-F90904E3792E}" type="presParOf" srcId="{EA010E42-F1D7-844D-A4BC-3BD68B6A1370}" destId="{5E283A6C-0C4E-F94D-8EB8-8E5F0B72EAE9}" srcOrd="4" destOrd="0" presId="urn:microsoft.com/office/officeart/2005/8/layout/hierarchy3"/>
    <dgm:cxn modelId="{F7DEF2B1-1BEF-5546-BB67-23110E123117}" type="presParOf" srcId="{5E283A6C-0C4E-F94D-8EB8-8E5F0B72EAE9}" destId="{31C4D77C-9FA3-5143-B2CE-1DBFAF644422}" srcOrd="0" destOrd="0" presId="urn:microsoft.com/office/officeart/2005/8/layout/hierarchy3"/>
    <dgm:cxn modelId="{957F731E-9C90-A146-8451-52BA5FFBC1E8}" type="presParOf" srcId="{31C4D77C-9FA3-5143-B2CE-1DBFAF644422}" destId="{C7C9784B-B1A1-1E4B-9D80-886B3B777CC6}" srcOrd="0" destOrd="0" presId="urn:microsoft.com/office/officeart/2005/8/layout/hierarchy3"/>
    <dgm:cxn modelId="{4B7CDBC8-1511-DE4A-8EDD-B6BFF100486F}" type="presParOf" srcId="{31C4D77C-9FA3-5143-B2CE-1DBFAF644422}" destId="{79A08DD5-C7B5-0F4E-B15E-09BB94CA82C4}" srcOrd="1" destOrd="0" presId="urn:microsoft.com/office/officeart/2005/8/layout/hierarchy3"/>
    <dgm:cxn modelId="{4C792937-2774-264B-A549-2674A08E9E14}" type="presParOf" srcId="{5E283A6C-0C4E-F94D-8EB8-8E5F0B72EAE9}" destId="{505803BB-A119-5346-AA4C-9EDAA868DE2C}" srcOrd="1" destOrd="0" presId="urn:microsoft.com/office/officeart/2005/8/layout/hierarchy3"/>
    <dgm:cxn modelId="{56E28DFE-CF05-5645-9326-37512FE5F831}" type="presParOf" srcId="{505803BB-A119-5346-AA4C-9EDAA868DE2C}" destId="{D2BEA262-F32B-4946-953D-8D634EF8AE45}" srcOrd="0" destOrd="0" presId="urn:microsoft.com/office/officeart/2005/8/layout/hierarchy3"/>
    <dgm:cxn modelId="{81F7CE4D-C53A-0C41-A64F-B2D87FD1257C}" type="presParOf" srcId="{505803BB-A119-5346-AA4C-9EDAA868DE2C}" destId="{55B6B1AA-D433-C64D-9D36-6614B6324C83}" srcOrd="1" destOrd="0" presId="urn:microsoft.com/office/officeart/2005/8/layout/hierarchy3"/>
    <dgm:cxn modelId="{CD64A315-8C1F-024D-BC3A-6A5E4ED53A1D}" type="presParOf" srcId="{505803BB-A119-5346-AA4C-9EDAA868DE2C}" destId="{EB67657E-ABF0-7E47-AD08-065205066E84}" srcOrd="2" destOrd="0" presId="urn:microsoft.com/office/officeart/2005/8/layout/hierarchy3"/>
    <dgm:cxn modelId="{7B981287-B2DD-AB4E-B88B-9643EC1E5748}" type="presParOf" srcId="{505803BB-A119-5346-AA4C-9EDAA868DE2C}" destId="{6B096F59-7ABD-A849-886A-B4C5C4664006}" srcOrd="3" destOrd="0" presId="urn:microsoft.com/office/officeart/2005/8/layout/hierarchy3"/>
    <dgm:cxn modelId="{499D56F7-59F5-A84E-A860-DA503ABB9E3B}" type="presParOf" srcId="{EA010E42-F1D7-844D-A4BC-3BD68B6A1370}" destId="{F9E56209-F5DB-B24F-8D84-8223273D3166}" srcOrd="5" destOrd="0" presId="urn:microsoft.com/office/officeart/2005/8/layout/hierarchy3"/>
    <dgm:cxn modelId="{A19F506B-E5F1-6A4B-A4D9-45F250AD8519}" type="presParOf" srcId="{F9E56209-F5DB-B24F-8D84-8223273D3166}" destId="{68291E61-71E1-2745-8830-88487E3A55C9}" srcOrd="0" destOrd="0" presId="urn:microsoft.com/office/officeart/2005/8/layout/hierarchy3"/>
    <dgm:cxn modelId="{6C5EC7B9-9D2E-5C44-9EE9-69B339262985}" type="presParOf" srcId="{68291E61-71E1-2745-8830-88487E3A55C9}" destId="{93A707EA-4350-F04F-8EC6-00464FF67962}" srcOrd="0" destOrd="0" presId="urn:microsoft.com/office/officeart/2005/8/layout/hierarchy3"/>
    <dgm:cxn modelId="{6DBE077D-BFC1-6843-9B46-AC0552E8D56B}" type="presParOf" srcId="{68291E61-71E1-2745-8830-88487E3A55C9}" destId="{9298FAA7-BB1A-1447-99FD-8761523158BF}" srcOrd="1" destOrd="0" presId="urn:microsoft.com/office/officeart/2005/8/layout/hierarchy3"/>
    <dgm:cxn modelId="{0F1C50FD-7782-8141-B580-DB408BF32962}" type="presParOf" srcId="{F9E56209-F5DB-B24F-8D84-8223273D3166}" destId="{483446B9-F9FE-264D-89ED-E539BF22F18F}" srcOrd="1" destOrd="0" presId="urn:microsoft.com/office/officeart/2005/8/layout/hierarchy3"/>
    <dgm:cxn modelId="{45C267B1-18A2-8649-B122-00012581E793}" type="presParOf" srcId="{483446B9-F9FE-264D-89ED-E539BF22F18F}" destId="{A340B6FB-ABE8-AA49-B313-62202D981799}" srcOrd="0" destOrd="0" presId="urn:microsoft.com/office/officeart/2005/8/layout/hierarchy3"/>
    <dgm:cxn modelId="{935CE4F9-FDCF-E443-B76A-58181C306973}" type="presParOf" srcId="{483446B9-F9FE-264D-89ED-E539BF22F18F}" destId="{6A567647-46CC-884E-9EB0-192C0500520B}" srcOrd="1" destOrd="0" presId="urn:microsoft.com/office/officeart/2005/8/layout/hierarchy3"/>
    <dgm:cxn modelId="{82322BA3-4771-844A-8F58-B91B8AC3AE5A}" type="presParOf" srcId="{483446B9-F9FE-264D-89ED-E539BF22F18F}" destId="{2C6E93C8-1A5E-7B46-B07A-BA4479ACF2D7}" srcOrd="2" destOrd="0" presId="urn:microsoft.com/office/officeart/2005/8/layout/hierarchy3"/>
    <dgm:cxn modelId="{A602EC46-0ADA-4244-9F7B-05BFB53E8C7F}" type="presParOf" srcId="{483446B9-F9FE-264D-89ED-E539BF22F18F}" destId="{1720056B-3890-324D-BB8D-3F8F0220F76A}"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E634D2-0693-8F44-B03F-F9C600C7BCE7}">
      <dsp:nvSpPr>
        <dsp:cNvPr id="0" name=""/>
        <dsp:cNvSpPr/>
      </dsp:nvSpPr>
      <dsp:spPr>
        <a:xfrm>
          <a:off x="1427109" y="1821710"/>
          <a:ext cx="1592878" cy="1555367"/>
        </a:xfrm>
        <a:prstGeom prst="ellipse">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zh-CN" altLang="en-US" sz="3400" kern="1200" dirty="0"/>
            <a:t>解决方案</a:t>
          </a:r>
          <a:endParaRPr lang="en-US" sz="3400" kern="1200" dirty="0"/>
        </a:p>
      </dsp:txBody>
      <dsp:txXfrm>
        <a:off x="1660381" y="2049488"/>
        <a:ext cx="1126334" cy="1099811"/>
      </dsp:txXfrm>
    </dsp:sp>
    <dsp:sp modelId="{B8E79EA6-2F00-7848-945F-F1E906E910D7}">
      <dsp:nvSpPr>
        <dsp:cNvPr id="0" name=""/>
        <dsp:cNvSpPr/>
      </dsp:nvSpPr>
      <dsp:spPr>
        <a:xfrm rot="16200000">
          <a:off x="2103285" y="1675765"/>
          <a:ext cx="240527" cy="51363"/>
        </a:xfrm>
        <a:custGeom>
          <a:avLst/>
          <a:gdLst/>
          <a:ahLst/>
          <a:cxnLst/>
          <a:rect l="0" t="0" r="0" b="0"/>
          <a:pathLst>
            <a:path>
              <a:moveTo>
                <a:pt x="0" y="25681"/>
              </a:moveTo>
              <a:lnTo>
                <a:pt x="240527" y="25681"/>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217535" y="1695433"/>
        <a:ext cx="12026" cy="12026"/>
      </dsp:txXfrm>
    </dsp:sp>
    <dsp:sp modelId="{9B817FBC-FE9B-8342-B8AC-F615C21213C4}">
      <dsp:nvSpPr>
        <dsp:cNvPr id="0" name=""/>
        <dsp:cNvSpPr/>
      </dsp:nvSpPr>
      <dsp:spPr>
        <a:xfrm>
          <a:off x="1589057" y="312199"/>
          <a:ext cx="1268982" cy="1268982"/>
        </a:xfrm>
        <a:prstGeom prst="ellipse">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a:t>算法</a:t>
          </a:r>
          <a:endParaRPr lang="en-US" sz="2800" kern="1200" dirty="0"/>
        </a:p>
      </dsp:txBody>
      <dsp:txXfrm>
        <a:off x="1774895" y="498037"/>
        <a:ext cx="897306" cy="897306"/>
      </dsp:txXfrm>
    </dsp:sp>
    <dsp:sp modelId="{2C3A1E0D-13A6-B646-9DD3-4AA766260A3C}">
      <dsp:nvSpPr>
        <dsp:cNvPr id="0" name=""/>
        <dsp:cNvSpPr/>
      </dsp:nvSpPr>
      <dsp:spPr>
        <a:xfrm rot="20520000">
          <a:off x="2973775" y="2293619"/>
          <a:ext cx="223622" cy="51363"/>
        </a:xfrm>
        <a:custGeom>
          <a:avLst/>
          <a:gdLst/>
          <a:ahLst/>
          <a:cxnLst/>
          <a:rect l="0" t="0" r="0" b="0"/>
          <a:pathLst>
            <a:path>
              <a:moveTo>
                <a:pt x="0" y="25681"/>
              </a:moveTo>
              <a:lnTo>
                <a:pt x="223622" y="25681"/>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079996" y="2313710"/>
        <a:ext cx="11181" cy="11181"/>
      </dsp:txXfrm>
    </dsp:sp>
    <dsp:sp modelId="{118CBDA6-673F-2741-AAA7-D3F75CACA783}">
      <dsp:nvSpPr>
        <dsp:cNvPr id="0" name=""/>
        <dsp:cNvSpPr/>
      </dsp:nvSpPr>
      <dsp:spPr>
        <a:xfrm>
          <a:off x="3160871" y="1454189"/>
          <a:ext cx="1268982" cy="1268982"/>
        </a:xfrm>
        <a:prstGeom prst="ellipse">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a:t>客户管理</a:t>
          </a:r>
          <a:endParaRPr lang="en-US" sz="2800" kern="1200" dirty="0"/>
        </a:p>
      </dsp:txBody>
      <dsp:txXfrm>
        <a:off x="3346709" y="1640027"/>
        <a:ext cx="897306" cy="897306"/>
      </dsp:txXfrm>
    </dsp:sp>
    <dsp:sp modelId="{92467B99-B390-404E-A587-E80FC2CC1BAE}">
      <dsp:nvSpPr>
        <dsp:cNvPr id="0" name=""/>
        <dsp:cNvSpPr/>
      </dsp:nvSpPr>
      <dsp:spPr>
        <a:xfrm rot="3240000">
          <a:off x="2636110" y="3302727"/>
          <a:ext cx="234198" cy="51363"/>
        </a:xfrm>
        <a:custGeom>
          <a:avLst/>
          <a:gdLst/>
          <a:ahLst/>
          <a:cxnLst/>
          <a:rect l="0" t="0" r="0" b="0"/>
          <a:pathLst>
            <a:path>
              <a:moveTo>
                <a:pt x="0" y="25681"/>
              </a:moveTo>
              <a:lnTo>
                <a:pt x="234198" y="25681"/>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747354" y="3322554"/>
        <a:ext cx="11709" cy="11709"/>
      </dsp:txXfrm>
    </dsp:sp>
    <dsp:sp modelId="{36041342-0D7E-4548-85F7-A931C96DC94C}">
      <dsp:nvSpPr>
        <dsp:cNvPr id="0" name=""/>
        <dsp:cNvSpPr/>
      </dsp:nvSpPr>
      <dsp:spPr>
        <a:xfrm>
          <a:off x="2560491" y="3301967"/>
          <a:ext cx="1268982" cy="1268982"/>
        </a:xfrm>
        <a:prstGeom prst="ellipse">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a:t>网上交易</a:t>
          </a:r>
          <a:endParaRPr lang="en-US" sz="2800" kern="1200" dirty="0"/>
        </a:p>
      </dsp:txBody>
      <dsp:txXfrm>
        <a:off x="2746329" y="3487805"/>
        <a:ext cx="897306" cy="897306"/>
      </dsp:txXfrm>
    </dsp:sp>
    <dsp:sp modelId="{02B031A4-F0A4-404F-AFE6-80903DA4B245}">
      <dsp:nvSpPr>
        <dsp:cNvPr id="0" name=""/>
        <dsp:cNvSpPr/>
      </dsp:nvSpPr>
      <dsp:spPr>
        <a:xfrm rot="7560000">
          <a:off x="1576789" y="3302727"/>
          <a:ext cx="234198" cy="51363"/>
        </a:xfrm>
        <a:custGeom>
          <a:avLst/>
          <a:gdLst/>
          <a:ahLst/>
          <a:cxnLst/>
          <a:rect l="0" t="0" r="0" b="0"/>
          <a:pathLst>
            <a:path>
              <a:moveTo>
                <a:pt x="0" y="25681"/>
              </a:moveTo>
              <a:lnTo>
                <a:pt x="234198" y="25681"/>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1688033" y="3322554"/>
        <a:ext cx="11709" cy="11709"/>
      </dsp:txXfrm>
    </dsp:sp>
    <dsp:sp modelId="{34F48557-B00D-DA42-B1DB-703E2B7A8191}">
      <dsp:nvSpPr>
        <dsp:cNvPr id="0" name=""/>
        <dsp:cNvSpPr/>
      </dsp:nvSpPr>
      <dsp:spPr>
        <a:xfrm>
          <a:off x="617623" y="3301967"/>
          <a:ext cx="1268982" cy="1268982"/>
        </a:xfrm>
        <a:prstGeom prst="ellipse">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a:t>产品管理</a:t>
          </a:r>
          <a:endParaRPr lang="en-US" sz="2800" kern="1200" dirty="0"/>
        </a:p>
      </dsp:txBody>
      <dsp:txXfrm>
        <a:off x="803461" y="3487805"/>
        <a:ext cx="897306" cy="897306"/>
      </dsp:txXfrm>
    </dsp:sp>
    <dsp:sp modelId="{FA2BD146-130C-4C48-B640-7D26CDB92E2C}">
      <dsp:nvSpPr>
        <dsp:cNvPr id="0" name=""/>
        <dsp:cNvSpPr/>
      </dsp:nvSpPr>
      <dsp:spPr>
        <a:xfrm rot="11880000">
          <a:off x="1249700" y="2293619"/>
          <a:ext cx="223622" cy="51363"/>
        </a:xfrm>
        <a:custGeom>
          <a:avLst/>
          <a:gdLst/>
          <a:ahLst/>
          <a:cxnLst/>
          <a:rect l="0" t="0" r="0" b="0"/>
          <a:pathLst>
            <a:path>
              <a:moveTo>
                <a:pt x="0" y="25681"/>
              </a:moveTo>
              <a:lnTo>
                <a:pt x="223622" y="25681"/>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1355920" y="2313710"/>
        <a:ext cx="11181" cy="11181"/>
      </dsp:txXfrm>
    </dsp:sp>
    <dsp:sp modelId="{4F1ED65C-A9BA-954E-B571-4351693BA48B}">
      <dsp:nvSpPr>
        <dsp:cNvPr id="0" name=""/>
        <dsp:cNvSpPr/>
      </dsp:nvSpPr>
      <dsp:spPr>
        <a:xfrm>
          <a:off x="17243" y="1454189"/>
          <a:ext cx="1268982" cy="1268982"/>
        </a:xfrm>
        <a:prstGeom prst="ellipse">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kern="1200" dirty="0"/>
            <a:t>客户端</a:t>
          </a:r>
          <a:endParaRPr lang="en-US" sz="2800" kern="1200" dirty="0"/>
        </a:p>
      </dsp:txBody>
      <dsp:txXfrm>
        <a:off x="203081" y="1640027"/>
        <a:ext cx="897306" cy="8973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0A4F1-E5CB-1341-A3DD-975E209A2065}">
      <dsp:nvSpPr>
        <dsp:cNvPr id="0" name=""/>
        <dsp:cNvSpPr/>
      </dsp:nvSpPr>
      <dsp:spPr>
        <a:xfrm>
          <a:off x="0" y="0"/>
          <a:ext cx="2165337" cy="4267200"/>
        </a:xfrm>
        <a:prstGeom prst="roundRect">
          <a:avLst>
            <a:gd name="adj" fmla="val 10000"/>
          </a:avLst>
        </a:prstGeom>
        <a:blipFill rotWithShape="0">
          <a:blip xmlns:r="http://schemas.openxmlformats.org/officeDocument/2006/relationships" r:embed="rId1"/>
          <a:tile tx="0" ty="0" sx="100000" sy="100000" flip="y" algn="tl"/>
        </a:blipFill>
        <a:ln>
          <a:noFill/>
        </a:ln>
        <a:effectLst/>
      </dsp:spPr>
      <dsp:style>
        <a:lnRef idx="0">
          <a:scrgbClr r="0" g="0" b="0"/>
        </a:lnRef>
        <a:fillRef idx="1">
          <a:scrgbClr r="0" g="0" b="0"/>
        </a:fillRef>
        <a:effectRef idx="2">
          <a:scrgbClr r="0" g="0" b="0"/>
        </a:effectRef>
        <a:fontRef idx="minor"/>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zh-CN" altLang="en-US" sz="2900" kern="1200" dirty="0">
              <a:solidFill>
                <a:schemeClr val="accent6">
                  <a:lumMod val="50000"/>
                </a:schemeClr>
              </a:solidFill>
            </a:rPr>
            <a:t>模型和</a:t>
          </a:r>
        </a:p>
        <a:p>
          <a:pPr lvl="0" algn="ctr" defTabSz="1289050">
            <a:lnSpc>
              <a:spcPct val="90000"/>
            </a:lnSpc>
            <a:spcBef>
              <a:spcPct val="0"/>
            </a:spcBef>
            <a:spcAft>
              <a:spcPct val="35000"/>
            </a:spcAft>
          </a:pPr>
          <a:r>
            <a:rPr lang="zh-CN" altLang="en-US" sz="2900" kern="1200" dirty="0">
              <a:solidFill>
                <a:schemeClr val="accent6">
                  <a:lumMod val="50000"/>
                </a:schemeClr>
              </a:solidFill>
            </a:rPr>
            <a:t>算法</a:t>
          </a:r>
        </a:p>
      </dsp:txBody>
      <dsp:txXfrm>
        <a:off x="0" y="0"/>
        <a:ext cx="2165337" cy="1280160"/>
      </dsp:txXfrm>
    </dsp:sp>
    <dsp:sp modelId="{0D77EAEB-56D9-154D-B5D3-ABBDAD9675F2}">
      <dsp:nvSpPr>
        <dsp:cNvPr id="0" name=""/>
        <dsp:cNvSpPr/>
      </dsp:nvSpPr>
      <dsp:spPr>
        <a:xfrm>
          <a:off x="216533" y="1280967"/>
          <a:ext cx="1732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资产管理模型</a:t>
          </a:r>
        </a:p>
      </dsp:txBody>
      <dsp:txXfrm>
        <a:off x="230992" y="1295426"/>
        <a:ext cx="1703351" cy="464737"/>
      </dsp:txXfrm>
    </dsp:sp>
    <dsp:sp modelId="{A100A236-7603-5941-95D1-06ABA1DCAFA2}">
      <dsp:nvSpPr>
        <dsp:cNvPr id="0" name=""/>
        <dsp:cNvSpPr/>
      </dsp:nvSpPr>
      <dsp:spPr>
        <a:xfrm>
          <a:off x="216533" y="1850569"/>
          <a:ext cx="1732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动态资产管理</a:t>
          </a:r>
          <a:endParaRPr lang="en-US" sz="2000" kern="1200" dirty="0"/>
        </a:p>
      </dsp:txBody>
      <dsp:txXfrm>
        <a:off x="230992" y="1865028"/>
        <a:ext cx="1703351" cy="464737"/>
      </dsp:txXfrm>
    </dsp:sp>
    <dsp:sp modelId="{3676C6CD-E265-564C-A811-32E92C51C22E}">
      <dsp:nvSpPr>
        <dsp:cNvPr id="0" name=""/>
        <dsp:cNvSpPr/>
      </dsp:nvSpPr>
      <dsp:spPr>
        <a:xfrm>
          <a:off x="216533" y="2420172"/>
          <a:ext cx="1732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基金评价</a:t>
          </a:r>
          <a:endParaRPr lang="en-US" sz="2000" kern="1200" dirty="0"/>
        </a:p>
      </dsp:txBody>
      <dsp:txXfrm>
        <a:off x="230992" y="2434631"/>
        <a:ext cx="1703351" cy="464737"/>
      </dsp:txXfrm>
    </dsp:sp>
    <dsp:sp modelId="{59A2D5FE-647C-AF42-970C-99CA0DA62219}">
      <dsp:nvSpPr>
        <dsp:cNvPr id="0" name=""/>
        <dsp:cNvSpPr/>
      </dsp:nvSpPr>
      <dsp:spPr>
        <a:xfrm>
          <a:off x="216533" y="2989774"/>
          <a:ext cx="1732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基金排序算法</a:t>
          </a:r>
          <a:endParaRPr lang="en-US" sz="2000" kern="1200" dirty="0"/>
        </a:p>
      </dsp:txBody>
      <dsp:txXfrm>
        <a:off x="230992" y="3004233"/>
        <a:ext cx="1703351" cy="464737"/>
      </dsp:txXfrm>
    </dsp:sp>
    <dsp:sp modelId="{CA7FD8C5-A9BF-3749-9F2B-70E062B0CA5A}">
      <dsp:nvSpPr>
        <dsp:cNvPr id="0" name=""/>
        <dsp:cNvSpPr/>
      </dsp:nvSpPr>
      <dsp:spPr>
        <a:xfrm>
          <a:off x="216533" y="3559377"/>
          <a:ext cx="1732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用户分析模型</a:t>
          </a:r>
          <a:endParaRPr lang="en-US" sz="2000" kern="1200" dirty="0"/>
        </a:p>
      </dsp:txBody>
      <dsp:txXfrm>
        <a:off x="230992" y="3573836"/>
        <a:ext cx="1703351" cy="4647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0A4F1-E5CB-1341-A3DD-975E209A2065}">
      <dsp:nvSpPr>
        <dsp:cNvPr id="0" name=""/>
        <dsp:cNvSpPr/>
      </dsp:nvSpPr>
      <dsp:spPr>
        <a:xfrm>
          <a:off x="0" y="0"/>
          <a:ext cx="2136587" cy="4267200"/>
        </a:xfrm>
        <a:prstGeom prst="roundRect">
          <a:avLst>
            <a:gd name="adj" fmla="val 10000"/>
          </a:avLst>
        </a:prstGeom>
        <a:blipFill rotWithShape="0">
          <a:blip xmlns:r="http://schemas.openxmlformats.org/officeDocument/2006/relationships" r:embed="rId1"/>
          <a:tile tx="0" ty="0" sx="100000" sy="100000" flip="y" algn="tl"/>
        </a:blipFill>
        <a:ln>
          <a:noFill/>
        </a:ln>
        <a:effectLst>
          <a:outerShdw blurRad="50800" dist="50800" dir="5400000" algn="ctr" rotWithShape="0">
            <a:srgbClr val="000000">
              <a:alpha val="0"/>
            </a:srgbClr>
          </a:outerShdw>
        </a:effectLst>
      </dsp:spPr>
      <dsp:style>
        <a:lnRef idx="0">
          <a:scrgbClr r="0" g="0" b="0"/>
        </a:lnRef>
        <a:fillRef idx="1">
          <a:scrgbClr r="0" g="0" b="0"/>
        </a:fillRef>
        <a:effectRef idx="2">
          <a:scrgbClr r="0" g="0" b="0"/>
        </a:effectRef>
        <a:fontRef idx="minor"/>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zh-CN" altLang="en-US" sz="2900" b="0" i="0" kern="1200" dirty="0">
              <a:solidFill>
                <a:schemeClr val="accent6">
                  <a:lumMod val="50000"/>
                </a:schemeClr>
              </a:solidFill>
            </a:rPr>
            <a:t>客户</a:t>
          </a:r>
        </a:p>
        <a:p>
          <a:pPr lvl="0" algn="ctr" defTabSz="1289050">
            <a:lnSpc>
              <a:spcPct val="90000"/>
            </a:lnSpc>
            <a:spcBef>
              <a:spcPct val="0"/>
            </a:spcBef>
            <a:spcAft>
              <a:spcPct val="35000"/>
            </a:spcAft>
          </a:pPr>
          <a:r>
            <a:rPr lang="zh-CN" altLang="en-US" sz="2900" b="0" i="0" kern="1200" dirty="0">
              <a:solidFill>
                <a:schemeClr val="accent6">
                  <a:lumMod val="50000"/>
                </a:schemeClr>
              </a:solidFill>
            </a:rPr>
            <a:t>管理</a:t>
          </a:r>
        </a:p>
      </dsp:txBody>
      <dsp:txXfrm>
        <a:off x="0" y="0"/>
        <a:ext cx="2136587" cy="1280160"/>
      </dsp:txXfrm>
    </dsp:sp>
    <dsp:sp modelId="{0D77EAEB-56D9-154D-B5D3-ABBDAD9675F2}">
      <dsp:nvSpPr>
        <dsp:cNvPr id="0" name=""/>
        <dsp:cNvSpPr/>
      </dsp:nvSpPr>
      <dsp:spPr>
        <a:xfrm>
          <a:off x="213658" y="1280967"/>
          <a:ext cx="1709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zh-CN" altLang="en-US" sz="2400" kern="1200" dirty="0"/>
            <a:t>客户管理</a:t>
          </a:r>
        </a:p>
      </dsp:txBody>
      <dsp:txXfrm>
        <a:off x="228117" y="1295426"/>
        <a:ext cx="1680351" cy="464737"/>
      </dsp:txXfrm>
    </dsp:sp>
    <dsp:sp modelId="{A100A236-7603-5941-95D1-06ABA1DCAFA2}">
      <dsp:nvSpPr>
        <dsp:cNvPr id="0" name=""/>
        <dsp:cNvSpPr/>
      </dsp:nvSpPr>
      <dsp:spPr>
        <a:xfrm>
          <a:off x="213658" y="1850569"/>
          <a:ext cx="1709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zh-CN" altLang="en-US" sz="2400" kern="1200" dirty="0"/>
            <a:t>客户资产</a:t>
          </a:r>
          <a:endParaRPr lang="en-US" sz="2400" kern="1200" dirty="0"/>
        </a:p>
      </dsp:txBody>
      <dsp:txXfrm>
        <a:off x="228117" y="1865028"/>
        <a:ext cx="1680351" cy="464737"/>
      </dsp:txXfrm>
    </dsp:sp>
    <dsp:sp modelId="{3676C6CD-E265-564C-A811-32E92C51C22E}">
      <dsp:nvSpPr>
        <dsp:cNvPr id="0" name=""/>
        <dsp:cNvSpPr/>
      </dsp:nvSpPr>
      <dsp:spPr>
        <a:xfrm>
          <a:off x="213658" y="2420172"/>
          <a:ext cx="1709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zh-CN" altLang="en-US" sz="2400" kern="1200" dirty="0"/>
            <a:t>客户统计</a:t>
          </a:r>
          <a:endParaRPr lang="en-US" sz="2400" kern="1200" dirty="0"/>
        </a:p>
      </dsp:txBody>
      <dsp:txXfrm>
        <a:off x="228117" y="2434631"/>
        <a:ext cx="1680351" cy="464737"/>
      </dsp:txXfrm>
    </dsp:sp>
    <dsp:sp modelId="{59A2D5FE-647C-AF42-970C-99CA0DA62219}">
      <dsp:nvSpPr>
        <dsp:cNvPr id="0" name=""/>
        <dsp:cNvSpPr/>
      </dsp:nvSpPr>
      <dsp:spPr>
        <a:xfrm>
          <a:off x="213658" y="2989774"/>
          <a:ext cx="1709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zh-CN" altLang="en-US" sz="2400" kern="1200" dirty="0"/>
            <a:t>客户结单</a:t>
          </a:r>
          <a:endParaRPr lang="en-US" sz="2400" kern="1200" dirty="0"/>
        </a:p>
      </dsp:txBody>
      <dsp:txXfrm>
        <a:off x="228117" y="3004233"/>
        <a:ext cx="1680351" cy="464737"/>
      </dsp:txXfrm>
    </dsp:sp>
    <dsp:sp modelId="{CA7FD8C5-A9BF-3749-9F2B-70E062B0CA5A}">
      <dsp:nvSpPr>
        <dsp:cNvPr id="0" name=""/>
        <dsp:cNvSpPr/>
      </dsp:nvSpPr>
      <dsp:spPr>
        <a:xfrm>
          <a:off x="213658" y="3559377"/>
          <a:ext cx="1709269"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zh-CN" altLang="en-US" sz="2400" kern="1200" dirty="0"/>
            <a:t>客户分析</a:t>
          </a:r>
          <a:endParaRPr lang="en-US" sz="2400" kern="1200" dirty="0"/>
        </a:p>
      </dsp:txBody>
      <dsp:txXfrm>
        <a:off x="228117" y="3573836"/>
        <a:ext cx="1680351" cy="4647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0A4F1-E5CB-1341-A3DD-975E209A2065}">
      <dsp:nvSpPr>
        <dsp:cNvPr id="0" name=""/>
        <dsp:cNvSpPr/>
      </dsp:nvSpPr>
      <dsp:spPr>
        <a:xfrm>
          <a:off x="0" y="0"/>
          <a:ext cx="2147407" cy="4267200"/>
        </a:xfrm>
        <a:prstGeom prst="roundRect">
          <a:avLst>
            <a:gd name="adj" fmla="val 10000"/>
          </a:avLst>
        </a:prstGeom>
        <a:blipFill rotWithShape="0">
          <a:blip xmlns:r="http://schemas.openxmlformats.org/officeDocument/2006/relationships" r:embed="rId1"/>
          <a:tile tx="0" ty="0" sx="100000" sy="100000" flip="y" algn="tl"/>
        </a:blipFill>
        <a:ln>
          <a:noFill/>
        </a:ln>
        <a:effectLst/>
      </dsp:spPr>
      <dsp:style>
        <a:lnRef idx="0">
          <a:scrgbClr r="0" g="0" b="0"/>
        </a:lnRef>
        <a:fillRef idx="1">
          <a:scrgbClr r="0" g="0" b="0"/>
        </a:fillRef>
        <a:effectRef idx="2">
          <a:scrgbClr r="0" g="0" b="0"/>
        </a:effectRef>
        <a:fontRef idx="minor"/>
      </dsp:style>
      <dsp:txBody>
        <a:bodyPr spcFirstLastPara="0" vert="horz" wrap="square" lIns="175260" tIns="175260" rIns="175260" bIns="175260" numCol="1" spcCol="1270" anchor="ctr" anchorCtr="0">
          <a:noAutofit/>
        </a:bodyPr>
        <a:lstStyle/>
        <a:p>
          <a:pPr lvl="0" algn="ctr" defTabSz="2044700">
            <a:lnSpc>
              <a:spcPct val="90000"/>
            </a:lnSpc>
            <a:spcBef>
              <a:spcPct val="0"/>
            </a:spcBef>
            <a:spcAft>
              <a:spcPct val="35000"/>
            </a:spcAft>
          </a:pPr>
          <a:r>
            <a:rPr lang="zh-CN" altLang="en-US" sz="4600" kern="1200" dirty="0">
              <a:solidFill>
                <a:schemeClr val="accent6">
                  <a:lumMod val="50000"/>
                </a:schemeClr>
              </a:solidFill>
            </a:rPr>
            <a:t>客户端</a:t>
          </a:r>
        </a:p>
      </dsp:txBody>
      <dsp:txXfrm>
        <a:off x="0" y="0"/>
        <a:ext cx="2147407" cy="1280160"/>
      </dsp:txXfrm>
    </dsp:sp>
    <dsp:sp modelId="{0D77EAEB-56D9-154D-B5D3-ABBDAD9675F2}">
      <dsp:nvSpPr>
        <dsp:cNvPr id="0" name=""/>
        <dsp:cNvSpPr/>
      </dsp:nvSpPr>
      <dsp:spPr>
        <a:xfrm>
          <a:off x="214740" y="1280967"/>
          <a:ext cx="1717925"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手机</a:t>
          </a:r>
          <a:r>
            <a:rPr lang="en-US" altLang="zh-CN" sz="2000" kern="1200" dirty="0"/>
            <a:t>App</a:t>
          </a:r>
          <a:endParaRPr lang="zh-CN" altLang="en-US" sz="2000" kern="1200" dirty="0"/>
        </a:p>
      </dsp:txBody>
      <dsp:txXfrm>
        <a:off x="229199" y="1295426"/>
        <a:ext cx="1689007" cy="464737"/>
      </dsp:txXfrm>
    </dsp:sp>
    <dsp:sp modelId="{A100A236-7603-5941-95D1-06ABA1DCAFA2}">
      <dsp:nvSpPr>
        <dsp:cNvPr id="0" name=""/>
        <dsp:cNvSpPr/>
      </dsp:nvSpPr>
      <dsp:spPr>
        <a:xfrm>
          <a:off x="214740" y="1850569"/>
          <a:ext cx="1717925"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en-US" altLang="zh-CN" sz="2000" kern="1200" dirty="0"/>
            <a:t>Web</a:t>
          </a:r>
          <a:r>
            <a:rPr lang="zh-CN" altLang="en-US" sz="2000" kern="1200" dirty="0"/>
            <a:t>开发</a:t>
          </a:r>
          <a:endParaRPr lang="en-US" sz="2000" kern="1200" dirty="0"/>
        </a:p>
      </dsp:txBody>
      <dsp:txXfrm>
        <a:off x="229199" y="1865028"/>
        <a:ext cx="1689007" cy="464737"/>
      </dsp:txXfrm>
    </dsp:sp>
    <dsp:sp modelId="{3676C6CD-E265-564C-A811-32E92C51C22E}">
      <dsp:nvSpPr>
        <dsp:cNvPr id="0" name=""/>
        <dsp:cNvSpPr/>
      </dsp:nvSpPr>
      <dsp:spPr>
        <a:xfrm>
          <a:off x="214740" y="2420172"/>
          <a:ext cx="1717925"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产品管理</a:t>
          </a:r>
          <a:endParaRPr lang="en-US" sz="2000" kern="1200" dirty="0"/>
        </a:p>
      </dsp:txBody>
      <dsp:txXfrm>
        <a:off x="229199" y="2434631"/>
        <a:ext cx="1689007" cy="464737"/>
      </dsp:txXfrm>
    </dsp:sp>
    <dsp:sp modelId="{59A2D5FE-647C-AF42-970C-99CA0DA62219}">
      <dsp:nvSpPr>
        <dsp:cNvPr id="0" name=""/>
        <dsp:cNvSpPr/>
      </dsp:nvSpPr>
      <dsp:spPr>
        <a:xfrm>
          <a:off x="214740" y="2989774"/>
          <a:ext cx="1717925"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产品统计分析</a:t>
          </a:r>
          <a:endParaRPr lang="en-US" sz="2000" kern="1200" dirty="0"/>
        </a:p>
      </dsp:txBody>
      <dsp:txXfrm>
        <a:off x="229199" y="3004233"/>
        <a:ext cx="1689007" cy="464737"/>
      </dsp:txXfrm>
    </dsp:sp>
    <dsp:sp modelId="{CA7FD8C5-A9BF-3749-9F2B-70E062B0CA5A}">
      <dsp:nvSpPr>
        <dsp:cNvPr id="0" name=""/>
        <dsp:cNvSpPr/>
      </dsp:nvSpPr>
      <dsp:spPr>
        <a:xfrm>
          <a:off x="214740" y="3559377"/>
          <a:ext cx="1717925"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lvl="0" algn="ctr" defTabSz="889000">
            <a:lnSpc>
              <a:spcPct val="90000"/>
            </a:lnSpc>
            <a:spcBef>
              <a:spcPct val="0"/>
            </a:spcBef>
            <a:spcAft>
              <a:spcPct val="35000"/>
            </a:spcAft>
          </a:pPr>
          <a:r>
            <a:rPr lang="zh-CN" altLang="en-US" sz="2000" kern="1200" dirty="0"/>
            <a:t>数据服务</a:t>
          </a:r>
          <a:endParaRPr lang="en-US" sz="2000" kern="1200" dirty="0"/>
        </a:p>
      </dsp:txBody>
      <dsp:txXfrm>
        <a:off x="229199" y="3573836"/>
        <a:ext cx="1689007" cy="4647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0A4F1-E5CB-1341-A3DD-975E209A2065}">
      <dsp:nvSpPr>
        <dsp:cNvPr id="0" name=""/>
        <dsp:cNvSpPr/>
      </dsp:nvSpPr>
      <dsp:spPr>
        <a:xfrm>
          <a:off x="0" y="0"/>
          <a:ext cx="2118658" cy="4267200"/>
        </a:xfrm>
        <a:prstGeom prst="roundRect">
          <a:avLst>
            <a:gd name="adj" fmla="val 10000"/>
          </a:avLst>
        </a:prstGeom>
        <a:blipFill rotWithShape="0">
          <a:blip xmlns:r="http://schemas.openxmlformats.org/officeDocument/2006/relationships" r:embed="rId1"/>
          <a:tile tx="0" ty="0" sx="100000" sy="100000" flip="none" algn="tl"/>
        </a:blipFill>
        <a:ln>
          <a:noFill/>
        </a:ln>
        <a:effectLst/>
      </dsp:spPr>
      <dsp:style>
        <a:lnRef idx="0">
          <a:scrgbClr r="0" g="0" b="0"/>
        </a:lnRef>
        <a:fillRef idx="1">
          <a:scrgbClr r="0" g="0" b="0"/>
        </a:fillRef>
        <a:effectRef idx="2">
          <a:scrgbClr r="0" g="0" b="0"/>
        </a:effectRef>
        <a:fontRef idx="minor"/>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zh-CN" altLang="en-US" sz="2900" kern="1200" dirty="0">
              <a:solidFill>
                <a:schemeClr val="accent6">
                  <a:lumMod val="50000"/>
                </a:schemeClr>
              </a:solidFill>
            </a:rPr>
            <a:t>网上</a:t>
          </a:r>
        </a:p>
        <a:p>
          <a:pPr lvl="0" algn="ctr" defTabSz="1289050">
            <a:lnSpc>
              <a:spcPct val="90000"/>
            </a:lnSpc>
            <a:spcBef>
              <a:spcPct val="0"/>
            </a:spcBef>
            <a:spcAft>
              <a:spcPct val="35000"/>
            </a:spcAft>
          </a:pPr>
          <a:r>
            <a:rPr lang="zh-CN" altLang="en-US" sz="2900" kern="1200" dirty="0">
              <a:solidFill>
                <a:schemeClr val="accent6">
                  <a:lumMod val="50000"/>
                </a:schemeClr>
              </a:solidFill>
            </a:rPr>
            <a:t>交易</a:t>
          </a:r>
        </a:p>
      </dsp:txBody>
      <dsp:txXfrm>
        <a:off x="0" y="0"/>
        <a:ext cx="2118658" cy="1280160"/>
      </dsp:txXfrm>
    </dsp:sp>
    <dsp:sp modelId="{0D77EAEB-56D9-154D-B5D3-ABBDAD9675F2}">
      <dsp:nvSpPr>
        <dsp:cNvPr id="0" name=""/>
        <dsp:cNvSpPr/>
      </dsp:nvSpPr>
      <dsp:spPr>
        <a:xfrm>
          <a:off x="211865" y="1280967"/>
          <a:ext cx="1694926"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kern="1200" dirty="0"/>
            <a:t>认购／赎回／基金转换</a:t>
          </a:r>
        </a:p>
      </dsp:txBody>
      <dsp:txXfrm>
        <a:off x="226324" y="1295426"/>
        <a:ext cx="1666008" cy="464737"/>
      </dsp:txXfrm>
    </dsp:sp>
    <dsp:sp modelId="{A100A236-7603-5941-95D1-06ABA1DCAFA2}">
      <dsp:nvSpPr>
        <dsp:cNvPr id="0" name=""/>
        <dsp:cNvSpPr/>
      </dsp:nvSpPr>
      <dsp:spPr>
        <a:xfrm>
          <a:off x="211865" y="1850569"/>
          <a:ext cx="1694926"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kern="1200" dirty="0"/>
            <a:t>批量交易</a:t>
          </a:r>
          <a:endParaRPr lang="en-US" sz="1300" kern="1200" dirty="0"/>
        </a:p>
      </dsp:txBody>
      <dsp:txXfrm>
        <a:off x="226324" y="1865028"/>
        <a:ext cx="1666008" cy="464737"/>
      </dsp:txXfrm>
    </dsp:sp>
    <dsp:sp modelId="{3676C6CD-E265-564C-A811-32E92C51C22E}">
      <dsp:nvSpPr>
        <dsp:cNvPr id="0" name=""/>
        <dsp:cNvSpPr/>
      </dsp:nvSpPr>
      <dsp:spPr>
        <a:xfrm>
          <a:off x="211865" y="2420172"/>
          <a:ext cx="1694926"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kern="1200" dirty="0"/>
            <a:t>交易搜索器</a:t>
          </a:r>
          <a:endParaRPr lang="en-US" sz="1300" kern="1200" dirty="0"/>
        </a:p>
      </dsp:txBody>
      <dsp:txXfrm>
        <a:off x="226324" y="2434631"/>
        <a:ext cx="1666008" cy="464737"/>
      </dsp:txXfrm>
    </dsp:sp>
    <dsp:sp modelId="{59A2D5FE-647C-AF42-970C-99CA0DA62219}">
      <dsp:nvSpPr>
        <dsp:cNvPr id="0" name=""/>
        <dsp:cNvSpPr/>
      </dsp:nvSpPr>
      <dsp:spPr>
        <a:xfrm>
          <a:off x="211865" y="2989774"/>
          <a:ext cx="1694926"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kern="1200" dirty="0"/>
            <a:t>基金展示公告</a:t>
          </a:r>
          <a:endParaRPr lang="en-US" sz="1300" kern="1200" dirty="0"/>
        </a:p>
      </dsp:txBody>
      <dsp:txXfrm>
        <a:off x="226324" y="3004233"/>
        <a:ext cx="1666008" cy="464737"/>
      </dsp:txXfrm>
    </dsp:sp>
    <dsp:sp modelId="{CA7FD8C5-A9BF-3749-9F2B-70E062B0CA5A}">
      <dsp:nvSpPr>
        <dsp:cNvPr id="0" name=""/>
        <dsp:cNvSpPr/>
      </dsp:nvSpPr>
      <dsp:spPr>
        <a:xfrm>
          <a:off x="211865" y="3559377"/>
          <a:ext cx="1694926" cy="493655"/>
        </a:xfrm>
        <a:prstGeom prst="roundRect">
          <a:avLst>
            <a:gd name="adj" fmla="val 10000"/>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kern="1200" dirty="0"/>
            <a:t>交易结算</a:t>
          </a:r>
          <a:endParaRPr lang="en-US" sz="1300" kern="1200" dirty="0"/>
        </a:p>
      </dsp:txBody>
      <dsp:txXfrm>
        <a:off x="226324" y="3573836"/>
        <a:ext cx="1666008" cy="4647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8F93B4-5A55-DD4A-8D42-EC865E210762}">
      <dsp:nvSpPr>
        <dsp:cNvPr id="0" name=""/>
        <dsp:cNvSpPr/>
      </dsp:nvSpPr>
      <dsp:spPr>
        <a:xfrm>
          <a:off x="241870" y="1489017"/>
          <a:ext cx="1324476" cy="662238"/>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zh-CN" altLang="en-US" sz="1900" kern="1200" dirty="0" smtClean="0"/>
            <a:t>准入模型</a:t>
          </a:r>
          <a:endParaRPr lang="en-US" sz="1900" kern="1200" dirty="0"/>
        </a:p>
      </dsp:txBody>
      <dsp:txXfrm>
        <a:off x="261266" y="1508413"/>
        <a:ext cx="1285684" cy="623446"/>
      </dsp:txXfrm>
    </dsp:sp>
    <dsp:sp modelId="{9BFAF468-2FC0-8149-8BD8-16682673CEC4}">
      <dsp:nvSpPr>
        <dsp:cNvPr id="0" name=""/>
        <dsp:cNvSpPr/>
      </dsp:nvSpPr>
      <dsp:spPr>
        <a:xfrm>
          <a:off x="374317" y="2151255"/>
          <a:ext cx="132445" cy="496678"/>
        </a:xfrm>
        <a:custGeom>
          <a:avLst/>
          <a:gdLst/>
          <a:ahLst/>
          <a:cxnLst/>
          <a:rect l="0" t="0" r="0" b="0"/>
          <a:pathLst>
            <a:path>
              <a:moveTo>
                <a:pt x="0" y="0"/>
              </a:moveTo>
              <a:lnTo>
                <a:pt x="0" y="496678"/>
              </a:lnTo>
              <a:lnTo>
                <a:pt x="132445" y="496678"/>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65B41B-9ADE-1F48-BB7D-3ED8AF5E5945}">
      <dsp:nvSpPr>
        <dsp:cNvPr id="0" name=""/>
        <dsp:cNvSpPr/>
      </dsp:nvSpPr>
      <dsp:spPr>
        <a:xfrm>
          <a:off x="506762" y="2316814"/>
          <a:ext cx="1059581" cy="662238"/>
        </a:xfrm>
        <a:prstGeom prst="roundRect">
          <a:avLst>
            <a:gd name="adj" fmla="val 10000"/>
          </a:avLst>
        </a:prstGeom>
        <a:solidFill>
          <a:schemeClr val="accent5">
            <a:lumMod val="20000"/>
            <a:lumOff val="8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线下为主</a:t>
          </a:r>
          <a:endParaRPr lang="en-US" altLang="zh-CN" sz="1600" kern="1200" dirty="0" smtClean="0"/>
        </a:p>
        <a:p>
          <a:pPr lvl="0" algn="ctr" defTabSz="711200">
            <a:lnSpc>
              <a:spcPct val="90000"/>
            </a:lnSpc>
            <a:spcBef>
              <a:spcPct val="0"/>
            </a:spcBef>
            <a:spcAft>
              <a:spcPct val="35000"/>
            </a:spcAft>
          </a:pPr>
          <a:r>
            <a:rPr lang="zh-CN" altLang="en-US" sz="1600" kern="1200" dirty="0" smtClean="0"/>
            <a:t>流程较长</a:t>
          </a:r>
          <a:endParaRPr lang="en-US" sz="1600" kern="1200" dirty="0"/>
        </a:p>
      </dsp:txBody>
      <dsp:txXfrm>
        <a:off x="526158" y="2336210"/>
        <a:ext cx="1020789" cy="623446"/>
      </dsp:txXfrm>
    </dsp:sp>
    <dsp:sp modelId="{5A313AB4-74A9-1E45-8DD2-6EA86D6D7CFA}">
      <dsp:nvSpPr>
        <dsp:cNvPr id="0" name=""/>
        <dsp:cNvSpPr/>
      </dsp:nvSpPr>
      <dsp:spPr>
        <a:xfrm>
          <a:off x="374317" y="2151255"/>
          <a:ext cx="132445" cy="1324476"/>
        </a:xfrm>
        <a:custGeom>
          <a:avLst/>
          <a:gdLst/>
          <a:ahLst/>
          <a:cxnLst/>
          <a:rect l="0" t="0" r="0" b="0"/>
          <a:pathLst>
            <a:path>
              <a:moveTo>
                <a:pt x="0" y="0"/>
              </a:moveTo>
              <a:lnTo>
                <a:pt x="0" y="1324476"/>
              </a:lnTo>
              <a:lnTo>
                <a:pt x="132445" y="1324476"/>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D327C4-209F-FE4B-843C-9431E01BE1AF}">
      <dsp:nvSpPr>
        <dsp:cNvPr id="0" name=""/>
        <dsp:cNvSpPr/>
      </dsp:nvSpPr>
      <dsp:spPr>
        <a:xfrm>
          <a:off x="506762" y="3144612"/>
          <a:ext cx="1059581" cy="662238"/>
        </a:xfrm>
        <a:prstGeom prst="roundRect">
          <a:avLst>
            <a:gd name="adj" fmla="val 10000"/>
          </a:avLst>
        </a:prstGeom>
        <a:solidFill>
          <a:schemeClr val="accent3">
            <a:lumMod val="40000"/>
            <a:lumOff val="6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线上为主</a:t>
          </a:r>
          <a:endParaRPr lang="en-US" altLang="zh-CN" sz="1600" kern="1200" dirty="0" smtClean="0"/>
        </a:p>
        <a:p>
          <a:pPr lvl="0" algn="ctr" defTabSz="711200">
            <a:lnSpc>
              <a:spcPct val="90000"/>
            </a:lnSpc>
            <a:spcBef>
              <a:spcPct val="0"/>
            </a:spcBef>
            <a:spcAft>
              <a:spcPct val="35000"/>
            </a:spcAft>
          </a:pPr>
          <a:r>
            <a:rPr lang="zh-CN" altLang="en-US" sz="1600" kern="1200" dirty="0" smtClean="0"/>
            <a:t>快速审批</a:t>
          </a:r>
          <a:endParaRPr lang="en-US" sz="1600" kern="1200" dirty="0"/>
        </a:p>
      </dsp:txBody>
      <dsp:txXfrm>
        <a:off x="526158" y="3164008"/>
        <a:ext cx="1020789" cy="623446"/>
      </dsp:txXfrm>
    </dsp:sp>
    <dsp:sp modelId="{06300884-7CAD-0344-AA42-F99D1AE921B0}">
      <dsp:nvSpPr>
        <dsp:cNvPr id="0" name=""/>
        <dsp:cNvSpPr/>
      </dsp:nvSpPr>
      <dsp:spPr>
        <a:xfrm>
          <a:off x="2824295" y="1541916"/>
          <a:ext cx="1324476" cy="662238"/>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zh-CN" altLang="en-US" sz="1900" kern="1200" smtClean="0">
              <a:latin typeface="PingFang SC Light"/>
            </a:rPr>
            <a:t>初始授信额度模型</a:t>
          </a:r>
          <a:endParaRPr lang="en-US" sz="1900" kern="1200" dirty="0"/>
        </a:p>
      </dsp:txBody>
      <dsp:txXfrm>
        <a:off x="2843691" y="1561312"/>
        <a:ext cx="1285684" cy="623446"/>
      </dsp:txXfrm>
    </dsp:sp>
    <dsp:sp modelId="{ABB2CD52-E88A-EC4A-8AFF-49103BA2656B}">
      <dsp:nvSpPr>
        <dsp:cNvPr id="0" name=""/>
        <dsp:cNvSpPr/>
      </dsp:nvSpPr>
      <dsp:spPr>
        <a:xfrm>
          <a:off x="2956742" y="2204155"/>
          <a:ext cx="132442" cy="496678"/>
        </a:xfrm>
        <a:custGeom>
          <a:avLst/>
          <a:gdLst/>
          <a:ahLst/>
          <a:cxnLst/>
          <a:rect l="0" t="0" r="0" b="0"/>
          <a:pathLst>
            <a:path>
              <a:moveTo>
                <a:pt x="0" y="0"/>
              </a:moveTo>
              <a:lnTo>
                <a:pt x="0" y="496678"/>
              </a:lnTo>
              <a:lnTo>
                <a:pt x="132442" y="496678"/>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3B03E0-E5B9-1748-A4F1-57108B9F3265}">
      <dsp:nvSpPr>
        <dsp:cNvPr id="0" name=""/>
        <dsp:cNvSpPr/>
      </dsp:nvSpPr>
      <dsp:spPr>
        <a:xfrm>
          <a:off x="3089185" y="2369714"/>
          <a:ext cx="1059581" cy="662238"/>
        </a:xfrm>
        <a:prstGeom prst="roundRect">
          <a:avLst>
            <a:gd name="adj" fmla="val 10000"/>
          </a:avLst>
        </a:prstGeom>
        <a:solidFill>
          <a:schemeClr val="accent5">
            <a:lumMod val="20000"/>
            <a:lumOff val="8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人工经验</a:t>
          </a:r>
          <a:endParaRPr lang="en-US" altLang="zh-CN" sz="1600" kern="1200" dirty="0" smtClean="0"/>
        </a:p>
        <a:p>
          <a:pPr lvl="0" algn="ctr" defTabSz="711200">
            <a:lnSpc>
              <a:spcPct val="90000"/>
            </a:lnSpc>
            <a:spcBef>
              <a:spcPct val="0"/>
            </a:spcBef>
            <a:spcAft>
              <a:spcPct val="35000"/>
            </a:spcAft>
          </a:pPr>
          <a:r>
            <a:rPr lang="zh-CN" altLang="en-US" sz="1600" kern="1200" dirty="0" smtClean="0"/>
            <a:t>有限参考</a:t>
          </a:r>
          <a:endParaRPr lang="en-US" sz="1600" kern="1200" dirty="0"/>
        </a:p>
      </dsp:txBody>
      <dsp:txXfrm>
        <a:off x="3108581" y="2389110"/>
        <a:ext cx="1020789" cy="623446"/>
      </dsp:txXfrm>
    </dsp:sp>
    <dsp:sp modelId="{99773D79-FDAD-0141-9858-4E1AEFE79E4C}">
      <dsp:nvSpPr>
        <dsp:cNvPr id="0" name=""/>
        <dsp:cNvSpPr/>
      </dsp:nvSpPr>
      <dsp:spPr>
        <a:xfrm>
          <a:off x="2956742" y="2204155"/>
          <a:ext cx="132442" cy="1324476"/>
        </a:xfrm>
        <a:custGeom>
          <a:avLst/>
          <a:gdLst/>
          <a:ahLst/>
          <a:cxnLst/>
          <a:rect l="0" t="0" r="0" b="0"/>
          <a:pathLst>
            <a:path>
              <a:moveTo>
                <a:pt x="0" y="0"/>
              </a:moveTo>
              <a:lnTo>
                <a:pt x="0" y="1324476"/>
              </a:lnTo>
              <a:lnTo>
                <a:pt x="132442" y="1324476"/>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BCF408-4D28-1744-9D0F-DDAAD76B038B}">
      <dsp:nvSpPr>
        <dsp:cNvPr id="0" name=""/>
        <dsp:cNvSpPr/>
      </dsp:nvSpPr>
      <dsp:spPr>
        <a:xfrm>
          <a:off x="3089185" y="3197512"/>
          <a:ext cx="1059581" cy="662238"/>
        </a:xfrm>
        <a:prstGeom prst="roundRect">
          <a:avLst>
            <a:gd name="adj" fmla="val 10000"/>
          </a:avLst>
        </a:prstGeom>
        <a:solidFill>
          <a:schemeClr val="accent3">
            <a:lumMod val="40000"/>
            <a:lumOff val="6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多维特征</a:t>
          </a:r>
          <a:endParaRPr lang="en-US" altLang="zh-CN" sz="1600" kern="1200" dirty="0" smtClean="0"/>
        </a:p>
        <a:p>
          <a:pPr lvl="0" algn="ctr" defTabSz="711200">
            <a:lnSpc>
              <a:spcPct val="90000"/>
            </a:lnSpc>
            <a:spcBef>
              <a:spcPct val="0"/>
            </a:spcBef>
            <a:spcAft>
              <a:spcPct val="35000"/>
            </a:spcAft>
          </a:pPr>
          <a:r>
            <a:rPr lang="zh-CN" altLang="en-US" sz="1600" kern="1200" dirty="0" smtClean="0"/>
            <a:t>快速放贷</a:t>
          </a:r>
          <a:endParaRPr lang="en-US" sz="1600" kern="1200" dirty="0"/>
        </a:p>
      </dsp:txBody>
      <dsp:txXfrm>
        <a:off x="3108581" y="3216908"/>
        <a:ext cx="1020789" cy="623446"/>
      </dsp:txXfrm>
    </dsp:sp>
    <dsp:sp modelId="{937DC8A8-401A-C54C-9D1C-5B9BFDDC531D}">
      <dsp:nvSpPr>
        <dsp:cNvPr id="0" name=""/>
        <dsp:cNvSpPr/>
      </dsp:nvSpPr>
      <dsp:spPr>
        <a:xfrm>
          <a:off x="5424719" y="1522440"/>
          <a:ext cx="1324476" cy="662238"/>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zh-CN" altLang="en-US" sz="1900" kern="1200" smtClean="0">
              <a:latin typeface="PingFang SC Light"/>
            </a:rPr>
            <a:t>新客户估价模型</a:t>
          </a:r>
          <a:endParaRPr lang="en-US" sz="1900" kern="1200" dirty="0"/>
        </a:p>
      </dsp:txBody>
      <dsp:txXfrm>
        <a:off x="5444115" y="1541836"/>
        <a:ext cx="1285684" cy="623446"/>
      </dsp:txXfrm>
    </dsp:sp>
    <dsp:sp modelId="{6660CF19-D45C-644E-948D-1A93D3D81BCA}">
      <dsp:nvSpPr>
        <dsp:cNvPr id="0" name=""/>
        <dsp:cNvSpPr/>
      </dsp:nvSpPr>
      <dsp:spPr>
        <a:xfrm>
          <a:off x="5557167" y="2184678"/>
          <a:ext cx="147393" cy="518300"/>
        </a:xfrm>
        <a:custGeom>
          <a:avLst/>
          <a:gdLst/>
          <a:ahLst/>
          <a:cxnLst/>
          <a:rect l="0" t="0" r="0" b="0"/>
          <a:pathLst>
            <a:path>
              <a:moveTo>
                <a:pt x="0" y="0"/>
              </a:moveTo>
              <a:lnTo>
                <a:pt x="0" y="518300"/>
              </a:lnTo>
              <a:lnTo>
                <a:pt x="147393" y="518300"/>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E93792-D7F2-F747-A2AE-93A3BAA5139E}">
      <dsp:nvSpPr>
        <dsp:cNvPr id="0" name=""/>
        <dsp:cNvSpPr/>
      </dsp:nvSpPr>
      <dsp:spPr>
        <a:xfrm>
          <a:off x="5704560" y="2371860"/>
          <a:ext cx="1059581" cy="662238"/>
        </a:xfrm>
        <a:prstGeom prst="roundRect">
          <a:avLst>
            <a:gd name="adj" fmla="val 10000"/>
          </a:avLst>
        </a:prstGeom>
        <a:solidFill>
          <a:schemeClr val="accent5">
            <a:lumMod val="20000"/>
            <a:lumOff val="8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传统经验</a:t>
          </a:r>
          <a:endParaRPr lang="en-US" altLang="zh-CN" sz="1600" kern="1200" dirty="0" smtClean="0"/>
        </a:p>
        <a:p>
          <a:pPr lvl="0" algn="ctr" defTabSz="711200">
            <a:lnSpc>
              <a:spcPct val="90000"/>
            </a:lnSpc>
            <a:spcBef>
              <a:spcPct val="0"/>
            </a:spcBef>
            <a:spcAft>
              <a:spcPct val="35000"/>
            </a:spcAft>
          </a:pPr>
          <a:r>
            <a:rPr lang="zh-CN" altLang="en-US" sz="1600" kern="1200" dirty="0" smtClean="0"/>
            <a:t>缺乏细分</a:t>
          </a:r>
          <a:endParaRPr lang="en-US" sz="1600" kern="1200" dirty="0"/>
        </a:p>
      </dsp:txBody>
      <dsp:txXfrm>
        <a:off x="5723956" y="2391256"/>
        <a:ext cx="1020789" cy="623446"/>
      </dsp:txXfrm>
    </dsp:sp>
    <dsp:sp modelId="{37BBBD76-9E78-2C45-80FA-8D18A2BF66EF}">
      <dsp:nvSpPr>
        <dsp:cNvPr id="0" name=""/>
        <dsp:cNvSpPr/>
      </dsp:nvSpPr>
      <dsp:spPr>
        <a:xfrm>
          <a:off x="5557167" y="2184678"/>
          <a:ext cx="122164" cy="1345026"/>
        </a:xfrm>
        <a:custGeom>
          <a:avLst/>
          <a:gdLst/>
          <a:ahLst/>
          <a:cxnLst/>
          <a:rect l="0" t="0" r="0" b="0"/>
          <a:pathLst>
            <a:path>
              <a:moveTo>
                <a:pt x="0" y="0"/>
              </a:moveTo>
              <a:lnTo>
                <a:pt x="0" y="1345026"/>
              </a:lnTo>
              <a:lnTo>
                <a:pt x="122164" y="1345026"/>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B90382-2491-BE4D-B60C-349083FEE83B}">
      <dsp:nvSpPr>
        <dsp:cNvPr id="0" name=""/>
        <dsp:cNvSpPr/>
      </dsp:nvSpPr>
      <dsp:spPr>
        <a:xfrm>
          <a:off x="5679332" y="3198585"/>
          <a:ext cx="1093752" cy="662238"/>
        </a:xfrm>
        <a:prstGeom prst="roundRect">
          <a:avLst>
            <a:gd name="adj" fmla="val 10000"/>
          </a:avLst>
        </a:prstGeom>
        <a:solidFill>
          <a:schemeClr val="accent3">
            <a:lumMod val="40000"/>
            <a:lumOff val="6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消费还款</a:t>
          </a:r>
          <a:endParaRPr lang="en-US" altLang="zh-CN" sz="1600" kern="1200" dirty="0" smtClean="0"/>
        </a:p>
        <a:p>
          <a:pPr lvl="0" algn="ctr" defTabSz="711200">
            <a:lnSpc>
              <a:spcPct val="90000"/>
            </a:lnSpc>
            <a:spcBef>
              <a:spcPct val="0"/>
            </a:spcBef>
            <a:spcAft>
              <a:spcPct val="35000"/>
            </a:spcAft>
          </a:pPr>
          <a:r>
            <a:rPr lang="zh-CN" altLang="en-US" sz="1600" kern="1200" dirty="0" smtClean="0"/>
            <a:t>预估价值</a:t>
          </a:r>
          <a:endParaRPr lang="en-US" sz="1600" kern="1200" dirty="0"/>
        </a:p>
      </dsp:txBody>
      <dsp:txXfrm>
        <a:off x="5698728" y="3217981"/>
        <a:ext cx="1054960" cy="623446"/>
      </dsp:txXfrm>
    </dsp:sp>
    <dsp:sp modelId="{69184A84-0202-3745-BBC2-0B411CEBF052}">
      <dsp:nvSpPr>
        <dsp:cNvPr id="0" name=""/>
        <dsp:cNvSpPr/>
      </dsp:nvSpPr>
      <dsp:spPr>
        <a:xfrm>
          <a:off x="246585" y="4131652"/>
          <a:ext cx="1324476" cy="662238"/>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zh-CN" altLang="en-US" sz="1900" kern="1200" smtClean="0">
              <a:latin typeface="PingFang SC Light"/>
            </a:rPr>
            <a:t>贷后额度管理模型</a:t>
          </a:r>
          <a:endParaRPr lang="en-US" sz="1900" kern="1200" dirty="0"/>
        </a:p>
      </dsp:txBody>
      <dsp:txXfrm>
        <a:off x="265981" y="4151048"/>
        <a:ext cx="1285684" cy="623446"/>
      </dsp:txXfrm>
    </dsp:sp>
    <dsp:sp modelId="{EEA1A23B-F1A1-3A42-A38C-593F75DF129B}">
      <dsp:nvSpPr>
        <dsp:cNvPr id="0" name=""/>
        <dsp:cNvSpPr/>
      </dsp:nvSpPr>
      <dsp:spPr>
        <a:xfrm>
          <a:off x="379033" y="4793891"/>
          <a:ext cx="106506" cy="506950"/>
        </a:xfrm>
        <a:custGeom>
          <a:avLst/>
          <a:gdLst/>
          <a:ahLst/>
          <a:cxnLst/>
          <a:rect l="0" t="0" r="0" b="0"/>
          <a:pathLst>
            <a:path>
              <a:moveTo>
                <a:pt x="0" y="0"/>
              </a:moveTo>
              <a:lnTo>
                <a:pt x="0" y="506950"/>
              </a:lnTo>
              <a:lnTo>
                <a:pt x="106506" y="506950"/>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21AB21-D1F1-4540-AD88-72993D36F1F3}">
      <dsp:nvSpPr>
        <dsp:cNvPr id="0" name=""/>
        <dsp:cNvSpPr/>
      </dsp:nvSpPr>
      <dsp:spPr>
        <a:xfrm>
          <a:off x="485539" y="4969722"/>
          <a:ext cx="1059581" cy="662238"/>
        </a:xfrm>
        <a:prstGeom prst="roundRect">
          <a:avLst>
            <a:gd name="adj" fmla="val 10000"/>
          </a:avLst>
        </a:prstGeom>
        <a:solidFill>
          <a:schemeClr val="accent5">
            <a:lumMod val="20000"/>
            <a:lumOff val="8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固定额度</a:t>
          </a:r>
          <a:endParaRPr lang="en-US" altLang="zh-CN" sz="1600" kern="1200" dirty="0" smtClean="0"/>
        </a:p>
        <a:p>
          <a:pPr lvl="0" algn="ctr" defTabSz="711200">
            <a:lnSpc>
              <a:spcPct val="90000"/>
            </a:lnSpc>
            <a:spcBef>
              <a:spcPct val="0"/>
            </a:spcBef>
            <a:spcAft>
              <a:spcPct val="35000"/>
            </a:spcAft>
          </a:pPr>
          <a:r>
            <a:rPr lang="zh-CN" altLang="en-US" sz="1600" kern="1200" dirty="0" smtClean="0"/>
            <a:t>被动调整</a:t>
          </a:r>
          <a:endParaRPr lang="en-US" sz="1600" kern="1200" dirty="0"/>
        </a:p>
      </dsp:txBody>
      <dsp:txXfrm>
        <a:off x="504935" y="4989118"/>
        <a:ext cx="1020789" cy="623446"/>
      </dsp:txXfrm>
    </dsp:sp>
    <dsp:sp modelId="{48E9C3A8-9ADD-E842-9E8E-E1ECBF973C48}">
      <dsp:nvSpPr>
        <dsp:cNvPr id="0" name=""/>
        <dsp:cNvSpPr/>
      </dsp:nvSpPr>
      <dsp:spPr>
        <a:xfrm>
          <a:off x="333313" y="4793891"/>
          <a:ext cx="91440" cy="1319622"/>
        </a:xfrm>
        <a:custGeom>
          <a:avLst/>
          <a:gdLst/>
          <a:ahLst/>
          <a:cxnLst/>
          <a:rect l="0" t="0" r="0" b="0"/>
          <a:pathLst>
            <a:path>
              <a:moveTo>
                <a:pt x="45720" y="0"/>
              </a:moveTo>
              <a:lnTo>
                <a:pt x="45720" y="1319622"/>
              </a:lnTo>
              <a:lnTo>
                <a:pt x="111665" y="1319622"/>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6BA3F6-28D5-5044-9957-617D2C06680F}">
      <dsp:nvSpPr>
        <dsp:cNvPr id="0" name=""/>
        <dsp:cNvSpPr/>
      </dsp:nvSpPr>
      <dsp:spPr>
        <a:xfrm>
          <a:off x="444978" y="5782394"/>
          <a:ext cx="1059581" cy="662238"/>
        </a:xfrm>
        <a:prstGeom prst="roundRect">
          <a:avLst>
            <a:gd name="adj" fmla="val 10000"/>
          </a:avLst>
        </a:prstGeom>
        <a:solidFill>
          <a:schemeClr val="accent3">
            <a:lumMod val="40000"/>
            <a:lumOff val="6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发掘潜力</a:t>
          </a:r>
          <a:endParaRPr lang="en-US" altLang="zh-CN" sz="1600" kern="1200" dirty="0" smtClean="0"/>
        </a:p>
        <a:p>
          <a:pPr lvl="0" algn="ctr" defTabSz="711200">
            <a:lnSpc>
              <a:spcPct val="90000"/>
            </a:lnSpc>
            <a:spcBef>
              <a:spcPct val="0"/>
            </a:spcBef>
            <a:spcAft>
              <a:spcPct val="35000"/>
            </a:spcAft>
          </a:pPr>
          <a:r>
            <a:rPr lang="zh-CN" altLang="en-US" sz="1600" kern="1200" dirty="0" smtClean="0"/>
            <a:t>主动调整</a:t>
          </a:r>
          <a:endParaRPr lang="en-US" sz="1600" kern="1200" dirty="0"/>
        </a:p>
      </dsp:txBody>
      <dsp:txXfrm>
        <a:off x="464374" y="5801790"/>
        <a:ext cx="1020789" cy="623446"/>
      </dsp:txXfrm>
    </dsp:sp>
    <dsp:sp modelId="{C7C9784B-B1A1-1E4B-9D80-886B3B777CC6}">
      <dsp:nvSpPr>
        <dsp:cNvPr id="0" name=""/>
        <dsp:cNvSpPr/>
      </dsp:nvSpPr>
      <dsp:spPr>
        <a:xfrm>
          <a:off x="2833884" y="4174281"/>
          <a:ext cx="1324476" cy="662238"/>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zh-CN" altLang="en-US" sz="1900" kern="1200" smtClean="0">
              <a:latin typeface="PingFang SC Light"/>
            </a:rPr>
            <a:t>存量客户收益模型</a:t>
          </a:r>
          <a:endParaRPr lang="en-US" sz="1900" kern="1200" dirty="0"/>
        </a:p>
      </dsp:txBody>
      <dsp:txXfrm>
        <a:off x="2853280" y="4193677"/>
        <a:ext cx="1285684" cy="623446"/>
      </dsp:txXfrm>
    </dsp:sp>
    <dsp:sp modelId="{D2BEA262-F32B-4946-953D-8D634EF8AE45}">
      <dsp:nvSpPr>
        <dsp:cNvPr id="0" name=""/>
        <dsp:cNvSpPr/>
      </dsp:nvSpPr>
      <dsp:spPr>
        <a:xfrm>
          <a:off x="2966332" y="4836519"/>
          <a:ext cx="132442" cy="496678"/>
        </a:xfrm>
        <a:custGeom>
          <a:avLst/>
          <a:gdLst/>
          <a:ahLst/>
          <a:cxnLst/>
          <a:rect l="0" t="0" r="0" b="0"/>
          <a:pathLst>
            <a:path>
              <a:moveTo>
                <a:pt x="0" y="0"/>
              </a:moveTo>
              <a:lnTo>
                <a:pt x="0" y="496678"/>
              </a:lnTo>
              <a:lnTo>
                <a:pt x="132442" y="496678"/>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B6B1AA-D433-C64D-9D36-6614B6324C83}">
      <dsp:nvSpPr>
        <dsp:cNvPr id="0" name=""/>
        <dsp:cNvSpPr/>
      </dsp:nvSpPr>
      <dsp:spPr>
        <a:xfrm>
          <a:off x="3098774" y="5002079"/>
          <a:ext cx="1059581" cy="662238"/>
        </a:xfrm>
        <a:prstGeom prst="roundRect">
          <a:avLst>
            <a:gd name="adj" fmla="val 10000"/>
          </a:avLst>
        </a:prstGeom>
        <a:solidFill>
          <a:schemeClr val="accent5">
            <a:lumMod val="20000"/>
            <a:lumOff val="8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随机访问</a:t>
          </a:r>
          <a:endParaRPr lang="en-US" altLang="zh-CN" sz="1600" kern="1200" dirty="0" smtClean="0"/>
        </a:p>
        <a:p>
          <a:pPr lvl="0" algn="ctr" defTabSz="711200">
            <a:lnSpc>
              <a:spcPct val="90000"/>
            </a:lnSpc>
            <a:spcBef>
              <a:spcPct val="0"/>
            </a:spcBef>
            <a:spcAft>
              <a:spcPct val="35000"/>
            </a:spcAft>
          </a:pPr>
          <a:r>
            <a:rPr lang="zh-CN" altLang="en-US" sz="1600" kern="1200" dirty="0" smtClean="0"/>
            <a:t>响应率低</a:t>
          </a:r>
          <a:endParaRPr lang="en-US" sz="1600" kern="1200" dirty="0"/>
        </a:p>
      </dsp:txBody>
      <dsp:txXfrm>
        <a:off x="3118170" y="5021475"/>
        <a:ext cx="1020789" cy="623446"/>
      </dsp:txXfrm>
    </dsp:sp>
    <dsp:sp modelId="{EB67657E-ABF0-7E47-AD08-065205066E84}">
      <dsp:nvSpPr>
        <dsp:cNvPr id="0" name=""/>
        <dsp:cNvSpPr/>
      </dsp:nvSpPr>
      <dsp:spPr>
        <a:xfrm>
          <a:off x="2966332" y="4836519"/>
          <a:ext cx="152532" cy="1299689"/>
        </a:xfrm>
        <a:custGeom>
          <a:avLst/>
          <a:gdLst/>
          <a:ahLst/>
          <a:cxnLst/>
          <a:rect l="0" t="0" r="0" b="0"/>
          <a:pathLst>
            <a:path>
              <a:moveTo>
                <a:pt x="0" y="0"/>
              </a:moveTo>
              <a:lnTo>
                <a:pt x="0" y="1299689"/>
              </a:lnTo>
              <a:lnTo>
                <a:pt x="152532" y="129968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096F59-7ABD-A849-886A-B4C5C4664006}">
      <dsp:nvSpPr>
        <dsp:cNvPr id="0" name=""/>
        <dsp:cNvSpPr/>
      </dsp:nvSpPr>
      <dsp:spPr>
        <a:xfrm>
          <a:off x="3118864" y="5805089"/>
          <a:ext cx="1059581" cy="662238"/>
        </a:xfrm>
        <a:prstGeom prst="roundRect">
          <a:avLst>
            <a:gd name="adj" fmla="val 10000"/>
          </a:avLst>
        </a:prstGeom>
        <a:solidFill>
          <a:schemeClr val="accent3">
            <a:lumMod val="40000"/>
            <a:lumOff val="6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行为挖掘</a:t>
          </a:r>
          <a:endParaRPr lang="en-US" altLang="zh-CN" sz="1600" kern="1200" dirty="0" smtClean="0"/>
        </a:p>
        <a:p>
          <a:pPr lvl="0" algn="ctr" defTabSz="711200">
            <a:lnSpc>
              <a:spcPct val="90000"/>
            </a:lnSpc>
            <a:spcBef>
              <a:spcPct val="0"/>
            </a:spcBef>
            <a:spcAft>
              <a:spcPct val="35000"/>
            </a:spcAft>
          </a:pPr>
          <a:r>
            <a:rPr lang="zh-CN" altLang="en-US" sz="1600" kern="1200" dirty="0" smtClean="0"/>
            <a:t>盘活用户</a:t>
          </a:r>
          <a:endParaRPr lang="en-US" sz="1600" kern="1200" dirty="0"/>
        </a:p>
      </dsp:txBody>
      <dsp:txXfrm>
        <a:off x="3138260" y="5824485"/>
        <a:ext cx="1020789" cy="623446"/>
      </dsp:txXfrm>
    </dsp:sp>
    <dsp:sp modelId="{93A707EA-4350-F04F-8EC6-00464FF67962}">
      <dsp:nvSpPr>
        <dsp:cNvPr id="0" name=""/>
        <dsp:cNvSpPr/>
      </dsp:nvSpPr>
      <dsp:spPr>
        <a:xfrm>
          <a:off x="5393210" y="4195903"/>
          <a:ext cx="1324476" cy="662238"/>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zh-CN" altLang="en-US" sz="1900" kern="1200" smtClean="0">
              <a:latin typeface="PingFang SC Light"/>
            </a:rPr>
            <a:t>贷后风险管理模型</a:t>
          </a:r>
          <a:endParaRPr lang="en-US" sz="1900" kern="1200" dirty="0"/>
        </a:p>
      </dsp:txBody>
      <dsp:txXfrm>
        <a:off x="5412606" y="4215299"/>
        <a:ext cx="1285684" cy="623446"/>
      </dsp:txXfrm>
    </dsp:sp>
    <dsp:sp modelId="{A340B6FB-ABE8-AA49-B313-62202D981799}">
      <dsp:nvSpPr>
        <dsp:cNvPr id="0" name=""/>
        <dsp:cNvSpPr/>
      </dsp:nvSpPr>
      <dsp:spPr>
        <a:xfrm>
          <a:off x="5525658" y="4858141"/>
          <a:ext cx="121653" cy="539922"/>
        </a:xfrm>
        <a:custGeom>
          <a:avLst/>
          <a:gdLst/>
          <a:ahLst/>
          <a:cxnLst/>
          <a:rect l="0" t="0" r="0" b="0"/>
          <a:pathLst>
            <a:path>
              <a:moveTo>
                <a:pt x="0" y="0"/>
              </a:moveTo>
              <a:lnTo>
                <a:pt x="0" y="539922"/>
              </a:lnTo>
              <a:lnTo>
                <a:pt x="121653" y="539922"/>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567647-46CC-884E-9EB0-192C0500520B}">
      <dsp:nvSpPr>
        <dsp:cNvPr id="0" name=""/>
        <dsp:cNvSpPr/>
      </dsp:nvSpPr>
      <dsp:spPr>
        <a:xfrm>
          <a:off x="5647311" y="5066945"/>
          <a:ext cx="1059581" cy="662238"/>
        </a:xfrm>
        <a:prstGeom prst="roundRect">
          <a:avLst>
            <a:gd name="adj" fmla="val 10000"/>
          </a:avLst>
        </a:prstGeom>
        <a:solidFill>
          <a:schemeClr val="accent5">
            <a:lumMod val="20000"/>
            <a:lumOff val="8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规则为主</a:t>
          </a:r>
          <a:endParaRPr lang="en-US" altLang="zh-CN" sz="1600" kern="1200" dirty="0" smtClean="0"/>
        </a:p>
        <a:p>
          <a:pPr lvl="0" algn="ctr" defTabSz="711200">
            <a:lnSpc>
              <a:spcPct val="90000"/>
            </a:lnSpc>
            <a:spcBef>
              <a:spcPct val="0"/>
            </a:spcBef>
            <a:spcAft>
              <a:spcPct val="35000"/>
            </a:spcAft>
          </a:pPr>
          <a:r>
            <a:rPr lang="zh-CN" altLang="en-US" sz="1600" kern="1200" dirty="0" smtClean="0"/>
            <a:t>常有漏网</a:t>
          </a:r>
          <a:endParaRPr lang="en-US" sz="1600" kern="1200" dirty="0"/>
        </a:p>
      </dsp:txBody>
      <dsp:txXfrm>
        <a:off x="5666707" y="5086341"/>
        <a:ext cx="1020789" cy="623446"/>
      </dsp:txXfrm>
    </dsp:sp>
    <dsp:sp modelId="{2C6E93C8-1A5E-7B46-B07A-BA4479ACF2D7}">
      <dsp:nvSpPr>
        <dsp:cNvPr id="0" name=""/>
        <dsp:cNvSpPr/>
      </dsp:nvSpPr>
      <dsp:spPr>
        <a:xfrm>
          <a:off x="5525658" y="4858141"/>
          <a:ext cx="98416" cy="1348833"/>
        </a:xfrm>
        <a:custGeom>
          <a:avLst/>
          <a:gdLst/>
          <a:ahLst/>
          <a:cxnLst/>
          <a:rect l="0" t="0" r="0" b="0"/>
          <a:pathLst>
            <a:path>
              <a:moveTo>
                <a:pt x="0" y="0"/>
              </a:moveTo>
              <a:lnTo>
                <a:pt x="0" y="1348833"/>
              </a:lnTo>
              <a:lnTo>
                <a:pt x="98416" y="1348833"/>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20056B-3890-324D-BB8D-3F8F0220F76A}">
      <dsp:nvSpPr>
        <dsp:cNvPr id="0" name=""/>
        <dsp:cNvSpPr/>
      </dsp:nvSpPr>
      <dsp:spPr>
        <a:xfrm>
          <a:off x="5624074" y="5875856"/>
          <a:ext cx="1059581" cy="662238"/>
        </a:xfrm>
        <a:prstGeom prst="roundRect">
          <a:avLst>
            <a:gd name="adj" fmla="val 10000"/>
          </a:avLst>
        </a:prstGeom>
        <a:solidFill>
          <a:schemeClr val="accent3">
            <a:lumMod val="40000"/>
            <a:lumOff val="60000"/>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ctr" defTabSz="711200">
            <a:lnSpc>
              <a:spcPct val="90000"/>
            </a:lnSpc>
            <a:spcBef>
              <a:spcPct val="0"/>
            </a:spcBef>
            <a:spcAft>
              <a:spcPct val="35000"/>
            </a:spcAft>
          </a:pPr>
          <a:r>
            <a:rPr lang="zh-CN" altLang="en-US" sz="1600" kern="1200" dirty="0" smtClean="0"/>
            <a:t>数据追踪</a:t>
          </a:r>
          <a:endParaRPr lang="en-US" altLang="zh-CN" sz="1600" kern="1200" dirty="0" smtClean="0"/>
        </a:p>
        <a:p>
          <a:pPr lvl="0" algn="ctr" defTabSz="711200">
            <a:lnSpc>
              <a:spcPct val="90000"/>
            </a:lnSpc>
            <a:spcBef>
              <a:spcPct val="0"/>
            </a:spcBef>
            <a:spcAft>
              <a:spcPct val="35000"/>
            </a:spcAft>
          </a:pPr>
          <a:r>
            <a:rPr lang="zh-CN" altLang="en-US" sz="1600" kern="1200" dirty="0" smtClean="0"/>
            <a:t>预警风险</a:t>
          </a:r>
          <a:endParaRPr lang="en-US" sz="1600" kern="1200" dirty="0"/>
        </a:p>
      </dsp:txBody>
      <dsp:txXfrm>
        <a:off x="5643470" y="5895252"/>
        <a:ext cx="1020789" cy="62344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509576287"/>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37534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6160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smtClean="0"/>
              <a:t>香港银行零售业务还比较偏线下</a:t>
            </a:r>
            <a:endParaRPr lang="en-US" dirty="0"/>
          </a:p>
        </p:txBody>
      </p:sp>
    </p:spTree>
    <p:extLst>
      <p:ext uri="{BB962C8B-B14F-4D97-AF65-F5344CB8AC3E}">
        <p14:creationId xmlns:p14="http://schemas.microsoft.com/office/powerpoint/2010/main" val="918661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1717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88560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22286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65527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55213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85176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81993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81787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41881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Shape 609"/>
          <p:cNvSpPr txBox="1">
            <a:spLocks noGrp="1"/>
          </p:cNvSpPr>
          <p:nvPr>
            <p:ph type="body" idx="1"/>
          </p:nvPr>
        </p:nvSpPr>
        <p:spPr>
          <a:xfrm>
            <a:off x="685800" y="4400550"/>
            <a:ext cx="5486400" cy="3600450"/>
          </a:xfrm>
          <a:prstGeom prst="rect">
            <a:avLst/>
          </a:prstGeom>
        </p:spPr>
        <p:txBody>
          <a:bodyPr wrap="square" lIns="91425" tIns="91425" rIns="91425" bIns="91425" anchor="t" anchorCtr="0">
            <a:noAutofit/>
          </a:bodyPr>
          <a:lstStyle/>
          <a:p>
            <a:pPr marL="0" lvl="0" indent="0">
              <a:spcBef>
                <a:spcPts val="0"/>
              </a:spcBef>
              <a:buNone/>
            </a:pPr>
            <a:endParaRPr/>
          </a:p>
        </p:txBody>
      </p:sp>
      <p:sp>
        <p:nvSpPr>
          <p:cNvPr id="610" name="Shape 610"/>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488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Shape 622"/>
          <p:cNvSpPr txBox="1">
            <a:spLocks noGrp="1"/>
          </p:cNvSpPr>
          <p:nvPr>
            <p:ph type="body" idx="1"/>
          </p:nvPr>
        </p:nvSpPr>
        <p:spPr>
          <a:xfrm>
            <a:off x="685800" y="4400550"/>
            <a:ext cx="5486400" cy="3600450"/>
          </a:xfrm>
          <a:prstGeom prst="rect">
            <a:avLst/>
          </a:prstGeom>
        </p:spPr>
        <p:txBody>
          <a:bodyPr wrap="square" lIns="91425" tIns="91425" rIns="91425" bIns="91425" anchor="t" anchorCtr="0">
            <a:noAutofit/>
          </a:bodyPr>
          <a:lstStyle/>
          <a:p>
            <a:pPr marL="0" lvl="0" indent="0">
              <a:spcBef>
                <a:spcPts val="0"/>
              </a:spcBef>
              <a:buNone/>
            </a:pPr>
            <a:endParaRPr/>
          </a:p>
        </p:txBody>
      </p:sp>
      <p:sp>
        <p:nvSpPr>
          <p:cNvPr id="623" name="Shape 623"/>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324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Shape 643"/>
          <p:cNvSpPr txBox="1">
            <a:spLocks noGrp="1"/>
          </p:cNvSpPr>
          <p:nvPr>
            <p:ph type="body" idx="1"/>
          </p:nvPr>
        </p:nvSpPr>
        <p:spPr>
          <a:xfrm>
            <a:off x="685800" y="4400550"/>
            <a:ext cx="5486400" cy="3600450"/>
          </a:xfrm>
          <a:prstGeom prst="rect">
            <a:avLst/>
          </a:prstGeom>
        </p:spPr>
        <p:txBody>
          <a:bodyPr wrap="square" lIns="91425" tIns="91425" rIns="91425" bIns="91425" anchor="t" anchorCtr="0">
            <a:noAutofit/>
          </a:bodyPr>
          <a:lstStyle/>
          <a:p>
            <a:pPr marL="0" lvl="0" indent="0">
              <a:spcBef>
                <a:spcPts val="0"/>
              </a:spcBef>
              <a:buNone/>
            </a:pPr>
            <a:endParaRPr/>
          </a:p>
        </p:txBody>
      </p:sp>
      <p:sp>
        <p:nvSpPr>
          <p:cNvPr id="644" name="Shape 644"/>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629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spTree>
      <p:nvGrpSpPr>
        <p:cNvPr id="1" name=""/>
        <p:cNvGrpSpPr/>
        <p:nvPr/>
      </p:nvGrpSpPr>
      <p:grpSpPr>
        <a:xfrm>
          <a:off x="0" y="0"/>
          <a:ext cx="0" cy="0"/>
          <a:chOff x="0" y="0"/>
          <a:chExt cx="0" cy="0"/>
        </a:xfrm>
      </p:grpSpPr>
      <p:sp>
        <p:nvSpPr>
          <p:cNvPr id="11" name="标题文本"/>
          <p:cNvSpPr txBox="1">
            <a:spLocks noGrp="1"/>
          </p:cNvSpPr>
          <p:nvPr>
            <p:ph type="title"/>
          </p:nvPr>
        </p:nvSpPr>
        <p:spPr>
          <a:prstGeom prst="rect">
            <a:avLst/>
          </a:prstGeom>
        </p:spPr>
        <p:txBody>
          <a:bodyPr/>
          <a:lstStyle/>
          <a:p>
            <a:r>
              <a:t>标题文本</a:t>
            </a:r>
          </a:p>
        </p:txBody>
      </p:sp>
      <p:sp>
        <p:nvSpPr>
          <p:cNvPr id="12" name="正文级别 1…"/>
          <p:cNvSpPr txBox="1">
            <a:spLocks noGrp="1"/>
          </p:cNvSpPr>
          <p:nvPr>
            <p:ph type="body" sz="quarter" idx="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20" name="图像"/>
          <p:cNvSpPr>
            <a:spLocks noGrp="1"/>
          </p:cNvSpPr>
          <p:nvPr>
            <p:ph type="pic" sz="quarter" idx="13"/>
          </p:nvPr>
        </p:nvSpPr>
        <p:spPr>
          <a:xfrm>
            <a:off x="3524249" y="1212204"/>
            <a:ext cx="5143501" cy="3114230"/>
          </a:xfrm>
          <a:prstGeom prst="rect">
            <a:avLst/>
          </a:prstGeom>
        </p:spPr>
        <p:txBody>
          <a:bodyPr lIns="91439" tIns="45719" rIns="91439" bIns="45719">
            <a:noAutofit/>
          </a:bodyPr>
          <a:lstStyle/>
          <a:p>
            <a:endParaRPr/>
          </a:p>
        </p:txBody>
      </p:sp>
      <p:sp>
        <p:nvSpPr>
          <p:cNvPr id="21" name="标题文本"/>
          <p:cNvSpPr txBox="1">
            <a:spLocks noGrp="1"/>
          </p:cNvSpPr>
          <p:nvPr>
            <p:ph type="title"/>
          </p:nvPr>
        </p:nvSpPr>
        <p:spPr>
          <a:xfrm>
            <a:off x="3336726" y="4400103"/>
            <a:ext cx="5518548" cy="750095"/>
          </a:xfrm>
          <a:prstGeom prst="rect">
            <a:avLst/>
          </a:prstGeom>
        </p:spPr>
        <p:txBody>
          <a:bodyPr/>
          <a:lstStyle/>
          <a:p>
            <a:r>
              <a:t>标题文本</a:t>
            </a:r>
          </a:p>
        </p:txBody>
      </p:sp>
      <p:sp>
        <p:nvSpPr>
          <p:cNvPr id="22" name="正文级别 1…"/>
          <p:cNvSpPr txBox="1">
            <a:spLocks noGrp="1"/>
          </p:cNvSpPr>
          <p:nvPr>
            <p:ph type="body" sz="quarter" idx="1"/>
          </p:nvPr>
        </p:nvSpPr>
        <p:spPr>
          <a:xfrm>
            <a:off x="3336726" y="5156894"/>
            <a:ext cx="5518548" cy="59605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3"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标题文本"/>
          <p:cNvSpPr txBox="1">
            <a:spLocks noGrp="1"/>
          </p:cNvSpPr>
          <p:nvPr>
            <p:ph type="title"/>
          </p:nvPr>
        </p:nvSpPr>
        <p:spPr>
          <a:xfrm>
            <a:off x="3336726" y="2558355"/>
            <a:ext cx="5518548" cy="1741290"/>
          </a:xfrm>
          <a:prstGeom prst="rect">
            <a:avLst/>
          </a:prstGeom>
        </p:spPr>
        <p:txBody>
          <a:bodyPr anchor="ctr"/>
          <a:lstStyle/>
          <a:p>
            <a:r>
              <a:t>标题文本</a:t>
            </a:r>
          </a:p>
        </p:txBody>
      </p:sp>
      <p:sp>
        <p:nvSpPr>
          <p:cNvPr id="31"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图像"/>
          <p:cNvSpPr>
            <a:spLocks noGrp="1"/>
          </p:cNvSpPr>
          <p:nvPr>
            <p:ph type="pic" sz="quarter" idx="13"/>
          </p:nvPr>
        </p:nvSpPr>
        <p:spPr>
          <a:xfrm>
            <a:off x="6209853" y="1192113"/>
            <a:ext cx="2812853" cy="4333132"/>
          </a:xfrm>
          <a:prstGeom prst="rect">
            <a:avLst/>
          </a:prstGeom>
        </p:spPr>
        <p:txBody>
          <a:bodyPr lIns="91439" tIns="45719" rIns="91439" bIns="45719">
            <a:noAutofit/>
          </a:bodyPr>
          <a:lstStyle/>
          <a:p>
            <a:endParaRPr/>
          </a:p>
        </p:txBody>
      </p:sp>
      <p:sp>
        <p:nvSpPr>
          <p:cNvPr id="39" name="标题文本"/>
          <p:cNvSpPr txBox="1">
            <a:spLocks noGrp="1"/>
          </p:cNvSpPr>
          <p:nvPr>
            <p:ph type="title"/>
          </p:nvPr>
        </p:nvSpPr>
        <p:spPr>
          <a:xfrm>
            <a:off x="3169294" y="1192113"/>
            <a:ext cx="2812853" cy="2102942"/>
          </a:xfrm>
          <a:prstGeom prst="rect">
            <a:avLst/>
          </a:prstGeom>
        </p:spPr>
        <p:txBody>
          <a:bodyPr/>
          <a:lstStyle>
            <a:lvl1pPr>
              <a:defRPr sz="4000"/>
            </a:lvl1pPr>
          </a:lstStyle>
          <a:p>
            <a:r>
              <a:t>标题文本</a:t>
            </a:r>
          </a:p>
        </p:txBody>
      </p:sp>
      <p:sp>
        <p:nvSpPr>
          <p:cNvPr id="40" name="正文级别 1…"/>
          <p:cNvSpPr txBox="1">
            <a:spLocks noGrp="1"/>
          </p:cNvSpPr>
          <p:nvPr>
            <p:ph type="body" sz="quarter" idx="1"/>
          </p:nvPr>
        </p:nvSpPr>
        <p:spPr>
          <a:xfrm>
            <a:off x="3169294" y="3348632"/>
            <a:ext cx="2812853" cy="2169916"/>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标题文本"/>
          <p:cNvSpPr txBox="1">
            <a:spLocks noGrp="1"/>
          </p:cNvSpPr>
          <p:nvPr>
            <p:ph type="title"/>
          </p:nvPr>
        </p:nvSpPr>
        <p:spPr>
          <a:xfrm>
            <a:off x="3169294" y="991195"/>
            <a:ext cx="5853412" cy="1138536"/>
          </a:xfrm>
          <a:prstGeom prst="rect">
            <a:avLst/>
          </a:prstGeom>
        </p:spPr>
        <p:txBody>
          <a:bodyPr anchor="ctr"/>
          <a:lstStyle/>
          <a:p>
            <a:r>
              <a:t>标题文本</a:t>
            </a:r>
          </a:p>
        </p:txBody>
      </p:sp>
      <p:sp>
        <p:nvSpPr>
          <p:cNvPr id="49"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p:nvPr>
        </p:nvSpPr>
        <p:spPr>
          <a:xfrm>
            <a:off x="3169294" y="991195"/>
            <a:ext cx="5853412" cy="1138536"/>
          </a:xfrm>
          <a:prstGeom prst="rect">
            <a:avLst/>
          </a:prstGeom>
        </p:spPr>
        <p:txBody>
          <a:bodyPr anchor="ctr"/>
          <a:lstStyle/>
          <a:p>
            <a:r>
              <a:t>标题文本</a:t>
            </a:r>
          </a:p>
        </p:txBody>
      </p:sp>
      <p:sp>
        <p:nvSpPr>
          <p:cNvPr id="57" name="正文级别 1…"/>
          <p:cNvSpPr txBox="1">
            <a:spLocks noGrp="1"/>
          </p:cNvSpPr>
          <p:nvPr>
            <p:ph type="body" sz="half" idx="1"/>
          </p:nvPr>
        </p:nvSpPr>
        <p:spPr>
          <a:xfrm>
            <a:off x="3169294" y="2223492"/>
            <a:ext cx="5853412" cy="3315147"/>
          </a:xfrm>
          <a:prstGeom prst="rect">
            <a:avLst/>
          </a:prstGeom>
        </p:spPr>
        <p:txBody>
          <a:bodyPr anchor="ctr"/>
          <a:lstStyle>
            <a:lvl1pPr marL="277812" indent="-277812" algn="l">
              <a:spcBef>
                <a:spcPts val="2900"/>
              </a:spcBef>
              <a:buSzPct val="145000"/>
              <a:buChar char="•"/>
              <a:defRPr sz="2000"/>
            </a:lvl1pPr>
            <a:lvl2pPr marL="722312" indent="-277812" algn="l">
              <a:spcBef>
                <a:spcPts val="2900"/>
              </a:spcBef>
              <a:buSzPct val="145000"/>
              <a:buChar char="•"/>
              <a:defRPr sz="2000"/>
            </a:lvl2pPr>
            <a:lvl3pPr marL="1166812" indent="-277812" algn="l">
              <a:spcBef>
                <a:spcPts val="2900"/>
              </a:spcBef>
              <a:buSzPct val="145000"/>
              <a:buChar char="•"/>
              <a:defRPr sz="2000"/>
            </a:lvl3pPr>
            <a:lvl4pPr marL="1611312" indent="-277812" algn="l">
              <a:spcBef>
                <a:spcPts val="2900"/>
              </a:spcBef>
              <a:buSzPct val="145000"/>
              <a:buChar char="•"/>
              <a:defRPr sz="2000"/>
            </a:lvl4pPr>
            <a:lvl5pPr marL="2055812" indent="-277812" algn="l">
              <a:spcBef>
                <a:spcPts val="2900"/>
              </a:spcBef>
              <a:buSzPct val="145000"/>
              <a:buChar char="•"/>
              <a:defRPr sz="20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图像"/>
          <p:cNvSpPr>
            <a:spLocks noGrp="1"/>
          </p:cNvSpPr>
          <p:nvPr>
            <p:ph type="pic" sz="quarter" idx="13"/>
          </p:nvPr>
        </p:nvSpPr>
        <p:spPr>
          <a:xfrm>
            <a:off x="6209853" y="2223492"/>
            <a:ext cx="2812853" cy="3315147"/>
          </a:xfrm>
          <a:prstGeom prst="rect">
            <a:avLst/>
          </a:prstGeom>
        </p:spPr>
        <p:txBody>
          <a:bodyPr lIns="91439" tIns="45719" rIns="91439" bIns="45719">
            <a:noAutofit/>
          </a:bodyPr>
          <a:lstStyle/>
          <a:p>
            <a:endParaRPr/>
          </a:p>
        </p:txBody>
      </p:sp>
      <p:sp>
        <p:nvSpPr>
          <p:cNvPr id="66" name="标题文本"/>
          <p:cNvSpPr txBox="1">
            <a:spLocks noGrp="1"/>
          </p:cNvSpPr>
          <p:nvPr>
            <p:ph type="title"/>
          </p:nvPr>
        </p:nvSpPr>
        <p:spPr>
          <a:xfrm>
            <a:off x="3169294" y="991195"/>
            <a:ext cx="5853412" cy="1138536"/>
          </a:xfrm>
          <a:prstGeom prst="rect">
            <a:avLst/>
          </a:prstGeom>
        </p:spPr>
        <p:txBody>
          <a:bodyPr anchor="ctr"/>
          <a:lstStyle/>
          <a:p>
            <a:r>
              <a:t>标题文本</a:t>
            </a:r>
          </a:p>
        </p:txBody>
      </p:sp>
      <p:sp>
        <p:nvSpPr>
          <p:cNvPr id="67" name="正文级别 1…"/>
          <p:cNvSpPr txBox="1">
            <a:spLocks noGrp="1"/>
          </p:cNvSpPr>
          <p:nvPr>
            <p:ph type="body" sz="quarter" idx="1"/>
          </p:nvPr>
        </p:nvSpPr>
        <p:spPr>
          <a:xfrm>
            <a:off x="3169294" y="2223492"/>
            <a:ext cx="2812853" cy="3315147"/>
          </a:xfrm>
          <a:prstGeom prst="rect">
            <a:avLst/>
          </a:prstGeom>
        </p:spPr>
        <p:txBody>
          <a:bodyPr anchor="ctr"/>
          <a:lstStyle>
            <a:lvl1pPr marL="220435" indent="-220435" algn="l">
              <a:spcBef>
                <a:spcPts val="2200"/>
              </a:spcBef>
              <a:buSzPct val="145000"/>
              <a:buChar char="•"/>
              <a:defRPr sz="1800"/>
            </a:lvl1pPr>
            <a:lvl2pPr marL="563335" indent="-220435" algn="l">
              <a:spcBef>
                <a:spcPts val="2200"/>
              </a:spcBef>
              <a:buSzPct val="145000"/>
              <a:buChar char="•"/>
              <a:defRPr sz="1800"/>
            </a:lvl2pPr>
            <a:lvl3pPr marL="906235" indent="-220435" algn="l">
              <a:spcBef>
                <a:spcPts val="2200"/>
              </a:spcBef>
              <a:buSzPct val="145000"/>
              <a:buChar char="•"/>
              <a:defRPr sz="1800"/>
            </a:lvl3pPr>
            <a:lvl4pPr marL="1249135" indent="-220435" algn="l">
              <a:spcBef>
                <a:spcPts val="2200"/>
              </a:spcBef>
              <a:buSzPct val="145000"/>
              <a:buChar char="•"/>
              <a:defRPr sz="1800"/>
            </a:lvl4pPr>
            <a:lvl5pPr marL="1592035" indent="-220435" algn="l">
              <a:spcBef>
                <a:spcPts val="2200"/>
              </a:spcBef>
              <a:buSzPct val="145000"/>
              <a:buChar char="•"/>
              <a:defRPr sz="1800"/>
            </a:lvl5pPr>
          </a:lstStyle>
          <a:p>
            <a:r>
              <a:t>正文级别 1</a:t>
            </a:r>
          </a:p>
          <a:p>
            <a:pPr lvl="1"/>
            <a:r>
              <a:t>正文级别 2</a:t>
            </a:r>
          </a:p>
          <a:p>
            <a:pPr lvl="2"/>
            <a:r>
              <a:t>正文级别 3</a:t>
            </a:r>
          </a:p>
          <a:p>
            <a:pPr lvl="3"/>
            <a:r>
              <a:t>正文级别 4</a:t>
            </a:r>
          </a:p>
          <a:p>
            <a:pPr lvl="4"/>
            <a:r>
              <a:t>正文级别 5</a:t>
            </a:r>
          </a:p>
        </p:txBody>
      </p:sp>
      <p:sp>
        <p:nvSpPr>
          <p:cNvPr id="68" name="幻灯片编号"/>
          <p:cNvSpPr txBox="1">
            <a:spLocks noGrp="1"/>
          </p:cNvSpPr>
          <p:nvPr>
            <p:ph type="sldNum" sz="quarter" idx="2"/>
          </p:nvPr>
        </p:nvSpPr>
        <p:spPr>
          <a:xfrm>
            <a:off x="5997524" y="5759648"/>
            <a:ext cx="193380" cy="193279"/>
          </a:xfrm>
          <a:prstGeom prst="rect">
            <a:avLst/>
          </a:prstGeom>
        </p:spPr>
        <p:txBody>
          <a:bodyPr/>
          <a:lstStyle>
            <a:lvl1pPr>
              <a:defRPr>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正文级别 1…"/>
          <p:cNvSpPr txBox="1">
            <a:spLocks noGrp="1"/>
          </p:cNvSpPr>
          <p:nvPr>
            <p:ph type="body" sz="half" idx="1"/>
          </p:nvPr>
        </p:nvSpPr>
        <p:spPr>
          <a:xfrm>
            <a:off x="3169294" y="1526976"/>
            <a:ext cx="5853412" cy="3804048"/>
          </a:xfrm>
          <a:prstGeom prst="rect">
            <a:avLst/>
          </a:prstGeom>
        </p:spPr>
        <p:txBody>
          <a:bodyPr anchor="ctr"/>
          <a:lstStyle>
            <a:lvl1pPr marL="277812" indent="-277812" algn="l">
              <a:spcBef>
                <a:spcPts val="2900"/>
              </a:spcBef>
              <a:buSzPct val="145000"/>
              <a:buChar char="•"/>
              <a:defRPr sz="2000"/>
            </a:lvl1pPr>
            <a:lvl2pPr marL="722312" indent="-277812" algn="l">
              <a:spcBef>
                <a:spcPts val="2900"/>
              </a:spcBef>
              <a:buSzPct val="145000"/>
              <a:buChar char="•"/>
              <a:defRPr sz="2000"/>
            </a:lvl2pPr>
            <a:lvl3pPr marL="1166812" indent="-277812" algn="l">
              <a:spcBef>
                <a:spcPts val="2900"/>
              </a:spcBef>
              <a:buSzPct val="145000"/>
              <a:buChar char="•"/>
              <a:defRPr sz="2000"/>
            </a:lvl3pPr>
            <a:lvl4pPr marL="1611312" indent="-277812" algn="l">
              <a:spcBef>
                <a:spcPts val="2900"/>
              </a:spcBef>
              <a:buSzPct val="145000"/>
              <a:buChar char="•"/>
              <a:defRPr sz="2000"/>
            </a:lvl4pPr>
            <a:lvl5pPr marL="2055812" indent="-277812" algn="l">
              <a:spcBef>
                <a:spcPts val="2900"/>
              </a:spcBef>
              <a:buSzPct val="145000"/>
              <a:buChar char="•"/>
              <a:defRPr sz="2000"/>
            </a:lvl5pPr>
          </a:lstStyle>
          <a:p>
            <a:r>
              <a:t>正文级别 1</a:t>
            </a:r>
          </a:p>
          <a:p>
            <a:pPr lvl="1"/>
            <a:r>
              <a:t>正文级别 2</a:t>
            </a:r>
          </a:p>
          <a:p>
            <a:pPr lvl="2"/>
            <a:r>
              <a:t>正文级别 3</a:t>
            </a:r>
          </a:p>
          <a:p>
            <a:pPr lvl="3"/>
            <a:r>
              <a:t>正文级别 4</a:t>
            </a:r>
          </a:p>
          <a:p>
            <a:pPr lvl="4"/>
            <a:r>
              <a:t>正文级别 5</a:t>
            </a:r>
          </a:p>
        </p:txBody>
      </p:sp>
      <p:sp>
        <p:nvSpPr>
          <p:cNvPr id="76"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图像"/>
          <p:cNvSpPr>
            <a:spLocks noGrp="1"/>
          </p:cNvSpPr>
          <p:nvPr>
            <p:ph type="pic" sz="quarter" idx="13"/>
          </p:nvPr>
        </p:nvSpPr>
        <p:spPr>
          <a:xfrm>
            <a:off x="6209853" y="3542853"/>
            <a:ext cx="2812853" cy="1989089"/>
          </a:xfrm>
          <a:prstGeom prst="rect">
            <a:avLst/>
          </a:prstGeom>
        </p:spPr>
        <p:txBody>
          <a:bodyPr lIns="91439" tIns="45719" rIns="91439" bIns="45719">
            <a:noAutofit/>
          </a:bodyPr>
          <a:lstStyle/>
          <a:p>
            <a:endParaRPr/>
          </a:p>
        </p:txBody>
      </p:sp>
      <p:sp>
        <p:nvSpPr>
          <p:cNvPr id="84" name="图像"/>
          <p:cNvSpPr>
            <a:spLocks noGrp="1"/>
          </p:cNvSpPr>
          <p:nvPr>
            <p:ph type="pic" sz="quarter" idx="14"/>
          </p:nvPr>
        </p:nvSpPr>
        <p:spPr>
          <a:xfrm>
            <a:off x="6209853" y="1326058"/>
            <a:ext cx="2812853" cy="1989089"/>
          </a:xfrm>
          <a:prstGeom prst="rect">
            <a:avLst/>
          </a:prstGeom>
        </p:spPr>
        <p:txBody>
          <a:bodyPr lIns="91439" tIns="45719" rIns="91439" bIns="45719">
            <a:noAutofit/>
          </a:bodyPr>
          <a:lstStyle/>
          <a:p>
            <a:endParaRPr/>
          </a:p>
        </p:txBody>
      </p:sp>
      <p:sp>
        <p:nvSpPr>
          <p:cNvPr id="85" name="图像"/>
          <p:cNvSpPr>
            <a:spLocks noGrp="1"/>
          </p:cNvSpPr>
          <p:nvPr>
            <p:ph type="pic" sz="quarter" idx="15"/>
          </p:nvPr>
        </p:nvSpPr>
        <p:spPr>
          <a:xfrm>
            <a:off x="3169294" y="1326058"/>
            <a:ext cx="2812853" cy="4205884"/>
          </a:xfrm>
          <a:prstGeom prst="rect">
            <a:avLst/>
          </a:prstGeom>
        </p:spPr>
        <p:txBody>
          <a:bodyPr lIns="91439" tIns="45719" rIns="91439" bIns="45719">
            <a:noAutofit/>
          </a:bodyPr>
          <a:lstStyle/>
          <a:p>
            <a:endParaRPr/>
          </a:p>
        </p:txBody>
      </p:sp>
      <p:sp>
        <p:nvSpPr>
          <p:cNvPr id="86"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3336726" y="4212580"/>
            <a:ext cx="5518548" cy="251800"/>
          </a:xfrm>
          <a:prstGeom prst="rect">
            <a:avLst/>
          </a:prstGeom>
        </p:spPr>
        <p:txBody>
          <a:bodyPr>
            <a:spAutoFit/>
          </a:bodyPr>
          <a:lstStyle>
            <a:lvl1pPr>
              <a:defRPr sz="1400" i="1"/>
            </a:lvl1pPr>
          </a:lstStyle>
          <a:p>
            <a:r>
              <a:t>–Johnny Appleseed</a:t>
            </a:r>
          </a:p>
        </p:txBody>
      </p:sp>
      <p:sp>
        <p:nvSpPr>
          <p:cNvPr id="94" name="“在此键入引文。”"/>
          <p:cNvSpPr txBox="1">
            <a:spLocks noGrp="1"/>
          </p:cNvSpPr>
          <p:nvPr>
            <p:ph type="body" sz="quarter" idx="14"/>
          </p:nvPr>
        </p:nvSpPr>
        <p:spPr>
          <a:xfrm>
            <a:off x="3336726" y="3050976"/>
            <a:ext cx="5518548" cy="434579"/>
          </a:xfrm>
          <a:prstGeom prst="rect">
            <a:avLst/>
          </a:prstGeom>
        </p:spPr>
        <p:txBody>
          <a:bodyPr anchor="ctr">
            <a:spAutoFit/>
          </a:bodyPr>
          <a:lstStyle>
            <a:lvl1pPr>
              <a:defRPr sz="2200">
                <a:latin typeface="+mn-lt"/>
                <a:ea typeface="+mn-ea"/>
                <a:cs typeface="+mn-cs"/>
                <a:sym typeface="Helvetica Neue Medium"/>
              </a:defRPr>
            </a:lvl1pPr>
          </a:lstStyle>
          <a:p>
            <a:r>
              <a:t>“在此键入引文。”</a:t>
            </a:r>
          </a:p>
        </p:txBody>
      </p:sp>
      <p:sp>
        <p:nvSpPr>
          <p:cNvPr id="95"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图像"/>
          <p:cNvSpPr>
            <a:spLocks noGrp="1"/>
          </p:cNvSpPr>
          <p:nvPr>
            <p:ph type="pic" idx="13"/>
          </p:nvPr>
        </p:nvSpPr>
        <p:spPr>
          <a:xfrm>
            <a:off x="2666999" y="857249"/>
            <a:ext cx="6858002" cy="5143501"/>
          </a:xfrm>
          <a:prstGeom prst="rect">
            <a:avLst/>
          </a:prstGeom>
        </p:spPr>
        <p:txBody>
          <a:bodyPr lIns="91439" tIns="45719" rIns="91439" bIns="45719">
            <a:noAutofit/>
          </a:bodyPr>
          <a:lstStyle/>
          <a:p>
            <a:endParaRPr/>
          </a:p>
        </p:txBody>
      </p:sp>
      <p:sp>
        <p:nvSpPr>
          <p:cNvPr id="103" name="幻灯片编号"/>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3336726" y="1721197"/>
            <a:ext cx="5518548" cy="1741290"/>
          </a:xfrm>
          <a:prstGeom prst="rect">
            <a:avLst/>
          </a:prstGeom>
          <a:ln w="3175">
            <a:miter lim="400000"/>
          </a:ln>
          <a:extLst>
            <a:ext uri="{C572A759-6A51-4108-AA02-DFA0A04FC94B}">
              <ma14:wrappingTextBoxFlag xmlns:ma14="http://schemas.microsoft.com/office/mac/drawingml/2011/main" val="1"/>
            </a:ext>
          </a:extLst>
        </p:spPr>
        <p:txBody>
          <a:bodyPr lIns="26789" tIns="26789" rIns="26789" bIns="26789" anchor="b">
            <a:normAutofit/>
          </a:bodyPr>
          <a:lstStyle/>
          <a:p>
            <a:r>
              <a:t>标题文本</a:t>
            </a:r>
          </a:p>
        </p:txBody>
      </p:sp>
      <p:sp>
        <p:nvSpPr>
          <p:cNvPr id="3" name="正文级别 1…"/>
          <p:cNvSpPr txBox="1">
            <a:spLocks noGrp="1"/>
          </p:cNvSpPr>
          <p:nvPr>
            <p:ph type="body" idx="1"/>
          </p:nvPr>
        </p:nvSpPr>
        <p:spPr>
          <a:xfrm>
            <a:off x="3336726" y="3516064"/>
            <a:ext cx="5518548" cy="596058"/>
          </a:xfrm>
          <a:prstGeom prst="rect">
            <a:avLst/>
          </a:prstGeom>
          <a:ln w="3175">
            <a:miter lim="400000"/>
          </a:ln>
          <a:extLst>
            <a:ext uri="{C572A759-6A51-4108-AA02-DFA0A04FC94B}">
              <ma14:wrappingTextBoxFlag xmlns:ma14="http://schemas.microsoft.com/office/mac/drawingml/2011/main" val="1"/>
            </a:ext>
          </a:extLst>
        </p:spPr>
        <p:txBody>
          <a:bodyPr lIns="26789" tIns="26789" rIns="26789" bIns="26789">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a:spLocks noGrp="1"/>
          </p:cNvSpPr>
          <p:nvPr>
            <p:ph type="sldNum" sz="quarter" idx="2"/>
          </p:nvPr>
        </p:nvSpPr>
        <p:spPr>
          <a:xfrm>
            <a:off x="5997524" y="5759648"/>
            <a:ext cx="193380" cy="189964"/>
          </a:xfrm>
          <a:prstGeom prst="rect">
            <a:avLst/>
          </a:prstGeom>
          <a:ln w="3175">
            <a:miter lim="400000"/>
          </a:ln>
        </p:spPr>
        <p:txBody>
          <a:bodyPr wrap="none" lIns="26789" tIns="26789" rIns="26789" bIns="26789">
            <a:spAutoFit/>
          </a:bodyPr>
          <a:lstStyle>
            <a:lvl1pPr>
              <a:defRPr sz="900">
                <a:solidFill>
                  <a:srgbClr val="000000"/>
                </a:solidFill>
                <a:latin typeface="Helvetica Neue Thin"/>
                <a:ea typeface="Helvetica Neue Thin"/>
                <a:cs typeface="Helvetica Neue Thin"/>
                <a:sym typeface="Helvetica Neue Thin"/>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1pPr>
      <a:lvl2pPr marL="0" marR="0" indent="2286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2pPr>
      <a:lvl3pPr marL="0" marR="0" indent="4572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3pPr>
      <a:lvl4pPr marL="0" marR="0" indent="6858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4pPr>
      <a:lvl5pPr marL="0" marR="0" indent="9144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5pPr>
      <a:lvl6pPr marL="0" marR="0" indent="11430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6pPr>
      <a:lvl7pPr marL="0" marR="0" indent="13716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7pPr>
      <a:lvl8pPr marL="0" marR="0" indent="16002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8pPr>
      <a:lvl9pPr marL="0" marR="0" indent="18288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9pPr>
    </p:titleStyle>
    <p:bodyStyle>
      <a:lvl1pPr marL="0" marR="0" indent="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1pPr>
      <a:lvl2pPr marL="0" marR="0" indent="2286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2pPr>
      <a:lvl3pPr marL="0" marR="0" indent="4572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3pPr>
      <a:lvl4pPr marL="0" marR="0" indent="6858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4pPr>
      <a:lvl5pPr marL="0" marR="0" indent="9144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5pPr>
      <a:lvl6pPr marL="0" marR="0" indent="11430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6pPr>
      <a:lvl7pPr marL="0" marR="0" indent="13716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7pPr>
      <a:lvl8pPr marL="0" marR="0" indent="16002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8pPr>
      <a:lvl9pPr marL="0" marR="0" indent="18288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1pPr>
      <a:lvl2pPr marL="0" marR="0" indent="2286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2pPr>
      <a:lvl3pPr marL="0" marR="0" indent="4572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3pPr>
      <a:lvl4pPr marL="0" marR="0" indent="6858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4pPr>
      <a:lvl5pPr marL="0" marR="0" indent="9144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5pPr>
      <a:lvl6pPr marL="0" marR="0" indent="11430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6pPr>
      <a:lvl7pPr marL="0" marR="0" indent="13716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7pPr>
      <a:lvl8pPr marL="0" marR="0" indent="16002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8pPr>
      <a:lvl9pPr marL="0" marR="0" indent="1828800" algn="ctr" defTabSz="410765" latinLnBrk="0">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7.tiff"/><Relationship Id="rId5" Type="http://schemas.openxmlformats.org/officeDocument/2006/relationships/image" Target="../media/image8.tiff"/><Relationship Id="rId6" Type="http://schemas.openxmlformats.org/officeDocument/2006/relationships/image" Target="../media/image9.tiff"/><Relationship Id="rId7" Type="http://schemas.openxmlformats.org/officeDocument/2006/relationships/chart" Target="../charts/chart1.xml"/><Relationship Id="rId8" Type="http://schemas.openxmlformats.org/officeDocument/2006/relationships/chart" Target="../charts/chart2.xml"/><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10.jpg"/><Relationship Id="rId5" Type="http://schemas.openxmlformats.org/officeDocument/2006/relationships/image" Target="../media/image11.tiff"/><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jpe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19.tiff"/><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9" Type="http://schemas.openxmlformats.org/officeDocument/2006/relationships/diagramQuickStyle" Target="../diagrams/quickStyle3.xml"/><Relationship Id="rId20" Type="http://schemas.openxmlformats.org/officeDocument/2006/relationships/diagramColors" Target="../diagrams/colors5.xml"/><Relationship Id="rId21" Type="http://schemas.microsoft.com/office/2007/relationships/diagramDrawing" Target="../diagrams/drawing5.xml"/><Relationship Id="rId10" Type="http://schemas.openxmlformats.org/officeDocument/2006/relationships/diagramColors" Target="../diagrams/colors3.xml"/><Relationship Id="rId11" Type="http://schemas.microsoft.com/office/2007/relationships/diagramDrawing" Target="../diagrams/drawing3.xml"/><Relationship Id="rId12" Type="http://schemas.openxmlformats.org/officeDocument/2006/relationships/diagramData" Target="../diagrams/data4.xml"/><Relationship Id="rId13" Type="http://schemas.openxmlformats.org/officeDocument/2006/relationships/diagramLayout" Target="../diagrams/layout4.xml"/><Relationship Id="rId14" Type="http://schemas.openxmlformats.org/officeDocument/2006/relationships/diagramQuickStyle" Target="../diagrams/quickStyle4.xml"/><Relationship Id="rId15" Type="http://schemas.openxmlformats.org/officeDocument/2006/relationships/diagramColors" Target="../diagrams/colors4.xml"/><Relationship Id="rId16" Type="http://schemas.microsoft.com/office/2007/relationships/diagramDrawing" Target="../diagrams/drawing4.xml"/><Relationship Id="rId17" Type="http://schemas.openxmlformats.org/officeDocument/2006/relationships/diagramData" Target="../diagrams/data5.xml"/><Relationship Id="rId18" Type="http://schemas.openxmlformats.org/officeDocument/2006/relationships/diagramLayout" Target="../diagrams/layout5.xml"/><Relationship Id="rId19" Type="http://schemas.openxmlformats.org/officeDocument/2006/relationships/diagramQuickStyle" Target="../diagrams/quickStyle5.xml"/><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diagramData" Target="../diagrams/data3.xml"/><Relationship Id="rId8"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4" Type="http://schemas.openxmlformats.org/officeDocument/2006/relationships/diagramLayout" Target="../diagrams/layout6.xml"/><Relationship Id="rId5" Type="http://schemas.openxmlformats.org/officeDocument/2006/relationships/diagramQuickStyle" Target="../diagrams/quickStyle6.xml"/><Relationship Id="rId6" Type="http://schemas.openxmlformats.org/officeDocument/2006/relationships/diagramColors" Target="../diagrams/colors6.xml"/><Relationship Id="rId7" Type="http://schemas.microsoft.com/office/2007/relationships/diagramDrawing" Target="../diagrams/drawing6.xml"/><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jpg"/><Relationship Id="rId6" Type="http://schemas.openxmlformats.org/officeDocument/2006/relationships/image" Target="../media/image38.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jpg"/><Relationship Id="rId6" Type="http://schemas.openxmlformats.org/officeDocument/2006/relationships/image" Target="../media/image42.jpg"/><Relationship Id="rId7" Type="http://schemas.openxmlformats.org/officeDocument/2006/relationships/image" Target="../media/image43.jp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4" Type="http://schemas.openxmlformats.org/officeDocument/2006/relationships/image" Target="../media/image48.jpg"/><Relationship Id="rId5" Type="http://schemas.openxmlformats.org/officeDocument/2006/relationships/image" Target="../media/image49.jpg"/><Relationship Id="rId6" Type="http://schemas.openxmlformats.org/officeDocument/2006/relationships/image" Target="../media/image50.jp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p:cNvSpPr/>
          <p:nvPr/>
        </p:nvSpPr>
        <p:spPr>
          <a:xfrm>
            <a:off x="-88297" y="-928993"/>
            <a:ext cx="12903929" cy="8715986"/>
          </a:xfrm>
          <a:prstGeom prst="rect">
            <a:avLst/>
          </a:prstGeom>
          <a:solidFill>
            <a:srgbClr val="00000A"/>
          </a:solidFill>
          <a:ln w="3175">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20" name="Hong Kond Science Park _ Places _ Student World Online _ .jpg" descr="Hong Kond Science Park _ Places _ Student World Online _ .jpg"/>
          <p:cNvPicPr>
            <a:picLocks noChangeAspect="1"/>
          </p:cNvPicPr>
          <p:nvPr/>
        </p:nvPicPr>
        <p:blipFill>
          <a:blip r:embed="rId2">
            <a:alphaModFix amt="49924"/>
            <a:extLst/>
          </a:blip>
          <a:stretch>
            <a:fillRect/>
          </a:stretch>
        </p:blipFill>
        <p:spPr>
          <a:xfrm>
            <a:off x="-88297" y="-623176"/>
            <a:ext cx="12903929" cy="8104352"/>
          </a:xfrm>
          <a:prstGeom prst="rect">
            <a:avLst/>
          </a:prstGeom>
          <a:ln w="3175">
            <a:miter lim="400000"/>
          </a:ln>
        </p:spPr>
      </p:pic>
      <p:sp>
        <p:nvSpPr>
          <p:cNvPr id="122" name="线条"/>
          <p:cNvSpPr/>
          <p:nvPr/>
        </p:nvSpPr>
        <p:spPr>
          <a:xfrm flipV="1">
            <a:off x="922543" y="-4019"/>
            <a:ext cx="1" cy="6866038"/>
          </a:xfrm>
          <a:prstGeom prst="line">
            <a:avLst/>
          </a:prstGeom>
          <a:ln w="3175">
            <a:solidFill>
              <a:srgbClr val="FFFFFF">
                <a:alpha val="20000"/>
              </a:srgbClr>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23" name="矩形"/>
          <p:cNvSpPr/>
          <p:nvPr/>
        </p:nvSpPr>
        <p:spPr>
          <a:xfrm rot="5400000">
            <a:off x="317207" y="1677297"/>
            <a:ext cx="271171" cy="26790"/>
          </a:xfrm>
          <a:prstGeom prst="rect">
            <a:avLst/>
          </a:prstGeom>
          <a:solidFill>
            <a:srgbClr val="FFFFFF"/>
          </a:solidFill>
          <a:ln w="3175">
            <a:miter lim="400000"/>
          </a:ln>
        </p:spPr>
        <p:txBody>
          <a:bodyPr lIns="26789" tIns="26789" rIns="26789" bIns="26789" anchor="ctr"/>
          <a:lstStyle/>
          <a:p>
            <a:pPr>
              <a:defRPr sz="1400">
                <a:solidFill>
                  <a:srgbClr val="8D2B29"/>
                </a:solidFill>
                <a:latin typeface="+mn-lt"/>
                <a:ea typeface="+mn-ea"/>
                <a:cs typeface="+mn-cs"/>
                <a:sym typeface="Helvetica Neue Medium"/>
              </a:defRPr>
            </a:pPr>
            <a:endParaRPr/>
          </a:p>
        </p:txBody>
      </p:sp>
      <p:sp>
        <p:nvSpPr>
          <p:cNvPr id="124" name="矩形"/>
          <p:cNvSpPr/>
          <p:nvPr/>
        </p:nvSpPr>
        <p:spPr>
          <a:xfrm rot="5400000">
            <a:off x="375530" y="1677297"/>
            <a:ext cx="271171" cy="26790"/>
          </a:xfrm>
          <a:prstGeom prst="rect">
            <a:avLst/>
          </a:prstGeom>
          <a:solidFill>
            <a:srgbClr val="FFFFFF"/>
          </a:solidFill>
          <a:ln w="3175">
            <a:miter lim="400000"/>
          </a:ln>
        </p:spPr>
        <p:txBody>
          <a:bodyPr lIns="26789" tIns="26789" rIns="26789" bIns="26789" anchor="ctr"/>
          <a:lstStyle/>
          <a:p>
            <a:pPr>
              <a:defRPr sz="1400">
                <a:solidFill>
                  <a:srgbClr val="8D2B29"/>
                </a:solidFill>
                <a:latin typeface="+mn-lt"/>
                <a:ea typeface="+mn-ea"/>
                <a:cs typeface="+mn-cs"/>
                <a:sym typeface="Helvetica Neue Medium"/>
              </a:defRPr>
            </a:pPr>
            <a:endParaRPr/>
          </a:p>
        </p:txBody>
      </p:sp>
      <p:sp>
        <p:nvSpPr>
          <p:cNvPr id="125" name="01"/>
          <p:cNvSpPr txBox="1"/>
          <p:nvPr/>
        </p:nvSpPr>
        <p:spPr>
          <a:xfrm>
            <a:off x="421287" y="6344413"/>
            <a:ext cx="192771" cy="231380"/>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1000">
                <a:solidFill>
                  <a:srgbClr val="929292"/>
                </a:solidFill>
                <a:latin typeface="PingFang SC Light"/>
                <a:ea typeface="PingFang SC Light"/>
                <a:cs typeface="PingFang SC Light"/>
                <a:sym typeface="PingFang SC Light"/>
              </a:defRPr>
            </a:lvl1pPr>
          </a:lstStyle>
          <a:p>
            <a:r>
              <a:rPr dirty="0"/>
              <a:t>01</a:t>
            </a:r>
          </a:p>
        </p:txBody>
      </p:sp>
      <p:sp>
        <p:nvSpPr>
          <p:cNvPr id="129" name="ARE"/>
          <p:cNvSpPr txBox="1"/>
          <p:nvPr/>
        </p:nvSpPr>
        <p:spPr>
          <a:xfrm>
            <a:off x="1543817" y="2685595"/>
            <a:ext cx="9648051" cy="792765"/>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p>
            <a:r>
              <a:rPr lang="zh-CN" altLang="en-US" sz="4800" dirty="0"/>
              <a:t>人工智能在銀行業的應用</a:t>
            </a:r>
            <a:endParaRPr sz="4800" dirty="0"/>
          </a:p>
        </p:txBody>
      </p:sp>
      <p:pic>
        <p:nvPicPr>
          <p:cNvPr id="131" name="图像" descr="图像"/>
          <p:cNvPicPr>
            <a:picLocks noChangeAspect="1"/>
          </p:cNvPicPr>
          <p:nvPr/>
        </p:nvPicPr>
        <p:blipFill>
          <a:blip r:embed="rId3">
            <a:extLst/>
          </a:blip>
          <a:stretch>
            <a:fillRect/>
          </a:stretch>
        </p:blipFill>
        <p:spPr>
          <a:xfrm>
            <a:off x="10490200" y="431800"/>
            <a:ext cx="1257300" cy="333968"/>
          </a:xfrm>
          <a:prstGeom prst="rect">
            <a:avLst/>
          </a:prstGeom>
          <a:ln w="3175">
            <a:miter lim="400000"/>
          </a:ln>
        </p:spPr>
      </p:pic>
      <p:sp>
        <p:nvSpPr>
          <p:cNvPr id="11" name="Shape 150">
            <a:extLst>
              <a:ext uri="{FF2B5EF4-FFF2-40B4-BE49-F238E27FC236}">
                <a16:creationId xmlns:a16="http://schemas.microsoft.com/office/drawing/2014/main" xmlns="" id="{690BCEE2-1F1E-4FBE-98E4-0951F61519C1}"/>
              </a:ext>
            </a:extLst>
          </p:cNvPr>
          <p:cNvSpPr txBox="1">
            <a:spLocks/>
          </p:cNvSpPr>
          <p:nvPr/>
        </p:nvSpPr>
        <p:spPr>
          <a:xfrm>
            <a:off x="1358153" y="4209717"/>
            <a:ext cx="9448800" cy="2365188"/>
          </a:xfrm>
          <a:prstGeom prst="rect">
            <a:avLst/>
          </a:prstGeom>
          <a:noFill/>
          <a:ln w="3175">
            <a:noFill/>
            <a:miter lim="400000"/>
          </a:ln>
          <a:extLst>
            <a:ext uri="{C572A759-6A51-4108-AA02-DFA0A04FC94B}">
              <ma14:wrappingTextBoxFlag xmlns:ma14="http://schemas.microsoft.com/office/mac/drawingml/2011/main" val="1"/>
            </a:ext>
          </a:extLst>
        </p:spPr>
        <p:txBody>
          <a:bodyPr wrap="square" lIns="91425" tIns="45700" rIns="91425" bIns="45700" anchor="t" anchorCtr="0">
            <a:noAutofit/>
          </a:bodyPr>
          <a:lstStyle>
            <a:lvl1pPr marL="0" marR="0" indent="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1pPr>
            <a:lvl2pPr marL="0" marR="0" indent="2286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2pPr>
            <a:lvl3pPr marL="0" marR="0" indent="4572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3pPr>
            <a:lvl4pPr marL="0" marR="0" indent="6858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4pPr>
            <a:lvl5pPr marL="0" marR="0" indent="9144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5pPr>
            <a:lvl6pPr marL="0" marR="0" indent="11430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6pPr>
            <a:lvl7pPr marL="0" marR="0" indent="13716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7pPr>
            <a:lvl8pPr marL="0" marR="0" indent="16002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8pPr>
            <a:lvl9pPr marL="0" marR="0" indent="1828800" algn="ctr" defTabSz="410765" rtl="0" latinLnBrk="0">
              <a:lnSpc>
                <a:spcPct val="100000"/>
              </a:lnSpc>
              <a:spcBef>
                <a:spcPts val="0"/>
              </a:spcBef>
              <a:spcAft>
                <a:spcPts val="0"/>
              </a:spcAft>
              <a:buClrTx/>
              <a:buSzTx/>
              <a:buFontTx/>
              <a:buNone/>
              <a:tabLst/>
              <a:defRPr sz="2400" b="0" i="0" u="none" strike="noStrike" cap="none" spc="0" baseline="0">
                <a:ln>
                  <a:noFill/>
                </a:ln>
                <a:solidFill>
                  <a:srgbClr val="000000"/>
                </a:solidFill>
                <a:uFillTx/>
                <a:latin typeface="Helvetica Neue"/>
                <a:ea typeface="Helvetica Neue"/>
                <a:cs typeface="Helvetica Neue"/>
                <a:sym typeface="Helvetica Neue"/>
              </a:defRPr>
            </a:lvl9pPr>
          </a:lstStyle>
          <a:p>
            <a:pPr indent="-107950" hangingPunct="1">
              <a:lnSpc>
                <a:spcPct val="70000"/>
              </a:lnSpc>
              <a:buClr>
                <a:schemeClr val="lt1"/>
              </a:buClr>
              <a:buSzPts val="1700"/>
              <a:buFont typeface="Arial"/>
              <a:buNone/>
            </a:pPr>
            <a:endParaRPr lang="zh-CN" altLang="en-US" sz="1700" dirty="0">
              <a:solidFill>
                <a:srgbClr val="F2F2F2"/>
              </a:solidFill>
              <a:latin typeface="Century Gothic"/>
              <a:ea typeface="Century Gothic"/>
              <a:cs typeface="Century Gothic"/>
              <a:sym typeface="Century Gothic"/>
            </a:endParaRPr>
          </a:p>
          <a:p>
            <a:pPr indent="-107950" algn="l" hangingPunct="1">
              <a:lnSpc>
                <a:spcPct val="70000"/>
              </a:lnSpc>
              <a:spcBef>
                <a:spcPts val="1000"/>
              </a:spcBef>
              <a:buClr>
                <a:srgbClr val="FFCBA2"/>
              </a:buClr>
              <a:buSzPts val="1700"/>
              <a:buFont typeface="Arial"/>
              <a:buNone/>
            </a:pPr>
            <a:r>
              <a:rPr lang="zh-CN" altLang="en-US" sz="1700" b="1" dirty="0">
                <a:solidFill>
                  <a:srgbClr val="F2F2F2"/>
                </a:solidFill>
                <a:latin typeface="Century Gothic"/>
                <a:ea typeface="Century Gothic"/>
                <a:cs typeface="Century Gothic"/>
                <a:sym typeface="Century Gothic"/>
              </a:rPr>
              <a:t>柳崎峰</a:t>
            </a:r>
            <a:r>
              <a:rPr lang="en-US" altLang="zh-CN" sz="1700" b="1" dirty="0">
                <a:solidFill>
                  <a:srgbClr val="F2F2F2"/>
                </a:solidFill>
                <a:latin typeface="Century Gothic"/>
                <a:ea typeface="Century Gothic"/>
                <a:cs typeface="Century Gothic"/>
                <a:sym typeface="Century Gothic"/>
              </a:rPr>
              <a:t>, </a:t>
            </a:r>
            <a:r>
              <a:rPr lang="zh-CN" altLang="en-US" sz="1700" b="1" dirty="0">
                <a:solidFill>
                  <a:srgbClr val="F2F2F2"/>
                </a:solidFill>
                <a:latin typeface="Century Gothic"/>
                <a:ea typeface="Century Gothic"/>
                <a:cs typeface="Century Gothic"/>
                <a:sym typeface="Century Gothic"/>
              </a:rPr>
              <a:t>博士 </a:t>
            </a:r>
          </a:p>
          <a:p>
            <a:pPr indent="-107950" algn="l" hangingPunct="1">
              <a:lnSpc>
                <a:spcPct val="70000"/>
              </a:lnSpc>
              <a:spcBef>
                <a:spcPts val="1000"/>
              </a:spcBef>
              <a:buClr>
                <a:srgbClr val="FFCBA2"/>
              </a:buClr>
              <a:buSzPts val="1700"/>
              <a:buFont typeface="Arial"/>
              <a:buNone/>
            </a:pPr>
            <a:r>
              <a:rPr lang="zh-CN" altLang="en-US" sz="1700" b="1" dirty="0">
                <a:solidFill>
                  <a:srgbClr val="F2F2F2"/>
                </a:solidFill>
                <a:latin typeface="Century Gothic"/>
                <a:ea typeface="Century Gothic"/>
                <a:cs typeface="Century Gothic"/>
                <a:sym typeface="Century Gothic"/>
              </a:rPr>
              <a:t>联合创始人，首席执行官，首席数据科学家</a:t>
            </a:r>
          </a:p>
          <a:p>
            <a:pPr indent="-107950" algn="l" hangingPunct="1">
              <a:lnSpc>
                <a:spcPct val="70000"/>
              </a:lnSpc>
              <a:spcBef>
                <a:spcPts val="1000"/>
              </a:spcBef>
              <a:buClr>
                <a:schemeClr val="lt1"/>
              </a:buClr>
              <a:buSzPts val="1700"/>
              <a:buFont typeface="Arial"/>
              <a:buNone/>
            </a:pPr>
            <a:endParaRPr lang="zh-CN" altLang="en-US" sz="1700" b="1" dirty="0">
              <a:solidFill>
                <a:srgbClr val="F2F2F2"/>
              </a:solidFill>
              <a:latin typeface="Century Gothic"/>
              <a:ea typeface="Century Gothic"/>
              <a:cs typeface="Century Gothic"/>
              <a:sym typeface="Century Gothic"/>
            </a:endParaRPr>
          </a:p>
          <a:p>
            <a:pPr indent="-107950" algn="l" hangingPunct="1">
              <a:lnSpc>
                <a:spcPct val="70000"/>
              </a:lnSpc>
              <a:spcBef>
                <a:spcPts val="1000"/>
              </a:spcBef>
              <a:buClr>
                <a:srgbClr val="FFCBA2"/>
              </a:buClr>
              <a:buSzPts val="1700"/>
              <a:buFont typeface="Arial"/>
              <a:buNone/>
            </a:pPr>
            <a:r>
              <a:rPr lang="zh-CN" altLang="en-US" sz="1700" b="1" dirty="0">
                <a:solidFill>
                  <a:srgbClr val="F2F2F2"/>
                </a:solidFill>
                <a:latin typeface="Century Gothic"/>
                <a:ea typeface="Century Gothic"/>
                <a:cs typeface="Century Gothic"/>
                <a:sym typeface="Century Gothic"/>
              </a:rPr>
              <a:t>香港智能金融科技有限公司（</a:t>
            </a:r>
            <a:r>
              <a:rPr lang="en-US" sz="1700" b="1" dirty="0">
                <a:solidFill>
                  <a:srgbClr val="F2F2F2"/>
                </a:solidFill>
                <a:latin typeface="Century Gothic"/>
                <a:ea typeface="Century Gothic"/>
                <a:cs typeface="Century Gothic"/>
                <a:sym typeface="Century Gothic"/>
              </a:rPr>
              <a:t>FDT AI </a:t>
            </a:r>
            <a:r>
              <a:rPr lang="en-US" sz="1700" b="1" dirty="0" err="1">
                <a:solidFill>
                  <a:srgbClr val="F2F2F2"/>
                </a:solidFill>
                <a:latin typeface="Century Gothic"/>
                <a:ea typeface="Century Gothic"/>
                <a:cs typeface="Century Gothic"/>
                <a:sym typeface="Century Gothic"/>
              </a:rPr>
              <a:t>Limited，FDT-AI，FDT</a:t>
            </a:r>
            <a:r>
              <a:rPr lang="zh-CN" altLang="en-US" sz="1700" b="1" dirty="0">
                <a:solidFill>
                  <a:srgbClr val="F2F2F2"/>
                </a:solidFill>
                <a:latin typeface="Century Gothic"/>
                <a:ea typeface="Century Gothic"/>
                <a:cs typeface="Century Gothic"/>
                <a:sym typeface="Century Gothic"/>
              </a:rPr>
              <a:t>集团成员</a:t>
            </a:r>
            <a:r>
              <a:rPr lang="en-US" altLang="zh-CN" sz="1700" b="1" dirty="0">
                <a:solidFill>
                  <a:srgbClr val="F2F2F2"/>
                </a:solidFill>
                <a:latin typeface="Century Gothic"/>
                <a:ea typeface="Century Gothic"/>
                <a:cs typeface="Century Gothic"/>
                <a:sym typeface="Century Gothic"/>
              </a:rPr>
              <a:t>)</a:t>
            </a:r>
          </a:p>
          <a:p>
            <a:pPr indent="-107950" algn="l" hangingPunct="1">
              <a:lnSpc>
                <a:spcPct val="70000"/>
              </a:lnSpc>
              <a:spcBef>
                <a:spcPts val="1000"/>
              </a:spcBef>
              <a:buClr>
                <a:srgbClr val="FFCBA2"/>
              </a:buClr>
              <a:buSzPts val="1700"/>
              <a:buFont typeface="Arial"/>
              <a:buNone/>
            </a:pPr>
            <a:r>
              <a:rPr lang="zh-CN" altLang="en-US" sz="1700" b="1" dirty="0">
                <a:solidFill>
                  <a:srgbClr val="F2F2F2"/>
                </a:solidFill>
                <a:latin typeface="Century Gothic"/>
                <a:ea typeface="Century Gothic"/>
                <a:cs typeface="Century Gothic"/>
                <a:sym typeface="Century Gothic"/>
              </a:rPr>
              <a:t>香港金融数据技术有限公司（</a:t>
            </a:r>
            <a:r>
              <a:rPr lang="en-US" sz="1700" b="1" dirty="0">
                <a:solidFill>
                  <a:srgbClr val="F2F2F2"/>
                </a:solidFill>
                <a:latin typeface="Century Gothic"/>
                <a:ea typeface="Century Gothic"/>
                <a:cs typeface="Century Gothic"/>
                <a:sym typeface="Century Gothic"/>
              </a:rPr>
              <a:t>Financial Data Technologies </a:t>
            </a:r>
            <a:r>
              <a:rPr lang="en-US" sz="1700" b="1" dirty="0" err="1">
                <a:solidFill>
                  <a:srgbClr val="F2F2F2"/>
                </a:solidFill>
                <a:latin typeface="Century Gothic"/>
                <a:ea typeface="Century Gothic"/>
                <a:cs typeface="Century Gothic"/>
                <a:sym typeface="Century Gothic"/>
              </a:rPr>
              <a:t>Limited.，FDT</a:t>
            </a:r>
            <a:r>
              <a:rPr lang="en-US" sz="1700" b="1" dirty="0">
                <a:solidFill>
                  <a:srgbClr val="F2F2F2"/>
                </a:solidFill>
                <a:latin typeface="Century Gothic"/>
                <a:ea typeface="Century Gothic"/>
                <a:cs typeface="Century Gothic"/>
                <a:sym typeface="Century Gothic"/>
              </a:rPr>
              <a:t>）</a:t>
            </a:r>
          </a:p>
          <a:p>
            <a:pPr indent="-107950" algn="l" hangingPunct="1">
              <a:lnSpc>
                <a:spcPct val="70000"/>
              </a:lnSpc>
              <a:spcBef>
                <a:spcPts val="1000"/>
              </a:spcBef>
              <a:buClr>
                <a:srgbClr val="FFCBA2"/>
              </a:buClr>
              <a:buSzPts val="1700"/>
              <a:buFont typeface="Arial"/>
              <a:buNone/>
            </a:pPr>
            <a:r>
              <a:rPr lang="en-US" sz="1700" dirty="0">
                <a:solidFill>
                  <a:srgbClr val="F2F2F2"/>
                </a:solidFill>
                <a:latin typeface="Century Gothic"/>
                <a:ea typeface="Century Gothic"/>
                <a:cs typeface="Century Gothic"/>
                <a:sym typeface="Century Gothic"/>
              </a:rPr>
              <a:t/>
            </a:r>
            <a:br>
              <a:rPr lang="en-US" sz="1700" dirty="0">
                <a:solidFill>
                  <a:srgbClr val="F2F2F2"/>
                </a:solidFill>
                <a:latin typeface="Century Gothic"/>
                <a:ea typeface="Century Gothic"/>
                <a:cs typeface="Century Gothic"/>
                <a:sym typeface="Century Gothic"/>
              </a:rPr>
            </a:br>
            <a:r>
              <a:rPr lang="en-US" sz="1700" dirty="0">
                <a:solidFill>
                  <a:srgbClr val="F2F2F2"/>
                </a:solidFill>
                <a:latin typeface="Century Gothic"/>
                <a:ea typeface="Century Gothic"/>
                <a:cs typeface="Century Gothic"/>
                <a:sym typeface="Century Gothic"/>
              </a:rPr>
              <a:t> - 2018.01 - </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776178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477526"/>
            <a:ext cx="7935192" cy="128520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4000" dirty="0"/>
              <a:t>从</a:t>
            </a:r>
            <a:r>
              <a:rPr lang="en-US" altLang="zh-CN" sz="4000" dirty="0" smtClean="0"/>
              <a:t>“</a:t>
            </a:r>
            <a:r>
              <a:rPr lang="zh-CN" altLang="en-US" sz="4000" dirty="0" smtClean="0"/>
              <a:t>人性化</a:t>
            </a:r>
            <a:r>
              <a:rPr lang="zh-CN" altLang="en-US" sz="4000" dirty="0"/>
              <a:t>”到“个性化”：</a:t>
            </a:r>
            <a:endParaRPr lang="en-US" altLang="zh-CN" sz="4000" dirty="0"/>
          </a:p>
          <a:p>
            <a:pPr algn="l"/>
            <a:r>
              <a:rPr lang="zh-CN" altLang="en-US" sz="4000" dirty="0" smtClean="0"/>
              <a:t>科技金融与银行业的重要转型</a:t>
            </a:r>
            <a:endParaRPr sz="4000" dirty="0"/>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2" name="Rectangle 1"/>
          <p:cNvSpPr/>
          <p:nvPr/>
        </p:nvSpPr>
        <p:spPr>
          <a:xfrm>
            <a:off x="1901434" y="5141728"/>
            <a:ext cx="10101262" cy="1077218"/>
          </a:xfrm>
          <a:prstGeom prst="rect">
            <a:avLst/>
          </a:prstGeom>
        </p:spPr>
        <p:txBody>
          <a:bodyPr wrap="square">
            <a:spAutoFit/>
          </a:bodyPr>
          <a:lstStyle/>
          <a:p>
            <a:pPr algn="l"/>
            <a:r>
              <a:rPr lang="zh-CN" altLang="en-US" sz="1600" dirty="0">
                <a:solidFill>
                  <a:schemeClr val="accent1">
                    <a:lumMod val="50000"/>
                  </a:schemeClr>
                </a:solidFill>
                <a:latin typeface="NotoSansCJKsc" charset="0"/>
              </a:rPr>
              <a:t>香港大部分银行仍未开始应对采用人工智能的挑战。另一方面，我们看到香港银行在中国内地的同业以更迅速的步伐采用这些技术方案。虽然香港的部分银行在采用人工智能和认知运算方面可能较为落后，但它们的未来仍然满布机遇。这些新科技的成本正在急剧下降，正好是银行推出解决方案，尽快赶上竞争的良机。</a:t>
            </a:r>
            <a:endParaRPr lang="en-US" altLang="zh-CN" sz="1600" dirty="0">
              <a:solidFill>
                <a:schemeClr val="accent1">
                  <a:lumMod val="50000"/>
                </a:schemeClr>
              </a:solidFill>
              <a:latin typeface="NotoSansCJKsc" charset="0"/>
            </a:endParaRPr>
          </a:p>
          <a:p>
            <a:pPr algn="l"/>
            <a:r>
              <a:rPr lang="zh-CN" altLang="en-US" sz="1600" dirty="0">
                <a:solidFill>
                  <a:schemeClr val="accent1">
                    <a:lumMod val="50000"/>
                  </a:schemeClr>
                </a:solidFill>
                <a:latin typeface="NotoSansCJKsc" charset="0"/>
              </a:rPr>
              <a:t>                                                                                                                                                                           </a:t>
            </a:r>
            <a:r>
              <a:rPr lang="en-US" altLang="zh-CN" sz="1600" dirty="0">
                <a:solidFill>
                  <a:schemeClr val="accent1">
                    <a:lumMod val="50000"/>
                  </a:schemeClr>
                </a:solidFill>
                <a:latin typeface="NotoSansCJKsc" charset="0"/>
              </a:rPr>
              <a:t>——</a:t>
            </a:r>
            <a:r>
              <a:rPr lang="en-US" altLang="zh-CN" sz="1600" i="1" dirty="0">
                <a:solidFill>
                  <a:schemeClr val="accent1">
                    <a:lumMod val="50000"/>
                  </a:schemeClr>
                </a:solidFill>
                <a:latin typeface="NotoSansCJKsc" charset="0"/>
              </a:rPr>
              <a:t>KPMG</a:t>
            </a:r>
            <a:endParaRPr lang="zh-CN" altLang="en-US" sz="1600" i="1" dirty="0">
              <a:solidFill>
                <a:schemeClr val="accent1">
                  <a:lumMod val="50000"/>
                </a:schemeClr>
              </a:solidFill>
            </a:endParaRPr>
          </a:p>
        </p:txBody>
      </p:sp>
    </p:spTree>
    <p:extLst>
      <p:ext uri="{BB962C8B-B14F-4D97-AF65-F5344CB8AC3E}">
        <p14:creationId xmlns:p14="http://schemas.microsoft.com/office/powerpoint/2010/main" val="4113992363"/>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160637" y="777629"/>
            <a:ext cx="4670750"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smtClean="0"/>
              <a:t>人工智能应用爆发与</a:t>
            </a:r>
            <a:r>
              <a:rPr lang="zh-CN" altLang="en-US" sz="2000" dirty="0" smtClean="0"/>
              <a:t>金融行业的重要转型</a:t>
            </a:r>
            <a:endParaRPr sz="2000" dirty="0"/>
          </a:p>
        </p:txBody>
      </p:sp>
      <p:pic>
        <p:nvPicPr>
          <p:cNvPr id="30" name="Shape 201"/>
          <p:cNvPicPr preferRelativeResize="0"/>
          <p:nvPr/>
        </p:nvPicPr>
        <p:blipFill rotWithShape="1">
          <a:blip r:embed="rId4">
            <a:alphaModFix/>
          </a:blip>
          <a:srcRect/>
          <a:stretch/>
        </p:blipFill>
        <p:spPr>
          <a:xfrm>
            <a:off x="174811" y="1841972"/>
            <a:ext cx="8330316" cy="3133165"/>
          </a:xfrm>
          <a:prstGeom prst="rect">
            <a:avLst/>
          </a:prstGeom>
          <a:noFill/>
          <a:ln>
            <a:noFill/>
          </a:ln>
        </p:spPr>
      </p:pic>
      <p:pic>
        <p:nvPicPr>
          <p:cNvPr id="33" name="Shape 202"/>
          <p:cNvPicPr preferRelativeResize="0"/>
          <p:nvPr/>
        </p:nvPicPr>
        <p:blipFill rotWithShape="1">
          <a:blip r:embed="rId5">
            <a:alphaModFix/>
          </a:blip>
          <a:srcRect/>
          <a:stretch/>
        </p:blipFill>
        <p:spPr>
          <a:xfrm>
            <a:off x="8629959" y="1841972"/>
            <a:ext cx="3289363" cy="3133165"/>
          </a:xfrm>
          <a:prstGeom prst="rect">
            <a:avLst/>
          </a:prstGeom>
          <a:noFill/>
          <a:ln>
            <a:noFill/>
          </a:ln>
        </p:spPr>
      </p:pic>
      <p:sp>
        <p:nvSpPr>
          <p:cNvPr id="34" name="Shape 203"/>
          <p:cNvSpPr/>
          <p:nvPr/>
        </p:nvSpPr>
        <p:spPr>
          <a:xfrm>
            <a:off x="1402433" y="5281816"/>
            <a:ext cx="8872207" cy="954107"/>
          </a:xfrm>
          <a:prstGeom prst="rect">
            <a:avLst/>
          </a:prstGeom>
          <a:solidFill>
            <a:srgbClr val="F9D4D2"/>
          </a:solidFill>
          <a:ln>
            <a:noFill/>
          </a:ln>
        </p:spPr>
        <p:txBody>
          <a:bodyPr wrap="square" lIns="91425" tIns="45700" rIns="91425" bIns="45700" anchor="t" anchorCtr="0">
            <a:noAutofit/>
          </a:bodyPr>
          <a:lstStyle/>
          <a:p>
            <a:pPr marL="0" marR="0" lvl="0" indent="0" algn="l" rtl="0">
              <a:spcBef>
                <a:spcPts val="0"/>
              </a:spcBef>
              <a:buNone/>
            </a:pPr>
            <a:r>
              <a:rPr lang="en-US" sz="1400">
                <a:solidFill>
                  <a:srgbClr val="7030A0"/>
                </a:solidFill>
                <a:latin typeface="Century Gothic"/>
                <a:ea typeface="Century Gothic"/>
                <a:cs typeface="Century Gothic"/>
                <a:sym typeface="Century Gothic"/>
              </a:rPr>
              <a:t>7月20日，国务院印发《新一代人工智能发展规划》</a:t>
            </a:r>
          </a:p>
          <a:p>
            <a:pPr marL="285750" marR="0" lvl="0" indent="-285750" algn="l" rtl="0">
              <a:spcBef>
                <a:spcPts val="0"/>
              </a:spcBef>
              <a:buClr>
                <a:srgbClr val="7030A0"/>
              </a:buClr>
              <a:buSzPts val="1400"/>
              <a:buFont typeface="Arial"/>
              <a:buChar char="•"/>
            </a:pPr>
            <a:r>
              <a:rPr lang="en-US" sz="1400" dirty="0">
                <a:solidFill>
                  <a:srgbClr val="7030A0"/>
                </a:solidFill>
                <a:latin typeface="Century Gothic"/>
                <a:ea typeface="Century Gothic"/>
                <a:cs typeface="Century Gothic"/>
                <a:sym typeface="Century Gothic"/>
              </a:rPr>
              <a:t>第一步，到2020年人工智能总体技术和应用与世界先进水平同步，</a:t>
            </a:r>
            <a:r>
              <a:rPr lang="en-US" sz="1400" dirty="0">
                <a:solidFill>
                  <a:schemeClr val="accent1"/>
                </a:solidFill>
                <a:latin typeface="Century Gothic"/>
                <a:ea typeface="Century Gothic"/>
                <a:cs typeface="Century Gothic"/>
                <a:sym typeface="Century Gothic"/>
              </a:rPr>
              <a:t>人工智能产业成为新的重要经济增长点</a:t>
            </a:r>
          </a:p>
          <a:p>
            <a:pPr marL="285750" marR="0" lvl="0" indent="-285750" algn="l" rtl="0">
              <a:spcBef>
                <a:spcPts val="0"/>
              </a:spcBef>
              <a:buClr>
                <a:srgbClr val="7030A0"/>
              </a:buClr>
              <a:buSzPts val="1400"/>
              <a:buFont typeface="Arial"/>
              <a:buChar char="•"/>
            </a:pPr>
            <a:r>
              <a:rPr lang="en-US" sz="1400" dirty="0">
                <a:solidFill>
                  <a:srgbClr val="7030A0"/>
                </a:solidFill>
                <a:latin typeface="Century Gothic"/>
                <a:ea typeface="Century Gothic"/>
                <a:cs typeface="Century Gothic"/>
                <a:sym typeface="Century Gothic"/>
              </a:rPr>
              <a:t>2030年产业规模超过1万亿</a:t>
            </a:r>
          </a:p>
          <a:p>
            <a:pPr marL="285750" marR="0" lvl="0" indent="-285750" algn="l" rtl="0">
              <a:spcBef>
                <a:spcPts val="0"/>
              </a:spcBef>
              <a:buClr>
                <a:srgbClr val="7030A0"/>
              </a:buClr>
              <a:buSzPts val="1400"/>
              <a:buFont typeface="Arial"/>
              <a:buChar char="•"/>
            </a:pPr>
            <a:r>
              <a:rPr lang="en-US" sz="1400" dirty="0" err="1">
                <a:solidFill>
                  <a:srgbClr val="7030A0"/>
                </a:solidFill>
                <a:latin typeface="Century Gothic"/>
                <a:ea typeface="Century Gothic"/>
                <a:cs typeface="Century Gothic"/>
                <a:sym typeface="Century Gothic"/>
              </a:rPr>
              <a:t>首次提出</a:t>
            </a:r>
            <a:r>
              <a:rPr lang="en-US" sz="1400" dirty="0" err="1">
                <a:solidFill>
                  <a:schemeClr val="accent1"/>
                </a:solidFill>
                <a:latin typeface="Century Gothic"/>
                <a:ea typeface="Century Gothic"/>
                <a:cs typeface="Century Gothic"/>
                <a:sym typeface="Century Gothic"/>
              </a:rPr>
              <a:t>“人工智能</a:t>
            </a:r>
            <a:r>
              <a:rPr lang="en-US" sz="1400" dirty="0">
                <a:solidFill>
                  <a:schemeClr val="accent1"/>
                </a:solidFill>
                <a:latin typeface="Century Gothic"/>
                <a:ea typeface="Century Gothic"/>
                <a:cs typeface="Century Gothic"/>
                <a:sym typeface="Century Gothic"/>
              </a:rPr>
              <a:t>+”，机会堪比 “互联网+”，</a:t>
            </a:r>
            <a:r>
              <a:rPr lang="en-US" sz="1400" dirty="0" err="1">
                <a:solidFill>
                  <a:schemeClr val="accent1"/>
                </a:solidFill>
                <a:latin typeface="Century Gothic"/>
                <a:ea typeface="Century Gothic"/>
                <a:cs typeface="Century Gothic"/>
                <a:sym typeface="Century Gothic"/>
              </a:rPr>
              <a:t>例如：BATJ+四大银行</a:t>
            </a:r>
            <a:endParaRPr lang="en-US" sz="1400" dirty="0">
              <a:solidFill>
                <a:schemeClr val="accent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6415810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455208" y="841341"/>
            <a:ext cx="4157789"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smtClean="0"/>
              <a:t>银行零售业务从人性化到个性化转型</a:t>
            </a:r>
            <a:endParaRPr sz="2000" dirty="0"/>
          </a:p>
        </p:txBody>
      </p:sp>
      <p:grpSp>
        <p:nvGrpSpPr>
          <p:cNvPr id="2" name="组合 1">
            <a:extLst>
              <a:ext uri="{FF2B5EF4-FFF2-40B4-BE49-F238E27FC236}">
                <a16:creationId xmlns:a16="http://schemas.microsoft.com/office/drawing/2014/main" xmlns="" id="{976AA120-7081-41FD-9078-33C84A8436F6}"/>
              </a:ext>
            </a:extLst>
          </p:cNvPr>
          <p:cNvGrpSpPr/>
          <p:nvPr/>
        </p:nvGrpSpPr>
        <p:grpSpPr>
          <a:xfrm>
            <a:off x="1459466" y="1541373"/>
            <a:ext cx="5098466" cy="3922635"/>
            <a:chOff x="1703905" y="1180397"/>
            <a:chExt cx="5098466" cy="3640818"/>
          </a:xfrm>
        </p:grpSpPr>
        <p:cxnSp>
          <p:nvCxnSpPr>
            <p:cNvPr id="23" name="连接符: 肘形 22">
              <a:extLst>
                <a:ext uri="{FF2B5EF4-FFF2-40B4-BE49-F238E27FC236}">
                  <a16:creationId xmlns:a16="http://schemas.microsoft.com/office/drawing/2014/main" xmlns="" id="{830CBBC1-D217-47AE-8228-06D217936E13}"/>
                </a:ext>
              </a:extLst>
            </p:cNvPr>
            <p:cNvCxnSpPr>
              <a:cxnSpLocks/>
            </p:cNvCxnSpPr>
            <p:nvPr/>
          </p:nvCxnSpPr>
          <p:spPr>
            <a:xfrm flipV="1">
              <a:off x="1703905" y="4084643"/>
              <a:ext cx="3386629" cy="736572"/>
            </a:xfrm>
            <a:prstGeom prst="bentConnector3">
              <a:avLst/>
            </a:prstGeom>
            <a:noFill/>
            <a:ln w="3175" cap="flat">
              <a:solidFill>
                <a:srgbClr val="C00000"/>
              </a:solidFill>
              <a:prstDash val="sysDash"/>
              <a:miter lim="400000"/>
            </a:ln>
            <a:effectLst/>
            <a:sp3d/>
          </p:spPr>
          <p:style>
            <a:lnRef idx="0">
              <a:scrgbClr r="0" g="0" b="0"/>
            </a:lnRef>
            <a:fillRef idx="0">
              <a:scrgbClr r="0" g="0" b="0"/>
            </a:fillRef>
            <a:effectRef idx="0">
              <a:scrgbClr r="0" g="0" b="0"/>
            </a:effectRef>
            <a:fontRef idx="none"/>
          </p:style>
        </p:cxnSp>
        <p:sp>
          <p:nvSpPr>
            <p:cNvPr id="37" name="矩形: 圆角 36">
              <a:extLst>
                <a:ext uri="{FF2B5EF4-FFF2-40B4-BE49-F238E27FC236}">
                  <a16:creationId xmlns:a16="http://schemas.microsoft.com/office/drawing/2014/main" xmlns="" id="{F348F863-568F-4C6D-B491-ADED7B3B0F88}"/>
                </a:ext>
              </a:extLst>
            </p:cNvPr>
            <p:cNvSpPr/>
            <p:nvPr/>
          </p:nvSpPr>
          <p:spPr>
            <a:xfrm>
              <a:off x="5126685" y="2187118"/>
              <a:ext cx="1524499" cy="1080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44" name="矩形: 圆角 43">
              <a:extLst>
                <a:ext uri="{FF2B5EF4-FFF2-40B4-BE49-F238E27FC236}">
                  <a16:creationId xmlns:a16="http://schemas.microsoft.com/office/drawing/2014/main" xmlns="" id="{8AA042F6-792E-41D0-932D-F8BF1BB5A4C1}"/>
                </a:ext>
              </a:extLst>
            </p:cNvPr>
            <p:cNvSpPr/>
            <p:nvPr/>
          </p:nvSpPr>
          <p:spPr>
            <a:xfrm>
              <a:off x="1736385" y="3597912"/>
              <a:ext cx="1512000" cy="1116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45" name="矩形: 圆角 44">
              <a:extLst>
                <a:ext uri="{FF2B5EF4-FFF2-40B4-BE49-F238E27FC236}">
                  <a16:creationId xmlns:a16="http://schemas.microsoft.com/office/drawing/2014/main" xmlns="" id="{A6BD014D-3373-44CA-AB0C-893183647025}"/>
                </a:ext>
              </a:extLst>
            </p:cNvPr>
            <p:cNvSpPr/>
            <p:nvPr/>
          </p:nvSpPr>
          <p:spPr>
            <a:xfrm>
              <a:off x="3429700" y="2839244"/>
              <a:ext cx="1512000" cy="1116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38" name="文本框 37">
              <a:extLst>
                <a:ext uri="{FF2B5EF4-FFF2-40B4-BE49-F238E27FC236}">
                  <a16:creationId xmlns:a16="http://schemas.microsoft.com/office/drawing/2014/main" xmlns="" id="{F6B2219C-0BDB-45F5-B747-C92E15E05A85}"/>
                </a:ext>
              </a:extLst>
            </p:cNvPr>
            <p:cNvSpPr txBox="1"/>
            <p:nvPr/>
          </p:nvSpPr>
          <p:spPr>
            <a:xfrm>
              <a:off x="1746432" y="3823667"/>
              <a:ext cx="1524499" cy="5644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PingFang SC Light"/>
                  <a:sym typeface="Arial Black"/>
                </a:rPr>
                <a:t>脱机阶段</a:t>
              </a:r>
              <a:endParaRPr kumimoji="0" lang="en-US" altLang="zh-CN" sz="1200" b="0" i="0" u="none" strike="noStrike" cap="none" spc="0" normalizeH="0" baseline="0" dirty="0">
                <a:ln>
                  <a:noFill/>
                </a:ln>
                <a:solidFill>
                  <a:schemeClr val="bg2"/>
                </a:solidFill>
                <a:effectLst/>
                <a:uFillTx/>
                <a:latin typeface="PingFang SC Light"/>
                <a:sym typeface="Arial Black"/>
              </a:endParaRPr>
            </a:p>
            <a:p>
              <a:pPr marL="0" marR="0" indent="0" algn="l" defTabSz="410765" rtl="0" fontAlgn="auto" latinLnBrk="0" hangingPunct="0">
                <a:lnSpc>
                  <a:spcPct val="100000"/>
                </a:lnSpc>
                <a:spcBef>
                  <a:spcPts val="0"/>
                </a:spcBef>
                <a:spcAft>
                  <a:spcPts val="0"/>
                </a:spcAft>
                <a:buClrTx/>
                <a:buSzTx/>
                <a:buFontTx/>
                <a:buNone/>
                <a:tabLst/>
              </a:pPr>
              <a:endParaRPr lang="en-US" altLang="zh-CN" sz="1200" dirty="0">
                <a:solidFill>
                  <a:schemeClr val="bg2"/>
                </a:solidFill>
                <a:latin typeface="PingFang SC Light"/>
              </a:endParaRPr>
            </a:p>
            <a:p>
              <a:pPr marL="285750" marR="0" indent="-2857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kumimoji="0" lang="zh-CN" altLang="en-US" sz="1200" b="0" i="0" u="none" strike="noStrike" cap="none" spc="0" normalizeH="0" baseline="0" dirty="0">
                  <a:ln>
                    <a:noFill/>
                  </a:ln>
                  <a:solidFill>
                    <a:schemeClr val="bg2"/>
                  </a:solidFill>
                  <a:effectLst/>
                  <a:uFillTx/>
                  <a:latin typeface="PingFang SC Light"/>
                  <a:sym typeface="Arial Black"/>
                </a:rPr>
                <a:t>手工操作</a:t>
              </a:r>
            </a:p>
          </p:txBody>
        </p:sp>
        <p:sp>
          <p:nvSpPr>
            <p:cNvPr id="47" name="文本框 46">
              <a:extLst>
                <a:ext uri="{FF2B5EF4-FFF2-40B4-BE49-F238E27FC236}">
                  <a16:creationId xmlns:a16="http://schemas.microsoft.com/office/drawing/2014/main" xmlns="" id="{810BC5CF-A261-4309-87DB-5FF04A1AB2DC}"/>
                </a:ext>
              </a:extLst>
            </p:cNvPr>
            <p:cNvSpPr txBox="1"/>
            <p:nvPr/>
          </p:nvSpPr>
          <p:spPr>
            <a:xfrm>
              <a:off x="3463057" y="2987690"/>
              <a:ext cx="1524498" cy="73581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PingFang SC Light"/>
                  <a:sym typeface="Arial Black"/>
                </a:rPr>
                <a:t>信息化阶段</a:t>
              </a:r>
              <a:endParaRPr kumimoji="0" lang="en-US" altLang="zh-CN" sz="1200" b="0" i="0" u="none" strike="noStrike" cap="none" spc="0" normalizeH="0" baseline="0" dirty="0">
                <a:ln>
                  <a:noFill/>
                </a:ln>
                <a:solidFill>
                  <a:schemeClr val="bg2"/>
                </a:solidFill>
                <a:effectLst/>
                <a:uFillTx/>
                <a:latin typeface="PingFang SC Light"/>
                <a:sym typeface="Arial Black"/>
              </a:endParaRPr>
            </a:p>
            <a:p>
              <a:pPr marL="0" marR="0" indent="0" algn="l" defTabSz="410765" rtl="0" fontAlgn="auto" latinLnBrk="0" hangingPunct="0">
                <a:lnSpc>
                  <a:spcPct val="100000"/>
                </a:lnSpc>
                <a:spcBef>
                  <a:spcPts val="0"/>
                </a:spcBef>
                <a:spcAft>
                  <a:spcPts val="0"/>
                </a:spcAft>
                <a:buClrTx/>
                <a:buSzTx/>
                <a:buFontTx/>
                <a:buNone/>
                <a:tabLst/>
              </a:pPr>
              <a:endParaRPr lang="en-US" altLang="zh-CN" sz="1200" dirty="0">
                <a:solidFill>
                  <a:schemeClr val="bg2"/>
                </a:solidFill>
                <a:latin typeface="PingFang SC Light"/>
              </a:endParaRPr>
            </a:p>
            <a:p>
              <a:pPr marL="285750" marR="0" indent="-2857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kumimoji="0" lang="zh-CN" altLang="en-US" sz="1200" b="0" i="0" u="none" strike="noStrike" cap="none" spc="0" normalizeH="0" baseline="0" dirty="0">
                  <a:ln>
                    <a:noFill/>
                  </a:ln>
                  <a:solidFill>
                    <a:schemeClr val="bg2"/>
                  </a:solidFill>
                  <a:effectLst/>
                  <a:uFillTx/>
                  <a:latin typeface="PingFang SC Light"/>
                  <a:sym typeface="Arial Black"/>
                </a:rPr>
                <a:t>业务联网</a:t>
              </a:r>
              <a:endParaRPr kumimoji="0" lang="en-US" altLang="zh-CN" sz="1200" b="0" i="0" u="none" strike="noStrike" cap="none" spc="0" normalizeH="0" baseline="0" dirty="0">
                <a:ln>
                  <a:noFill/>
                </a:ln>
                <a:solidFill>
                  <a:schemeClr val="bg2"/>
                </a:solidFill>
                <a:effectLst/>
                <a:uFillTx/>
                <a:latin typeface="PingFang SC Light"/>
                <a:sym typeface="Arial Black"/>
              </a:endParaRPr>
            </a:p>
            <a:p>
              <a:pPr marL="285750" marR="0" indent="-2857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lang="zh-CN" altLang="en-US" sz="1200" dirty="0">
                  <a:solidFill>
                    <a:schemeClr val="bg2"/>
                  </a:solidFill>
                  <a:latin typeface="PingFang SC Light"/>
                </a:rPr>
                <a:t>集中化处理</a:t>
              </a:r>
              <a:endParaRPr kumimoji="0" lang="zh-CN" altLang="en-US" sz="1200" b="0" i="0" u="none" strike="noStrike" cap="none" spc="0" normalizeH="0" baseline="0" dirty="0">
                <a:ln>
                  <a:noFill/>
                </a:ln>
                <a:solidFill>
                  <a:schemeClr val="bg2"/>
                </a:solidFill>
                <a:effectLst/>
                <a:uFillTx/>
                <a:latin typeface="PingFang SC Light"/>
                <a:sym typeface="Arial Black"/>
              </a:endParaRPr>
            </a:p>
          </p:txBody>
        </p:sp>
        <p:sp>
          <p:nvSpPr>
            <p:cNvPr id="48" name="文本框 47">
              <a:extLst>
                <a:ext uri="{FF2B5EF4-FFF2-40B4-BE49-F238E27FC236}">
                  <a16:creationId xmlns:a16="http://schemas.microsoft.com/office/drawing/2014/main" xmlns="" id="{671DDEBF-62AB-44BC-851B-8F089DEC85F0}"/>
                </a:ext>
              </a:extLst>
            </p:cNvPr>
            <p:cNvSpPr txBox="1"/>
            <p:nvPr/>
          </p:nvSpPr>
          <p:spPr>
            <a:xfrm>
              <a:off x="5109055" y="2446474"/>
              <a:ext cx="1574478" cy="56441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l"/>
              <a:r>
                <a:rPr kumimoji="0" lang="zh-CN" altLang="en-US" sz="1200" b="0" i="0" u="none" strike="noStrike" cap="none" spc="0" normalizeH="0" baseline="0" dirty="0">
                  <a:ln>
                    <a:noFill/>
                  </a:ln>
                  <a:solidFill>
                    <a:schemeClr val="bg2"/>
                  </a:solidFill>
                  <a:effectLst/>
                  <a:uFillTx/>
                  <a:latin typeface="PingFang SC Light"/>
                  <a:sym typeface="Arial Black"/>
                </a:rPr>
                <a:t>个性化</a:t>
              </a:r>
              <a:r>
                <a:rPr kumimoji="0" lang="en-US" altLang="zh-CN" sz="1200" b="0" i="0" u="none" strike="noStrike" cap="none" spc="0" normalizeH="0" baseline="0" dirty="0">
                  <a:ln>
                    <a:noFill/>
                  </a:ln>
                  <a:solidFill>
                    <a:schemeClr val="bg2"/>
                  </a:solidFill>
                  <a:effectLst/>
                  <a:uFillTx/>
                  <a:latin typeface="PingFang SC Light"/>
                  <a:sym typeface="Arial Black"/>
                </a:rPr>
                <a:t> (</a:t>
              </a:r>
              <a:r>
                <a:rPr kumimoji="0" lang="zh-CN" altLang="en-US" sz="1200" b="0" i="0" u="none" strike="noStrike" cap="none" spc="0" normalizeH="0" baseline="0" dirty="0">
                  <a:ln>
                    <a:noFill/>
                  </a:ln>
                  <a:solidFill>
                    <a:schemeClr val="bg2"/>
                  </a:solidFill>
                  <a:effectLst/>
                  <a:uFillTx/>
                  <a:latin typeface="PingFang SC Light"/>
                  <a:sym typeface="Arial Black"/>
                </a:rPr>
                <a:t>智慧</a:t>
              </a:r>
              <a:r>
                <a:rPr lang="zh-CN" altLang="en-US" sz="1200" dirty="0">
                  <a:solidFill>
                    <a:schemeClr val="bg2"/>
                  </a:solidFill>
                  <a:latin typeface="PingFang SC Light"/>
                </a:rPr>
                <a:t>化</a:t>
              </a:r>
              <a:r>
                <a:rPr lang="en-US" altLang="zh-CN" sz="1200" dirty="0">
                  <a:solidFill>
                    <a:schemeClr val="bg2"/>
                  </a:solidFill>
                  <a:latin typeface="PingFang SC Light"/>
                </a:rPr>
                <a:t>) </a:t>
              </a:r>
              <a:r>
                <a:rPr lang="zh-CN" altLang="en-US" sz="1200" dirty="0">
                  <a:solidFill>
                    <a:schemeClr val="bg2"/>
                  </a:solidFill>
                  <a:latin typeface="PingFang SC Light"/>
                </a:rPr>
                <a:t>阶段</a:t>
              </a:r>
              <a:endParaRPr lang="en-US" altLang="zh-CN" sz="1200" dirty="0">
                <a:solidFill>
                  <a:schemeClr val="bg2"/>
                </a:solidFill>
                <a:latin typeface="PingFang SC Light"/>
              </a:endParaRPr>
            </a:p>
            <a:p>
              <a:pPr marL="285750" marR="0" indent="-2857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lang="zh-CN" altLang="en-US" sz="1200" dirty="0">
                  <a:solidFill>
                    <a:schemeClr val="bg2"/>
                  </a:solidFill>
                  <a:latin typeface="PingFang SC Light"/>
                </a:rPr>
                <a:t>去中心化</a:t>
              </a:r>
              <a:endParaRPr lang="en-US" altLang="zh-CN" sz="1200" dirty="0">
                <a:solidFill>
                  <a:schemeClr val="bg2"/>
                </a:solidFill>
                <a:latin typeface="PingFang SC Light"/>
              </a:endParaRPr>
            </a:p>
            <a:p>
              <a:pPr marL="285750" indent="-285750" algn="l">
                <a:buFont typeface="Arial" panose="020B0604020202020204" pitchFamily="34" charset="0"/>
                <a:buChar char="•"/>
              </a:pPr>
              <a:r>
                <a:rPr lang="zh-CN" altLang="en-US" sz="1200" dirty="0">
                  <a:solidFill>
                    <a:schemeClr val="bg2"/>
                  </a:solidFill>
                  <a:latin typeface="PingFang SC Light"/>
                </a:rPr>
                <a:t>数据驱动</a:t>
              </a:r>
              <a:endParaRPr lang="en-US" altLang="zh-CN" sz="1200" dirty="0">
                <a:solidFill>
                  <a:schemeClr val="bg2"/>
                </a:solidFill>
                <a:latin typeface="PingFang SC Light"/>
              </a:endParaRPr>
            </a:p>
          </p:txBody>
        </p:sp>
        <p:cxnSp>
          <p:nvCxnSpPr>
            <p:cNvPr id="40" name="连接符: 肘形 39">
              <a:extLst>
                <a:ext uri="{FF2B5EF4-FFF2-40B4-BE49-F238E27FC236}">
                  <a16:creationId xmlns:a16="http://schemas.microsoft.com/office/drawing/2014/main" xmlns="" id="{D06AFA15-6B59-4849-8B07-168CC8360E3D}"/>
                </a:ext>
              </a:extLst>
            </p:cNvPr>
            <p:cNvCxnSpPr>
              <a:cxnSpLocks/>
            </p:cNvCxnSpPr>
            <p:nvPr/>
          </p:nvCxnSpPr>
          <p:spPr>
            <a:xfrm rot="5400000" flipH="1" flipV="1">
              <a:off x="5184343" y="2466615"/>
              <a:ext cx="1542740" cy="1693315"/>
            </a:xfrm>
            <a:prstGeom prst="bentConnector3">
              <a:avLst>
                <a:gd name="adj1" fmla="val 50000"/>
              </a:avLst>
            </a:prstGeom>
            <a:noFill/>
            <a:ln w="3175" cap="flat">
              <a:solidFill>
                <a:srgbClr val="C00000"/>
              </a:solidFill>
              <a:prstDash val="sysDash"/>
              <a:miter lim="400000"/>
              <a:tailEnd type="triangle"/>
            </a:ln>
            <a:effectLst/>
            <a:sp3d/>
          </p:spPr>
          <p:style>
            <a:lnRef idx="0">
              <a:scrgbClr r="0" g="0" b="0"/>
            </a:lnRef>
            <a:fillRef idx="0">
              <a:scrgbClr r="0" g="0" b="0"/>
            </a:fillRef>
            <a:effectRef idx="0">
              <a:scrgbClr r="0" g="0" b="0"/>
            </a:effectRef>
            <a:fontRef idx="none"/>
          </p:style>
        </p:cxnSp>
        <p:sp>
          <p:nvSpPr>
            <p:cNvPr id="49" name="星形: 四角 48">
              <a:extLst>
                <a:ext uri="{FF2B5EF4-FFF2-40B4-BE49-F238E27FC236}">
                  <a16:creationId xmlns:a16="http://schemas.microsoft.com/office/drawing/2014/main" xmlns="" id="{6F3717B0-D2FF-4D95-A1BB-5F695D8A0D2F}"/>
                </a:ext>
              </a:extLst>
            </p:cNvPr>
            <p:cNvSpPr/>
            <p:nvPr/>
          </p:nvSpPr>
          <p:spPr>
            <a:xfrm>
              <a:off x="5126685" y="2176291"/>
              <a:ext cx="180000" cy="180000"/>
            </a:xfrm>
            <a:prstGeom prst="star4">
              <a:avLst/>
            </a:prstGeom>
            <a:solidFill>
              <a:srgbClr val="C00000"/>
            </a:solidFill>
            <a:ln w="31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56" name="文本框 55">
              <a:extLst>
                <a:ext uri="{FF2B5EF4-FFF2-40B4-BE49-F238E27FC236}">
                  <a16:creationId xmlns:a16="http://schemas.microsoft.com/office/drawing/2014/main" xmlns="" id="{AEEED5E6-FCBD-4772-A5D3-E47BFDD4F9A5}"/>
                </a:ext>
              </a:extLst>
            </p:cNvPr>
            <p:cNvSpPr txBox="1"/>
            <p:nvPr/>
          </p:nvSpPr>
          <p:spPr>
            <a:xfrm>
              <a:off x="1746433" y="1180397"/>
              <a:ext cx="5055938" cy="11471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171450" marR="0" indent="-171450" algn="l" defTabSz="410765" rtl="0" fontAlgn="auto" latinLnBrk="0" hangingPunct="0">
                <a:lnSpc>
                  <a:spcPct val="120000"/>
                </a:lnSpc>
                <a:spcBef>
                  <a:spcPts val="0"/>
                </a:spcBef>
                <a:spcAft>
                  <a:spcPts val="0"/>
                </a:spcAft>
                <a:buClrTx/>
                <a:buSzTx/>
                <a:buFont typeface="Arial" panose="020B0604020202020204" pitchFamily="34" charset="0"/>
                <a:buChar char="•"/>
                <a:tabLst/>
              </a:pPr>
              <a:r>
                <a:rPr lang="zh-CN" altLang="en-US" sz="1600" dirty="0">
                  <a:solidFill>
                    <a:schemeClr val="bg2">
                      <a:lumMod val="50000"/>
                    </a:schemeClr>
                  </a:solidFill>
                  <a:latin typeface="PingFang SC Light"/>
                </a:rPr>
                <a:t>全球范围内大部分银行已完成了信息化建设、数据中心建设，进入个性化的早期阶段。</a:t>
              </a:r>
              <a:endParaRPr lang="en-US" altLang="zh-CN" sz="1600" dirty="0">
                <a:solidFill>
                  <a:schemeClr val="bg2">
                    <a:lumMod val="50000"/>
                  </a:schemeClr>
                </a:solidFill>
                <a:latin typeface="PingFang SC Light"/>
              </a:endParaRPr>
            </a:p>
            <a:p>
              <a:pPr marL="171450" marR="0" indent="-171450" algn="l" defTabSz="410765" rtl="0" fontAlgn="auto" latinLnBrk="0" hangingPunct="0">
                <a:lnSpc>
                  <a:spcPct val="120000"/>
                </a:lnSpc>
                <a:spcBef>
                  <a:spcPts val="0"/>
                </a:spcBef>
                <a:spcAft>
                  <a:spcPts val="0"/>
                </a:spcAft>
                <a:buClrTx/>
                <a:buSzTx/>
                <a:buFont typeface="Arial" panose="020B0604020202020204" pitchFamily="34" charset="0"/>
                <a:buChar char="•"/>
                <a:tabLst/>
              </a:pPr>
              <a:r>
                <a:rPr lang="zh-CN" altLang="en-US" sz="1600" dirty="0">
                  <a:solidFill>
                    <a:schemeClr val="bg2">
                      <a:lumMod val="50000"/>
                    </a:schemeClr>
                  </a:solidFill>
                  <a:latin typeface="PingFang SC Light"/>
                </a:rPr>
                <a:t>目前香港银行的信息化和智能化水平与其金融中心的领先地位存在一定差距。</a:t>
              </a:r>
              <a:endParaRPr kumimoji="0" lang="zh-CN" altLang="en-US" sz="1600" b="0" i="0" u="none" strike="noStrike" cap="none" spc="0" normalizeH="0" baseline="0" dirty="0">
                <a:ln>
                  <a:noFill/>
                </a:ln>
                <a:solidFill>
                  <a:schemeClr val="bg2">
                    <a:lumMod val="50000"/>
                  </a:schemeClr>
                </a:solidFill>
                <a:effectLst/>
                <a:uFillTx/>
                <a:latin typeface="PingFang SC Light"/>
                <a:sym typeface="Arial Black"/>
              </a:endParaRPr>
            </a:p>
          </p:txBody>
        </p:sp>
      </p:grpSp>
      <p:cxnSp>
        <p:nvCxnSpPr>
          <p:cNvPr id="4" name="直接连接符 3">
            <a:extLst>
              <a:ext uri="{FF2B5EF4-FFF2-40B4-BE49-F238E27FC236}">
                <a16:creationId xmlns:a16="http://schemas.microsoft.com/office/drawing/2014/main" xmlns="" id="{32F771D9-6220-42DD-AF06-AD87C34ADF24}"/>
              </a:ext>
            </a:extLst>
          </p:cNvPr>
          <p:cNvCxnSpPr>
            <a:cxnSpLocks/>
          </p:cNvCxnSpPr>
          <p:nvPr/>
        </p:nvCxnSpPr>
        <p:spPr>
          <a:xfrm>
            <a:off x="6758224" y="1944340"/>
            <a:ext cx="0" cy="3668809"/>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sp>
        <p:nvSpPr>
          <p:cNvPr id="31" name="文本框 30">
            <a:extLst>
              <a:ext uri="{FF2B5EF4-FFF2-40B4-BE49-F238E27FC236}">
                <a16:creationId xmlns:a16="http://schemas.microsoft.com/office/drawing/2014/main" xmlns="" id="{9009F3B7-B87D-41EB-851D-1C85CAD8BEBF}"/>
              </a:ext>
            </a:extLst>
          </p:cNvPr>
          <p:cNvSpPr txBox="1"/>
          <p:nvPr/>
        </p:nvSpPr>
        <p:spPr>
          <a:xfrm>
            <a:off x="7109704" y="1594562"/>
            <a:ext cx="4628596" cy="212236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171450" marR="0" indent="-171450" algn="l" defTabSz="410765" rtl="0" fontAlgn="auto" latinLnBrk="0" hangingPunct="0">
              <a:lnSpc>
                <a:spcPct val="120000"/>
              </a:lnSpc>
              <a:spcBef>
                <a:spcPts val="0"/>
              </a:spcBef>
              <a:spcAft>
                <a:spcPts val="0"/>
              </a:spcAft>
              <a:buClrTx/>
              <a:buSzTx/>
              <a:buFont typeface="Arial" charset="0"/>
              <a:buChar char="•"/>
              <a:tabLst/>
            </a:pPr>
            <a:r>
              <a:rPr lang="zh-CN" altLang="en-US" sz="1600" dirty="0">
                <a:solidFill>
                  <a:schemeClr val="bg2">
                    <a:lumMod val="50000"/>
                  </a:schemeClr>
                </a:solidFill>
                <a:latin typeface="PingFang SC Light"/>
              </a:rPr>
              <a:t>个性化的本质是：客户、场景和产品服务</a:t>
            </a:r>
            <a:r>
              <a:rPr lang="zh-CN" altLang="en-US" sz="1600" dirty="0" smtClean="0">
                <a:solidFill>
                  <a:schemeClr val="bg2">
                    <a:lumMod val="50000"/>
                  </a:schemeClr>
                </a:solidFill>
                <a:latin typeface="PingFang SC Light"/>
              </a:rPr>
              <a:t>的精确</a:t>
            </a:r>
            <a:r>
              <a:rPr lang="zh-CN" altLang="en-US" sz="1600" dirty="0">
                <a:solidFill>
                  <a:schemeClr val="bg2">
                    <a:lumMod val="50000"/>
                  </a:schemeClr>
                </a:solidFill>
                <a:latin typeface="PingFang SC Light"/>
              </a:rPr>
              <a:t>匹配。</a:t>
            </a:r>
            <a:endParaRPr lang="en-US" altLang="zh-CN" sz="1600" dirty="0">
              <a:solidFill>
                <a:schemeClr val="bg2">
                  <a:lumMod val="50000"/>
                </a:schemeClr>
              </a:solidFill>
              <a:latin typeface="PingFang SC Light"/>
            </a:endParaRPr>
          </a:p>
          <a:p>
            <a:pPr marL="171450" indent="-171450" algn="l">
              <a:lnSpc>
                <a:spcPct val="120000"/>
              </a:lnSpc>
              <a:buFont typeface="Arial" charset="0"/>
              <a:buChar char="•"/>
            </a:pPr>
            <a:r>
              <a:rPr kumimoji="0" lang="zh-CN" altLang="en-US" sz="1600" b="0" i="0" u="none" strike="noStrike" cap="none" spc="0" normalizeH="0" baseline="0" dirty="0">
                <a:ln>
                  <a:noFill/>
                </a:ln>
                <a:solidFill>
                  <a:schemeClr val="bg2">
                    <a:lumMod val="50000"/>
                  </a:schemeClr>
                </a:solidFill>
                <a:effectLst/>
                <a:uFillTx/>
                <a:latin typeface="PingFang SC Light"/>
                <a:sym typeface="Arial Black"/>
              </a:rPr>
              <a:t>决定个性化的结果的核心四要素在于</a:t>
            </a:r>
            <a:r>
              <a:rPr kumimoji="0" lang="zh-CN" altLang="en-US" sz="1600" b="0" i="0" u="none" strike="noStrike" cap="none" spc="0" normalizeH="0" baseline="0" dirty="0" smtClean="0">
                <a:ln>
                  <a:noFill/>
                </a:ln>
                <a:solidFill>
                  <a:schemeClr val="bg2">
                    <a:lumMod val="50000"/>
                  </a:schemeClr>
                </a:solidFill>
                <a:effectLst/>
                <a:uFillTx/>
                <a:latin typeface="PingFang SC Light"/>
                <a:sym typeface="Arial Black"/>
              </a:rPr>
              <a:t>：</a:t>
            </a:r>
            <a:r>
              <a:rPr lang="zh-CN" altLang="en-US" sz="1600" dirty="0" smtClean="0">
                <a:solidFill>
                  <a:schemeClr val="bg2">
                    <a:lumMod val="50000"/>
                  </a:schemeClr>
                </a:solidFill>
                <a:latin typeface="PingFang SC Light"/>
              </a:rPr>
              <a:t>用</a:t>
            </a:r>
            <a:r>
              <a:rPr kumimoji="0" lang="zh-CN" altLang="en-US" sz="1600" b="0" i="0" u="none" strike="noStrike" cap="none" spc="0" normalizeH="0" baseline="0" dirty="0" smtClean="0">
                <a:ln>
                  <a:noFill/>
                </a:ln>
                <a:solidFill>
                  <a:schemeClr val="bg2">
                    <a:lumMod val="50000"/>
                  </a:schemeClr>
                </a:solidFill>
                <a:effectLst/>
                <a:uFillTx/>
                <a:latin typeface="PingFang SC Light"/>
                <a:sym typeface="Arial Black"/>
              </a:rPr>
              <a:t>户理解、场景理解、产品及</a:t>
            </a:r>
            <a:r>
              <a:rPr kumimoji="0" lang="zh-CN" altLang="en-US" sz="1600" b="0" i="0" u="none" strike="noStrike" cap="none" spc="0" normalizeH="0" baseline="0" dirty="0">
                <a:ln>
                  <a:noFill/>
                </a:ln>
                <a:solidFill>
                  <a:schemeClr val="bg2">
                    <a:lumMod val="50000"/>
                  </a:schemeClr>
                </a:solidFill>
                <a:effectLst/>
                <a:uFillTx/>
                <a:latin typeface="PingFang SC Light"/>
                <a:sym typeface="Arial Black"/>
              </a:rPr>
              <a:t>匹配机制。</a:t>
            </a:r>
            <a:endParaRPr kumimoji="0" lang="en-US" altLang="zh-CN" sz="1600" b="0" i="0" u="none" strike="noStrike" cap="none" spc="0" normalizeH="0" baseline="0" dirty="0">
              <a:ln>
                <a:noFill/>
              </a:ln>
              <a:solidFill>
                <a:schemeClr val="bg2">
                  <a:lumMod val="50000"/>
                </a:schemeClr>
              </a:solidFill>
              <a:effectLst/>
              <a:uFillTx/>
              <a:latin typeface="PingFang SC Light"/>
              <a:sym typeface="Arial Black"/>
            </a:endParaRPr>
          </a:p>
          <a:p>
            <a:pPr marL="171450" indent="-171450" algn="l">
              <a:lnSpc>
                <a:spcPct val="120000"/>
              </a:lnSpc>
              <a:buFont typeface="Arial" charset="0"/>
              <a:buChar char="•"/>
            </a:pPr>
            <a:r>
              <a:rPr lang="zh-CN" altLang="en-US" sz="1600" dirty="0">
                <a:solidFill>
                  <a:schemeClr val="bg2">
                    <a:lumMod val="50000"/>
                  </a:schemeClr>
                </a:solidFill>
                <a:latin typeface="PingFang SC Light"/>
              </a:rPr>
              <a:t>个性化的</a:t>
            </a:r>
            <a:r>
              <a:rPr lang="zh-CN" altLang="en-US" sz="1600" dirty="0" smtClean="0">
                <a:solidFill>
                  <a:schemeClr val="bg2">
                    <a:lumMod val="50000"/>
                  </a:schemeClr>
                </a:solidFill>
                <a:latin typeface="PingFang SC Light"/>
              </a:rPr>
              <a:t>价值：深度理解用户，</a:t>
            </a:r>
            <a:r>
              <a:rPr lang="zh-CN" altLang="en-US" sz="1600" dirty="0" smtClean="0">
                <a:solidFill>
                  <a:schemeClr val="bg2">
                    <a:lumMod val="50000"/>
                  </a:schemeClr>
                </a:solidFill>
                <a:latin typeface="Helvetica Neue"/>
              </a:rPr>
              <a:t>挖掘潜在</a:t>
            </a:r>
            <a:r>
              <a:rPr lang="zh-CN" altLang="en-US" sz="1600" dirty="0">
                <a:solidFill>
                  <a:schemeClr val="bg2">
                    <a:lumMod val="50000"/>
                  </a:schemeClr>
                </a:solidFill>
                <a:latin typeface="Helvetica Neue"/>
              </a:rPr>
              <a:t>需求</a:t>
            </a:r>
            <a:r>
              <a:rPr lang="zh-CN" altLang="en-US" sz="1600" dirty="0" smtClean="0">
                <a:solidFill>
                  <a:schemeClr val="bg2">
                    <a:lumMod val="50000"/>
                  </a:schemeClr>
                </a:solidFill>
                <a:latin typeface="Helvetica Neue"/>
              </a:rPr>
              <a:t>，找到目标用户，缩短用户</a:t>
            </a:r>
            <a:r>
              <a:rPr lang="zh-CN" altLang="en-US" sz="1600" dirty="0">
                <a:solidFill>
                  <a:schemeClr val="bg2">
                    <a:lumMod val="50000"/>
                  </a:schemeClr>
                </a:solidFill>
                <a:latin typeface="Helvetica Neue"/>
              </a:rPr>
              <a:t>到</a:t>
            </a:r>
            <a:r>
              <a:rPr lang="zh-CN" altLang="en-US" sz="1600" dirty="0" smtClean="0">
                <a:solidFill>
                  <a:schemeClr val="bg2">
                    <a:lumMod val="50000"/>
                  </a:schemeClr>
                </a:solidFill>
                <a:latin typeface="Helvetica Neue"/>
              </a:rPr>
              <a:t>产品的距离，产品高效的触达用户。</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nvGrpSpPr>
          <p:cNvPr id="11" name="组合 10">
            <a:extLst>
              <a:ext uri="{FF2B5EF4-FFF2-40B4-BE49-F238E27FC236}">
                <a16:creationId xmlns:a16="http://schemas.microsoft.com/office/drawing/2014/main" xmlns="" id="{1BB3E7E0-2B21-405E-A2F6-942EA18442CF}"/>
              </a:ext>
            </a:extLst>
          </p:cNvPr>
          <p:cNvGrpSpPr/>
          <p:nvPr/>
        </p:nvGrpSpPr>
        <p:grpSpPr>
          <a:xfrm>
            <a:off x="8062516" y="4207559"/>
            <a:ext cx="2237183" cy="2176597"/>
            <a:chOff x="8212900" y="3115024"/>
            <a:chExt cx="1297688" cy="1307293"/>
          </a:xfrm>
        </p:grpSpPr>
        <p:grpSp>
          <p:nvGrpSpPr>
            <p:cNvPr id="10" name="组合 9">
              <a:extLst>
                <a:ext uri="{FF2B5EF4-FFF2-40B4-BE49-F238E27FC236}">
                  <a16:creationId xmlns:a16="http://schemas.microsoft.com/office/drawing/2014/main" xmlns="" id="{D7D4E641-AB49-4C9E-B19B-D283C0172380}"/>
                </a:ext>
              </a:extLst>
            </p:cNvPr>
            <p:cNvGrpSpPr/>
            <p:nvPr/>
          </p:nvGrpSpPr>
          <p:grpSpPr>
            <a:xfrm>
              <a:off x="8212900" y="3115024"/>
              <a:ext cx="1297688" cy="1307293"/>
              <a:chOff x="8336268" y="2704187"/>
              <a:chExt cx="1297688" cy="1307293"/>
            </a:xfrm>
          </p:grpSpPr>
          <p:sp>
            <p:nvSpPr>
              <p:cNvPr id="8" name="椭圆 7">
                <a:extLst>
                  <a:ext uri="{FF2B5EF4-FFF2-40B4-BE49-F238E27FC236}">
                    <a16:creationId xmlns:a16="http://schemas.microsoft.com/office/drawing/2014/main" xmlns="" id="{DF9D2FD5-39AB-48A7-B479-B459CD81F467}"/>
                  </a:ext>
                </a:extLst>
              </p:cNvPr>
              <p:cNvSpPr/>
              <p:nvPr/>
            </p:nvSpPr>
            <p:spPr>
              <a:xfrm>
                <a:off x="8535110" y="2704187"/>
                <a:ext cx="900000" cy="900000"/>
              </a:xfrm>
              <a:prstGeom prst="ellipse">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5" name="椭圆 24">
                <a:extLst>
                  <a:ext uri="{FF2B5EF4-FFF2-40B4-BE49-F238E27FC236}">
                    <a16:creationId xmlns:a16="http://schemas.microsoft.com/office/drawing/2014/main" xmlns="" id="{D214841C-75A2-42B5-9FE7-33811201C6F9}"/>
                  </a:ext>
                </a:extLst>
              </p:cNvPr>
              <p:cNvSpPr/>
              <p:nvPr/>
            </p:nvSpPr>
            <p:spPr>
              <a:xfrm>
                <a:off x="8336268" y="3111480"/>
                <a:ext cx="900000" cy="900000"/>
              </a:xfrm>
              <a:prstGeom prst="ellipse">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6" name="椭圆 25">
                <a:extLst>
                  <a:ext uri="{FF2B5EF4-FFF2-40B4-BE49-F238E27FC236}">
                    <a16:creationId xmlns:a16="http://schemas.microsoft.com/office/drawing/2014/main" xmlns="" id="{A0E83846-821B-4786-AE83-4171B921CFB7}"/>
                  </a:ext>
                </a:extLst>
              </p:cNvPr>
              <p:cNvSpPr/>
              <p:nvPr/>
            </p:nvSpPr>
            <p:spPr>
              <a:xfrm>
                <a:off x="8733956" y="3111480"/>
                <a:ext cx="900000" cy="900000"/>
              </a:xfrm>
              <a:prstGeom prst="ellipse">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9" name="文本框 8">
                <a:extLst>
                  <a:ext uri="{FF2B5EF4-FFF2-40B4-BE49-F238E27FC236}">
                    <a16:creationId xmlns:a16="http://schemas.microsoft.com/office/drawing/2014/main" xmlns="" id="{E1B55F14-2055-464A-93F9-317F1B7209E7}"/>
                  </a:ext>
                </a:extLst>
              </p:cNvPr>
              <p:cNvSpPr txBox="1"/>
              <p:nvPr/>
            </p:nvSpPr>
            <p:spPr>
              <a:xfrm>
                <a:off x="8793265" y="2819451"/>
                <a:ext cx="386128" cy="1434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smtClean="0">
                    <a:solidFill>
                      <a:schemeClr val="bg2"/>
                    </a:solidFill>
                    <a:latin typeface="+mn-ea"/>
                    <a:ea typeface="+mn-ea"/>
                  </a:rPr>
                  <a:t>用户</a:t>
                </a:r>
                <a:endParaRPr kumimoji="0" lang="zh-CN" altLang="en-US" sz="1200" b="0" i="0" u="none" strike="noStrike" cap="none" spc="0" normalizeH="0" baseline="0" dirty="0">
                  <a:ln>
                    <a:noFill/>
                  </a:ln>
                  <a:solidFill>
                    <a:schemeClr val="bg2"/>
                  </a:solidFill>
                  <a:effectLst/>
                  <a:uFillTx/>
                  <a:latin typeface="+mn-ea"/>
                  <a:ea typeface="+mn-ea"/>
                  <a:sym typeface="Arial Black"/>
                </a:endParaRPr>
              </a:p>
            </p:txBody>
          </p:sp>
          <p:sp>
            <p:nvSpPr>
              <p:cNvPr id="28" name="文本框 27">
                <a:extLst>
                  <a:ext uri="{FF2B5EF4-FFF2-40B4-BE49-F238E27FC236}">
                    <a16:creationId xmlns:a16="http://schemas.microsoft.com/office/drawing/2014/main" xmlns="" id="{216EB83C-914F-4282-9AB5-58D766515D5C}"/>
                  </a:ext>
                </a:extLst>
              </p:cNvPr>
              <p:cNvSpPr txBox="1"/>
              <p:nvPr/>
            </p:nvSpPr>
            <p:spPr>
              <a:xfrm>
                <a:off x="8363915" y="3617061"/>
                <a:ext cx="386128" cy="1434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a:solidFill>
                      <a:schemeClr val="bg2"/>
                    </a:solidFill>
                    <a:latin typeface="+mn-ea"/>
                    <a:ea typeface="+mn-ea"/>
                  </a:rPr>
                  <a:t>产品服务</a:t>
                </a:r>
                <a:endParaRPr kumimoji="0" lang="zh-CN" altLang="en-US" sz="1200" b="0" i="0" u="none" strike="noStrike" cap="none" spc="0" normalizeH="0" baseline="0" dirty="0">
                  <a:ln>
                    <a:noFill/>
                  </a:ln>
                  <a:solidFill>
                    <a:schemeClr val="bg2"/>
                  </a:solidFill>
                  <a:effectLst/>
                  <a:uFillTx/>
                  <a:latin typeface="+mn-ea"/>
                  <a:ea typeface="+mn-ea"/>
                  <a:sym typeface="Arial Black"/>
                </a:endParaRPr>
              </a:p>
            </p:txBody>
          </p:sp>
          <p:sp>
            <p:nvSpPr>
              <p:cNvPr id="29" name="文本框 28">
                <a:extLst>
                  <a:ext uri="{FF2B5EF4-FFF2-40B4-BE49-F238E27FC236}">
                    <a16:creationId xmlns:a16="http://schemas.microsoft.com/office/drawing/2014/main" xmlns="" id="{816F42AB-763C-4759-99F3-E735342AFF56}"/>
                  </a:ext>
                </a:extLst>
              </p:cNvPr>
              <p:cNvSpPr txBox="1"/>
              <p:nvPr/>
            </p:nvSpPr>
            <p:spPr>
              <a:xfrm>
                <a:off x="9233755" y="3632656"/>
                <a:ext cx="386128" cy="1434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a:solidFill>
                      <a:schemeClr val="bg2"/>
                    </a:solidFill>
                    <a:latin typeface="+mn-ea"/>
                    <a:ea typeface="+mn-ea"/>
                  </a:rPr>
                  <a:t>场景</a:t>
                </a:r>
                <a:endParaRPr kumimoji="0" lang="zh-CN" altLang="en-US" sz="1200" b="0" i="0" u="none" strike="noStrike" cap="none" spc="0" normalizeH="0" baseline="0" dirty="0">
                  <a:ln>
                    <a:noFill/>
                  </a:ln>
                  <a:solidFill>
                    <a:schemeClr val="bg2"/>
                  </a:solidFill>
                  <a:effectLst/>
                  <a:uFillTx/>
                  <a:latin typeface="+mn-ea"/>
                  <a:ea typeface="+mn-ea"/>
                  <a:sym typeface="Arial Black"/>
                </a:endParaRPr>
              </a:p>
            </p:txBody>
          </p:sp>
        </p:grpSp>
        <p:sp>
          <p:nvSpPr>
            <p:cNvPr id="32" name="文本框 31">
              <a:extLst>
                <a:ext uri="{FF2B5EF4-FFF2-40B4-BE49-F238E27FC236}">
                  <a16:creationId xmlns:a16="http://schemas.microsoft.com/office/drawing/2014/main" xmlns="" id="{3638D6AE-BCF0-4F7A-BC29-21D2D8F1C6EB}"/>
                </a:ext>
              </a:extLst>
            </p:cNvPr>
            <p:cNvSpPr txBox="1"/>
            <p:nvPr/>
          </p:nvSpPr>
          <p:spPr>
            <a:xfrm>
              <a:off x="8668680" y="3718828"/>
              <a:ext cx="386128" cy="14340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ea"/>
                  <a:ea typeface="+mn-ea"/>
                  <a:cs typeface="Arial Black"/>
                  <a:sym typeface="Arial Black"/>
                </a:rPr>
                <a:t>匹配机制</a:t>
              </a:r>
            </a:p>
          </p:txBody>
        </p:sp>
      </p:grpSp>
    </p:spTree>
    <p:extLst>
      <p:ext uri="{BB962C8B-B14F-4D97-AF65-F5344CB8AC3E}">
        <p14:creationId xmlns:p14="http://schemas.microsoft.com/office/powerpoint/2010/main" val="4060171382"/>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503998" y="801960"/>
            <a:ext cx="3163927" cy="423433"/>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pPr algn="l">
              <a:lnSpc>
                <a:spcPct val="120000"/>
              </a:lnSpc>
            </a:pPr>
            <a:r>
              <a:rPr lang="zh-CN" altLang="en-US" sz="2000" smtClean="0">
                <a:solidFill>
                  <a:schemeClr val="bg2">
                    <a:lumMod val="50000"/>
                  </a:schemeClr>
                </a:solidFill>
                <a:latin typeface="PingFang SC Light"/>
                <a:sym typeface="Arial Black"/>
              </a:rPr>
              <a:t>线</a:t>
            </a:r>
            <a:r>
              <a:rPr lang="zh-CN" altLang="en-US" sz="2000" dirty="0" smtClean="0">
                <a:solidFill>
                  <a:schemeClr val="bg2">
                    <a:lumMod val="50000"/>
                  </a:schemeClr>
                </a:solidFill>
                <a:latin typeface="PingFang SC Light"/>
                <a:sym typeface="Arial Black"/>
              </a:rPr>
              <a:t>下到</a:t>
            </a:r>
            <a:r>
              <a:rPr lang="zh-CN" altLang="en-US" sz="2000" smtClean="0">
                <a:solidFill>
                  <a:schemeClr val="bg2">
                    <a:lumMod val="50000"/>
                  </a:schemeClr>
                </a:solidFill>
                <a:latin typeface="PingFang SC Light"/>
                <a:sym typeface="Arial Black"/>
              </a:rPr>
              <a:t>线上的转型</a:t>
            </a:r>
            <a:r>
              <a:rPr lang="zh-CN" altLang="en-US" sz="2000" dirty="0" smtClean="0">
                <a:solidFill>
                  <a:schemeClr val="bg2">
                    <a:lumMod val="50000"/>
                  </a:schemeClr>
                </a:solidFill>
                <a:latin typeface="PingFang SC Light"/>
                <a:sym typeface="Arial Black"/>
              </a:rPr>
              <a:t>势在必行</a:t>
            </a:r>
            <a:endParaRPr lang="zh-CN" altLang="en-US" sz="2000" dirty="0">
              <a:solidFill>
                <a:schemeClr val="bg2">
                  <a:lumMod val="50000"/>
                </a:schemeClr>
              </a:solidFill>
              <a:latin typeface="PingFang SC Light"/>
              <a:sym typeface="Arial Black"/>
            </a:endParaRPr>
          </a:p>
        </p:txBody>
      </p:sp>
      <p:sp>
        <p:nvSpPr>
          <p:cNvPr id="15" name="文本框 19">
            <a:extLst>
              <a:ext uri="{FF2B5EF4-FFF2-40B4-BE49-F238E27FC236}">
                <a16:creationId xmlns:a16="http://schemas.microsoft.com/office/drawing/2014/main" xmlns="" id="{A4AA47F6-6621-411E-BA89-EDF8B75BD43A}"/>
              </a:ext>
            </a:extLst>
          </p:cNvPr>
          <p:cNvSpPr txBox="1"/>
          <p:nvPr/>
        </p:nvSpPr>
        <p:spPr>
          <a:xfrm>
            <a:off x="4157730" y="5124559"/>
            <a:ext cx="6590481" cy="11620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直销银行</a:t>
            </a:r>
            <a:r>
              <a:rPr lang="zh-CN" altLang="en-US" sz="2000" dirty="0">
                <a:solidFill>
                  <a:schemeClr val="bg2">
                    <a:lumMod val="50000"/>
                  </a:schemeClr>
                </a:solidFill>
                <a:latin typeface="+mn-ea"/>
              </a:rPr>
              <a:t>打破了传统银行网点在时间和空间上的限制，可以为客户提供全天候、不间断的金融服务，并能够更快地响应客户的各种金融需求</a:t>
            </a:r>
            <a:r>
              <a:rPr lang="zh-CN" altLang="en-US" sz="2000" dirty="0" smtClean="0">
                <a:solidFill>
                  <a:schemeClr val="bg2">
                    <a:lumMod val="50000"/>
                  </a:schemeClr>
                </a:solidFill>
                <a:latin typeface="PingFang SC Light"/>
              </a:rPr>
              <a:t>。商业模式逐渐得到认可。</a:t>
            </a:r>
            <a:endParaRPr lang="en-US" altLang="zh-CN" sz="2000" dirty="0">
              <a:solidFill>
                <a:schemeClr val="bg2">
                  <a:lumMod val="50000"/>
                </a:schemeClr>
              </a:solidFill>
              <a:latin typeface="PingFang SC Light"/>
            </a:endParaRPr>
          </a:p>
        </p:txBody>
      </p:sp>
      <p:sp>
        <p:nvSpPr>
          <p:cNvPr id="16" name="矩形: 圆角 28">
            <a:extLst>
              <a:ext uri="{FF2B5EF4-FFF2-40B4-BE49-F238E27FC236}">
                <a16:creationId xmlns:a16="http://schemas.microsoft.com/office/drawing/2014/main" xmlns="" id="{CEC4877A-B91B-4A7E-AAA1-57F2AF2033C2}"/>
              </a:ext>
            </a:extLst>
          </p:cNvPr>
          <p:cNvSpPr/>
          <p:nvPr/>
        </p:nvSpPr>
        <p:spPr>
          <a:xfrm>
            <a:off x="1503998" y="1562195"/>
            <a:ext cx="2203910" cy="684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TextBox 7"/>
          <p:cNvSpPr txBox="1"/>
          <p:nvPr/>
        </p:nvSpPr>
        <p:spPr>
          <a:xfrm>
            <a:off x="1670122" y="1723256"/>
            <a:ext cx="1871662"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2000" dirty="0">
                <a:solidFill>
                  <a:schemeClr val="bg2">
                    <a:lumMod val="50000"/>
                  </a:schemeClr>
                </a:solidFill>
                <a:latin typeface="PingFang SC Light"/>
              </a:rPr>
              <a:t>客户群体的变化</a:t>
            </a:r>
            <a:endParaRPr kumimoji="0" lang="en-US" sz="2000" b="0" i="0" u="none" strike="noStrike" cap="none" spc="0" normalizeH="0" baseline="0" dirty="0">
              <a:ln>
                <a:noFill/>
              </a:ln>
              <a:solidFill>
                <a:schemeClr val="bg2">
                  <a:lumMod val="50000"/>
                </a:schemeClr>
              </a:solidFill>
              <a:effectLst/>
              <a:uFillTx/>
              <a:sym typeface="Arial Black"/>
            </a:endParaRPr>
          </a:p>
        </p:txBody>
      </p:sp>
      <p:sp>
        <p:nvSpPr>
          <p:cNvPr id="18" name="矩形: 圆角 28">
            <a:extLst>
              <a:ext uri="{FF2B5EF4-FFF2-40B4-BE49-F238E27FC236}">
                <a16:creationId xmlns:a16="http://schemas.microsoft.com/office/drawing/2014/main" xmlns="" id="{CEC4877A-B91B-4A7E-AAA1-57F2AF2033C2}"/>
              </a:ext>
            </a:extLst>
          </p:cNvPr>
          <p:cNvSpPr/>
          <p:nvPr/>
        </p:nvSpPr>
        <p:spPr>
          <a:xfrm>
            <a:off x="1499232" y="2729013"/>
            <a:ext cx="2203910" cy="684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9" name="TextBox 18"/>
          <p:cNvSpPr txBox="1"/>
          <p:nvPr/>
        </p:nvSpPr>
        <p:spPr>
          <a:xfrm>
            <a:off x="1665356" y="2890074"/>
            <a:ext cx="1871662"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2000" dirty="0">
                <a:solidFill>
                  <a:schemeClr val="bg2">
                    <a:lumMod val="50000"/>
                  </a:schemeClr>
                </a:solidFill>
                <a:latin typeface="PingFang SC Light"/>
              </a:rPr>
              <a:t>服务渠道的变化</a:t>
            </a:r>
            <a:endParaRPr kumimoji="0" lang="en-US" sz="2000" b="0" i="0" u="none" strike="noStrike" cap="none" spc="0" normalizeH="0" baseline="0" dirty="0">
              <a:ln>
                <a:noFill/>
              </a:ln>
              <a:solidFill>
                <a:schemeClr val="bg2">
                  <a:lumMod val="50000"/>
                </a:schemeClr>
              </a:solidFill>
              <a:effectLst/>
              <a:uFillTx/>
              <a:sym typeface="Arial Black"/>
            </a:endParaRPr>
          </a:p>
        </p:txBody>
      </p:sp>
      <p:sp>
        <p:nvSpPr>
          <p:cNvPr id="22" name="矩形: 圆角 28">
            <a:extLst>
              <a:ext uri="{FF2B5EF4-FFF2-40B4-BE49-F238E27FC236}">
                <a16:creationId xmlns:a16="http://schemas.microsoft.com/office/drawing/2014/main" xmlns="" id="{CEC4877A-B91B-4A7E-AAA1-57F2AF2033C2}"/>
              </a:ext>
            </a:extLst>
          </p:cNvPr>
          <p:cNvSpPr/>
          <p:nvPr/>
        </p:nvSpPr>
        <p:spPr>
          <a:xfrm>
            <a:off x="1508752" y="3910119"/>
            <a:ext cx="2203910" cy="684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3" name="TextBox 22"/>
          <p:cNvSpPr txBox="1"/>
          <p:nvPr/>
        </p:nvSpPr>
        <p:spPr>
          <a:xfrm>
            <a:off x="1674876" y="4071180"/>
            <a:ext cx="1871662"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2000" dirty="0">
                <a:solidFill>
                  <a:schemeClr val="bg2">
                    <a:lumMod val="50000"/>
                  </a:schemeClr>
                </a:solidFill>
                <a:latin typeface="PingFang SC Light"/>
              </a:rPr>
              <a:t>获客方式的变化</a:t>
            </a:r>
            <a:endParaRPr kumimoji="0" lang="en-US" sz="2000" b="0" i="0" u="none" strike="noStrike" cap="none" spc="0" normalizeH="0" baseline="0" dirty="0">
              <a:ln>
                <a:noFill/>
              </a:ln>
              <a:solidFill>
                <a:schemeClr val="bg2">
                  <a:lumMod val="50000"/>
                </a:schemeClr>
              </a:solidFill>
              <a:effectLst/>
              <a:uFillTx/>
              <a:sym typeface="Arial Black"/>
            </a:endParaRPr>
          </a:p>
        </p:txBody>
      </p:sp>
      <p:sp>
        <p:nvSpPr>
          <p:cNvPr id="24" name="矩形: 圆角 28">
            <a:extLst>
              <a:ext uri="{FF2B5EF4-FFF2-40B4-BE49-F238E27FC236}">
                <a16:creationId xmlns:a16="http://schemas.microsoft.com/office/drawing/2014/main" xmlns="" id="{CEC4877A-B91B-4A7E-AAA1-57F2AF2033C2}"/>
              </a:ext>
            </a:extLst>
          </p:cNvPr>
          <p:cNvSpPr/>
          <p:nvPr/>
        </p:nvSpPr>
        <p:spPr>
          <a:xfrm>
            <a:off x="1480179" y="5124559"/>
            <a:ext cx="2203910" cy="684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5" name="TextBox 24"/>
          <p:cNvSpPr txBox="1"/>
          <p:nvPr/>
        </p:nvSpPr>
        <p:spPr>
          <a:xfrm>
            <a:off x="1490760" y="5304561"/>
            <a:ext cx="2182747"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2000" dirty="0">
                <a:solidFill>
                  <a:schemeClr val="bg2">
                    <a:lumMod val="50000"/>
                  </a:schemeClr>
                </a:solidFill>
                <a:latin typeface="PingFang SC Light"/>
              </a:rPr>
              <a:t>直销银行逐渐增多</a:t>
            </a:r>
            <a:endParaRPr kumimoji="0" lang="en-US" sz="2000" b="0" i="0" u="none" strike="noStrike" cap="none" spc="0" normalizeH="0" baseline="0" dirty="0">
              <a:ln>
                <a:noFill/>
              </a:ln>
              <a:solidFill>
                <a:schemeClr val="bg2">
                  <a:lumMod val="50000"/>
                </a:schemeClr>
              </a:solidFill>
              <a:effectLst/>
              <a:uFillTx/>
              <a:sym typeface="Arial Black"/>
            </a:endParaRPr>
          </a:p>
        </p:txBody>
      </p:sp>
      <p:sp>
        <p:nvSpPr>
          <p:cNvPr id="9" name="Rectangle 8"/>
          <p:cNvSpPr/>
          <p:nvPr/>
        </p:nvSpPr>
        <p:spPr>
          <a:xfrm>
            <a:off x="4105275" y="1500943"/>
            <a:ext cx="6819398" cy="830997"/>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在互联网中成长的</a:t>
            </a:r>
            <a:r>
              <a:rPr lang="en-US" altLang="zh-CN" sz="2000" dirty="0">
                <a:solidFill>
                  <a:schemeClr val="bg2">
                    <a:lumMod val="50000"/>
                  </a:schemeClr>
                </a:solidFill>
                <a:latin typeface="PingFang SC Light"/>
              </a:rPr>
              <a:t>80</a:t>
            </a:r>
            <a:r>
              <a:rPr lang="zh-CN" altLang="en-US" sz="2000" dirty="0">
                <a:solidFill>
                  <a:schemeClr val="bg2">
                    <a:lumMod val="50000"/>
                  </a:schemeClr>
                </a:solidFill>
                <a:latin typeface="PingFang SC Light"/>
              </a:rPr>
              <a:t>后，</a:t>
            </a:r>
            <a:r>
              <a:rPr lang="en-US" altLang="zh-CN" sz="2000" dirty="0">
                <a:solidFill>
                  <a:schemeClr val="bg2">
                    <a:lumMod val="50000"/>
                  </a:schemeClr>
                </a:solidFill>
                <a:latin typeface="PingFang SC Light"/>
              </a:rPr>
              <a:t>90</a:t>
            </a:r>
            <a:r>
              <a:rPr lang="zh-CN" altLang="en-US" sz="2000" dirty="0">
                <a:solidFill>
                  <a:schemeClr val="bg2">
                    <a:lumMod val="50000"/>
                  </a:schemeClr>
                </a:solidFill>
                <a:latin typeface="PingFang SC Light"/>
              </a:rPr>
              <a:t>后，</a:t>
            </a:r>
            <a:r>
              <a:rPr lang="en-US" altLang="zh-CN" sz="2000" dirty="0">
                <a:solidFill>
                  <a:schemeClr val="bg2">
                    <a:lumMod val="50000"/>
                  </a:schemeClr>
                </a:solidFill>
                <a:latin typeface="PingFang SC Light"/>
              </a:rPr>
              <a:t>00</a:t>
            </a:r>
            <a:r>
              <a:rPr lang="zh-CN" altLang="en-US" sz="2000" dirty="0">
                <a:solidFill>
                  <a:schemeClr val="bg2">
                    <a:lumMod val="50000"/>
                  </a:schemeClr>
                </a:solidFill>
                <a:latin typeface="PingFang SC Light"/>
              </a:rPr>
              <a:t>后日益成为社会主体和商业银行的客户主体。</a:t>
            </a:r>
            <a:endParaRPr lang="en-US" altLang="zh-CN" sz="2000" dirty="0">
              <a:solidFill>
                <a:schemeClr val="bg2">
                  <a:lumMod val="50000"/>
                </a:schemeClr>
              </a:solidFill>
              <a:latin typeface="PingFang SC Light"/>
            </a:endParaRPr>
          </a:p>
        </p:txBody>
      </p:sp>
      <p:sp>
        <p:nvSpPr>
          <p:cNvPr id="10" name="Rectangle 9"/>
          <p:cNvSpPr/>
          <p:nvPr/>
        </p:nvSpPr>
        <p:spPr>
          <a:xfrm>
            <a:off x="4105275" y="2696742"/>
            <a:ext cx="6819398" cy="830997"/>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传统商业银行以线下渠道，物理网点的金融服务不再轻松奏效。金融服务从线下到线上迁移。</a:t>
            </a:r>
            <a:endParaRPr lang="en-US" altLang="zh-CN" sz="2000" dirty="0">
              <a:solidFill>
                <a:schemeClr val="bg2">
                  <a:lumMod val="50000"/>
                </a:schemeClr>
              </a:solidFill>
              <a:latin typeface="PingFang SC Light"/>
            </a:endParaRPr>
          </a:p>
        </p:txBody>
      </p:sp>
      <p:sp>
        <p:nvSpPr>
          <p:cNvPr id="27" name="Rectangle 26"/>
          <p:cNvSpPr/>
          <p:nvPr/>
        </p:nvSpPr>
        <p:spPr>
          <a:xfrm>
            <a:off x="4105274" y="3917035"/>
            <a:ext cx="6819399" cy="830997"/>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用户流量的聚集地转移到互联网。金融产品和服务触达新客户的方式推陈出新。</a:t>
            </a:r>
            <a:endParaRPr lang="en-US" altLang="zh-CN" sz="2000" dirty="0">
              <a:solidFill>
                <a:schemeClr val="bg2">
                  <a:lumMod val="50000"/>
                </a:schemeClr>
              </a:solidFill>
              <a:latin typeface="PingFang SC Light"/>
            </a:endParaRPr>
          </a:p>
        </p:txBody>
      </p:sp>
    </p:spTree>
    <p:extLst>
      <p:ext uri="{BB962C8B-B14F-4D97-AF65-F5344CB8AC3E}">
        <p14:creationId xmlns:p14="http://schemas.microsoft.com/office/powerpoint/2010/main" val="1730345345"/>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278168" y="654719"/>
            <a:ext cx="4927230"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金融＋科技的化学反应将引领</a:t>
            </a:r>
            <a:r>
              <a:rPr lang="zh-CN" altLang="en-US" sz="2000"/>
              <a:t>银行业务发展</a:t>
            </a:r>
            <a:endParaRPr sz="2000" dirty="0"/>
          </a:p>
        </p:txBody>
      </p:sp>
      <p:sp>
        <p:nvSpPr>
          <p:cNvPr id="5" name="矩形 4">
            <a:extLst>
              <a:ext uri="{FF2B5EF4-FFF2-40B4-BE49-F238E27FC236}">
                <a16:creationId xmlns:a16="http://schemas.microsoft.com/office/drawing/2014/main" xmlns="" id="{323FC963-E79D-4A10-8A0E-47984C22E207}"/>
              </a:ext>
            </a:extLst>
          </p:cNvPr>
          <p:cNvSpPr/>
          <p:nvPr/>
        </p:nvSpPr>
        <p:spPr>
          <a:xfrm>
            <a:off x="2637423" y="4027203"/>
            <a:ext cx="1058778" cy="269545"/>
          </a:xfrm>
          <a:prstGeom prst="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mn-lt"/>
                <a:ea typeface="+mn-ea"/>
                <a:cs typeface="+mn-cs"/>
                <a:sym typeface="Helvetica Neue Medium"/>
              </a:rPr>
              <a:t>获客营销</a:t>
            </a:r>
          </a:p>
        </p:txBody>
      </p:sp>
      <p:sp>
        <p:nvSpPr>
          <p:cNvPr id="12" name="矩形 11">
            <a:extLst>
              <a:ext uri="{FF2B5EF4-FFF2-40B4-BE49-F238E27FC236}">
                <a16:creationId xmlns:a16="http://schemas.microsoft.com/office/drawing/2014/main" xmlns="" id="{03F2ACAB-5638-4730-AF9E-CD9D4062DE42}"/>
              </a:ext>
            </a:extLst>
          </p:cNvPr>
          <p:cNvSpPr/>
          <p:nvPr/>
        </p:nvSpPr>
        <p:spPr>
          <a:xfrm>
            <a:off x="5034049" y="4022894"/>
            <a:ext cx="1058778" cy="269545"/>
          </a:xfrm>
          <a:prstGeom prst="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mn-lt"/>
                <a:ea typeface="+mn-ea"/>
                <a:cs typeface="+mn-cs"/>
                <a:sym typeface="Helvetica Neue Medium"/>
              </a:rPr>
              <a:t>产品服务</a:t>
            </a:r>
          </a:p>
        </p:txBody>
      </p:sp>
      <p:sp>
        <p:nvSpPr>
          <p:cNvPr id="13" name="矩形 12">
            <a:extLst>
              <a:ext uri="{FF2B5EF4-FFF2-40B4-BE49-F238E27FC236}">
                <a16:creationId xmlns:a16="http://schemas.microsoft.com/office/drawing/2014/main" xmlns="" id="{BEBB9814-4D6D-46CD-BC89-81C1B0940178}"/>
              </a:ext>
            </a:extLst>
          </p:cNvPr>
          <p:cNvSpPr/>
          <p:nvPr/>
        </p:nvSpPr>
        <p:spPr>
          <a:xfrm>
            <a:off x="7430675" y="4029083"/>
            <a:ext cx="1058778" cy="269545"/>
          </a:xfrm>
          <a:prstGeom prst="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mn-lt"/>
                <a:ea typeface="+mn-ea"/>
                <a:cs typeface="+mn-cs"/>
                <a:sym typeface="Helvetica Neue Medium"/>
              </a:rPr>
              <a:t>运营管理</a:t>
            </a:r>
          </a:p>
        </p:txBody>
      </p:sp>
      <p:sp>
        <p:nvSpPr>
          <p:cNvPr id="6" name="矩形: 圆角 5">
            <a:extLst>
              <a:ext uri="{FF2B5EF4-FFF2-40B4-BE49-F238E27FC236}">
                <a16:creationId xmlns:a16="http://schemas.microsoft.com/office/drawing/2014/main" xmlns="" id="{5ECF4DF9-D4A2-4FB5-956F-BD8D13742BEA}"/>
              </a:ext>
            </a:extLst>
          </p:cNvPr>
          <p:cNvSpPr/>
          <p:nvPr/>
        </p:nvSpPr>
        <p:spPr>
          <a:xfrm>
            <a:off x="7072949" y="4523464"/>
            <a:ext cx="1812992" cy="18288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 name="文本框 7">
            <a:extLst>
              <a:ext uri="{FF2B5EF4-FFF2-40B4-BE49-F238E27FC236}">
                <a16:creationId xmlns:a16="http://schemas.microsoft.com/office/drawing/2014/main" xmlns="" id="{03FB0B60-3504-430E-942A-F748F2AC105F}"/>
              </a:ext>
            </a:extLst>
          </p:cNvPr>
          <p:cNvSpPr txBox="1"/>
          <p:nvPr/>
        </p:nvSpPr>
        <p:spPr>
          <a:xfrm>
            <a:off x="7179896" y="4745462"/>
            <a:ext cx="1604445" cy="134676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285750" marR="0" indent="-285750" algn="l" defTabSz="410765" rtl="0" fontAlgn="auto" latinLnBrk="0" hangingPunct="0">
              <a:lnSpc>
                <a:spcPct val="100000"/>
              </a:lnSpc>
              <a:spcBef>
                <a:spcPts val="0"/>
              </a:spcBef>
              <a:spcAft>
                <a:spcPts val="0"/>
              </a:spcAft>
              <a:buClrTx/>
              <a:buSzTx/>
              <a:buFont typeface="Wingdings" charset="2"/>
              <a:buChar char="§"/>
              <a:tabLst/>
            </a:pPr>
            <a:r>
              <a:rPr kumimoji="0" lang="zh-CN" altLang="en-US" sz="1400" b="0" i="0" u="none" strike="noStrike" cap="none" spc="0" normalizeH="0" baseline="0" dirty="0">
                <a:ln>
                  <a:noFill/>
                </a:ln>
                <a:solidFill>
                  <a:schemeClr val="bg2"/>
                </a:solidFill>
                <a:effectLst/>
                <a:uFillTx/>
                <a:sym typeface="Arial Black"/>
              </a:rPr>
              <a:t>运营网点成本</a:t>
            </a:r>
            <a:r>
              <a:rPr kumimoji="0" lang="zh-CN" altLang="en-US" sz="1400" b="0" i="0" u="none" strike="noStrike" cap="none" spc="0" normalizeH="0" baseline="0" dirty="0" smtClean="0">
                <a:ln>
                  <a:noFill/>
                </a:ln>
                <a:solidFill>
                  <a:schemeClr val="bg2"/>
                </a:solidFill>
                <a:effectLst/>
                <a:uFillTx/>
                <a:sym typeface="Arial Black"/>
              </a:rPr>
              <a:t>高</a:t>
            </a:r>
            <a:endParaRPr kumimoji="0" lang="en-US" altLang="zh-CN" sz="1400" b="0" i="0" u="none" strike="noStrike" cap="none" spc="0" normalizeH="0" baseline="0" dirty="0">
              <a:ln>
                <a:noFill/>
              </a:ln>
              <a:solidFill>
                <a:schemeClr val="bg2"/>
              </a:solidFill>
              <a:effectLst/>
              <a:uFillTx/>
              <a:sym typeface="Arial Black"/>
            </a:endParaRPr>
          </a:p>
          <a:p>
            <a:pPr marL="285750" marR="0" indent="-285750" algn="l" defTabSz="410765" rtl="0" fontAlgn="auto" latinLnBrk="0" hangingPunct="0">
              <a:lnSpc>
                <a:spcPct val="100000"/>
              </a:lnSpc>
              <a:spcBef>
                <a:spcPts val="0"/>
              </a:spcBef>
              <a:spcAft>
                <a:spcPts val="0"/>
              </a:spcAft>
              <a:buClrTx/>
              <a:buSzTx/>
              <a:buFont typeface="Wingdings" charset="2"/>
              <a:buChar char="§"/>
              <a:tabLst/>
            </a:pPr>
            <a:r>
              <a:rPr kumimoji="0" lang="zh-CN" altLang="en-US" sz="1400" b="0" i="0" u="none" strike="noStrike" cap="none" spc="0" normalizeH="0" baseline="0" dirty="0" smtClean="0">
                <a:ln>
                  <a:noFill/>
                </a:ln>
                <a:solidFill>
                  <a:schemeClr val="bg2"/>
                </a:solidFill>
                <a:effectLst/>
                <a:uFillTx/>
                <a:sym typeface="Arial Black"/>
              </a:rPr>
              <a:t>信贷</a:t>
            </a:r>
            <a:r>
              <a:rPr kumimoji="0" lang="zh-CN" altLang="en-US" sz="1400" b="0" i="0" u="none" strike="noStrike" cap="none" spc="0" normalizeH="0" baseline="0" dirty="0">
                <a:ln>
                  <a:noFill/>
                </a:ln>
                <a:solidFill>
                  <a:schemeClr val="bg2"/>
                </a:solidFill>
                <a:effectLst/>
                <a:uFillTx/>
                <a:sym typeface="Arial Black"/>
              </a:rPr>
              <a:t>业务流程繁琐</a:t>
            </a:r>
            <a:r>
              <a:rPr kumimoji="0" lang="zh-CN" altLang="en-US" sz="1400" b="0" i="0" u="none" strike="noStrike" cap="none" spc="0" normalizeH="0" baseline="0" dirty="0" smtClean="0">
                <a:ln>
                  <a:noFill/>
                </a:ln>
                <a:solidFill>
                  <a:schemeClr val="bg2"/>
                </a:solidFill>
                <a:effectLst/>
                <a:uFillTx/>
                <a:sym typeface="Arial Black"/>
              </a:rPr>
              <a:t>耗时</a:t>
            </a:r>
            <a:endParaRPr kumimoji="0" lang="en-US" altLang="zh-CN" sz="1400" b="0" i="0" u="none" strike="noStrike" cap="none" spc="0" normalizeH="0" baseline="0" dirty="0" smtClean="0">
              <a:ln>
                <a:noFill/>
              </a:ln>
              <a:solidFill>
                <a:schemeClr val="bg2"/>
              </a:solidFill>
              <a:effectLst/>
              <a:uFillTx/>
              <a:sym typeface="Arial Black"/>
            </a:endParaRPr>
          </a:p>
          <a:p>
            <a:pPr marL="285750" marR="0" indent="-285750" algn="l" defTabSz="410765" rtl="0" fontAlgn="auto" latinLnBrk="0" hangingPunct="0">
              <a:lnSpc>
                <a:spcPct val="100000"/>
              </a:lnSpc>
              <a:spcBef>
                <a:spcPts val="0"/>
              </a:spcBef>
              <a:spcAft>
                <a:spcPts val="0"/>
              </a:spcAft>
              <a:buClrTx/>
              <a:buSzTx/>
              <a:buFont typeface="Wingdings" charset="2"/>
              <a:buChar char="§"/>
              <a:tabLst/>
            </a:pPr>
            <a:r>
              <a:rPr lang="zh-CN" altLang="en-US" sz="1400" dirty="0" smtClean="0">
                <a:solidFill>
                  <a:schemeClr val="bg2"/>
                </a:solidFill>
              </a:rPr>
              <a:t>庞大授信群导致传统风控手段乏力</a:t>
            </a:r>
            <a:endParaRPr kumimoji="0" lang="zh-CN" altLang="en-US" sz="1400" b="0" i="0" u="none" strike="noStrike" cap="none" spc="0" normalizeH="0" baseline="0" dirty="0">
              <a:ln>
                <a:noFill/>
              </a:ln>
              <a:solidFill>
                <a:schemeClr val="bg2"/>
              </a:solidFill>
              <a:effectLst/>
              <a:uFillTx/>
              <a:sym typeface="Arial Black"/>
            </a:endParaRPr>
          </a:p>
        </p:txBody>
      </p:sp>
      <p:sp>
        <p:nvSpPr>
          <p:cNvPr id="17" name="矩形: 圆角 16">
            <a:extLst>
              <a:ext uri="{FF2B5EF4-FFF2-40B4-BE49-F238E27FC236}">
                <a16:creationId xmlns:a16="http://schemas.microsoft.com/office/drawing/2014/main" xmlns="" id="{681C2937-62B7-46B6-8AB3-F131D3715FA6}"/>
              </a:ext>
            </a:extLst>
          </p:cNvPr>
          <p:cNvSpPr/>
          <p:nvPr/>
        </p:nvSpPr>
        <p:spPr>
          <a:xfrm>
            <a:off x="4610372" y="4523464"/>
            <a:ext cx="1904728" cy="18288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9" name="文本框 18">
            <a:extLst>
              <a:ext uri="{FF2B5EF4-FFF2-40B4-BE49-F238E27FC236}">
                <a16:creationId xmlns:a16="http://schemas.microsoft.com/office/drawing/2014/main" xmlns="" id="{4E44B15A-81C1-4E92-8B81-AA17266843A5}"/>
              </a:ext>
            </a:extLst>
          </p:cNvPr>
          <p:cNvSpPr txBox="1"/>
          <p:nvPr/>
        </p:nvSpPr>
        <p:spPr>
          <a:xfrm>
            <a:off x="4714645" y="4768210"/>
            <a:ext cx="1604445" cy="113131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285750" indent="-285750" algn="l">
              <a:buFont typeface="Wingdings" charset="2"/>
              <a:buChar char="§"/>
            </a:pPr>
            <a:r>
              <a:rPr lang="zh-CN" altLang="en-US" sz="1400" dirty="0" smtClean="0">
                <a:solidFill>
                  <a:schemeClr val="bg2"/>
                </a:solidFill>
              </a:rPr>
              <a:t>信贷，财富管理服务</a:t>
            </a:r>
            <a:r>
              <a:rPr lang="zh-CN" altLang="en-US" sz="1400" dirty="0">
                <a:solidFill>
                  <a:schemeClr val="bg2"/>
                </a:solidFill>
              </a:rPr>
              <a:t>成本</a:t>
            </a:r>
            <a:r>
              <a:rPr lang="zh-CN" altLang="en-US" sz="1400" dirty="0" smtClean="0">
                <a:solidFill>
                  <a:schemeClr val="bg2"/>
                </a:solidFill>
              </a:rPr>
              <a:t>高</a:t>
            </a:r>
            <a:endParaRPr lang="en-US" altLang="zh-CN" sz="1400" dirty="0" smtClean="0">
              <a:solidFill>
                <a:schemeClr val="bg2"/>
              </a:solidFill>
            </a:endParaRPr>
          </a:p>
          <a:p>
            <a:pPr marL="285750" indent="-285750" algn="l">
              <a:buFont typeface="Wingdings" charset="2"/>
              <a:buChar char="§"/>
            </a:pPr>
            <a:r>
              <a:rPr lang="zh-CN" altLang="en-US" sz="1400" dirty="0" smtClean="0">
                <a:solidFill>
                  <a:schemeClr val="bg2"/>
                </a:solidFill>
              </a:rPr>
              <a:t>传统经营方式难以实现小额高频的普惠化服务</a:t>
            </a:r>
            <a:endParaRPr lang="en-US" altLang="zh-CN" sz="1400" dirty="0" smtClean="0">
              <a:solidFill>
                <a:schemeClr val="bg2"/>
              </a:solidFill>
            </a:endParaRPr>
          </a:p>
        </p:txBody>
      </p:sp>
      <p:sp>
        <p:nvSpPr>
          <p:cNvPr id="20" name="矩形: 圆角 19">
            <a:extLst>
              <a:ext uri="{FF2B5EF4-FFF2-40B4-BE49-F238E27FC236}">
                <a16:creationId xmlns:a16="http://schemas.microsoft.com/office/drawing/2014/main" xmlns="" id="{56DC774B-D265-4F54-97DD-F1F9D6E603D1}"/>
              </a:ext>
            </a:extLst>
          </p:cNvPr>
          <p:cNvSpPr/>
          <p:nvPr/>
        </p:nvSpPr>
        <p:spPr>
          <a:xfrm>
            <a:off x="2156043" y="4523464"/>
            <a:ext cx="1812992" cy="18288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1" name="文本框 20">
            <a:extLst>
              <a:ext uri="{FF2B5EF4-FFF2-40B4-BE49-F238E27FC236}">
                <a16:creationId xmlns:a16="http://schemas.microsoft.com/office/drawing/2014/main" xmlns="" id="{BA6A8849-E0DE-4F5A-8C3D-ED207F675C5D}"/>
              </a:ext>
            </a:extLst>
          </p:cNvPr>
          <p:cNvSpPr txBox="1"/>
          <p:nvPr/>
        </p:nvSpPr>
        <p:spPr>
          <a:xfrm>
            <a:off x="2316576" y="4805853"/>
            <a:ext cx="1700471" cy="70043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285750" marR="0" indent="-285750" algn="l" defTabSz="410765" rtl="0" fontAlgn="auto" latinLnBrk="0" hangingPunct="0">
              <a:lnSpc>
                <a:spcPct val="100000"/>
              </a:lnSpc>
              <a:spcBef>
                <a:spcPts val="0"/>
              </a:spcBef>
              <a:spcAft>
                <a:spcPts val="0"/>
              </a:spcAft>
              <a:buClrTx/>
              <a:buSzTx/>
              <a:buFont typeface="Wingdings" charset="2"/>
              <a:buChar char="§"/>
              <a:tabLst/>
            </a:pPr>
            <a:r>
              <a:rPr lang="zh-CN" altLang="en-US" sz="1400" dirty="0" smtClean="0">
                <a:solidFill>
                  <a:schemeClr val="bg2"/>
                </a:solidFill>
              </a:rPr>
              <a:t>获客渠道低效</a:t>
            </a:r>
            <a:endParaRPr lang="en-US" altLang="zh-CN" sz="1400" dirty="0" smtClean="0">
              <a:solidFill>
                <a:schemeClr val="bg2"/>
              </a:solidFill>
            </a:endParaRPr>
          </a:p>
          <a:p>
            <a:pPr marL="285750" marR="0" indent="-285750" algn="l" defTabSz="410765" rtl="0" fontAlgn="auto" latinLnBrk="0" hangingPunct="0">
              <a:lnSpc>
                <a:spcPct val="100000"/>
              </a:lnSpc>
              <a:spcBef>
                <a:spcPts val="0"/>
              </a:spcBef>
              <a:spcAft>
                <a:spcPts val="0"/>
              </a:spcAft>
              <a:buClrTx/>
              <a:buSzTx/>
              <a:buFont typeface="Wingdings" charset="2"/>
              <a:buChar char="§"/>
              <a:tabLst/>
            </a:pPr>
            <a:r>
              <a:rPr lang="zh-CN" altLang="en-US" sz="1400" dirty="0" smtClean="0">
                <a:solidFill>
                  <a:schemeClr val="bg2"/>
                </a:solidFill>
              </a:rPr>
              <a:t>营销精准度低</a:t>
            </a:r>
            <a:endParaRPr lang="en-US" altLang="zh-CN" sz="1400" dirty="0">
              <a:solidFill>
                <a:schemeClr val="bg2"/>
              </a:solidFill>
            </a:endParaRPr>
          </a:p>
          <a:p>
            <a:pPr marL="285750" marR="0" indent="-285750" algn="l" defTabSz="410765" rtl="0" fontAlgn="auto" latinLnBrk="0" hangingPunct="0">
              <a:lnSpc>
                <a:spcPct val="100000"/>
              </a:lnSpc>
              <a:spcBef>
                <a:spcPts val="0"/>
              </a:spcBef>
              <a:spcAft>
                <a:spcPts val="0"/>
              </a:spcAft>
              <a:buClrTx/>
              <a:buSzTx/>
              <a:buFont typeface="Wingdings" charset="2"/>
              <a:buChar char="§"/>
              <a:tabLst/>
            </a:pPr>
            <a:r>
              <a:rPr kumimoji="0" lang="zh-CN" altLang="en-US" sz="1400" b="0" i="0" u="none" strike="noStrike" cap="none" spc="0" normalizeH="0" baseline="0" dirty="0" smtClean="0">
                <a:ln>
                  <a:noFill/>
                </a:ln>
                <a:solidFill>
                  <a:schemeClr val="bg2"/>
                </a:solidFill>
                <a:effectLst/>
                <a:uFillTx/>
                <a:sym typeface="Arial Black"/>
              </a:rPr>
              <a:t>营销成本高</a:t>
            </a:r>
            <a:endParaRPr kumimoji="0" lang="en-US" altLang="zh-CN" sz="1400" b="0" i="0" u="none" strike="noStrike" cap="none" spc="0" normalizeH="0" baseline="0" dirty="0">
              <a:ln>
                <a:noFill/>
              </a:ln>
              <a:solidFill>
                <a:schemeClr val="bg2"/>
              </a:solidFill>
              <a:effectLst/>
              <a:uFillTx/>
              <a:sym typeface="Arial Black"/>
            </a:endParaRPr>
          </a:p>
        </p:txBody>
      </p:sp>
      <p:sp>
        <p:nvSpPr>
          <p:cNvPr id="22" name="Rectangle 21"/>
          <p:cNvSpPr/>
          <p:nvPr/>
        </p:nvSpPr>
        <p:spPr>
          <a:xfrm>
            <a:off x="1301320" y="1414362"/>
            <a:ext cx="9614330" cy="2308324"/>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银行的业务主要集中在消费金融，财富管理，融资服务，银行运营等领域。</a:t>
            </a:r>
            <a:endParaRPr lang="en-US" altLang="zh-CN" sz="2000" dirty="0">
              <a:solidFill>
                <a:schemeClr val="bg2">
                  <a:lumMod val="50000"/>
                </a:schemeClr>
              </a:solidFill>
              <a:latin typeface="PingFang SC Light"/>
            </a:endParaRPr>
          </a:p>
          <a:p>
            <a:pPr marL="171450" indent="-171450" algn="l">
              <a:lnSpc>
                <a:spcPct val="120000"/>
              </a:lnSpc>
              <a:buFont typeface="Arial" panose="020B0604020202020204" pitchFamily="34" charset="0"/>
              <a:buChar char="•"/>
            </a:pPr>
            <a:endParaRPr lang="en-US" altLang="zh-CN" sz="2000" dirty="0">
              <a:solidFill>
                <a:schemeClr val="bg2">
                  <a:lumMod val="50000"/>
                </a:schemeClr>
              </a:solidFill>
              <a:latin typeface="PingFang SC Light"/>
            </a:endParaRPr>
          </a:p>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金融领域的用户画像，是金融服务个性化的核心，也是银行数据价值变现的基础。</a:t>
            </a:r>
            <a:endParaRPr lang="en-US" altLang="zh-CN" sz="2000" dirty="0">
              <a:solidFill>
                <a:schemeClr val="bg2">
                  <a:lumMod val="50000"/>
                </a:schemeClr>
              </a:solidFill>
              <a:latin typeface="PingFang SC Light"/>
            </a:endParaRPr>
          </a:p>
          <a:p>
            <a:pPr marL="171450" indent="-171450" algn="l">
              <a:lnSpc>
                <a:spcPct val="120000"/>
              </a:lnSpc>
              <a:buFont typeface="Arial" panose="020B0604020202020204" pitchFamily="34" charset="0"/>
              <a:buChar char="•"/>
            </a:pPr>
            <a:endParaRPr lang="en-US" altLang="zh-CN" sz="2000" dirty="0">
              <a:solidFill>
                <a:schemeClr val="bg2">
                  <a:lumMod val="50000"/>
                </a:schemeClr>
              </a:solidFill>
              <a:latin typeface="PingFang SC Light"/>
            </a:endParaRPr>
          </a:p>
          <a:p>
            <a:pPr marL="171450" indent="-171450" algn="l">
              <a:lnSpc>
                <a:spcPct val="120000"/>
              </a:lnSpc>
              <a:buFont typeface="Arial" panose="020B0604020202020204" pitchFamily="34" charset="0"/>
              <a:buChar char="•"/>
            </a:pPr>
            <a:r>
              <a:rPr lang="zh-CN" altLang="en-US" sz="2000" dirty="0">
                <a:solidFill>
                  <a:schemeClr val="bg2">
                    <a:lumMod val="50000"/>
                  </a:schemeClr>
                </a:solidFill>
                <a:latin typeface="PingFang SC Light"/>
              </a:rPr>
              <a:t>用户画像从业务需求出发，从强相关数据出发，从应用场景出发，解决在获客营销，产品服务，运营管理等业务上的痛点，实现价值变现。</a:t>
            </a:r>
            <a:endParaRPr lang="en-US" altLang="zh-CN" sz="2000" dirty="0">
              <a:solidFill>
                <a:schemeClr val="bg2">
                  <a:lumMod val="50000"/>
                </a:schemeClr>
              </a:solidFill>
              <a:latin typeface="PingFang SC Light"/>
            </a:endParaRPr>
          </a:p>
        </p:txBody>
      </p:sp>
    </p:spTree>
    <p:extLst>
      <p:ext uri="{BB962C8B-B14F-4D97-AF65-F5344CB8AC3E}">
        <p14:creationId xmlns:p14="http://schemas.microsoft.com/office/powerpoint/2010/main" val="1533104803"/>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297278" y="483940"/>
            <a:ext cx="7748515"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多维用户画像体系是</a:t>
            </a:r>
            <a:r>
              <a:rPr lang="zh-CN" altLang="en-US" sz="2000" dirty="0" smtClean="0"/>
              <a:t>个性化服务的</a:t>
            </a:r>
            <a:r>
              <a:rPr lang="zh-CN" altLang="en-US" sz="2000" dirty="0"/>
              <a:t>核心</a:t>
            </a:r>
            <a:r>
              <a:rPr lang="zh-CN" altLang="en-US" sz="2000" dirty="0" smtClean="0"/>
              <a:t>，是</a:t>
            </a:r>
            <a:r>
              <a:rPr lang="zh-CN" altLang="en-US" sz="2000" dirty="0"/>
              <a:t>银行数据价值变现的基础</a:t>
            </a:r>
            <a:endParaRPr sz="2000" dirty="0"/>
          </a:p>
        </p:txBody>
      </p:sp>
      <p:sp>
        <p:nvSpPr>
          <p:cNvPr id="14" name="矩形: 圆角 2">
            <a:extLst>
              <a:ext uri="{FF2B5EF4-FFF2-40B4-BE49-F238E27FC236}">
                <a16:creationId xmlns:a16="http://schemas.microsoft.com/office/drawing/2014/main" xmlns="" id="{1A3B1DEF-CC13-46F1-A6AF-FDAD267BB7D3}"/>
              </a:ext>
            </a:extLst>
          </p:cNvPr>
          <p:cNvSpPr/>
          <p:nvPr/>
        </p:nvSpPr>
        <p:spPr>
          <a:xfrm>
            <a:off x="1587501" y="3052349"/>
            <a:ext cx="2179285" cy="2886131"/>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15" name="组合 28">
            <a:extLst>
              <a:ext uri="{FF2B5EF4-FFF2-40B4-BE49-F238E27FC236}">
                <a16:creationId xmlns:a16="http://schemas.microsoft.com/office/drawing/2014/main" xmlns="" id="{E0049AAC-93F7-405A-BB65-F3B59F5E5CE4}"/>
              </a:ext>
            </a:extLst>
          </p:cNvPr>
          <p:cNvGrpSpPr/>
          <p:nvPr/>
        </p:nvGrpSpPr>
        <p:grpSpPr>
          <a:xfrm>
            <a:off x="1524000" y="1325141"/>
            <a:ext cx="9587512" cy="5369466"/>
            <a:chOff x="1577132" y="1784254"/>
            <a:chExt cx="9286812" cy="3456000"/>
          </a:xfrm>
        </p:grpSpPr>
        <p:cxnSp>
          <p:nvCxnSpPr>
            <p:cNvPr id="24" name="直接箭头连接符 3">
              <a:extLst>
                <a:ext uri="{FF2B5EF4-FFF2-40B4-BE49-F238E27FC236}">
                  <a16:creationId xmlns:a16="http://schemas.microsoft.com/office/drawing/2014/main" xmlns="" id="{8489FFB7-4277-47ED-9774-540977D035FA}"/>
                </a:ext>
              </a:extLst>
            </p:cNvPr>
            <p:cNvCxnSpPr>
              <a:cxnSpLocks/>
            </p:cNvCxnSpPr>
            <p:nvPr/>
          </p:nvCxnSpPr>
          <p:spPr>
            <a:xfrm>
              <a:off x="3869908" y="2249013"/>
              <a:ext cx="4489220" cy="8385"/>
            </a:xfrm>
            <a:prstGeom prst="straightConnector1">
              <a:avLst/>
            </a:prstGeom>
            <a:noFill/>
            <a:ln w="3175" cap="flat">
              <a:solidFill>
                <a:srgbClr val="D4A344"/>
              </a:solidFill>
              <a:prstDash val="solid"/>
              <a:miter lim="400000"/>
              <a:headEnd type="none"/>
              <a:tailEnd type="none"/>
            </a:ln>
            <a:effectLst/>
            <a:sp3d/>
          </p:spPr>
          <p:style>
            <a:lnRef idx="0">
              <a:scrgbClr r="0" g="0" b="0"/>
            </a:lnRef>
            <a:fillRef idx="0">
              <a:scrgbClr r="0" g="0" b="0"/>
            </a:fillRef>
            <a:effectRef idx="0">
              <a:scrgbClr r="0" g="0" b="0"/>
            </a:effectRef>
            <a:fontRef idx="none"/>
          </p:style>
        </p:cxnSp>
        <p:sp>
          <p:nvSpPr>
            <p:cNvPr id="25" name="矩形 4">
              <a:extLst>
                <a:ext uri="{FF2B5EF4-FFF2-40B4-BE49-F238E27FC236}">
                  <a16:creationId xmlns:a16="http://schemas.microsoft.com/office/drawing/2014/main" xmlns="" id="{29CB0145-0835-48F8-94D1-F42394D63B22}"/>
                </a:ext>
              </a:extLst>
            </p:cNvPr>
            <p:cNvSpPr/>
            <p:nvPr/>
          </p:nvSpPr>
          <p:spPr>
            <a:xfrm>
              <a:off x="2803115" y="2406613"/>
              <a:ext cx="2133588" cy="173490"/>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smtClean="0">
                  <a:ln>
                    <a:noFill/>
                  </a:ln>
                  <a:solidFill>
                    <a:srgbClr val="FFFFFF"/>
                  </a:solidFill>
                  <a:effectLst/>
                  <a:uFillTx/>
                  <a:latin typeface="+mn-lt"/>
                  <a:ea typeface="+mn-ea"/>
                  <a:cs typeface="+mn-cs"/>
                  <a:sym typeface="Helvetica Neue Medium"/>
                </a:rPr>
                <a:t>静态数据</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26" name="矩形 54">
              <a:extLst>
                <a:ext uri="{FF2B5EF4-FFF2-40B4-BE49-F238E27FC236}">
                  <a16:creationId xmlns:a16="http://schemas.microsoft.com/office/drawing/2014/main" xmlns="" id="{EE6FCE5C-E815-4AB7-B458-880B945BA009}"/>
                </a:ext>
              </a:extLst>
            </p:cNvPr>
            <p:cNvSpPr/>
            <p:nvPr/>
          </p:nvSpPr>
          <p:spPr>
            <a:xfrm>
              <a:off x="5063909" y="1907485"/>
              <a:ext cx="2133588" cy="173490"/>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smtClean="0">
                  <a:latin typeface="+mn-lt"/>
                  <a:ea typeface="+mn-ea"/>
                  <a:cs typeface="+mn-cs"/>
                  <a:sym typeface="Helvetica Neue Medium"/>
                </a:rPr>
                <a:t>用户画像</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27" name="矩形 55">
              <a:extLst>
                <a:ext uri="{FF2B5EF4-FFF2-40B4-BE49-F238E27FC236}">
                  <a16:creationId xmlns:a16="http://schemas.microsoft.com/office/drawing/2014/main" xmlns="" id="{C4C652AA-3F9B-4D59-99DC-5986859EE368}"/>
                </a:ext>
              </a:extLst>
            </p:cNvPr>
            <p:cNvSpPr/>
            <p:nvPr/>
          </p:nvSpPr>
          <p:spPr>
            <a:xfrm>
              <a:off x="7292335" y="2406416"/>
              <a:ext cx="2133588" cy="173490"/>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smtClean="0">
                  <a:latin typeface="+mn-lt"/>
                  <a:ea typeface="+mn-ea"/>
                  <a:cs typeface="+mn-cs"/>
                  <a:sym typeface="Helvetica Neue Medium"/>
                </a:rPr>
                <a:t>动态数据</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1" name="矩形 27">
              <a:extLst>
                <a:ext uri="{FF2B5EF4-FFF2-40B4-BE49-F238E27FC236}">
                  <a16:creationId xmlns:a16="http://schemas.microsoft.com/office/drawing/2014/main" xmlns="" id="{BAE0C401-9E43-4D5F-9DBB-6A32F6E463B4}"/>
                </a:ext>
              </a:extLst>
            </p:cNvPr>
            <p:cNvSpPr/>
            <p:nvPr/>
          </p:nvSpPr>
          <p:spPr>
            <a:xfrm>
              <a:off x="1577132" y="1784254"/>
              <a:ext cx="9286812" cy="3456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cxnSp>
        <p:nvCxnSpPr>
          <p:cNvPr id="32" name="直接箭头连接符 7">
            <a:extLst>
              <a:ext uri="{FF2B5EF4-FFF2-40B4-BE49-F238E27FC236}">
                <a16:creationId xmlns:a16="http://schemas.microsoft.com/office/drawing/2014/main" xmlns="" id="{C755EEC8-5D8F-4425-9544-826B4F43ACC3}"/>
              </a:ext>
            </a:extLst>
          </p:cNvPr>
          <p:cNvCxnSpPr/>
          <p:nvPr/>
        </p:nvCxnSpPr>
        <p:spPr>
          <a:xfrm>
            <a:off x="6232169" y="1818259"/>
            <a:ext cx="0" cy="233797"/>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37" name="直接箭头连接符 7">
            <a:extLst>
              <a:ext uri="{FF2B5EF4-FFF2-40B4-BE49-F238E27FC236}">
                <a16:creationId xmlns:a16="http://schemas.microsoft.com/office/drawing/2014/main" xmlns="" id="{C755EEC8-5D8F-4425-9544-826B4F43ACC3}"/>
              </a:ext>
            </a:extLst>
          </p:cNvPr>
          <p:cNvCxnSpPr>
            <a:endCxn id="25" idx="0"/>
          </p:cNvCxnSpPr>
          <p:nvPr/>
        </p:nvCxnSpPr>
        <p:spPr>
          <a:xfrm>
            <a:off x="3891014" y="2047221"/>
            <a:ext cx="1" cy="244857"/>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sp>
        <p:nvSpPr>
          <p:cNvPr id="47" name="矩形: 圆角 2">
            <a:extLst>
              <a:ext uri="{FF2B5EF4-FFF2-40B4-BE49-F238E27FC236}">
                <a16:creationId xmlns:a16="http://schemas.microsoft.com/office/drawing/2014/main" xmlns="" id="{1A3B1DEF-CC13-46F1-A6AF-FDAD267BB7D3}"/>
              </a:ext>
            </a:extLst>
          </p:cNvPr>
          <p:cNvSpPr/>
          <p:nvPr/>
        </p:nvSpPr>
        <p:spPr>
          <a:xfrm>
            <a:off x="3975101" y="3052349"/>
            <a:ext cx="2211376" cy="2886131"/>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8" name="矩形: 圆角 2">
            <a:extLst>
              <a:ext uri="{FF2B5EF4-FFF2-40B4-BE49-F238E27FC236}">
                <a16:creationId xmlns:a16="http://schemas.microsoft.com/office/drawing/2014/main" xmlns="" id="{1A3B1DEF-CC13-46F1-A6AF-FDAD267BB7D3}"/>
              </a:ext>
            </a:extLst>
          </p:cNvPr>
          <p:cNvSpPr/>
          <p:nvPr/>
        </p:nvSpPr>
        <p:spPr>
          <a:xfrm>
            <a:off x="6426201" y="3052349"/>
            <a:ext cx="2203544" cy="2898832"/>
          </a:xfrm>
          <a:prstGeom prst="roundRect">
            <a:avLst>
              <a:gd name="adj" fmla="val 14346"/>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9" name="矩形: 圆角 2">
            <a:extLst>
              <a:ext uri="{FF2B5EF4-FFF2-40B4-BE49-F238E27FC236}">
                <a16:creationId xmlns:a16="http://schemas.microsoft.com/office/drawing/2014/main" xmlns="" id="{1A3B1DEF-CC13-46F1-A6AF-FDAD267BB7D3}"/>
              </a:ext>
            </a:extLst>
          </p:cNvPr>
          <p:cNvSpPr/>
          <p:nvPr/>
        </p:nvSpPr>
        <p:spPr>
          <a:xfrm>
            <a:off x="8829218" y="3022642"/>
            <a:ext cx="2143582" cy="2928539"/>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2" name="Rectangle 41"/>
          <p:cNvSpPr/>
          <p:nvPr/>
        </p:nvSpPr>
        <p:spPr>
          <a:xfrm>
            <a:off x="2088098" y="3103160"/>
            <a:ext cx="1005403" cy="338554"/>
          </a:xfrm>
          <a:prstGeom prst="rect">
            <a:avLst/>
          </a:prstGeom>
        </p:spPr>
        <p:txBody>
          <a:bodyPr wrap="none">
            <a:spAutoFit/>
          </a:bodyPr>
          <a:lstStyle/>
          <a:p>
            <a:r>
              <a:rPr lang="zh-CN" altLang="en-US" sz="1600">
                <a:solidFill>
                  <a:schemeClr val="tx2">
                    <a:lumMod val="10000"/>
                  </a:schemeClr>
                </a:solidFill>
              </a:rPr>
              <a:t>人口属性</a:t>
            </a:r>
            <a:endParaRPr lang="en-US" sz="1600" dirty="0"/>
          </a:p>
        </p:txBody>
      </p:sp>
      <p:sp>
        <p:nvSpPr>
          <p:cNvPr id="43" name="Rectangle 42"/>
          <p:cNvSpPr/>
          <p:nvPr/>
        </p:nvSpPr>
        <p:spPr>
          <a:xfrm>
            <a:off x="1610848" y="3543356"/>
            <a:ext cx="2069092" cy="1169551"/>
          </a:xfrm>
          <a:prstGeom prst="rect">
            <a:avLst/>
          </a:prstGeom>
        </p:spPr>
        <p:txBody>
          <a:bodyPr wrap="square">
            <a:spAutoFit/>
          </a:bodyPr>
          <a:lstStyle/>
          <a:p>
            <a:pPr algn="l"/>
            <a:r>
              <a:rPr lang="zh-CN" altLang="en-US" sz="1400" dirty="0" smtClean="0">
                <a:solidFill>
                  <a:schemeClr val="tx2">
                    <a:lumMod val="10000"/>
                  </a:schemeClr>
                </a:solidFill>
              </a:rPr>
              <a:t>描述客户</a:t>
            </a:r>
            <a:r>
              <a:rPr lang="zh-CN" altLang="en-US" sz="1400" dirty="0">
                <a:solidFill>
                  <a:schemeClr val="tx2">
                    <a:lumMod val="10000"/>
                  </a:schemeClr>
                </a:solidFill>
              </a:rPr>
              <a:t>是谁，如何触达用户。姓名，性别，年龄，电话号码，邮箱，家庭</a:t>
            </a:r>
            <a:r>
              <a:rPr lang="zh-CN" altLang="en-US" sz="1400" dirty="0" smtClean="0">
                <a:solidFill>
                  <a:schemeClr val="tx2">
                    <a:lumMod val="10000"/>
                  </a:schemeClr>
                </a:solidFill>
              </a:rPr>
              <a:t>住址，婚姻状况，家庭成员情况。</a:t>
            </a:r>
            <a:endParaRPr lang="en-US" altLang="zh-CN" sz="1400" dirty="0">
              <a:solidFill>
                <a:schemeClr val="tx2">
                  <a:lumMod val="10000"/>
                </a:schemeClr>
              </a:solidFill>
            </a:endParaRPr>
          </a:p>
        </p:txBody>
      </p:sp>
      <p:sp>
        <p:nvSpPr>
          <p:cNvPr id="52" name="Rectangle 51"/>
          <p:cNvSpPr/>
          <p:nvPr/>
        </p:nvSpPr>
        <p:spPr>
          <a:xfrm>
            <a:off x="4590001" y="3115860"/>
            <a:ext cx="1005403" cy="338554"/>
          </a:xfrm>
          <a:prstGeom prst="rect">
            <a:avLst/>
          </a:prstGeom>
        </p:spPr>
        <p:txBody>
          <a:bodyPr wrap="none">
            <a:spAutoFit/>
          </a:bodyPr>
          <a:lstStyle/>
          <a:p>
            <a:r>
              <a:rPr lang="zh-CN" altLang="en-US" sz="1600" dirty="0" smtClean="0">
                <a:solidFill>
                  <a:schemeClr val="tx2">
                    <a:lumMod val="10000"/>
                  </a:schemeClr>
                </a:solidFill>
              </a:rPr>
              <a:t>信用属性</a:t>
            </a:r>
            <a:endParaRPr lang="en-US" sz="1600" dirty="0"/>
          </a:p>
        </p:txBody>
      </p:sp>
      <p:sp>
        <p:nvSpPr>
          <p:cNvPr id="44" name="Rectangle 43"/>
          <p:cNvSpPr/>
          <p:nvPr/>
        </p:nvSpPr>
        <p:spPr>
          <a:xfrm>
            <a:off x="3992917" y="3454428"/>
            <a:ext cx="2224969" cy="1600438"/>
          </a:xfrm>
          <a:prstGeom prst="rect">
            <a:avLst/>
          </a:prstGeom>
        </p:spPr>
        <p:txBody>
          <a:bodyPr wrap="square">
            <a:spAutoFit/>
          </a:bodyPr>
          <a:lstStyle/>
          <a:p>
            <a:pPr algn="l"/>
            <a:r>
              <a:rPr lang="zh-CN" altLang="en-US" sz="1400" dirty="0">
                <a:solidFill>
                  <a:schemeClr val="tx2">
                    <a:lumMod val="10000"/>
                  </a:schemeClr>
                </a:solidFill>
              </a:rPr>
              <a:t>描述用户收入潜力和收入情况，支付能力。帮助企业了解客户资产情况和信用情况，有利于定位目标客户。客户职业、收入、资产、负债、学历、信用评分等都属于信用</a:t>
            </a:r>
            <a:r>
              <a:rPr lang="zh-CN" altLang="en-US" sz="1400" dirty="0" smtClean="0">
                <a:solidFill>
                  <a:schemeClr val="tx2">
                    <a:lumMod val="10000"/>
                  </a:schemeClr>
                </a:solidFill>
              </a:rPr>
              <a:t>信息。</a:t>
            </a:r>
            <a:endParaRPr lang="en-US" sz="1400" dirty="0"/>
          </a:p>
        </p:txBody>
      </p:sp>
      <p:sp>
        <p:nvSpPr>
          <p:cNvPr id="54" name="Rectangle 53"/>
          <p:cNvSpPr/>
          <p:nvPr/>
        </p:nvSpPr>
        <p:spPr>
          <a:xfrm>
            <a:off x="6990298" y="3101631"/>
            <a:ext cx="1005403" cy="338554"/>
          </a:xfrm>
          <a:prstGeom prst="rect">
            <a:avLst/>
          </a:prstGeom>
        </p:spPr>
        <p:txBody>
          <a:bodyPr wrap="none">
            <a:spAutoFit/>
          </a:bodyPr>
          <a:lstStyle/>
          <a:p>
            <a:r>
              <a:rPr lang="zh-CN" altLang="en-US" sz="1600" dirty="0" smtClean="0">
                <a:solidFill>
                  <a:schemeClr val="tx2">
                    <a:lumMod val="10000"/>
                  </a:schemeClr>
                </a:solidFill>
              </a:rPr>
              <a:t>消费特征</a:t>
            </a:r>
            <a:endParaRPr lang="en-US" sz="1600" dirty="0"/>
          </a:p>
        </p:txBody>
      </p:sp>
      <p:sp>
        <p:nvSpPr>
          <p:cNvPr id="45" name="Rectangle 44"/>
          <p:cNvSpPr/>
          <p:nvPr/>
        </p:nvSpPr>
        <p:spPr>
          <a:xfrm>
            <a:off x="6427343" y="3424837"/>
            <a:ext cx="2202402" cy="2246769"/>
          </a:xfrm>
          <a:prstGeom prst="rect">
            <a:avLst/>
          </a:prstGeom>
        </p:spPr>
        <p:txBody>
          <a:bodyPr wrap="square">
            <a:spAutoFit/>
          </a:bodyPr>
          <a:lstStyle/>
          <a:p>
            <a:pPr algn="l"/>
            <a:r>
              <a:rPr lang="zh-CN" altLang="en-US" sz="1400" dirty="0">
                <a:solidFill>
                  <a:schemeClr val="tx2">
                    <a:lumMod val="10000"/>
                  </a:schemeClr>
                </a:solidFill>
              </a:rPr>
              <a:t>描述</a:t>
            </a:r>
            <a:r>
              <a:rPr lang="zh-CN" altLang="en-US" sz="1400" dirty="0" smtClean="0">
                <a:solidFill>
                  <a:schemeClr val="tx2">
                    <a:lumMod val="10000"/>
                  </a:schemeClr>
                </a:solidFill>
              </a:rPr>
              <a:t>客户消费习惯，以寻找</a:t>
            </a:r>
            <a:r>
              <a:rPr lang="zh-CN" altLang="en-US" sz="1400" dirty="0">
                <a:solidFill>
                  <a:schemeClr val="tx2">
                    <a:lumMod val="10000"/>
                  </a:schemeClr>
                </a:solidFill>
              </a:rPr>
              <a:t>高频和高价值客户</a:t>
            </a:r>
            <a:r>
              <a:rPr lang="zh-CN" altLang="en-US" sz="1400" dirty="0" smtClean="0">
                <a:solidFill>
                  <a:schemeClr val="tx2">
                    <a:lumMod val="10000"/>
                  </a:schemeClr>
                </a:solidFill>
              </a:rPr>
              <a:t>。依据</a:t>
            </a:r>
            <a:r>
              <a:rPr lang="zh-CN" altLang="en-US" sz="1400" dirty="0">
                <a:solidFill>
                  <a:schemeClr val="tx2">
                    <a:lumMod val="10000"/>
                  </a:schemeClr>
                </a:solidFill>
              </a:rPr>
              <a:t>客户消费特点推荐相关金融产品和服务，</a:t>
            </a:r>
            <a:r>
              <a:rPr lang="zh-CN" altLang="en-US" sz="1400" dirty="0" smtClean="0">
                <a:solidFill>
                  <a:schemeClr val="tx2">
                    <a:lumMod val="10000"/>
                  </a:schemeClr>
                </a:solidFill>
              </a:rPr>
              <a:t>转化率高。如依据消费记录将客户定性</a:t>
            </a:r>
            <a:r>
              <a:rPr lang="zh-CN" altLang="en-US" sz="1400" dirty="0">
                <a:solidFill>
                  <a:schemeClr val="tx2">
                    <a:lumMod val="10000"/>
                  </a:schemeClr>
                </a:solidFill>
              </a:rPr>
              <a:t>为某些消费</a:t>
            </a:r>
            <a:r>
              <a:rPr lang="zh-CN" altLang="en-US" sz="1400" dirty="0" smtClean="0">
                <a:solidFill>
                  <a:schemeClr val="tx2">
                    <a:lumMod val="10000"/>
                  </a:schemeClr>
                </a:solidFill>
              </a:rPr>
              <a:t>特征人群</a:t>
            </a:r>
            <a:r>
              <a:rPr lang="zh-CN" altLang="en-US" sz="1400" dirty="0">
                <a:solidFill>
                  <a:schemeClr val="tx2">
                    <a:lumMod val="10000"/>
                  </a:schemeClr>
                </a:solidFill>
              </a:rPr>
              <a:t>，例如差旅人群，境外游人群，旅游人群，餐饮用户，汽车用户，母婴用户，理财人群等。</a:t>
            </a:r>
            <a:endParaRPr lang="en-US" altLang="zh-CN" sz="1400" dirty="0">
              <a:solidFill>
                <a:schemeClr val="tx2">
                  <a:lumMod val="10000"/>
                </a:schemeClr>
              </a:solidFill>
            </a:endParaRPr>
          </a:p>
        </p:txBody>
      </p:sp>
      <p:sp>
        <p:nvSpPr>
          <p:cNvPr id="46" name="Rectangle 45"/>
          <p:cNvSpPr/>
          <p:nvPr/>
        </p:nvSpPr>
        <p:spPr>
          <a:xfrm>
            <a:off x="8829218" y="3386735"/>
            <a:ext cx="2259460" cy="2462213"/>
          </a:xfrm>
          <a:prstGeom prst="rect">
            <a:avLst/>
          </a:prstGeom>
        </p:spPr>
        <p:txBody>
          <a:bodyPr wrap="square">
            <a:spAutoFit/>
          </a:bodyPr>
          <a:lstStyle/>
          <a:p>
            <a:pPr algn="l"/>
            <a:r>
              <a:rPr lang="zh-CN" altLang="en-US" sz="1400" dirty="0" smtClean="0">
                <a:solidFill>
                  <a:schemeClr val="tx2">
                    <a:lumMod val="10000"/>
                  </a:schemeClr>
                </a:solidFill>
              </a:rPr>
              <a:t>描述了解</a:t>
            </a:r>
            <a:r>
              <a:rPr lang="zh-CN" altLang="en-US" sz="1400" dirty="0">
                <a:solidFill>
                  <a:schemeClr val="tx2">
                    <a:lumMod val="10000"/>
                  </a:schemeClr>
                </a:solidFill>
              </a:rPr>
              <a:t>客户兴趣和消费倾向，定向</a:t>
            </a:r>
            <a:r>
              <a:rPr lang="zh-CN" altLang="en-US" sz="1400" dirty="0" smtClean="0">
                <a:solidFill>
                  <a:schemeClr val="tx2">
                    <a:lumMod val="10000"/>
                  </a:schemeClr>
                </a:solidFill>
              </a:rPr>
              <a:t>进行营销。与消费</a:t>
            </a:r>
            <a:r>
              <a:rPr lang="zh-CN" altLang="en-US" sz="1400" dirty="0">
                <a:solidFill>
                  <a:schemeClr val="tx2">
                    <a:lumMod val="10000"/>
                  </a:schemeClr>
                </a:solidFill>
              </a:rPr>
              <a:t>特征中部分信息有重复，区别在于数据来源不同。例如户外运动爱好者，旅游爱好者，电影爱好者，科技发烧友，健身爱好者，奢侈品爱好者等。兴趣爱好的信息</a:t>
            </a:r>
            <a:r>
              <a:rPr lang="zh-CN" altLang="en-US" sz="1400" dirty="0" smtClean="0">
                <a:solidFill>
                  <a:schemeClr val="tx2">
                    <a:lumMod val="10000"/>
                  </a:schemeClr>
                </a:solidFill>
              </a:rPr>
              <a:t>可来源于</a:t>
            </a:r>
            <a:r>
              <a:rPr lang="zh-CN" altLang="en-US" sz="1400" dirty="0">
                <a:solidFill>
                  <a:schemeClr val="tx2">
                    <a:lumMod val="10000"/>
                  </a:schemeClr>
                </a:solidFill>
              </a:rPr>
              <a:t>社交信息和客户位置信息。</a:t>
            </a:r>
            <a:endParaRPr lang="zh-TW" altLang="en-US" sz="1400" dirty="0">
              <a:solidFill>
                <a:schemeClr val="tx2">
                  <a:lumMod val="10000"/>
                </a:schemeClr>
              </a:solidFill>
            </a:endParaRPr>
          </a:p>
        </p:txBody>
      </p:sp>
      <p:sp>
        <p:nvSpPr>
          <p:cNvPr id="57" name="Rectangle 56"/>
          <p:cNvSpPr/>
          <p:nvPr/>
        </p:nvSpPr>
        <p:spPr>
          <a:xfrm>
            <a:off x="9392176" y="3088816"/>
            <a:ext cx="1005403" cy="338554"/>
          </a:xfrm>
          <a:prstGeom prst="rect">
            <a:avLst/>
          </a:prstGeom>
        </p:spPr>
        <p:txBody>
          <a:bodyPr wrap="none">
            <a:spAutoFit/>
          </a:bodyPr>
          <a:lstStyle/>
          <a:p>
            <a:r>
              <a:rPr lang="zh-CN" altLang="en-US" sz="1600" dirty="0" smtClean="0">
                <a:solidFill>
                  <a:schemeClr val="tx2">
                    <a:lumMod val="10000"/>
                  </a:schemeClr>
                </a:solidFill>
              </a:rPr>
              <a:t>兴趣爱好</a:t>
            </a:r>
            <a:endParaRPr lang="en-US" sz="1600" dirty="0"/>
          </a:p>
        </p:txBody>
      </p:sp>
      <p:cxnSp>
        <p:nvCxnSpPr>
          <p:cNvPr id="58" name="直接箭头连接符 3">
            <a:extLst>
              <a:ext uri="{FF2B5EF4-FFF2-40B4-BE49-F238E27FC236}">
                <a16:creationId xmlns:a16="http://schemas.microsoft.com/office/drawing/2014/main" xmlns="" id="{8489FFB7-4277-47ED-9774-540977D035FA}"/>
              </a:ext>
            </a:extLst>
          </p:cNvPr>
          <p:cNvCxnSpPr>
            <a:cxnSpLocks/>
          </p:cNvCxnSpPr>
          <p:nvPr/>
        </p:nvCxnSpPr>
        <p:spPr>
          <a:xfrm>
            <a:off x="2616199" y="2779948"/>
            <a:ext cx="2491760" cy="13453"/>
          </a:xfrm>
          <a:prstGeom prst="straightConnector1">
            <a:avLst/>
          </a:prstGeom>
          <a:noFill/>
          <a:ln w="3175" cap="flat">
            <a:solidFill>
              <a:srgbClr val="D4A344"/>
            </a:solidFill>
            <a:prstDash val="solid"/>
            <a:miter lim="400000"/>
            <a:headEnd type="none"/>
            <a:tailEnd type="none"/>
          </a:ln>
          <a:effectLst/>
          <a:sp3d/>
        </p:spPr>
        <p:style>
          <a:lnRef idx="0">
            <a:scrgbClr r="0" g="0" b="0"/>
          </a:lnRef>
          <a:fillRef idx="0">
            <a:scrgbClr r="0" g="0" b="0"/>
          </a:fillRef>
          <a:effectRef idx="0">
            <a:scrgbClr r="0" g="0" b="0"/>
          </a:effectRef>
          <a:fontRef idx="none"/>
        </p:style>
      </p:cxnSp>
      <p:cxnSp>
        <p:nvCxnSpPr>
          <p:cNvPr id="60" name="直接箭头连接符 7">
            <a:extLst>
              <a:ext uri="{FF2B5EF4-FFF2-40B4-BE49-F238E27FC236}">
                <a16:creationId xmlns:a16="http://schemas.microsoft.com/office/drawing/2014/main" xmlns="" id="{C755EEC8-5D8F-4425-9544-826B4F43ACC3}"/>
              </a:ext>
            </a:extLst>
          </p:cNvPr>
          <p:cNvCxnSpPr/>
          <p:nvPr/>
        </p:nvCxnSpPr>
        <p:spPr>
          <a:xfrm>
            <a:off x="2631459" y="2780715"/>
            <a:ext cx="1" cy="244857"/>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64" name="直接箭头连接符 7">
            <a:extLst>
              <a:ext uri="{FF2B5EF4-FFF2-40B4-BE49-F238E27FC236}">
                <a16:creationId xmlns:a16="http://schemas.microsoft.com/office/drawing/2014/main" xmlns="" id="{C755EEC8-5D8F-4425-9544-826B4F43ACC3}"/>
              </a:ext>
            </a:extLst>
          </p:cNvPr>
          <p:cNvCxnSpPr/>
          <p:nvPr/>
        </p:nvCxnSpPr>
        <p:spPr>
          <a:xfrm>
            <a:off x="5107959" y="2793415"/>
            <a:ext cx="1" cy="244857"/>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66" name="直接箭头连接符 7">
            <a:extLst>
              <a:ext uri="{FF2B5EF4-FFF2-40B4-BE49-F238E27FC236}">
                <a16:creationId xmlns:a16="http://schemas.microsoft.com/office/drawing/2014/main" xmlns="" id="{C755EEC8-5D8F-4425-9544-826B4F43ACC3}"/>
              </a:ext>
            </a:extLst>
          </p:cNvPr>
          <p:cNvCxnSpPr/>
          <p:nvPr/>
        </p:nvCxnSpPr>
        <p:spPr>
          <a:xfrm flipH="1">
            <a:off x="3888760" y="2574323"/>
            <a:ext cx="2255" cy="197249"/>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69" name="直接箭头连接符 3">
            <a:extLst>
              <a:ext uri="{FF2B5EF4-FFF2-40B4-BE49-F238E27FC236}">
                <a16:creationId xmlns:a16="http://schemas.microsoft.com/office/drawing/2014/main" xmlns="" id="{8489FFB7-4277-47ED-9774-540977D035FA}"/>
              </a:ext>
            </a:extLst>
          </p:cNvPr>
          <p:cNvCxnSpPr>
            <a:cxnSpLocks/>
          </p:cNvCxnSpPr>
          <p:nvPr/>
        </p:nvCxnSpPr>
        <p:spPr>
          <a:xfrm>
            <a:off x="7467599" y="2779948"/>
            <a:ext cx="2491760" cy="13453"/>
          </a:xfrm>
          <a:prstGeom prst="straightConnector1">
            <a:avLst/>
          </a:prstGeom>
          <a:noFill/>
          <a:ln w="3175" cap="flat">
            <a:solidFill>
              <a:srgbClr val="D4A344"/>
            </a:solidFill>
            <a:prstDash val="solid"/>
            <a:miter lim="400000"/>
            <a:headEnd type="none"/>
            <a:tailEnd type="none"/>
          </a:ln>
          <a:effectLst/>
          <a:sp3d/>
        </p:spPr>
        <p:style>
          <a:lnRef idx="0">
            <a:scrgbClr r="0" g="0" b="0"/>
          </a:lnRef>
          <a:fillRef idx="0">
            <a:scrgbClr r="0" g="0" b="0"/>
          </a:fillRef>
          <a:effectRef idx="0">
            <a:scrgbClr r="0" g="0" b="0"/>
          </a:effectRef>
          <a:fontRef idx="none"/>
        </p:style>
      </p:cxnSp>
      <p:cxnSp>
        <p:nvCxnSpPr>
          <p:cNvPr id="70" name="直接箭头连接符 7">
            <a:extLst>
              <a:ext uri="{FF2B5EF4-FFF2-40B4-BE49-F238E27FC236}">
                <a16:creationId xmlns:a16="http://schemas.microsoft.com/office/drawing/2014/main" xmlns="" id="{C755EEC8-5D8F-4425-9544-826B4F43ACC3}"/>
              </a:ext>
            </a:extLst>
          </p:cNvPr>
          <p:cNvCxnSpPr/>
          <p:nvPr/>
        </p:nvCxnSpPr>
        <p:spPr>
          <a:xfrm>
            <a:off x="7482859" y="2780715"/>
            <a:ext cx="1" cy="244857"/>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71" name="直接箭头连接符 7">
            <a:extLst>
              <a:ext uri="{FF2B5EF4-FFF2-40B4-BE49-F238E27FC236}">
                <a16:creationId xmlns:a16="http://schemas.microsoft.com/office/drawing/2014/main" xmlns="" id="{C755EEC8-5D8F-4425-9544-826B4F43ACC3}"/>
              </a:ext>
            </a:extLst>
          </p:cNvPr>
          <p:cNvCxnSpPr/>
          <p:nvPr/>
        </p:nvCxnSpPr>
        <p:spPr>
          <a:xfrm>
            <a:off x="9959359" y="2793415"/>
            <a:ext cx="1" cy="244857"/>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72" name="直接箭头连接符 7">
            <a:extLst>
              <a:ext uri="{FF2B5EF4-FFF2-40B4-BE49-F238E27FC236}">
                <a16:creationId xmlns:a16="http://schemas.microsoft.com/office/drawing/2014/main" xmlns="" id="{C755EEC8-5D8F-4425-9544-826B4F43ACC3}"/>
              </a:ext>
            </a:extLst>
          </p:cNvPr>
          <p:cNvCxnSpPr/>
          <p:nvPr/>
        </p:nvCxnSpPr>
        <p:spPr>
          <a:xfrm flipH="1">
            <a:off x="8524260" y="2574323"/>
            <a:ext cx="2255" cy="197249"/>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cxnSp>
        <p:nvCxnSpPr>
          <p:cNvPr id="74" name="直接箭头连接符 7">
            <a:extLst>
              <a:ext uri="{FF2B5EF4-FFF2-40B4-BE49-F238E27FC236}">
                <a16:creationId xmlns:a16="http://schemas.microsoft.com/office/drawing/2014/main" xmlns="" id="{C755EEC8-5D8F-4425-9544-826B4F43ACC3}"/>
              </a:ext>
            </a:extLst>
          </p:cNvPr>
          <p:cNvCxnSpPr/>
          <p:nvPr/>
        </p:nvCxnSpPr>
        <p:spPr>
          <a:xfrm flipH="1">
            <a:off x="8524260" y="2053623"/>
            <a:ext cx="2255" cy="197249"/>
          </a:xfrm>
          <a:prstGeom prst="straightConnector1">
            <a:avLst/>
          </a:prstGeom>
          <a:noFill/>
          <a:ln w="3175" cap="flat">
            <a:solidFill>
              <a:srgbClr val="D4A344"/>
            </a:solidFill>
            <a:prstDash val="solid"/>
            <a:miter lim="400000"/>
            <a:tailEnd type="non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536008180"/>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261487" y="593537"/>
            <a:ext cx="2166859"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smtClean="0"/>
              <a:t>用户画像典型实例</a:t>
            </a:r>
            <a:endParaRPr sz="2000" dirty="0"/>
          </a:p>
        </p:txBody>
      </p:sp>
      <p:sp>
        <p:nvSpPr>
          <p:cNvPr id="16" name="矩形: 圆角 2">
            <a:extLst>
              <a:ext uri="{FF2B5EF4-FFF2-40B4-BE49-F238E27FC236}">
                <a16:creationId xmlns:a16="http://schemas.microsoft.com/office/drawing/2014/main" xmlns="" id="{1A3B1DEF-CC13-46F1-A6AF-FDAD267BB7D3}"/>
              </a:ext>
            </a:extLst>
          </p:cNvPr>
          <p:cNvSpPr/>
          <p:nvPr/>
        </p:nvSpPr>
        <p:spPr>
          <a:xfrm>
            <a:off x="1036868" y="1191678"/>
            <a:ext cx="9631132" cy="5386922"/>
          </a:xfrm>
          <a:prstGeom prst="roundRect">
            <a:avLst>
              <a:gd name="adj" fmla="val 10066"/>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8" name="Rectangle 17"/>
          <p:cNvSpPr/>
          <p:nvPr/>
        </p:nvSpPr>
        <p:spPr>
          <a:xfrm>
            <a:off x="2655826" y="1567553"/>
            <a:ext cx="6218944" cy="461665"/>
          </a:xfrm>
          <a:prstGeom prst="rect">
            <a:avLst/>
          </a:prstGeom>
          <a:ln>
            <a:noFill/>
          </a:ln>
        </p:spPr>
        <p:txBody>
          <a:bodyPr wrap="square">
            <a:spAutoFit/>
          </a:bodyPr>
          <a:lstStyle/>
          <a:p>
            <a:pPr algn="l"/>
            <a:r>
              <a:rPr lang="zh-CN" altLang="en-US" sz="1200" dirty="0" smtClean="0">
                <a:solidFill>
                  <a:schemeClr val="tx2">
                    <a:lumMod val="10000"/>
                  </a:schemeClr>
                </a:solidFill>
              </a:rPr>
              <a:t>用户：</a:t>
            </a:r>
            <a:r>
              <a:rPr lang="en-US" altLang="zh-CN" sz="1200" dirty="0" smtClean="0">
                <a:solidFill>
                  <a:schemeClr val="tx2">
                    <a:lumMod val="10000"/>
                  </a:schemeClr>
                </a:solidFill>
              </a:rPr>
              <a:t>0000001</a:t>
            </a:r>
            <a:r>
              <a:rPr lang="zh-CN" altLang="en-US" sz="1200" dirty="0" smtClean="0">
                <a:solidFill>
                  <a:schemeClr val="tx2">
                    <a:lumMod val="10000"/>
                  </a:schemeClr>
                </a:solidFill>
              </a:rPr>
              <a:t>           性别：男</a:t>
            </a:r>
            <a:r>
              <a:rPr lang="zh-CN" altLang="en-US" sz="1200" dirty="0">
                <a:solidFill>
                  <a:schemeClr val="tx2">
                    <a:lumMod val="10000"/>
                  </a:schemeClr>
                </a:solidFill>
              </a:rPr>
              <a:t> </a:t>
            </a:r>
            <a:r>
              <a:rPr lang="zh-CN" altLang="en-US" sz="1200" dirty="0" smtClean="0">
                <a:solidFill>
                  <a:schemeClr val="tx2">
                    <a:lumMod val="10000"/>
                  </a:schemeClr>
                </a:solidFill>
              </a:rPr>
              <a:t>                年龄：</a:t>
            </a:r>
            <a:r>
              <a:rPr lang="en-US" altLang="zh-CN" sz="1200" dirty="0" smtClean="0">
                <a:solidFill>
                  <a:schemeClr val="tx2">
                    <a:lumMod val="10000"/>
                  </a:schemeClr>
                </a:solidFill>
              </a:rPr>
              <a:t>40</a:t>
            </a:r>
            <a:r>
              <a:rPr lang="zh-CN" altLang="en-US" sz="1200" dirty="0" smtClean="0">
                <a:solidFill>
                  <a:schemeClr val="tx2">
                    <a:lumMod val="10000"/>
                  </a:schemeClr>
                </a:solidFill>
              </a:rPr>
              <a:t>                账户年龄：</a:t>
            </a:r>
            <a:r>
              <a:rPr lang="en-US" altLang="zh-CN" sz="1200" dirty="0" smtClean="0">
                <a:solidFill>
                  <a:schemeClr val="tx2">
                    <a:lumMod val="10000"/>
                  </a:schemeClr>
                </a:solidFill>
              </a:rPr>
              <a:t>35</a:t>
            </a:r>
            <a:r>
              <a:rPr lang="zh-CN" altLang="en-US" sz="1200" dirty="0" smtClean="0">
                <a:solidFill>
                  <a:schemeClr val="tx2">
                    <a:lumMod val="10000"/>
                  </a:schemeClr>
                </a:solidFill>
              </a:rPr>
              <a:t>个月</a:t>
            </a:r>
            <a:endParaRPr lang="en-US" altLang="zh-CN" sz="1200" dirty="0" smtClean="0">
              <a:solidFill>
                <a:schemeClr val="tx2">
                  <a:lumMod val="10000"/>
                </a:schemeClr>
              </a:solidFill>
            </a:endParaRPr>
          </a:p>
          <a:p>
            <a:pPr algn="l"/>
            <a:r>
              <a:rPr lang="zh-CN" altLang="en-US" sz="1200" dirty="0" smtClean="0">
                <a:solidFill>
                  <a:schemeClr val="tx2">
                    <a:lumMod val="10000"/>
                  </a:schemeClr>
                </a:solidFill>
              </a:rPr>
              <a:t>账户类型：智盈理财  </a:t>
            </a:r>
            <a:r>
              <a:rPr lang="zh-CN" altLang="en-US" sz="1200" dirty="0">
                <a:solidFill>
                  <a:schemeClr val="tx2">
                    <a:lumMod val="10000"/>
                  </a:schemeClr>
                </a:solidFill>
              </a:rPr>
              <a:t> </a:t>
            </a:r>
            <a:r>
              <a:rPr lang="zh-CN" altLang="en-US" sz="1200" dirty="0" smtClean="0">
                <a:solidFill>
                  <a:schemeClr val="tx2">
                    <a:lumMod val="10000"/>
                  </a:schemeClr>
                </a:solidFill>
              </a:rPr>
              <a:t>    理财产品：</a:t>
            </a:r>
            <a:r>
              <a:rPr lang="en-US" altLang="zh-CN" sz="1200" dirty="0" smtClean="0">
                <a:solidFill>
                  <a:schemeClr val="tx2">
                    <a:lumMod val="10000"/>
                  </a:schemeClr>
                </a:solidFill>
              </a:rPr>
              <a:t>3</a:t>
            </a:r>
            <a:r>
              <a:rPr lang="zh-CN" altLang="en-US" sz="1200" dirty="0" smtClean="0">
                <a:solidFill>
                  <a:schemeClr val="tx2">
                    <a:lumMod val="10000"/>
                  </a:schemeClr>
                </a:solidFill>
              </a:rPr>
              <a:t>个         信用卡：</a:t>
            </a:r>
            <a:r>
              <a:rPr lang="en-US" altLang="zh-CN" sz="1200" dirty="0" smtClean="0">
                <a:solidFill>
                  <a:schemeClr val="tx2">
                    <a:lumMod val="10000"/>
                  </a:schemeClr>
                </a:solidFill>
              </a:rPr>
              <a:t>2</a:t>
            </a:r>
            <a:r>
              <a:rPr lang="zh-CN" altLang="en-US" sz="1200" dirty="0" smtClean="0">
                <a:solidFill>
                  <a:schemeClr val="tx2">
                    <a:lumMod val="10000"/>
                  </a:schemeClr>
                </a:solidFill>
              </a:rPr>
              <a:t>张</a:t>
            </a:r>
            <a:endParaRPr lang="en-US" altLang="zh-CN" sz="1200" dirty="0" smtClean="0">
              <a:solidFill>
                <a:schemeClr val="tx2">
                  <a:lumMod val="10000"/>
                </a:schemeClr>
              </a:solidFill>
            </a:endParaRPr>
          </a:p>
        </p:txBody>
      </p:sp>
      <p:pic>
        <p:nvPicPr>
          <p:cNvPr id="20" name="Picture 19"/>
          <p:cNvPicPr>
            <a:picLocks noChangeAspect="1"/>
          </p:cNvPicPr>
          <p:nvPr/>
        </p:nvPicPr>
        <p:blipFill rotWithShape="1">
          <a:blip r:embed="rId4"/>
          <a:srcRect l="5200" t="2399" r="1525" b="2948"/>
          <a:stretch/>
        </p:blipFill>
        <p:spPr>
          <a:xfrm>
            <a:off x="5013570" y="2661551"/>
            <a:ext cx="2177237" cy="1714500"/>
          </a:xfrm>
          <a:prstGeom prst="rect">
            <a:avLst/>
          </a:prstGeom>
        </p:spPr>
      </p:pic>
      <p:pic>
        <p:nvPicPr>
          <p:cNvPr id="24" name="Picture 23"/>
          <p:cNvPicPr>
            <a:picLocks noChangeAspect="1"/>
          </p:cNvPicPr>
          <p:nvPr/>
        </p:nvPicPr>
        <p:blipFill>
          <a:blip r:embed="rId5"/>
          <a:stretch>
            <a:fillRect/>
          </a:stretch>
        </p:blipFill>
        <p:spPr>
          <a:xfrm>
            <a:off x="1524000" y="4470400"/>
            <a:ext cx="3048001" cy="1778000"/>
          </a:xfrm>
          <a:prstGeom prst="rect">
            <a:avLst/>
          </a:prstGeom>
        </p:spPr>
      </p:pic>
      <p:sp>
        <p:nvSpPr>
          <p:cNvPr id="25" name="TextBox 24"/>
          <p:cNvSpPr txBox="1"/>
          <p:nvPr/>
        </p:nvSpPr>
        <p:spPr>
          <a:xfrm>
            <a:off x="1559394" y="4569380"/>
            <a:ext cx="156693" cy="177212"/>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800" b="0" i="0" u="none" strike="noStrike" cap="none" spc="0" normalizeH="0" baseline="0" dirty="0" smtClean="0">
                <a:ln>
                  <a:noFill/>
                </a:ln>
                <a:solidFill>
                  <a:schemeClr val="bg2">
                    <a:lumMod val="50000"/>
                  </a:schemeClr>
                </a:solidFill>
                <a:effectLst/>
                <a:uFillTx/>
                <a:latin typeface="Arial Black"/>
                <a:ea typeface="Arial Black"/>
                <a:cs typeface="Arial Black"/>
                <a:sym typeface="Arial Black"/>
              </a:rPr>
              <a:t>万</a:t>
            </a:r>
            <a:endParaRPr kumimoji="0" lang="en-US" sz="800" b="0" i="0" u="none" strike="noStrike" cap="none" spc="0" normalizeH="0" baseline="0" dirty="0">
              <a:ln>
                <a:noFill/>
              </a:ln>
              <a:solidFill>
                <a:schemeClr val="bg2">
                  <a:lumMod val="50000"/>
                </a:schemeClr>
              </a:solidFill>
              <a:effectLst/>
              <a:uFillTx/>
              <a:latin typeface="Arial Black"/>
              <a:ea typeface="Arial Black"/>
              <a:cs typeface="Arial Black"/>
              <a:sym typeface="Arial Black"/>
            </a:endParaRPr>
          </a:p>
        </p:txBody>
      </p:sp>
      <p:sp>
        <p:nvSpPr>
          <p:cNvPr id="26" name="矩形: 圆角 2">
            <a:extLst>
              <a:ext uri="{FF2B5EF4-FFF2-40B4-BE49-F238E27FC236}">
                <a16:creationId xmlns:a16="http://schemas.microsoft.com/office/drawing/2014/main" xmlns="" id="{1A3B1DEF-CC13-46F1-A6AF-FDAD267BB7D3}"/>
              </a:ext>
            </a:extLst>
          </p:cNvPr>
          <p:cNvSpPr/>
          <p:nvPr/>
        </p:nvSpPr>
        <p:spPr>
          <a:xfrm>
            <a:off x="1340262" y="2524473"/>
            <a:ext cx="3244439" cy="1768127"/>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27" name="TextBox 26"/>
          <p:cNvSpPr txBox="1"/>
          <p:nvPr/>
        </p:nvSpPr>
        <p:spPr>
          <a:xfrm>
            <a:off x="2637015" y="2559951"/>
            <a:ext cx="525148"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smtClean="0">
                <a:ln>
                  <a:noFill/>
                </a:ln>
                <a:solidFill>
                  <a:schemeClr val="bg2">
                    <a:lumMod val="50000"/>
                  </a:schemeClr>
                </a:solidFill>
                <a:effectLst/>
                <a:uFillTx/>
                <a:latin typeface="Arial Black"/>
                <a:ea typeface="Arial Black"/>
                <a:cs typeface="Arial Black"/>
                <a:sym typeface="Arial Black"/>
              </a:rPr>
              <a:t>标签</a:t>
            </a:r>
            <a:endParaRPr kumimoji="0" lang="en-US" sz="1200" b="0" i="0" u="none" strike="noStrike" cap="none" spc="0" normalizeH="0" baseline="0" dirty="0">
              <a:ln>
                <a:noFill/>
              </a:ln>
              <a:solidFill>
                <a:schemeClr val="bg2">
                  <a:lumMod val="50000"/>
                </a:schemeClr>
              </a:solidFill>
              <a:effectLst/>
              <a:uFillTx/>
              <a:latin typeface="Arial Black"/>
              <a:ea typeface="Arial Black"/>
              <a:cs typeface="Arial Black"/>
              <a:sym typeface="Arial Black"/>
            </a:endParaRPr>
          </a:p>
        </p:txBody>
      </p:sp>
      <p:sp>
        <p:nvSpPr>
          <p:cNvPr id="28" name="矩形: 圆角 2">
            <a:extLst>
              <a:ext uri="{FF2B5EF4-FFF2-40B4-BE49-F238E27FC236}">
                <a16:creationId xmlns:a16="http://schemas.microsoft.com/office/drawing/2014/main" xmlns="" id="{1A3B1DEF-CC13-46F1-A6AF-FDAD267BB7D3}"/>
              </a:ext>
            </a:extLst>
          </p:cNvPr>
          <p:cNvSpPr/>
          <p:nvPr/>
        </p:nvSpPr>
        <p:spPr>
          <a:xfrm>
            <a:off x="1461747" y="2813514"/>
            <a:ext cx="486617"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中产</a:t>
            </a: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9" name="矩形: 圆角 2">
            <a:extLst>
              <a:ext uri="{FF2B5EF4-FFF2-40B4-BE49-F238E27FC236}">
                <a16:creationId xmlns:a16="http://schemas.microsoft.com/office/drawing/2014/main" xmlns="" id="{1A3B1DEF-CC13-46F1-A6AF-FDAD267BB7D3}"/>
              </a:ext>
            </a:extLst>
          </p:cNvPr>
          <p:cNvSpPr/>
          <p:nvPr/>
        </p:nvSpPr>
        <p:spPr>
          <a:xfrm>
            <a:off x="2201205" y="3240971"/>
            <a:ext cx="693819"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稳健型</a:t>
            </a: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矩形: 圆角 2">
            <a:extLst>
              <a:ext uri="{FF2B5EF4-FFF2-40B4-BE49-F238E27FC236}">
                <a16:creationId xmlns:a16="http://schemas.microsoft.com/office/drawing/2014/main" xmlns="" id="{1A3B1DEF-CC13-46F1-A6AF-FDAD267BB7D3}"/>
              </a:ext>
            </a:extLst>
          </p:cNvPr>
          <p:cNvSpPr/>
          <p:nvPr/>
        </p:nvSpPr>
        <p:spPr>
          <a:xfrm>
            <a:off x="2991103" y="3253670"/>
            <a:ext cx="621339"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有房贷</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1" name="矩形: 圆角 2">
            <a:extLst>
              <a:ext uri="{FF2B5EF4-FFF2-40B4-BE49-F238E27FC236}">
                <a16:creationId xmlns:a16="http://schemas.microsoft.com/office/drawing/2014/main" xmlns="" id="{1A3B1DEF-CC13-46F1-A6AF-FDAD267BB7D3}"/>
              </a:ext>
            </a:extLst>
          </p:cNvPr>
          <p:cNvSpPr/>
          <p:nvPr/>
        </p:nvSpPr>
        <p:spPr>
          <a:xfrm>
            <a:off x="1470494" y="3226817"/>
            <a:ext cx="612668"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有理财</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2" name="矩形: 圆角 2">
            <a:extLst>
              <a:ext uri="{FF2B5EF4-FFF2-40B4-BE49-F238E27FC236}">
                <a16:creationId xmlns:a16="http://schemas.microsoft.com/office/drawing/2014/main" xmlns="" id="{1A3B1DEF-CC13-46F1-A6AF-FDAD267BB7D3}"/>
              </a:ext>
            </a:extLst>
          </p:cNvPr>
          <p:cNvSpPr/>
          <p:nvPr/>
        </p:nvSpPr>
        <p:spPr>
          <a:xfrm>
            <a:off x="2068479" y="2822888"/>
            <a:ext cx="446121" cy="278383"/>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已婚</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3" name="矩形: 圆角 2">
            <a:extLst>
              <a:ext uri="{FF2B5EF4-FFF2-40B4-BE49-F238E27FC236}">
                <a16:creationId xmlns:a16="http://schemas.microsoft.com/office/drawing/2014/main" xmlns="" id="{1A3B1DEF-CC13-46F1-A6AF-FDAD267BB7D3}"/>
              </a:ext>
            </a:extLst>
          </p:cNvPr>
          <p:cNvSpPr/>
          <p:nvPr/>
        </p:nvSpPr>
        <p:spPr>
          <a:xfrm>
            <a:off x="2627279" y="2823397"/>
            <a:ext cx="446121"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dirty="0" smtClean="0">
                <a:solidFill>
                  <a:schemeClr val="tx2">
                    <a:lumMod val="10000"/>
                  </a:schemeClr>
                </a:solidFill>
              </a:rPr>
              <a:t>有孩</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3" name="Picture 2"/>
          <p:cNvPicPr>
            <a:picLocks noChangeAspect="1"/>
          </p:cNvPicPr>
          <p:nvPr/>
        </p:nvPicPr>
        <p:blipFill>
          <a:blip r:embed="rId6"/>
          <a:stretch>
            <a:fillRect/>
          </a:stretch>
        </p:blipFill>
        <p:spPr>
          <a:xfrm>
            <a:off x="5186133" y="4470400"/>
            <a:ext cx="1786167" cy="1809825"/>
          </a:xfrm>
          <a:prstGeom prst="rect">
            <a:avLst/>
          </a:prstGeom>
        </p:spPr>
      </p:pic>
      <p:sp>
        <p:nvSpPr>
          <p:cNvPr id="34" name="TextBox 33"/>
          <p:cNvSpPr txBox="1"/>
          <p:nvPr/>
        </p:nvSpPr>
        <p:spPr>
          <a:xfrm>
            <a:off x="5761214" y="4553851"/>
            <a:ext cx="677685"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smtClean="0">
                <a:solidFill>
                  <a:schemeClr val="bg2">
                    <a:lumMod val="50000"/>
                  </a:schemeClr>
                </a:solidFill>
              </a:rPr>
              <a:t>风险偏好</a:t>
            </a:r>
            <a:endParaRPr kumimoji="0" lang="en-US" sz="1200" b="0" i="0" u="none" strike="noStrike" cap="none" spc="0" normalizeH="0" baseline="0" dirty="0">
              <a:ln>
                <a:noFill/>
              </a:ln>
              <a:solidFill>
                <a:schemeClr val="bg2">
                  <a:lumMod val="50000"/>
                </a:schemeClr>
              </a:solidFill>
              <a:effectLst/>
              <a:uFillTx/>
              <a:latin typeface="Arial Black"/>
              <a:ea typeface="Arial Black"/>
              <a:cs typeface="Arial Black"/>
              <a:sym typeface="Arial Black"/>
            </a:endParaRPr>
          </a:p>
        </p:txBody>
      </p:sp>
      <p:sp>
        <p:nvSpPr>
          <p:cNvPr id="35" name="矩形: 圆角 2">
            <a:extLst>
              <a:ext uri="{FF2B5EF4-FFF2-40B4-BE49-F238E27FC236}">
                <a16:creationId xmlns:a16="http://schemas.microsoft.com/office/drawing/2014/main" xmlns="" id="{1A3B1DEF-CC13-46F1-A6AF-FDAD267BB7D3}"/>
              </a:ext>
            </a:extLst>
          </p:cNvPr>
          <p:cNvSpPr/>
          <p:nvPr/>
        </p:nvSpPr>
        <p:spPr>
          <a:xfrm>
            <a:off x="3702303" y="3253670"/>
            <a:ext cx="488697"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活跃</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6" name="矩形: 圆角 2">
            <a:extLst>
              <a:ext uri="{FF2B5EF4-FFF2-40B4-BE49-F238E27FC236}">
                <a16:creationId xmlns:a16="http://schemas.microsoft.com/office/drawing/2014/main" xmlns="" id="{1A3B1DEF-CC13-46F1-A6AF-FDAD267BB7D3}"/>
              </a:ext>
            </a:extLst>
          </p:cNvPr>
          <p:cNvSpPr/>
          <p:nvPr/>
        </p:nvSpPr>
        <p:spPr>
          <a:xfrm>
            <a:off x="1477305" y="3647371"/>
            <a:ext cx="693819"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dirty="0" smtClean="0">
                <a:solidFill>
                  <a:schemeClr val="tx2">
                    <a:lumMod val="10000"/>
                  </a:schemeClr>
                </a:solidFill>
              </a:rPr>
              <a:t>旅游族</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7" name="矩形: 圆角 2">
            <a:extLst>
              <a:ext uri="{FF2B5EF4-FFF2-40B4-BE49-F238E27FC236}">
                <a16:creationId xmlns:a16="http://schemas.microsoft.com/office/drawing/2014/main" xmlns="" id="{1A3B1DEF-CC13-46F1-A6AF-FDAD267BB7D3}"/>
              </a:ext>
            </a:extLst>
          </p:cNvPr>
          <p:cNvSpPr/>
          <p:nvPr/>
        </p:nvSpPr>
        <p:spPr>
          <a:xfrm>
            <a:off x="2290105" y="3660071"/>
            <a:ext cx="983329"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smtClean="0">
                <a:solidFill>
                  <a:schemeClr val="tx2">
                    <a:lumMod val="10000"/>
                  </a:schemeClr>
                </a:solidFill>
              </a:rPr>
              <a:t>健身爱好者</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8" name="矩形: 圆角 2">
            <a:extLst>
              <a:ext uri="{FF2B5EF4-FFF2-40B4-BE49-F238E27FC236}">
                <a16:creationId xmlns:a16="http://schemas.microsoft.com/office/drawing/2014/main" xmlns="" id="{1A3B1DEF-CC13-46F1-A6AF-FDAD267BB7D3}"/>
              </a:ext>
            </a:extLst>
          </p:cNvPr>
          <p:cNvSpPr/>
          <p:nvPr/>
        </p:nvSpPr>
        <p:spPr>
          <a:xfrm>
            <a:off x="3229905" y="2821871"/>
            <a:ext cx="834095" cy="277365"/>
          </a:xfrm>
          <a:prstGeom prst="roundRect">
            <a:avLst>
              <a:gd name="adj" fmla="val 5939"/>
            </a:avLst>
          </a:prstGeom>
          <a:solidFill>
            <a:schemeClr val="bg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en-US" altLang="zh-CN" sz="1400" dirty="0" smtClean="0">
                <a:solidFill>
                  <a:schemeClr val="tx2">
                    <a:lumMod val="10000"/>
                  </a:schemeClr>
                </a:solidFill>
              </a:rPr>
              <a:t>IT</a:t>
            </a:r>
            <a:r>
              <a:rPr lang="zh-CN" altLang="en-US" sz="1400" dirty="0" smtClean="0">
                <a:solidFill>
                  <a:schemeClr val="tx2">
                    <a:lumMod val="10000"/>
                  </a:schemeClr>
                </a:solidFill>
              </a:rPr>
              <a:t>从业者</a:t>
            </a: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9" name="TextBox 38"/>
          <p:cNvSpPr txBox="1"/>
          <p:nvPr/>
        </p:nvSpPr>
        <p:spPr>
          <a:xfrm>
            <a:off x="2734557" y="4505800"/>
            <a:ext cx="677685" cy="238767"/>
          </a:xfrm>
          <a:prstGeom prst="rect">
            <a:avLst/>
          </a:prstGeom>
          <a:solidFill>
            <a:schemeClr val="bg1"/>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smtClean="0">
                <a:solidFill>
                  <a:schemeClr val="bg2">
                    <a:lumMod val="50000"/>
                  </a:schemeClr>
                </a:solidFill>
              </a:rPr>
              <a:t>资产净值</a:t>
            </a:r>
            <a:endParaRPr kumimoji="0" lang="en-US" sz="1200" b="0" i="0" u="none" strike="noStrike" cap="none" spc="0" normalizeH="0" baseline="0" dirty="0">
              <a:ln>
                <a:noFill/>
              </a:ln>
              <a:solidFill>
                <a:schemeClr val="bg2">
                  <a:lumMod val="50000"/>
                </a:schemeClr>
              </a:solidFill>
              <a:effectLst/>
              <a:uFillTx/>
              <a:latin typeface="Arial Black"/>
              <a:ea typeface="Arial Black"/>
              <a:cs typeface="Arial Black"/>
              <a:sym typeface="Arial Black"/>
            </a:endParaRPr>
          </a:p>
        </p:txBody>
      </p:sp>
      <p:graphicFrame>
        <p:nvGraphicFramePr>
          <p:cNvPr id="40" name="Chart 39"/>
          <p:cNvGraphicFramePr>
            <a:graphicFrameLocks/>
          </p:cNvGraphicFramePr>
          <p:nvPr>
            <p:extLst>
              <p:ext uri="{D42A27DB-BD31-4B8C-83A1-F6EECF244321}">
                <p14:modId xmlns:p14="http://schemas.microsoft.com/office/powerpoint/2010/main" val="665901328"/>
              </p:ext>
            </p:extLst>
          </p:nvPr>
        </p:nvGraphicFramePr>
        <p:xfrm>
          <a:off x="7774407" y="2312594"/>
          <a:ext cx="2719181" cy="1976776"/>
        </p:xfrm>
        <a:graphic>
          <a:graphicData uri="http://schemas.openxmlformats.org/drawingml/2006/chart">
            <c:chart xmlns:c="http://schemas.openxmlformats.org/drawingml/2006/chart" xmlns:r="http://schemas.openxmlformats.org/officeDocument/2006/relationships" r:id="rId7"/>
          </a:graphicData>
        </a:graphic>
      </p:graphicFrame>
      <p:sp>
        <p:nvSpPr>
          <p:cNvPr id="41" name="TextBox 40"/>
          <p:cNvSpPr txBox="1"/>
          <p:nvPr/>
        </p:nvSpPr>
        <p:spPr>
          <a:xfrm>
            <a:off x="5740373" y="2371010"/>
            <a:ext cx="677685"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smtClean="0">
                <a:solidFill>
                  <a:schemeClr val="bg2">
                    <a:lumMod val="50000"/>
                  </a:schemeClr>
                </a:solidFill>
              </a:rPr>
              <a:t>资产比例</a:t>
            </a:r>
            <a:endParaRPr kumimoji="0" lang="en-US" sz="1200" b="0" i="0" u="none" strike="noStrike" cap="none" spc="0" normalizeH="0" baseline="0" dirty="0">
              <a:ln>
                <a:noFill/>
              </a:ln>
              <a:solidFill>
                <a:schemeClr val="bg2">
                  <a:lumMod val="50000"/>
                </a:schemeClr>
              </a:solidFill>
              <a:effectLst/>
              <a:uFillTx/>
              <a:latin typeface="Arial Black"/>
              <a:ea typeface="Arial Black"/>
              <a:cs typeface="Arial Black"/>
              <a:sym typeface="Arial Black"/>
            </a:endParaRPr>
          </a:p>
        </p:txBody>
      </p:sp>
      <p:graphicFrame>
        <p:nvGraphicFramePr>
          <p:cNvPr id="42" name="Chart 41"/>
          <p:cNvGraphicFramePr>
            <a:graphicFrameLocks/>
          </p:cNvGraphicFramePr>
          <p:nvPr>
            <p:extLst>
              <p:ext uri="{D42A27DB-BD31-4B8C-83A1-F6EECF244321}">
                <p14:modId xmlns:p14="http://schemas.microsoft.com/office/powerpoint/2010/main" val="1556585926"/>
              </p:ext>
            </p:extLst>
          </p:nvPr>
        </p:nvGraphicFramePr>
        <p:xfrm>
          <a:off x="7501898" y="4297088"/>
          <a:ext cx="3741183" cy="2281512"/>
        </p:xfrm>
        <a:graphic>
          <a:graphicData uri="http://schemas.openxmlformats.org/drawingml/2006/chart">
            <c:chart xmlns:c="http://schemas.openxmlformats.org/drawingml/2006/chart" xmlns:r="http://schemas.openxmlformats.org/officeDocument/2006/relationships" r:id="rId8"/>
          </a:graphicData>
        </a:graphic>
      </p:graphicFrame>
      <p:sp>
        <p:nvSpPr>
          <p:cNvPr id="43" name="矩形: 圆角 2">
            <a:extLst>
              <a:ext uri="{FF2B5EF4-FFF2-40B4-BE49-F238E27FC236}">
                <a16:creationId xmlns:a16="http://schemas.microsoft.com/office/drawing/2014/main" xmlns="" id="{1A3B1DEF-CC13-46F1-A6AF-FDAD267BB7D3}"/>
              </a:ext>
            </a:extLst>
          </p:cNvPr>
          <p:cNvSpPr/>
          <p:nvPr/>
        </p:nvSpPr>
        <p:spPr>
          <a:xfrm>
            <a:off x="2413103" y="1421430"/>
            <a:ext cx="6461667" cy="763322"/>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363168371"/>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327562" y="593537"/>
            <a:ext cx="2618906"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smtClean="0"/>
              <a:t>用户画像典型应用场景</a:t>
            </a:r>
            <a:endParaRPr sz="2000" dirty="0"/>
          </a:p>
        </p:txBody>
      </p:sp>
      <p:sp>
        <p:nvSpPr>
          <p:cNvPr id="13" name="矩形: 圆角 2">
            <a:extLst>
              <a:ext uri="{FF2B5EF4-FFF2-40B4-BE49-F238E27FC236}">
                <a16:creationId xmlns:a16="http://schemas.microsoft.com/office/drawing/2014/main" xmlns="" id="{1A3B1DEF-CC13-46F1-A6AF-FDAD267BB7D3}"/>
              </a:ext>
            </a:extLst>
          </p:cNvPr>
          <p:cNvSpPr/>
          <p:nvPr/>
        </p:nvSpPr>
        <p:spPr>
          <a:xfrm>
            <a:off x="1866901" y="1731549"/>
            <a:ext cx="3454399" cy="4567651"/>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 name="矩形: 圆角 2">
            <a:extLst>
              <a:ext uri="{FF2B5EF4-FFF2-40B4-BE49-F238E27FC236}">
                <a16:creationId xmlns:a16="http://schemas.microsoft.com/office/drawing/2014/main" xmlns="" id="{1A3B1DEF-CC13-46F1-A6AF-FDAD267BB7D3}"/>
              </a:ext>
            </a:extLst>
          </p:cNvPr>
          <p:cNvSpPr/>
          <p:nvPr/>
        </p:nvSpPr>
        <p:spPr>
          <a:xfrm>
            <a:off x="6934201" y="1731549"/>
            <a:ext cx="3454399" cy="4567651"/>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 name="Rectangle 14"/>
          <p:cNvSpPr/>
          <p:nvPr/>
        </p:nvSpPr>
        <p:spPr>
          <a:xfrm>
            <a:off x="2948102" y="1327263"/>
            <a:ext cx="1005403" cy="338554"/>
          </a:xfrm>
          <a:prstGeom prst="rect">
            <a:avLst/>
          </a:prstGeom>
        </p:spPr>
        <p:txBody>
          <a:bodyPr wrap="none">
            <a:spAutoFit/>
          </a:bodyPr>
          <a:lstStyle/>
          <a:p>
            <a:r>
              <a:rPr lang="zh-CN" altLang="en-US" sz="1600" dirty="0" smtClean="0">
                <a:solidFill>
                  <a:schemeClr val="tx2">
                    <a:lumMod val="10000"/>
                  </a:schemeClr>
                </a:solidFill>
              </a:rPr>
              <a:t>用户标签</a:t>
            </a:r>
            <a:endParaRPr lang="en-US" sz="1600" dirty="0"/>
          </a:p>
        </p:txBody>
      </p:sp>
      <p:sp>
        <p:nvSpPr>
          <p:cNvPr id="16" name="Rectangle 15"/>
          <p:cNvSpPr/>
          <p:nvPr/>
        </p:nvSpPr>
        <p:spPr>
          <a:xfrm>
            <a:off x="8205903" y="1339963"/>
            <a:ext cx="1005403" cy="338554"/>
          </a:xfrm>
          <a:prstGeom prst="rect">
            <a:avLst/>
          </a:prstGeom>
        </p:spPr>
        <p:txBody>
          <a:bodyPr wrap="none">
            <a:spAutoFit/>
          </a:bodyPr>
          <a:lstStyle/>
          <a:p>
            <a:r>
              <a:rPr lang="zh-CN" altLang="en-US" sz="1600" dirty="0" smtClean="0">
                <a:solidFill>
                  <a:schemeClr val="tx2">
                    <a:lumMod val="10000"/>
                  </a:schemeClr>
                </a:solidFill>
              </a:rPr>
              <a:t>营销策略</a:t>
            </a:r>
            <a:endParaRPr lang="en-US" sz="1600" dirty="0"/>
          </a:p>
        </p:txBody>
      </p:sp>
      <p:sp>
        <p:nvSpPr>
          <p:cNvPr id="17" name="Rectangle 16"/>
          <p:cNvSpPr/>
          <p:nvPr/>
        </p:nvSpPr>
        <p:spPr>
          <a:xfrm>
            <a:off x="2176817" y="2037665"/>
            <a:ext cx="2865083" cy="4001095"/>
          </a:xfrm>
          <a:prstGeom prst="rect">
            <a:avLst/>
          </a:prstGeom>
        </p:spPr>
        <p:txBody>
          <a:bodyPr wrap="square">
            <a:spAutoFit/>
          </a:bodyPr>
          <a:lstStyle/>
          <a:p>
            <a:pPr algn="l"/>
            <a:r>
              <a:rPr lang="zh-CN" altLang="en-US" sz="1600" dirty="0" smtClean="0">
                <a:solidFill>
                  <a:schemeClr val="tx2">
                    <a:lumMod val="10000"/>
                  </a:schemeClr>
                </a:solidFill>
              </a:rPr>
              <a:t>年龄：</a:t>
            </a:r>
            <a:r>
              <a:rPr lang="en-US" altLang="zh-CN" sz="1600" dirty="0" smtClean="0">
                <a:solidFill>
                  <a:schemeClr val="tx2">
                    <a:lumMod val="10000"/>
                  </a:schemeClr>
                </a:solidFill>
              </a:rPr>
              <a:t>42</a:t>
            </a:r>
          </a:p>
          <a:p>
            <a:pPr algn="l"/>
            <a:r>
              <a:rPr lang="zh-CN" altLang="en-US" sz="1600" dirty="0" smtClean="0">
                <a:solidFill>
                  <a:schemeClr val="tx2">
                    <a:lumMod val="10000"/>
                  </a:schemeClr>
                </a:solidFill>
              </a:rPr>
              <a:t>客户等级：中银理财客户</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历史最高资产：</a:t>
            </a:r>
            <a:r>
              <a:rPr lang="en-US" altLang="zh-CN" sz="1600" dirty="0" smtClean="0">
                <a:solidFill>
                  <a:schemeClr val="tx2">
                    <a:lumMod val="10000"/>
                  </a:schemeClr>
                </a:solidFill>
              </a:rPr>
              <a:t>500</a:t>
            </a:r>
            <a:r>
              <a:rPr lang="zh-CN" altLang="en-US" sz="1600" dirty="0" smtClean="0">
                <a:solidFill>
                  <a:schemeClr val="tx2">
                    <a:lumMod val="10000"/>
                  </a:schemeClr>
                </a:solidFill>
              </a:rPr>
              <a:t>万</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账户现资产：</a:t>
            </a:r>
            <a:r>
              <a:rPr lang="en-US" altLang="zh-CN" sz="1600" dirty="0" smtClean="0">
                <a:solidFill>
                  <a:schemeClr val="tx2">
                    <a:lumMod val="10000"/>
                  </a:schemeClr>
                </a:solidFill>
              </a:rPr>
              <a:t>380</a:t>
            </a:r>
            <a:r>
              <a:rPr lang="zh-CN" altLang="en-US" sz="1600" dirty="0" smtClean="0">
                <a:solidFill>
                  <a:schemeClr val="tx2">
                    <a:lumMod val="10000"/>
                  </a:schemeClr>
                </a:solidFill>
              </a:rPr>
              <a:t>万</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风险偏好：稳健</a:t>
            </a:r>
            <a:endParaRPr lang="en-US" altLang="zh-CN" sz="1600" dirty="0" smtClean="0"/>
          </a:p>
          <a:p>
            <a:pPr algn="l"/>
            <a:r>
              <a:rPr lang="zh-CN" altLang="en-US" sz="1600" dirty="0" smtClean="0">
                <a:solidFill>
                  <a:schemeClr val="tx2">
                    <a:lumMod val="10000"/>
                  </a:schemeClr>
                </a:solidFill>
              </a:rPr>
              <a:t>渠道偏好：使用网银频繁</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营销响应：电话响应高</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中银信用卡：</a:t>
            </a:r>
            <a:r>
              <a:rPr lang="en-US" altLang="zh-CN" sz="1600" dirty="0" smtClean="0">
                <a:solidFill>
                  <a:schemeClr val="tx2">
                    <a:lumMod val="10000"/>
                  </a:schemeClr>
                </a:solidFill>
              </a:rPr>
              <a:t>3</a:t>
            </a:r>
            <a:r>
              <a:rPr lang="zh-CN" altLang="en-US" sz="1600" dirty="0" smtClean="0">
                <a:solidFill>
                  <a:schemeClr val="tx2">
                    <a:lumMod val="10000"/>
                  </a:schemeClr>
                </a:solidFill>
              </a:rPr>
              <a:t>张</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理财产品：</a:t>
            </a:r>
            <a:r>
              <a:rPr lang="en-US" altLang="zh-CN" sz="1600" dirty="0" smtClean="0">
                <a:solidFill>
                  <a:schemeClr val="tx2">
                    <a:lumMod val="10000"/>
                  </a:schemeClr>
                </a:solidFill>
              </a:rPr>
              <a:t>2</a:t>
            </a:r>
            <a:r>
              <a:rPr lang="zh-CN" altLang="en-US" sz="1600" dirty="0" smtClean="0">
                <a:solidFill>
                  <a:schemeClr val="tx2">
                    <a:lumMod val="10000"/>
                  </a:schemeClr>
                </a:solidFill>
              </a:rPr>
              <a:t>种</a:t>
            </a:r>
            <a:endParaRPr lang="en-US" altLang="zh-CN" sz="1600" dirty="0" smtClean="0">
              <a:solidFill>
                <a:schemeClr val="tx2">
                  <a:lumMod val="10000"/>
                </a:schemeClr>
              </a:solidFill>
            </a:endParaRPr>
          </a:p>
          <a:p>
            <a:pPr algn="l"/>
            <a:endParaRPr lang="en-US" altLang="zh-CN" sz="1600" dirty="0">
              <a:solidFill>
                <a:schemeClr val="tx2">
                  <a:lumMod val="10000"/>
                </a:schemeClr>
              </a:solidFill>
            </a:endParaRPr>
          </a:p>
          <a:p>
            <a:pPr algn="l"/>
            <a:endParaRPr lang="en-US" altLang="zh-CN" sz="1600" dirty="0" smtClean="0">
              <a:solidFill>
                <a:schemeClr val="tx2">
                  <a:lumMod val="10000"/>
                </a:schemeClr>
              </a:solidFill>
            </a:endParaRPr>
          </a:p>
          <a:p>
            <a:pPr algn="l"/>
            <a:endParaRPr lang="en-US" altLang="zh-CN" sz="1600" dirty="0">
              <a:solidFill>
                <a:schemeClr val="tx2">
                  <a:lumMod val="10000"/>
                </a:schemeClr>
              </a:solidFill>
            </a:endParaRPr>
          </a:p>
          <a:p>
            <a:pPr algn="l"/>
            <a:r>
              <a:rPr lang="zh-CN" altLang="en-US" sz="1600" dirty="0" smtClean="0">
                <a:solidFill>
                  <a:schemeClr val="tx2">
                    <a:lumMod val="10000"/>
                  </a:schemeClr>
                </a:solidFill>
              </a:rPr>
              <a:t>近期动态：</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账户近期存入</a:t>
            </a:r>
            <a:r>
              <a:rPr lang="en-US" altLang="zh-CN" sz="1600" dirty="0" smtClean="0">
                <a:solidFill>
                  <a:schemeClr val="tx2">
                    <a:lumMod val="10000"/>
                  </a:schemeClr>
                </a:solidFill>
              </a:rPr>
              <a:t>50</a:t>
            </a:r>
            <a:r>
              <a:rPr lang="zh-CN" altLang="en-US" sz="1600" dirty="0" smtClean="0">
                <a:solidFill>
                  <a:schemeClr val="tx2">
                    <a:lumMod val="10000"/>
                  </a:schemeClr>
                </a:solidFill>
              </a:rPr>
              <a:t>万现金。</a:t>
            </a:r>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其中一个理财产品下周到期。</a:t>
            </a:r>
            <a:endParaRPr lang="en-US" altLang="zh-CN" sz="1600" dirty="0" smtClean="0">
              <a:solidFill>
                <a:schemeClr val="tx2">
                  <a:lumMod val="10000"/>
                </a:schemeClr>
              </a:solidFill>
            </a:endParaRPr>
          </a:p>
          <a:p>
            <a:pPr algn="l"/>
            <a:endParaRPr lang="en-US" altLang="zh-CN" sz="1400" dirty="0" smtClean="0">
              <a:solidFill>
                <a:schemeClr val="tx2">
                  <a:lumMod val="10000"/>
                </a:schemeClr>
              </a:solidFill>
            </a:endParaRPr>
          </a:p>
        </p:txBody>
      </p:sp>
      <p:sp>
        <p:nvSpPr>
          <p:cNvPr id="18" name="Rectangle 17"/>
          <p:cNvSpPr/>
          <p:nvPr/>
        </p:nvSpPr>
        <p:spPr>
          <a:xfrm>
            <a:off x="7218717" y="2037665"/>
            <a:ext cx="2865083" cy="2062103"/>
          </a:xfrm>
          <a:prstGeom prst="rect">
            <a:avLst/>
          </a:prstGeom>
        </p:spPr>
        <p:txBody>
          <a:bodyPr wrap="square">
            <a:spAutoFit/>
          </a:bodyPr>
          <a:lstStyle/>
          <a:p>
            <a:pPr algn="l"/>
            <a:r>
              <a:rPr lang="zh-CN" altLang="en-US" sz="1600" dirty="0" smtClean="0">
                <a:solidFill>
                  <a:schemeClr val="tx2">
                    <a:lumMod val="10000"/>
                  </a:schemeClr>
                </a:solidFill>
              </a:rPr>
              <a:t>产品推荐：理财产品</a:t>
            </a:r>
            <a:r>
              <a:rPr lang="en-US" altLang="zh-CN" sz="1600" dirty="0" smtClean="0">
                <a:solidFill>
                  <a:schemeClr val="tx2">
                    <a:lumMod val="10000"/>
                  </a:schemeClr>
                </a:solidFill>
              </a:rPr>
              <a:t>A</a:t>
            </a:r>
          </a:p>
          <a:p>
            <a:pPr algn="l"/>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建议购买渠道：网上银行</a:t>
            </a:r>
            <a:endParaRPr lang="en-US" altLang="zh-CN" sz="1600" dirty="0" smtClean="0">
              <a:solidFill>
                <a:schemeClr val="tx2">
                  <a:lumMod val="10000"/>
                </a:schemeClr>
              </a:solidFill>
            </a:endParaRPr>
          </a:p>
          <a:p>
            <a:pPr algn="l"/>
            <a:endParaRPr lang="en-US" altLang="zh-CN" sz="1600" dirty="0" smtClean="0">
              <a:solidFill>
                <a:schemeClr val="tx2">
                  <a:lumMod val="10000"/>
                </a:schemeClr>
              </a:solidFill>
            </a:endParaRPr>
          </a:p>
          <a:p>
            <a:pPr algn="l"/>
            <a:r>
              <a:rPr lang="zh-CN" altLang="en-US" sz="1600" dirty="0" smtClean="0">
                <a:solidFill>
                  <a:schemeClr val="tx2">
                    <a:lumMod val="10000"/>
                  </a:schemeClr>
                </a:solidFill>
              </a:rPr>
              <a:t>营销方式：短信</a:t>
            </a:r>
            <a:r>
              <a:rPr lang="en-US" altLang="zh-CN" sz="1600" dirty="0" smtClean="0">
                <a:solidFill>
                  <a:schemeClr val="tx2">
                    <a:lumMod val="10000"/>
                  </a:schemeClr>
                </a:solidFill>
              </a:rPr>
              <a:t>+</a:t>
            </a:r>
            <a:r>
              <a:rPr lang="zh-CN" altLang="en-US" sz="1600" dirty="0" smtClean="0">
                <a:solidFill>
                  <a:schemeClr val="tx2">
                    <a:lumMod val="10000"/>
                  </a:schemeClr>
                </a:solidFill>
              </a:rPr>
              <a:t>电话</a:t>
            </a:r>
            <a:endParaRPr lang="en-US" altLang="zh-CN" sz="1600" dirty="0" smtClean="0">
              <a:solidFill>
                <a:schemeClr val="tx2">
                  <a:lumMod val="10000"/>
                </a:schemeClr>
              </a:solidFill>
            </a:endParaRPr>
          </a:p>
          <a:p>
            <a:pPr algn="l"/>
            <a:endParaRPr lang="en-US" altLang="zh-CN" sz="1600" dirty="0">
              <a:solidFill>
                <a:schemeClr val="tx2">
                  <a:lumMod val="10000"/>
                </a:schemeClr>
              </a:solidFill>
            </a:endParaRPr>
          </a:p>
          <a:p>
            <a:pPr algn="l"/>
            <a:r>
              <a:rPr lang="zh-CN" altLang="en-US" sz="1600" dirty="0" smtClean="0">
                <a:solidFill>
                  <a:schemeClr val="tx2">
                    <a:lumMod val="10000"/>
                  </a:schemeClr>
                </a:solidFill>
              </a:rPr>
              <a:t>切入方式：产品到期</a:t>
            </a:r>
            <a:endParaRPr lang="en-US" altLang="zh-CN" sz="1600" dirty="0" smtClean="0">
              <a:solidFill>
                <a:schemeClr val="tx2">
                  <a:lumMod val="10000"/>
                </a:schemeClr>
              </a:solidFill>
            </a:endParaRPr>
          </a:p>
          <a:p>
            <a:pPr algn="l"/>
            <a:endParaRPr lang="en-US" altLang="zh-CN" sz="1600" dirty="0">
              <a:solidFill>
                <a:schemeClr val="tx2">
                  <a:lumMod val="10000"/>
                </a:schemeClr>
              </a:solidFill>
            </a:endParaRPr>
          </a:p>
        </p:txBody>
      </p:sp>
    </p:spTree>
    <p:extLst>
      <p:ext uri="{BB962C8B-B14F-4D97-AF65-F5344CB8AC3E}">
        <p14:creationId xmlns:p14="http://schemas.microsoft.com/office/powerpoint/2010/main" val="1877070147"/>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297278" y="483940"/>
            <a:ext cx="7748515"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多维用户画像体系是</a:t>
            </a:r>
            <a:r>
              <a:rPr lang="zh-CN" altLang="en-US" sz="2000" dirty="0" smtClean="0"/>
              <a:t>个性化服务的</a:t>
            </a:r>
            <a:r>
              <a:rPr lang="zh-CN" altLang="en-US" sz="2000" dirty="0"/>
              <a:t>核心</a:t>
            </a:r>
            <a:r>
              <a:rPr lang="zh-CN" altLang="en-US" sz="2000" dirty="0" smtClean="0"/>
              <a:t>，是</a:t>
            </a:r>
            <a:r>
              <a:rPr lang="zh-CN" altLang="en-US" sz="2000" dirty="0"/>
              <a:t>银行数据价值变现的基础</a:t>
            </a:r>
            <a:endParaRPr sz="2000" dirty="0"/>
          </a:p>
        </p:txBody>
      </p:sp>
      <p:pic>
        <p:nvPicPr>
          <p:cNvPr id="10" name="图片 9">
            <a:extLst>
              <a:ext uri="{FF2B5EF4-FFF2-40B4-BE49-F238E27FC236}">
                <a16:creationId xmlns:a16="http://schemas.microsoft.com/office/drawing/2014/main" xmlns="" id="{6172C026-8167-4215-A136-740F7FD69F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2227" y="1832964"/>
            <a:ext cx="3748617" cy="2412211"/>
          </a:xfrm>
          <a:prstGeom prst="rect">
            <a:avLst/>
          </a:prstGeom>
        </p:spPr>
      </p:pic>
      <p:sp>
        <p:nvSpPr>
          <p:cNvPr id="3" name="矩形: 圆角 2">
            <a:extLst>
              <a:ext uri="{FF2B5EF4-FFF2-40B4-BE49-F238E27FC236}">
                <a16:creationId xmlns:a16="http://schemas.microsoft.com/office/drawing/2014/main" xmlns="" id="{5C70EC23-A260-48DF-AE6B-F3AEFD593524}"/>
              </a:ext>
            </a:extLst>
          </p:cNvPr>
          <p:cNvSpPr/>
          <p:nvPr/>
        </p:nvSpPr>
        <p:spPr>
          <a:xfrm>
            <a:off x="9153211" y="3842624"/>
            <a:ext cx="1526647" cy="536583"/>
          </a:xfrm>
          <a:prstGeom prst="roundRect">
            <a:avLst/>
          </a:prstGeom>
          <a:solidFill>
            <a:srgbClr val="C00000"/>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FFFFFF"/>
                </a:solidFill>
                <a:effectLst/>
                <a:uFillTx/>
                <a:latin typeface="+mn-lt"/>
                <a:ea typeface="+mn-ea"/>
                <a:cs typeface="+mn-cs"/>
                <a:sym typeface="Helvetica Neue Medium"/>
              </a:rPr>
              <a:t>改成符合我們的體系</a:t>
            </a:r>
          </a:p>
        </p:txBody>
      </p:sp>
      <p:sp>
        <p:nvSpPr>
          <p:cNvPr id="11" name="Rectangle 6">
            <a:extLst>
              <a:ext uri="{FF2B5EF4-FFF2-40B4-BE49-F238E27FC236}">
                <a16:creationId xmlns:a16="http://schemas.microsoft.com/office/drawing/2014/main" xmlns="" id="{D14B9C40-5D74-4BAA-9CF4-9C1F7912BFA6}"/>
              </a:ext>
            </a:extLst>
          </p:cNvPr>
          <p:cNvSpPr/>
          <p:nvPr/>
        </p:nvSpPr>
        <p:spPr>
          <a:xfrm>
            <a:off x="1278168" y="1382286"/>
            <a:ext cx="6151332" cy="5016758"/>
          </a:xfrm>
          <a:prstGeom prst="rect">
            <a:avLst/>
          </a:prstGeom>
        </p:spPr>
        <p:txBody>
          <a:bodyPr wrap="square">
            <a:spAutoFit/>
          </a:bodyPr>
          <a:lstStyle/>
          <a:p>
            <a:pPr algn="l"/>
            <a:r>
              <a:rPr lang="zh-CN" altLang="en-US" sz="2000" dirty="0">
                <a:solidFill>
                  <a:schemeClr val="tx2">
                    <a:lumMod val="10000"/>
                  </a:schemeClr>
                </a:solidFill>
              </a:rPr>
              <a:t>用户画像，</a:t>
            </a:r>
            <a:r>
              <a:rPr lang="zh-CN" altLang="en-US" sz="2000" dirty="0" smtClean="0">
                <a:solidFill>
                  <a:schemeClr val="tx2">
                    <a:lumMod val="10000"/>
                  </a:schemeClr>
                </a:solidFill>
              </a:rPr>
              <a:t>本质是通过大数据技术，对个人</a:t>
            </a:r>
            <a:r>
              <a:rPr lang="zh-CN" altLang="en-US" sz="2000" dirty="0">
                <a:solidFill>
                  <a:schemeClr val="tx2">
                    <a:lumMod val="10000"/>
                  </a:schemeClr>
                </a:solidFill>
              </a:rPr>
              <a:t>客户进行标签化刻画与精准</a:t>
            </a:r>
            <a:r>
              <a:rPr lang="zh-CN" altLang="en-US" sz="2000" dirty="0" smtClean="0">
                <a:solidFill>
                  <a:schemeClr val="tx2">
                    <a:lumMod val="10000"/>
                  </a:schemeClr>
                </a:solidFill>
              </a:rPr>
              <a:t>分层，深度理解客户，精准定位目标</a:t>
            </a:r>
            <a:r>
              <a:rPr lang="zh-CN" altLang="en-US" sz="2000" dirty="0">
                <a:solidFill>
                  <a:schemeClr val="tx2">
                    <a:lumMod val="10000"/>
                  </a:schemeClr>
                </a:solidFill>
              </a:rPr>
              <a:t>客户</a:t>
            </a:r>
            <a:r>
              <a:rPr lang="zh-CN" altLang="en-US" sz="2000" dirty="0" smtClean="0">
                <a:solidFill>
                  <a:schemeClr val="tx2">
                    <a:lumMod val="10000"/>
                  </a:schemeClr>
                </a:solidFill>
              </a:rPr>
              <a:t>，通过个性化提供高阶形式的金融服务，实现</a:t>
            </a:r>
            <a:r>
              <a:rPr lang="zh-CN" altLang="en-US" sz="2000" dirty="0">
                <a:solidFill>
                  <a:schemeClr val="tx2">
                    <a:lumMod val="10000"/>
                  </a:schemeClr>
                </a:solidFill>
              </a:rPr>
              <a:t>价值变现。</a:t>
            </a:r>
            <a:endParaRPr lang="en-US" altLang="zh-CN" sz="2000" dirty="0" smtClean="0">
              <a:solidFill>
                <a:schemeClr val="tx2">
                  <a:lumMod val="10000"/>
                </a:schemeClr>
              </a:solidFill>
            </a:endParaRPr>
          </a:p>
          <a:p>
            <a:pPr algn="l"/>
            <a:endParaRPr lang="en-US" altLang="zh-CN" sz="2000" dirty="0">
              <a:solidFill>
                <a:schemeClr val="tx2">
                  <a:lumMod val="10000"/>
                </a:schemeClr>
              </a:solidFill>
            </a:endParaRPr>
          </a:p>
          <a:p>
            <a:pPr algn="l"/>
            <a:r>
              <a:rPr lang="zh-CN" altLang="en-US" sz="2000" dirty="0">
                <a:solidFill>
                  <a:schemeClr val="tx2">
                    <a:lumMod val="10000"/>
                  </a:schemeClr>
                </a:solidFill>
              </a:rPr>
              <a:t>金融企业需要借助于户画像，来了解客户，找到目标客户，触达客户，同时及时地了解客户的相关动态，提供相应产品服务，控制相应风险。</a:t>
            </a:r>
            <a:endParaRPr lang="en-US" altLang="zh-CN" sz="2000" dirty="0">
              <a:solidFill>
                <a:schemeClr val="tx2">
                  <a:lumMod val="10000"/>
                </a:schemeClr>
              </a:solidFill>
            </a:endParaRPr>
          </a:p>
          <a:p>
            <a:pPr algn="l"/>
            <a:endParaRPr lang="en-US" altLang="zh-CN" sz="2000" dirty="0">
              <a:solidFill>
                <a:schemeClr val="tx2">
                  <a:lumMod val="10000"/>
                </a:schemeClr>
              </a:solidFill>
            </a:endParaRPr>
          </a:p>
          <a:p>
            <a:pPr algn="l"/>
            <a:r>
              <a:rPr lang="zh-CN" altLang="en-US" sz="2000" dirty="0">
                <a:solidFill>
                  <a:schemeClr val="tx2">
                    <a:lumMod val="10000"/>
                  </a:schemeClr>
                </a:solidFill>
              </a:rPr>
              <a:t>应用场景可涵盖：</a:t>
            </a:r>
            <a:endParaRPr lang="en-US" altLang="zh-CN" sz="2000" dirty="0">
              <a:solidFill>
                <a:schemeClr val="tx2">
                  <a:lumMod val="10000"/>
                </a:schemeClr>
              </a:solidFill>
            </a:endParaRPr>
          </a:p>
          <a:p>
            <a:pPr algn="l"/>
            <a:r>
              <a:rPr lang="en-US" altLang="zh-CN" sz="2000" dirty="0">
                <a:solidFill>
                  <a:schemeClr val="tx2">
                    <a:lumMod val="10000"/>
                  </a:schemeClr>
                </a:solidFill>
              </a:rPr>
              <a:t>A</a:t>
            </a:r>
            <a:r>
              <a:rPr lang="zh-CN" altLang="en-US" sz="2000" dirty="0">
                <a:solidFill>
                  <a:schemeClr val="tx2">
                    <a:lumMod val="10000"/>
                  </a:schemeClr>
                </a:solidFill>
              </a:rPr>
              <a:t>：寻找分期客户</a:t>
            </a:r>
            <a:endParaRPr lang="en-US" altLang="zh-CN" sz="2000" dirty="0">
              <a:solidFill>
                <a:schemeClr val="tx2">
                  <a:lumMod val="10000"/>
                </a:schemeClr>
              </a:solidFill>
            </a:endParaRPr>
          </a:p>
          <a:p>
            <a:pPr algn="l"/>
            <a:r>
              <a:rPr lang="en-US" altLang="zh-CN" sz="2000" dirty="0">
                <a:solidFill>
                  <a:schemeClr val="tx2">
                    <a:lumMod val="10000"/>
                  </a:schemeClr>
                </a:solidFill>
              </a:rPr>
              <a:t>B</a:t>
            </a:r>
            <a:r>
              <a:rPr lang="zh-CN" altLang="en-US" sz="2000" dirty="0">
                <a:solidFill>
                  <a:schemeClr val="tx2">
                    <a:lumMod val="10000"/>
                  </a:schemeClr>
                </a:solidFill>
              </a:rPr>
              <a:t>：寻找高端资产客户</a:t>
            </a:r>
            <a:endParaRPr lang="en-US" altLang="zh-CN" sz="2000" dirty="0">
              <a:solidFill>
                <a:schemeClr val="tx2">
                  <a:lumMod val="10000"/>
                </a:schemeClr>
              </a:solidFill>
            </a:endParaRPr>
          </a:p>
          <a:p>
            <a:pPr algn="l"/>
            <a:r>
              <a:rPr lang="en-US" altLang="zh-CN" sz="2000" dirty="0">
                <a:solidFill>
                  <a:schemeClr val="tx2">
                    <a:lumMod val="10000"/>
                  </a:schemeClr>
                </a:solidFill>
              </a:rPr>
              <a:t>C</a:t>
            </a:r>
            <a:r>
              <a:rPr lang="zh-CN" altLang="en-US" sz="2000" dirty="0">
                <a:solidFill>
                  <a:schemeClr val="tx2">
                    <a:lumMod val="10000"/>
                  </a:schemeClr>
                </a:solidFill>
              </a:rPr>
              <a:t>：寻找理财客户</a:t>
            </a:r>
            <a:endParaRPr lang="en-US" altLang="zh-CN" sz="2000" dirty="0">
              <a:solidFill>
                <a:schemeClr val="tx2">
                  <a:lumMod val="10000"/>
                </a:schemeClr>
              </a:solidFill>
            </a:endParaRPr>
          </a:p>
          <a:p>
            <a:pPr algn="l"/>
            <a:r>
              <a:rPr lang="en-US" altLang="zh-CN" sz="2000" dirty="0">
                <a:solidFill>
                  <a:schemeClr val="tx2">
                    <a:lumMod val="10000"/>
                  </a:schemeClr>
                </a:solidFill>
              </a:rPr>
              <a:t>D</a:t>
            </a:r>
            <a:r>
              <a:rPr lang="zh-CN" altLang="en-US" sz="2000" dirty="0">
                <a:solidFill>
                  <a:schemeClr val="tx2">
                    <a:lumMod val="10000"/>
                  </a:schemeClr>
                </a:solidFill>
              </a:rPr>
              <a:t>：寻找境外游客户</a:t>
            </a:r>
            <a:endParaRPr lang="en-US" altLang="zh-CN" sz="2000" dirty="0">
              <a:solidFill>
                <a:schemeClr val="tx2">
                  <a:lumMod val="10000"/>
                </a:schemeClr>
              </a:solidFill>
            </a:endParaRPr>
          </a:p>
          <a:p>
            <a:pPr algn="l"/>
            <a:r>
              <a:rPr lang="en-US" altLang="zh-CN" sz="2000" dirty="0">
                <a:solidFill>
                  <a:schemeClr val="tx2">
                    <a:lumMod val="10000"/>
                  </a:schemeClr>
                </a:solidFill>
              </a:rPr>
              <a:t>E</a:t>
            </a:r>
            <a:r>
              <a:rPr lang="zh-CN" altLang="en-US" sz="2000" dirty="0">
                <a:solidFill>
                  <a:schemeClr val="tx2">
                    <a:lumMod val="10000"/>
                  </a:schemeClr>
                </a:solidFill>
              </a:rPr>
              <a:t>：寻找贷款客户</a:t>
            </a:r>
            <a:endParaRPr lang="en-US" altLang="zh-CN" sz="2000" dirty="0">
              <a:solidFill>
                <a:schemeClr val="tx2">
                  <a:lumMod val="10000"/>
                </a:schemeClr>
              </a:solidFill>
            </a:endParaRPr>
          </a:p>
          <a:p>
            <a:pPr algn="l"/>
            <a:r>
              <a:rPr lang="en-US" altLang="zh-CN" sz="2000" dirty="0">
                <a:solidFill>
                  <a:schemeClr val="tx2">
                    <a:lumMod val="10000"/>
                  </a:schemeClr>
                </a:solidFill>
              </a:rPr>
              <a:t>F</a:t>
            </a:r>
            <a:r>
              <a:rPr lang="zh-CN" altLang="en-US" sz="2000" dirty="0">
                <a:solidFill>
                  <a:schemeClr val="tx2">
                    <a:lumMod val="10000"/>
                  </a:schemeClr>
                </a:solidFill>
              </a:rPr>
              <a:t>：个性化风险定价</a:t>
            </a:r>
            <a:endParaRPr lang="en-US" altLang="zh-CN" sz="2000" dirty="0">
              <a:solidFill>
                <a:schemeClr val="tx2">
                  <a:lumMod val="10000"/>
                </a:schemeClr>
              </a:solidFill>
            </a:endParaRPr>
          </a:p>
        </p:txBody>
      </p:sp>
      <p:pic>
        <p:nvPicPr>
          <p:cNvPr id="12" name="Picture 2">
            <a:extLst>
              <a:ext uri="{FF2B5EF4-FFF2-40B4-BE49-F238E27FC236}">
                <a16:creationId xmlns:a16="http://schemas.microsoft.com/office/drawing/2014/main" xmlns="" id="{5B47DA0C-2017-44D2-AF8B-54F71B7DC19C}"/>
              </a:ext>
            </a:extLst>
          </p:cNvPr>
          <p:cNvPicPr>
            <a:picLocks noChangeAspect="1"/>
          </p:cNvPicPr>
          <p:nvPr/>
        </p:nvPicPr>
        <p:blipFill>
          <a:blip r:embed="rId5"/>
          <a:stretch>
            <a:fillRect/>
          </a:stretch>
        </p:blipFill>
        <p:spPr>
          <a:xfrm>
            <a:off x="8312483" y="4513240"/>
            <a:ext cx="3208107" cy="2078222"/>
          </a:xfrm>
          <a:prstGeom prst="rect">
            <a:avLst/>
          </a:prstGeom>
        </p:spPr>
      </p:pic>
    </p:spTree>
    <p:extLst>
      <p:ext uri="{BB962C8B-B14F-4D97-AF65-F5344CB8AC3E}">
        <p14:creationId xmlns:p14="http://schemas.microsoft.com/office/powerpoint/2010/main" val="92044861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2" name="Rectangle 1"/>
          <p:cNvSpPr/>
          <p:nvPr/>
        </p:nvSpPr>
        <p:spPr>
          <a:xfrm>
            <a:off x="1079106" y="1193946"/>
            <a:ext cx="4852610" cy="523220"/>
          </a:xfrm>
          <a:prstGeom prst="rect">
            <a:avLst/>
          </a:prstGeom>
        </p:spPr>
        <p:txBody>
          <a:bodyPr wrap="none">
            <a:spAutoFit/>
          </a:bodyPr>
          <a:lstStyle/>
          <a:p>
            <a:pPr algn="l"/>
            <a:r>
              <a:rPr lang="en-US" altLang="zh-CN" sz="2800" dirty="0" smtClean="0">
                <a:solidFill>
                  <a:schemeClr val="tx2">
                    <a:lumMod val="10000"/>
                  </a:schemeClr>
                </a:solidFill>
              </a:rPr>
              <a:t>FDT-AI</a:t>
            </a:r>
            <a:r>
              <a:rPr lang="zh-CN" altLang="en-US" sz="2800" dirty="0" smtClean="0">
                <a:solidFill>
                  <a:schemeClr val="tx2">
                    <a:lumMod val="10000"/>
                  </a:schemeClr>
                </a:solidFill>
              </a:rPr>
              <a:t>核心优势：智能计算</a:t>
            </a:r>
            <a:endParaRPr lang="zh-TW" altLang="en-US" sz="2800" dirty="0">
              <a:solidFill>
                <a:schemeClr val="tx2">
                  <a:lumMod val="10000"/>
                </a:schemeClr>
              </a:solidFill>
            </a:endParaRPr>
          </a:p>
        </p:txBody>
      </p:sp>
      <p:sp>
        <p:nvSpPr>
          <p:cNvPr id="37" name="Shape 298">
            <a:extLst>
              <a:ext uri="{FF2B5EF4-FFF2-40B4-BE49-F238E27FC236}">
                <a16:creationId xmlns:a16="http://schemas.microsoft.com/office/drawing/2014/main" xmlns="" id="{34158C34-48F6-4E1A-8C65-29614E20A355}"/>
              </a:ext>
            </a:extLst>
          </p:cNvPr>
          <p:cNvSpPr txBox="1">
            <a:spLocks noGrp="1"/>
          </p:cNvSpPr>
          <p:nvPr>
            <p:ph type="body" idx="1"/>
          </p:nvPr>
        </p:nvSpPr>
        <p:spPr>
          <a:xfrm>
            <a:off x="1212836" y="5003259"/>
            <a:ext cx="1957590" cy="1075644"/>
          </a:xfrm>
          <a:prstGeom prst="rect">
            <a:avLst/>
          </a:prstGeom>
          <a:noFill/>
          <a:ln>
            <a:noFill/>
          </a:ln>
        </p:spPr>
        <p:txBody>
          <a:bodyPr wrap="square" lIns="91425" tIns="45700" rIns="91425" bIns="45700" anchor="t" anchorCtr="0">
            <a:noAutofit/>
          </a:bodyPr>
          <a:lstStyle/>
          <a:p>
            <a:pPr marL="228600" marR="0" lvl="0" indent="-228600" algn="l" rtl="0">
              <a:lnSpc>
                <a:spcPct val="70000"/>
              </a:lnSpc>
              <a:spcBef>
                <a:spcPts val="0"/>
              </a:spcBef>
              <a:spcAft>
                <a:spcPts val="0"/>
              </a:spcAft>
              <a:buClr>
                <a:schemeClr val="lt1"/>
              </a:buClr>
              <a:buSzPts val="1295"/>
              <a:buFont typeface="Arial"/>
              <a:buChar char="•"/>
            </a:pPr>
            <a:r>
              <a:rPr lang="en-US" sz="1200" b="0" i="0" u="none" strike="noStrike" cap="none" dirty="0">
                <a:solidFill>
                  <a:schemeClr val="bg2"/>
                </a:solidFill>
                <a:latin typeface="Century Gothic"/>
                <a:ea typeface="Century Gothic"/>
                <a:cs typeface="Century Gothic"/>
                <a:sym typeface="Century Gothic"/>
              </a:rPr>
              <a:t>模式：2B</a:t>
            </a:r>
          </a:p>
          <a:p>
            <a:pPr marL="228600" marR="0" lvl="0" indent="-228600" algn="l" rtl="0">
              <a:lnSpc>
                <a:spcPct val="70000"/>
              </a:lnSpc>
              <a:spcBef>
                <a:spcPts val="1000"/>
              </a:spcBef>
              <a:spcAft>
                <a:spcPts val="0"/>
              </a:spcAft>
              <a:buClr>
                <a:srgbClr val="FFFF00"/>
              </a:buClr>
              <a:buSzPts val="1295"/>
              <a:buFont typeface="Arial"/>
              <a:buChar char="•"/>
            </a:pPr>
            <a:r>
              <a:rPr lang="en-US" sz="1200" b="0" i="0" u="none" strike="noStrike" cap="none" dirty="0" err="1">
                <a:solidFill>
                  <a:schemeClr val="bg2"/>
                </a:solidFill>
                <a:latin typeface="Century Gothic"/>
                <a:ea typeface="Century Gothic"/>
                <a:cs typeface="Century Gothic"/>
                <a:sym typeface="Century Gothic"/>
              </a:rPr>
              <a:t>目的：增效、节约</a:t>
            </a:r>
            <a:endParaRPr lang="en-US" sz="1200" b="0" i="0" u="none" strike="noStrike" cap="none" dirty="0">
              <a:solidFill>
                <a:schemeClr val="bg2"/>
              </a:solidFill>
              <a:latin typeface="Century Gothic"/>
              <a:ea typeface="Century Gothic"/>
              <a:cs typeface="Century Gothic"/>
              <a:sym typeface="Century Gothic"/>
            </a:endParaRPr>
          </a:p>
          <a:p>
            <a:pPr marL="228600" marR="0" lvl="0" indent="-228600" algn="l" rtl="0">
              <a:lnSpc>
                <a:spcPct val="70000"/>
              </a:lnSpc>
              <a:spcBef>
                <a:spcPts val="1000"/>
              </a:spcBef>
              <a:spcAft>
                <a:spcPts val="0"/>
              </a:spcAft>
              <a:buClr>
                <a:schemeClr val="lt1"/>
              </a:buClr>
              <a:buSzPts val="1295"/>
              <a:buFont typeface="Arial"/>
              <a:buChar char="•"/>
            </a:pPr>
            <a:r>
              <a:rPr lang="zh-CN" altLang="en-US" sz="1200" dirty="0" smtClean="0">
                <a:solidFill>
                  <a:schemeClr val="bg2"/>
                </a:solidFill>
                <a:latin typeface="Century Gothic"/>
                <a:ea typeface="Century Gothic"/>
                <a:cs typeface="Century Gothic"/>
                <a:sym typeface="Century Gothic"/>
              </a:rPr>
              <a:t>途径</a:t>
            </a:r>
            <a:r>
              <a:rPr lang="en-US" sz="1200" b="0" i="0" u="none" strike="noStrike" cap="none" dirty="0" smtClean="0">
                <a:solidFill>
                  <a:schemeClr val="bg2"/>
                </a:solidFill>
                <a:latin typeface="Century Gothic"/>
                <a:ea typeface="Century Gothic"/>
                <a:cs typeface="Century Gothic"/>
                <a:sym typeface="Century Gothic"/>
              </a:rPr>
              <a:t>：</a:t>
            </a:r>
            <a:r>
              <a:rPr lang="en-US" sz="1200" b="0" i="0" u="none" strike="noStrike" cap="none" dirty="0">
                <a:solidFill>
                  <a:schemeClr val="bg2"/>
                </a:solidFill>
                <a:latin typeface="Century Gothic"/>
                <a:ea typeface="Century Gothic"/>
                <a:cs typeface="Century Gothic"/>
                <a:sym typeface="Century Gothic"/>
              </a:rPr>
              <a:t>智能推荐引擎</a:t>
            </a:r>
          </a:p>
          <a:p>
            <a:pPr marL="228600" marR="0" lvl="0" indent="-228600" algn="l" rtl="0">
              <a:lnSpc>
                <a:spcPct val="70000"/>
              </a:lnSpc>
              <a:spcBef>
                <a:spcPts val="1000"/>
              </a:spcBef>
              <a:spcAft>
                <a:spcPts val="0"/>
              </a:spcAft>
              <a:buClr>
                <a:schemeClr val="lt1"/>
              </a:buClr>
              <a:buSzPts val="1295"/>
              <a:buFont typeface="Arial"/>
              <a:buNone/>
            </a:pPr>
            <a:endParaRPr sz="1200" b="0" i="0" u="none" strike="noStrike" cap="none" dirty="0">
              <a:solidFill>
                <a:schemeClr val="bg2"/>
              </a:solidFill>
              <a:latin typeface="Century Gothic"/>
              <a:ea typeface="Century Gothic"/>
              <a:cs typeface="Century Gothic"/>
              <a:sym typeface="Century Gothic"/>
            </a:endParaRPr>
          </a:p>
          <a:p>
            <a:pPr marL="228600" marR="0" lvl="0" indent="-228600" algn="l" rtl="0">
              <a:lnSpc>
                <a:spcPct val="70000"/>
              </a:lnSpc>
              <a:spcBef>
                <a:spcPts val="1000"/>
              </a:spcBef>
              <a:spcAft>
                <a:spcPts val="0"/>
              </a:spcAft>
              <a:buClr>
                <a:schemeClr val="lt1"/>
              </a:buClr>
              <a:buSzPts val="1295"/>
              <a:buFont typeface="Arial"/>
              <a:buNone/>
            </a:pPr>
            <a:endParaRPr sz="1200" b="0" i="0" u="none" strike="noStrike" cap="none" dirty="0">
              <a:solidFill>
                <a:schemeClr val="bg2"/>
              </a:solidFill>
              <a:latin typeface="Century Gothic"/>
              <a:ea typeface="Century Gothic"/>
              <a:cs typeface="Century Gothic"/>
              <a:sym typeface="Century Gothic"/>
            </a:endParaRPr>
          </a:p>
          <a:p>
            <a:pPr marL="228600" marR="0" lvl="0" indent="-228600" algn="l" rtl="0">
              <a:lnSpc>
                <a:spcPct val="70000"/>
              </a:lnSpc>
              <a:spcBef>
                <a:spcPts val="1000"/>
              </a:spcBef>
              <a:buClr>
                <a:schemeClr val="lt1"/>
              </a:buClr>
              <a:buSzPts val="1295"/>
              <a:buFont typeface="Arial"/>
              <a:buNone/>
            </a:pPr>
            <a:endParaRPr sz="1200" b="0" i="0" u="none" strike="noStrike" cap="none" dirty="0">
              <a:solidFill>
                <a:schemeClr val="bg2"/>
              </a:solidFill>
              <a:latin typeface="Century Gothic"/>
              <a:ea typeface="Century Gothic"/>
              <a:cs typeface="Century Gothic"/>
              <a:sym typeface="Century Gothic"/>
            </a:endParaRPr>
          </a:p>
        </p:txBody>
      </p:sp>
      <p:sp>
        <p:nvSpPr>
          <p:cNvPr id="38" name="Shape 299">
            <a:extLst>
              <a:ext uri="{FF2B5EF4-FFF2-40B4-BE49-F238E27FC236}">
                <a16:creationId xmlns:a16="http://schemas.microsoft.com/office/drawing/2014/main" xmlns="" id="{2B5413FD-F3DE-45C7-9350-FA43F67215FB}"/>
              </a:ext>
            </a:extLst>
          </p:cNvPr>
          <p:cNvSpPr/>
          <p:nvPr/>
        </p:nvSpPr>
        <p:spPr>
          <a:xfrm>
            <a:off x="5752639" y="2886878"/>
            <a:ext cx="2678805" cy="1674253"/>
          </a:xfrm>
          <a:prstGeom prst="frame">
            <a:avLst>
              <a:gd name="adj1" fmla="val 125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r>
              <a:rPr lang="en-US" sz="2400" b="1" dirty="0" smtClean="0">
                <a:solidFill>
                  <a:schemeClr val="bg2">
                    <a:lumMod val="50000"/>
                  </a:schemeClr>
                </a:solidFill>
                <a:latin typeface="Century Gothic"/>
                <a:ea typeface="Century Gothic"/>
                <a:cs typeface="Century Gothic"/>
                <a:sym typeface="Century Gothic"/>
              </a:rPr>
              <a:t>智能</a:t>
            </a:r>
            <a:r>
              <a:rPr lang="zh-CN" altLang="en-US" sz="2400" b="1" dirty="0" smtClean="0">
                <a:solidFill>
                  <a:schemeClr val="bg2">
                    <a:lumMod val="50000"/>
                  </a:schemeClr>
                </a:solidFill>
                <a:latin typeface="Century Gothic"/>
                <a:ea typeface="Century Gothic"/>
                <a:cs typeface="Century Gothic"/>
                <a:sym typeface="Century Gothic"/>
              </a:rPr>
              <a:t>计算及</a:t>
            </a:r>
            <a:r>
              <a:rPr lang="en-US" sz="2400" b="1" dirty="0" smtClean="0">
                <a:solidFill>
                  <a:schemeClr val="bg2">
                    <a:lumMod val="50000"/>
                  </a:schemeClr>
                </a:solidFill>
                <a:latin typeface="Century Gothic"/>
                <a:ea typeface="Century Gothic"/>
                <a:cs typeface="Century Gothic"/>
                <a:sym typeface="Century Gothic"/>
              </a:rPr>
              <a:t>个性化</a:t>
            </a:r>
            <a:r>
              <a:rPr lang="zh-CN" altLang="en-US" sz="2400" b="1" dirty="0" smtClean="0">
                <a:solidFill>
                  <a:schemeClr val="bg2">
                    <a:lumMod val="50000"/>
                  </a:schemeClr>
                </a:solidFill>
                <a:latin typeface="Century Gothic"/>
                <a:ea typeface="Century Gothic"/>
                <a:cs typeface="Century Gothic"/>
                <a:sym typeface="Century Gothic"/>
              </a:rPr>
              <a:t>推荐</a:t>
            </a:r>
            <a:r>
              <a:rPr lang="en-US" sz="2400" b="1" dirty="0" smtClean="0">
                <a:solidFill>
                  <a:schemeClr val="bg2">
                    <a:lumMod val="50000"/>
                  </a:schemeClr>
                </a:solidFill>
                <a:latin typeface="Century Gothic"/>
                <a:ea typeface="Century Gothic"/>
                <a:cs typeface="Century Gothic"/>
                <a:sym typeface="Century Gothic"/>
              </a:rPr>
              <a:t>引擎</a:t>
            </a:r>
            <a:endParaRPr lang="en-US" sz="2400" b="1" dirty="0">
              <a:solidFill>
                <a:schemeClr val="bg2">
                  <a:lumMod val="50000"/>
                </a:schemeClr>
              </a:solidFill>
              <a:latin typeface="Century Gothic"/>
              <a:ea typeface="Century Gothic"/>
              <a:cs typeface="Century Gothic"/>
              <a:sym typeface="Century Gothic"/>
            </a:endParaRPr>
          </a:p>
        </p:txBody>
      </p:sp>
      <p:sp>
        <p:nvSpPr>
          <p:cNvPr id="42" name="Shape 303">
            <a:extLst>
              <a:ext uri="{FF2B5EF4-FFF2-40B4-BE49-F238E27FC236}">
                <a16:creationId xmlns:a16="http://schemas.microsoft.com/office/drawing/2014/main" xmlns="" id="{5B4F6F60-56D8-4357-B0B3-8588F1FF058C}"/>
              </a:ext>
            </a:extLst>
          </p:cNvPr>
          <p:cNvSpPr txBox="1"/>
          <p:nvPr/>
        </p:nvSpPr>
        <p:spPr>
          <a:xfrm>
            <a:off x="9145346" y="2920684"/>
            <a:ext cx="1119217" cy="369332"/>
          </a:xfrm>
          <a:prstGeom prst="rect">
            <a:avLst/>
          </a:prstGeom>
          <a:solidFill>
            <a:schemeClr val="bg1">
              <a:lumMod val="95000"/>
            </a:schemeClr>
          </a:solidFill>
          <a:ln w="9525" cap="flat" cmpd="sng">
            <a:solidFill>
              <a:srgbClr val="D4A344"/>
            </a:solidFill>
            <a:prstDash val="solid"/>
            <a:round/>
            <a:headEnd type="none" w="med" len="med"/>
            <a:tailEnd type="none" w="med" len="med"/>
          </a:ln>
        </p:spPr>
        <p:txBody>
          <a:bodyPr wrap="square" lIns="91425" tIns="45700" rIns="91425" bIns="45700" anchor="t" anchorCtr="0">
            <a:noAutofit/>
          </a:bodyPr>
          <a:lstStyle/>
          <a:p>
            <a:pPr marL="0" marR="0" lvl="0" indent="0" algn="l" rtl="0">
              <a:spcBef>
                <a:spcPts val="0"/>
              </a:spcBef>
              <a:buNone/>
            </a:pPr>
            <a:r>
              <a:rPr lang="en-US" sz="1600" dirty="0">
                <a:solidFill>
                  <a:schemeClr val="bg2">
                    <a:lumMod val="50000"/>
                  </a:schemeClr>
                </a:solidFill>
                <a:latin typeface="Century Gothic"/>
                <a:ea typeface="Century Gothic"/>
                <a:cs typeface="Century Gothic"/>
                <a:sym typeface="Century Gothic"/>
              </a:rPr>
              <a:t>基金信息</a:t>
            </a:r>
          </a:p>
        </p:txBody>
      </p:sp>
      <p:sp>
        <p:nvSpPr>
          <p:cNvPr id="43" name="Shape 304">
            <a:extLst>
              <a:ext uri="{FF2B5EF4-FFF2-40B4-BE49-F238E27FC236}">
                <a16:creationId xmlns:a16="http://schemas.microsoft.com/office/drawing/2014/main" xmlns="" id="{721AEBA7-43BE-4477-833B-40F185B3678F}"/>
              </a:ext>
            </a:extLst>
          </p:cNvPr>
          <p:cNvSpPr txBox="1"/>
          <p:nvPr/>
        </p:nvSpPr>
        <p:spPr>
          <a:xfrm>
            <a:off x="9145346" y="3509008"/>
            <a:ext cx="1107996" cy="369332"/>
          </a:xfrm>
          <a:prstGeom prst="rect">
            <a:avLst/>
          </a:prstGeom>
          <a:solidFill>
            <a:schemeClr val="bg1">
              <a:lumMod val="95000"/>
            </a:schemeClr>
          </a:solidFill>
          <a:ln w="9525" cap="flat" cmpd="sng">
            <a:solidFill>
              <a:srgbClr val="D4A344"/>
            </a:solidFill>
            <a:prstDash val="solid"/>
            <a:round/>
            <a:headEnd type="none" w="med" len="med"/>
            <a:tailEnd type="none" w="med" len="med"/>
          </a:ln>
        </p:spPr>
        <p:txBody>
          <a:bodyPr wrap="square" lIns="91425" tIns="45700" rIns="91425" bIns="45700" anchor="t" anchorCtr="0">
            <a:noAutofit/>
          </a:bodyPr>
          <a:lstStyle/>
          <a:p>
            <a:pPr marL="0" marR="0" lvl="0" indent="0" algn="l" rtl="0">
              <a:spcBef>
                <a:spcPts val="0"/>
              </a:spcBef>
              <a:buNone/>
            </a:pPr>
            <a:r>
              <a:rPr lang="en-US" sz="1600" dirty="0" smtClean="0">
                <a:solidFill>
                  <a:schemeClr val="bg2">
                    <a:lumMod val="50000"/>
                  </a:schemeClr>
                </a:solidFill>
                <a:latin typeface="Century Gothic"/>
                <a:ea typeface="Century Gothic"/>
                <a:cs typeface="Century Gothic"/>
                <a:sym typeface="Century Gothic"/>
              </a:rPr>
              <a:t>资产</a:t>
            </a:r>
            <a:r>
              <a:rPr lang="zh-CN" altLang="en-US" sz="1600" dirty="0" smtClean="0">
                <a:solidFill>
                  <a:schemeClr val="bg2">
                    <a:lumMod val="50000"/>
                  </a:schemeClr>
                </a:solidFill>
                <a:latin typeface="Century Gothic"/>
                <a:ea typeface="Century Gothic"/>
                <a:cs typeface="Century Gothic"/>
                <a:sym typeface="Century Gothic"/>
              </a:rPr>
              <a:t>管理</a:t>
            </a:r>
            <a:endParaRPr lang="en-US" sz="1600" dirty="0">
              <a:solidFill>
                <a:schemeClr val="bg2">
                  <a:lumMod val="50000"/>
                </a:schemeClr>
              </a:solidFill>
              <a:latin typeface="Century Gothic"/>
              <a:ea typeface="Century Gothic"/>
              <a:cs typeface="Century Gothic"/>
              <a:sym typeface="Century Gothic"/>
            </a:endParaRPr>
          </a:p>
        </p:txBody>
      </p:sp>
      <p:sp>
        <p:nvSpPr>
          <p:cNvPr id="49" name="Shape 310">
            <a:extLst>
              <a:ext uri="{FF2B5EF4-FFF2-40B4-BE49-F238E27FC236}">
                <a16:creationId xmlns:a16="http://schemas.microsoft.com/office/drawing/2014/main" xmlns="" id="{A6F0633A-3A94-4834-B85A-182BB36B12FA}"/>
              </a:ext>
            </a:extLst>
          </p:cNvPr>
          <p:cNvSpPr/>
          <p:nvPr/>
        </p:nvSpPr>
        <p:spPr>
          <a:xfrm>
            <a:off x="5134453" y="3131773"/>
            <a:ext cx="515155" cy="294391"/>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50" name="Shape 311">
            <a:extLst>
              <a:ext uri="{FF2B5EF4-FFF2-40B4-BE49-F238E27FC236}">
                <a16:creationId xmlns:a16="http://schemas.microsoft.com/office/drawing/2014/main" xmlns="" id="{AD1F617E-3C35-4002-9826-0B47A61EE429}"/>
              </a:ext>
            </a:extLst>
          </p:cNvPr>
          <p:cNvSpPr/>
          <p:nvPr/>
        </p:nvSpPr>
        <p:spPr>
          <a:xfrm>
            <a:off x="8563844" y="3131772"/>
            <a:ext cx="515155" cy="294391"/>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51" name="Shape 312">
            <a:extLst>
              <a:ext uri="{FF2B5EF4-FFF2-40B4-BE49-F238E27FC236}">
                <a16:creationId xmlns:a16="http://schemas.microsoft.com/office/drawing/2014/main" xmlns="" id="{4C952A5F-8904-453B-8922-9B416944A5AA}"/>
              </a:ext>
            </a:extLst>
          </p:cNvPr>
          <p:cNvSpPr/>
          <p:nvPr/>
        </p:nvSpPr>
        <p:spPr>
          <a:xfrm flipH="1">
            <a:off x="5114345" y="3892237"/>
            <a:ext cx="509502" cy="342476"/>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52" name="Shape 313">
            <a:extLst>
              <a:ext uri="{FF2B5EF4-FFF2-40B4-BE49-F238E27FC236}">
                <a16:creationId xmlns:a16="http://schemas.microsoft.com/office/drawing/2014/main" xmlns="" id="{CAA51A18-24A4-4393-9A46-7032D5E50A7B}"/>
              </a:ext>
            </a:extLst>
          </p:cNvPr>
          <p:cNvSpPr/>
          <p:nvPr/>
        </p:nvSpPr>
        <p:spPr>
          <a:xfrm flipH="1">
            <a:off x="8533644" y="3878340"/>
            <a:ext cx="509502" cy="342476"/>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53" name="Shape 314">
            <a:extLst>
              <a:ext uri="{FF2B5EF4-FFF2-40B4-BE49-F238E27FC236}">
                <a16:creationId xmlns:a16="http://schemas.microsoft.com/office/drawing/2014/main" xmlns="" id="{FF9FF01D-CFCD-4B60-952B-DC8D3BE2C64E}"/>
              </a:ext>
            </a:extLst>
          </p:cNvPr>
          <p:cNvSpPr/>
          <p:nvPr/>
        </p:nvSpPr>
        <p:spPr>
          <a:xfrm>
            <a:off x="1504020" y="3020700"/>
            <a:ext cx="1133340" cy="1327276"/>
          </a:xfrm>
          <a:prstGeom prst="can">
            <a:avLst>
              <a:gd name="adj" fmla="val 25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r>
              <a:rPr lang="en-US" sz="1600" dirty="0" smtClean="0">
                <a:solidFill>
                  <a:schemeClr val="bg2">
                    <a:lumMod val="50000"/>
                  </a:schemeClr>
                </a:solidFill>
                <a:latin typeface="Century Gothic"/>
                <a:ea typeface="Century Gothic"/>
                <a:cs typeface="Century Gothic"/>
                <a:sym typeface="Century Gothic"/>
              </a:rPr>
              <a:t>用户</a:t>
            </a:r>
            <a:r>
              <a:rPr lang="zh-CN" altLang="en-US" sz="1600" dirty="0" smtClean="0">
                <a:solidFill>
                  <a:schemeClr val="bg2">
                    <a:lumMod val="50000"/>
                  </a:schemeClr>
                </a:solidFill>
                <a:latin typeface="Century Gothic"/>
                <a:ea typeface="Century Gothic"/>
                <a:cs typeface="Century Gothic"/>
                <a:sym typeface="Century Gothic"/>
              </a:rPr>
              <a:t>动态数据</a:t>
            </a:r>
            <a:r>
              <a:rPr lang="zh-CN" altLang="en-US" sz="1600" dirty="0">
                <a:solidFill>
                  <a:schemeClr val="bg2">
                    <a:lumMod val="50000"/>
                  </a:schemeClr>
                </a:solidFill>
                <a:latin typeface="Century Gothic"/>
                <a:ea typeface="Century Gothic"/>
                <a:cs typeface="Century Gothic"/>
                <a:sym typeface="Century Gothic"/>
              </a:rPr>
              <a:t>分析</a:t>
            </a:r>
            <a:endParaRPr lang="en-US" sz="1600" dirty="0">
              <a:solidFill>
                <a:schemeClr val="bg2">
                  <a:lumMod val="50000"/>
                </a:schemeClr>
              </a:solidFill>
              <a:latin typeface="Century Gothic"/>
              <a:ea typeface="Century Gothic"/>
              <a:cs typeface="Century Gothic"/>
              <a:sym typeface="Century Gothic"/>
            </a:endParaRPr>
          </a:p>
        </p:txBody>
      </p:sp>
      <p:sp>
        <p:nvSpPr>
          <p:cNvPr id="56" name="Shape 317">
            <a:extLst>
              <a:ext uri="{FF2B5EF4-FFF2-40B4-BE49-F238E27FC236}">
                <a16:creationId xmlns:a16="http://schemas.microsoft.com/office/drawing/2014/main" xmlns="" id="{FE62BCF0-57FD-4A90-89A7-495952813EE3}"/>
              </a:ext>
            </a:extLst>
          </p:cNvPr>
          <p:cNvSpPr/>
          <p:nvPr/>
        </p:nvSpPr>
        <p:spPr>
          <a:xfrm>
            <a:off x="2761908" y="3546478"/>
            <a:ext cx="515155" cy="294391"/>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58" name="Shape 319">
            <a:extLst>
              <a:ext uri="{FF2B5EF4-FFF2-40B4-BE49-F238E27FC236}">
                <a16:creationId xmlns:a16="http://schemas.microsoft.com/office/drawing/2014/main" xmlns="" id="{6B60CBBE-485E-46DD-901A-63E736044C29}"/>
              </a:ext>
            </a:extLst>
          </p:cNvPr>
          <p:cNvSpPr/>
          <p:nvPr/>
        </p:nvSpPr>
        <p:spPr>
          <a:xfrm rot="10800000" flipH="1">
            <a:off x="6931055" y="4601050"/>
            <a:ext cx="321972" cy="542001"/>
          </a:xfrm>
          <a:prstGeom prst="down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59" name="Shape 320">
            <a:extLst>
              <a:ext uri="{FF2B5EF4-FFF2-40B4-BE49-F238E27FC236}">
                <a16:creationId xmlns:a16="http://schemas.microsoft.com/office/drawing/2014/main" xmlns="" id="{75195762-A52B-41CA-80BF-379DBCB14E07}"/>
              </a:ext>
            </a:extLst>
          </p:cNvPr>
          <p:cNvSpPr/>
          <p:nvPr/>
        </p:nvSpPr>
        <p:spPr>
          <a:xfrm>
            <a:off x="1219274" y="2014533"/>
            <a:ext cx="9239083" cy="4069452"/>
          </a:xfrm>
          <a:prstGeom prst="rect">
            <a:avLst/>
          </a:prstGeom>
          <a:noFill/>
          <a:ln w="12700" cap="flat" cmpd="sng">
            <a:solidFill>
              <a:srgbClr val="D4A344"/>
            </a:solidFill>
            <a:prstDash val="lgDash"/>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70" name="Shape 331">
            <a:extLst>
              <a:ext uri="{FF2B5EF4-FFF2-40B4-BE49-F238E27FC236}">
                <a16:creationId xmlns:a16="http://schemas.microsoft.com/office/drawing/2014/main" xmlns="" id="{40E7F829-F7CE-4C55-8E00-5E1DD0579412}"/>
              </a:ext>
            </a:extLst>
          </p:cNvPr>
          <p:cNvSpPr txBox="1"/>
          <p:nvPr/>
        </p:nvSpPr>
        <p:spPr>
          <a:xfrm>
            <a:off x="1219274" y="2149902"/>
            <a:ext cx="1107996" cy="369332"/>
          </a:xfrm>
          <a:prstGeom prst="rect">
            <a:avLst/>
          </a:prstGeom>
          <a:noFill/>
          <a:ln>
            <a:noFill/>
          </a:ln>
        </p:spPr>
        <p:txBody>
          <a:bodyPr wrap="square" lIns="91425" tIns="45700" rIns="91425" bIns="45700" anchor="t" anchorCtr="0">
            <a:noAutofit/>
          </a:bodyPr>
          <a:lstStyle/>
          <a:p>
            <a:pPr marL="0" marR="0" lvl="0" indent="0" algn="l" rtl="0">
              <a:spcBef>
                <a:spcPts val="0"/>
              </a:spcBef>
              <a:buNone/>
            </a:pPr>
            <a:r>
              <a:rPr lang="en-US" sz="1600">
                <a:solidFill>
                  <a:schemeClr val="bg2"/>
                </a:solidFill>
                <a:latin typeface="Century Gothic"/>
                <a:ea typeface="Century Gothic"/>
                <a:cs typeface="Century Gothic"/>
                <a:sym typeface="Century Gothic"/>
              </a:rPr>
              <a:t>技术架构</a:t>
            </a:r>
            <a:endParaRPr lang="en-US" sz="1600" dirty="0">
              <a:solidFill>
                <a:schemeClr val="bg2"/>
              </a:solidFill>
              <a:latin typeface="Century Gothic"/>
              <a:ea typeface="Century Gothic"/>
              <a:cs typeface="Century Gothic"/>
              <a:sym typeface="Century Gothic"/>
            </a:endParaRPr>
          </a:p>
        </p:txBody>
      </p:sp>
      <p:sp>
        <p:nvSpPr>
          <p:cNvPr id="110" name="Shape 304">
            <a:extLst>
              <a:ext uri="{FF2B5EF4-FFF2-40B4-BE49-F238E27FC236}">
                <a16:creationId xmlns:a16="http://schemas.microsoft.com/office/drawing/2014/main" xmlns="" id="{4E3DDBA8-C5DE-4ACF-B76B-305DB13F6014}"/>
              </a:ext>
            </a:extLst>
          </p:cNvPr>
          <p:cNvSpPr txBox="1"/>
          <p:nvPr/>
        </p:nvSpPr>
        <p:spPr>
          <a:xfrm>
            <a:off x="9156567" y="4102273"/>
            <a:ext cx="1107996" cy="369332"/>
          </a:xfrm>
          <a:prstGeom prst="rect">
            <a:avLst/>
          </a:prstGeom>
          <a:solidFill>
            <a:schemeClr val="bg1">
              <a:lumMod val="95000"/>
            </a:schemeClr>
          </a:solidFill>
          <a:ln w="9525" cap="flat" cmpd="sng">
            <a:solidFill>
              <a:srgbClr val="D4A344"/>
            </a:solidFill>
            <a:prstDash val="solid"/>
            <a:round/>
            <a:headEnd type="none" w="med" len="med"/>
            <a:tailEnd type="none" w="med" len="med"/>
          </a:ln>
        </p:spPr>
        <p:txBody>
          <a:bodyPr wrap="square" lIns="91425" tIns="45700" rIns="91425" bIns="45700" anchor="t" anchorCtr="0">
            <a:noAutofit/>
          </a:bodyPr>
          <a:lstStyle/>
          <a:p>
            <a:pPr marL="0" marR="0" lvl="0" indent="0" algn="l" rtl="0">
              <a:spcBef>
                <a:spcPts val="0"/>
              </a:spcBef>
              <a:buNone/>
            </a:pPr>
            <a:r>
              <a:rPr lang="zh-CN" altLang="en-US" sz="1600" dirty="0">
                <a:solidFill>
                  <a:schemeClr val="bg2">
                    <a:lumMod val="50000"/>
                  </a:schemeClr>
                </a:solidFill>
                <a:latin typeface="Century Gothic"/>
                <a:ea typeface="Century Gothic"/>
                <a:cs typeface="Century Gothic"/>
                <a:sym typeface="Century Gothic"/>
              </a:rPr>
              <a:t>信贷产品</a:t>
            </a:r>
            <a:endParaRPr lang="en-US" sz="1600" dirty="0">
              <a:solidFill>
                <a:schemeClr val="bg2">
                  <a:lumMod val="50000"/>
                </a:schemeClr>
              </a:solidFill>
              <a:latin typeface="Century Gothic"/>
              <a:ea typeface="Century Gothic"/>
              <a:cs typeface="Century Gothic"/>
              <a:sym typeface="Century Gothic"/>
            </a:endParaRPr>
          </a:p>
        </p:txBody>
      </p:sp>
      <p:sp>
        <p:nvSpPr>
          <p:cNvPr id="111" name="Shape 301">
            <a:extLst>
              <a:ext uri="{FF2B5EF4-FFF2-40B4-BE49-F238E27FC236}">
                <a16:creationId xmlns:a16="http://schemas.microsoft.com/office/drawing/2014/main" xmlns="" id="{CE3B9542-5741-4F83-8940-B830FA107B81}"/>
              </a:ext>
            </a:extLst>
          </p:cNvPr>
          <p:cNvSpPr txBox="1"/>
          <p:nvPr/>
        </p:nvSpPr>
        <p:spPr>
          <a:xfrm>
            <a:off x="10885712" y="3232959"/>
            <a:ext cx="1107996" cy="369332"/>
          </a:xfrm>
          <a:prstGeom prst="rect">
            <a:avLst/>
          </a:prstGeom>
          <a:solidFill>
            <a:schemeClr val="bg1">
              <a:lumMod val="95000"/>
            </a:schemeClr>
          </a:solidFill>
          <a:ln w="9525" cap="flat" cmpd="sng">
            <a:solidFill>
              <a:srgbClr val="D4A344"/>
            </a:solidFill>
            <a:prstDash val="solid"/>
            <a:round/>
            <a:headEnd type="none" w="med" len="med"/>
            <a:tailEnd type="none" w="med" len="med"/>
          </a:ln>
        </p:spPr>
        <p:txBody>
          <a:bodyPr wrap="square" lIns="91425" tIns="45700" rIns="91425" bIns="45700" anchor="t" anchorCtr="0">
            <a:noAutofit/>
          </a:bodyPr>
          <a:lstStyle/>
          <a:p>
            <a:pPr marL="0" marR="0" lvl="0" indent="0" algn="l" rtl="0">
              <a:spcBef>
                <a:spcPts val="0"/>
              </a:spcBef>
              <a:buNone/>
            </a:pPr>
            <a:r>
              <a:rPr lang="zh-CN" altLang="en-US" sz="1600" dirty="0">
                <a:solidFill>
                  <a:schemeClr val="bg2">
                    <a:lumMod val="50000"/>
                  </a:schemeClr>
                </a:solidFill>
                <a:latin typeface="Century Gothic"/>
                <a:ea typeface="Century Gothic"/>
                <a:cs typeface="Century Gothic"/>
                <a:sym typeface="Century Gothic"/>
              </a:rPr>
              <a:t>智能投顾</a:t>
            </a:r>
            <a:endParaRPr lang="en-US" sz="1600" dirty="0">
              <a:solidFill>
                <a:schemeClr val="bg2">
                  <a:lumMod val="50000"/>
                </a:schemeClr>
              </a:solidFill>
              <a:latin typeface="Century Gothic"/>
              <a:ea typeface="Century Gothic"/>
              <a:cs typeface="Century Gothic"/>
              <a:sym typeface="Century Gothic"/>
            </a:endParaRPr>
          </a:p>
        </p:txBody>
      </p:sp>
      <p:sp>
        <p:nvSpPr>
          <p:cNvPr id="112" name="Shape 303">
            <a:extLst>
              <a:ext uri="{FF2B5EF4-FFF2-40B4-BE49-F238E27FC236}">
                <a16:creationId xmlns:a16="http://schemas.microsoft.com/office/drawing/2014/main" xmlns="" id="{8AC1FA4B-3F9D-42B8-9E79-E0C848A12077}"/>
              </a:ext>
            </a:extLst>
          </p:cNvPr>
          <p:cNvSpPr txBox="1"/>
          <p:nvPr/>
        </p:nvSpPr>
        <p:spPr>
          <a:xfrm>
            <a:off x="10874491" y="3768965"/>
            <a:ext cx="1119217" cy="369332"/>
          </a:xfrm>
          <a:prstGeom prst="rect">
            <a:avLst/>
          </a:prstGeom>
          <a:solidFill>
            <a:schemeClr val="bg1">
              <a:lumMod val="95000"/>
            </a:schemeClr>
          </a:solidFill>
          <a:ln w="9525" cap="flat" cmpd="sng">
            <a:solidFill>
              <a:srgbClr val="D4A344"/>
            </a:solidFill>
            <a:prstDash val="solid"/>
            <a:round/>
            <a:headEnd type="none" w="med" len="med"/>
            <a:tailEnd type="none" w="med" len="med"/>
          </a:ln>
        </p:spPr>
        <p:txBody>
          <a:bodyPr wrap="square" lIns="91425" tIns="45700" rIns="91425" bIns="45700" anchor="t" anchorCtr="0">
            <a:noAutofit/>
          </a:bodyPr>
          <a:lstStyle/>
          <a:p>
            <a:pPr marL="0" marR="0" lvl="0" indent="0" algn="l" rtl="0">
              <a:spcBef>
                <a:spcPts val="0"/>
              </a:spcBef>
              <a:buNone/>
            </a:pPr>
            <a:r>
              <a:rPr lang="zh-CN" altLang="en-US" sz="1600" dirty="0">
                <a:solidFill>
                  <a:schemeClr val="bg2">
                    <a:lumMod val="50000"/>
                  </a:schemeClr>
                </a:solidFill>
                <a:latin typeface="Century Gothic"/>
                <a:ea typeface="Century Gothic"/>
                <a:cs typeface="Century Gothic"/>
                <a:sym typeface="Century Gothic"/>
              </a:rPr>
              <a:t>智能信贷</a:t>
            </a:r>
            <a:endParaRPr lang="en-US" sz="1600" dirty="0">
              <a:solidFill>
                <a:schemeClr val="bg2">
                  <a:lumMod val="50000"/>
                </a:schemeClr>
              </a:solidFill>
              <a:latin typeface="Century Gothic"/>
              <a:ea typeface="Century Gothic"/>
              <a:cs typeface="Century Gothic"/>
              <a:sym typeface="Century Gothic"/>
            </a:endParaRPr>
          </a:p>
        </p:txBody>
      </p:sp>
      <p:sp>
        <p:nvSpPr>
          <p:cNvPr id="113" name="Shape 311">
            <a:extLst>
              <a:ext uri="{FF2B5EF4-FFF2-40B4-BE49-F238E27FC236}">
                <a16:creationId xmlns:a16="http://schemas.microsoft.com/office/drawing/2014/main" xmlns="" id="{8E80DDFA-E98C-403B-80C5-DF13DEF0EEC2}"/>
              </a:ext>
            </a:extLst>
          </p:cNvPr>
          <p:cNvSpPr/>
          <p:nvPr/>
        </p:nvSpPr>
        <p:spPr>
          <a:xfrm>
            <a:off x="10266980" y="3245900"/>
            <a:ext cx="515155" cy="294391"/>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114" name="Shape 313">
            <a:extLst>
              <a:ext uri="{FF2B5EF4-FFF2-40B4-BE49-F238E27FC236}">
                <a16:creationId xmlns:a16="http://schemas.microsoft.com/office/drawing/2014/main" xmlns="" id="{DBF7A5A1-AE44-44D5-A201-79F8D1CCBF6A}"/>
              </a:ext>
            </a:extLst>
          </p:cNvPr>
          <p:cNvSpPr/>
          <p:nvPr/>
        </p:nvSpPr>
        <p:spPr>
          <a:xfrm flipH="1">
            <a:off x="10236780" y="3849591"/>
            <a:ext cx="509502" cy="276317"/>
          </a:xfrm>
          <a:prstGeom prst="rightArrow">
            <a:avLst>
              <a:gd name="adj1" fmla="val 50000"/>
              <a:gd name="adj2" fmla="val 50000"/>
            </a:avLst>
          </a:prstGeom>
          <a:solidFill>
            <a:schemeClr val="bg1">
              <a:lumMod val="95000"/>
            </a:schemeClr>
          </a:solidFill>
          <a:ln w="12700" cap="flat" cmpd="sng">
            <a:solidFill>
              <a:srgbClr val="D4A344"/>
            </a:solidFill>
            <a:prstDash val="solid"/>
            <a:round/>
            <a:headEnd type="none" w="med" len="med"/>
            <a:tailEnd type="none" w="med" len="med"/>
          </a:ln>
        </p:spPr>
        <p:txBody>
          <a:bodyPr wrap="square" lIns="91425" tIns="45700" rIns="91425" bIns="45700" anchor="ctr" anchorCtr="0">
            <a:noAutofit/>
          </a:bodyPr>
          <a:lstStyle/>
          <a:p>
            <a:pPr marL="0" marR="0" lvl="0" indent="0" algn="ctr" rtl="0">
              <a:spcBef>
                <a:spcPts val="0"/>
              </a:spcBef>
              <a:buNone/>
            </a:pPr>
            <a:endParaRPr sz="1600">
              <a:solidFill>
                <a:schemeClr val="bg2"/>
              </a:solidFill>
              <a:latin typeface="Century Gothic"/>
              <a:ea typeface="Century Gothic"/>
              <a:cs typeface="Century Gothic"/>
              <a:sym typeface="Century Gothic"/>
            </a:endParaRPr>
          </a:p>
        </p:txBody>
      </p:sp>
      <p:sp>
        <p:nvSpPr>
          <p:cNvPr id="30" name="矩形: 圆角 2">
            <a:extLst>
              <a:ext uri="{FF2B5EF4-FFF2-40B4-BE49-F238E27FC236}">
                <a16:creationId xmlns:a16="http://schemas.microsoft.com/office/drawing/2014/main" xmlns="" id="{1A3B1DEF-CC13-46F1-A6AF-FDAD267BB7D3}"/>
              </a:ext>
            </a:extLst>
          </p:cNvPr>
          <p:cNvSpPr/>
          <p:nvPr/>
        </p:nvSpPr>
        <p:spPr>
          <a:xfrm>
            <a:off x="3328567" y="3268822"/>
            <a:ext cx="1682747" cy="831001"/>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 name="Rectangle 2"/>
          <p:cNvSpPr/>
          <p:nvPr/>
        </p:nvSpPr>
        <p:spPr>
          <a:xfrm>
            <a:off x="3627501" y="3497906"/>
            <a:ext cx="1005403" cy="338554"/>
          </a:xfrm>
          <a:prstGeom prst="rect">
            <a:avLst/>
          </a:prstGeom>
        </p:spPr>
        <p:txBody>
          <a:bodyPr wrap="none">
            <a:spAutoFit/>
          </a:bodyPr>
          <a:lstStyle/>
          <a:p>
            <a:pPr lvl="0"/>
            <a:r>
              <a:rPr lang="zh-CN" altLang="en-US" sz="1600" dirty="0">
                <a:solidFill>
                  <a:schemeClr val="bg2">
                    <a:lumMod val="50000"/>
                  </a:schemeClr>
                </a:solidFill>
                <a:latin typeface="Century Gothic"/>
                <a:ea typeface="Century Gothic"/>
                <a:cs typeface="Century Gothic"/>
                <a:sym typeface="Century Gothic"/>
              </a:rPr>
              <a:t>用户画像</a:t>
            </a:r>
            <a:endParaRPr lang="en-US" sz="1600" dirty="0">
              <a:solidFill>
                <a:schemeClr val="bg2">
                  <a:lumMod val="50000"/>
                </a:schemeClr>
              </a:solidFill>
              <a:latin typeface="Century Gothic"/>
              <a:ea typeface="Century Gothic"/>
              <a:cs typeface="Century Gothic"/>
              <a:sym typeface="Century Gothic"/>
            </a:endParaRPr>
          </a:p>
        </p:txBody>
      </p:sp>
      <p:sp>
        <p:nvSpPr>
          <p:cNvPr id="32" name="矩形: 圆角 2">
            <a:extLst>
              <a:ext uri="{FF2B5EF4-FFF2-40B4-BE49-F238E27FC236}">
                <a16:creationId xmlns:a16="http://schemas.microsoft.com/office/drawing/2014/main" xmlns="" id="{1A3B1DEF-CC13-46F1-A6AF-FDAD267BB7D3}"/>
              </a:ext>
            </a:extLst>
          </p:cNvPr>
          <p:cNvSpPr/>
          <p:nvPr/>
        </p:nvSpPr>
        <p:spPr>
          <a:xfrm>
            <a:off x="6250666" y="5198018"/>
            <a:ext cx="1682747" cy="831001"/>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33" name="Rectangle 32"/>
          <p:cNvSpPr/>
          <p:nvPr/>
        </p:nvSpPr>
        <p:spPr>
          <a:xfrm>
            <a:off x="6569274" y="5444241"/>
            <a:ext cx="1005403" cy="338554"/>
          </a:xfrm>
          <a:prstGeom prst="rect">
            <a:avLst/>
          </a:prstGeom>
        </p:spPr>
        <p:txBody>
          <a:bodyPr wrap="none">
            <a:spAutoFit/>
          </a:bodyPr>
          <a:lstStyle/>
          <a:p>
            <a:pPr lvl="0"/>
            <a:r>
              <a:rPr lang="zh-CN" altLang="en-US" sz="1600" dirty="0" smtClean="0">
                <a:solidFill>
                  <a:schemeClr val="bg2">
                    <a:lumMod val="50000"/>
                  </a:schemeClr>
                </a:solidFill>
                <a:latin typeface="Century Gothic"/>
                <a:ea typeface="Century Gothic"/>
                <a:cs typeface="Century Gothic"/>
                <a:sym typeface="Century Gothic"/>
              </a:rPr>
              <a:t>场景接入</a:t>
            </a:r>
            <a:endParaRPr lang="en-US" sz="1600" dirty="0">
              <a:solidFill>
                <a:schemeClr val="bg2">
                  <a:lumMod val="50000"/>
                </a:schemeClr>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205231105"/>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48236" y="0"/>
            <a:ext cx="12240236"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6" y="1797772"/>
            <a:ext cx="7707467"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477526"/>
            <a:ext cx="7935192" cy="128520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4000" dirty="0"/>
              <a:t>拥抱“共享时代”：</a:t>
            </a:r>
            <a:endParaRPr lang="en-US" altLang="zh-CN" sz="4000" dirty="0"/>
          </a:p>
          <a:p>
            <a:pPr algn="l"/>
            <a:r>
              <a:rPr lang="zh-CN" altLang="en-US" sz="4000" dirty="0"/>
              <a:t>银行信贷管理技术的前瞻方向</a:t>
            </a:r>
            <a:endParaRPr sz="4000" dirty="0"/>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Rectangle 6"/>
          <p:cNvSpPr/>
          <p:nvPr/>
        </p:nvSpPr>
        <p:spPr>
          <a:xfrm>
            <a:off x="1901434" y="4941696"/>
            <a:ext cx="10101262" cy="1323439"/>
          </a:xfrm>
          <a:prstGeom prst="rect">
            <a:avLst/>
          </a:prstGeom>
        </p:spPr>
        <p:txBody>
          <a:bodyPr wrap="square">
            <a:spAutoFit/>
          </a:bodyPr>
          <a:lstStyle/>
          <a:p>
            <a:pPr algn="l"/>
            <a:r>
              <a:rPr lang="zh-CN" altLang="en-US" sz="1600" dirty="0">
                <a:solidFill>
                  <a:schemeClr val="accent1">
                    <a:lumMod val="50000"/>
                  </a:schemeClr>
                </a:solidFill>
              </a:rPr>
              <a:t>金管局正谘询银行业界，促进开放应用程式介面（</a:t>
            </a:r>
            <a:r>
              <a:rPr lang="en-US" altLang="zh-CN" sz="1600" dirty="0">
                <a:solidFill>
                  <a:schemeClr val="accent1">
                    <a:lumMod val="50000"/>
                  </a:schemeClr>
                </a:solidFill>
              </a:rPr>
              <a:t>Open API</a:t>
            </a:r>
            <a:r>
              <a:rPr lang="zh-CN" altLang="en-US" sz="1600" dirty="0">
                <a:solidFill>
                  <a:schemeClr val="accent1">
                    <a:lumMod val="50000"/>
                  </a:schemeClr>
                </a:solidFill>
              </a:rPr>
              <a:t>）的发展。银行透过开放</a:t>
            </a:r>
            <a:r>
              <a:rPr lang="en-US" altLang="zh-CN" sz="1600" dirty="0">
                <a:solidFill>
                  <a:schemeClr val="accent1">
                    <a:lumMod val="50000"/>
                  </a:schemeClr>
                </a:solidFill>
              </a:rPr>
              <a:t>API</a:t>
            </a:r>
            <a:r>
              <a:rPr lang="zh-CN" altLang="en-US" sz="1600" dirty="0">
                <a:solidFill>
                  <a:schemeClr val="accent1">
                    <a:lumMod val="50000"/>
                  </a:schemeClr>
                </a:solidFill>
              </a:rPr>
              <a:t>，让第三方服务供应商连接银行的科技资讯系统，在顾客同意的情况下，取得一些资料数据，并向这些顾客提供附加服务。欧洲和英国已经立法要求银行开放 </a:t>
            </a:r>
            <a:r>
              <a:rPr lang="en-US" altLang="zh-CN" sz="1600" dirty="0">
                <a:solidFill>
                  <a:schemeClr val="accent1">
                    <a:lumMod val="50000"/>
                  </a:schemeClr>
                </a:solidFill>
              </a:rPr>
              <a:t>API</a:t>
            </a:r>
            <a:r>
              <a:rPr lang="zh-CN" altLang="en-US" sz="1600" dirty="0">
                <a:solidFill>
                  <a:schemeClr val="accent1">
                    <a:lumMod val="50000"/>
                  </a:schemeClr>
                </a:solidFill>
              </a:rPr>
              <a:t>，而金管局相信，开放</a:t>
            </a:r>
            <a:r>
              <a:rPr lang="en-US" altLang="zh-CN" sz="1600" dirty="0">
                <a:solidFill>
                  <a:schemeClr val="accent1">
                    <a:lumMod val="50000"/>
                  </a:schemeClr>
                </a:solidFill>
              </a:rPr>
              <a:t>API</a:t>
            </a:r>
            <a:r>
              <a:rPr lang="zh-CN" altLang="en-US" sz="1600" dirty="0">
                <a:solidFill>
                  <a:schemeClr val="accent1">
                    <a:lumMod val="50000"/>
                  </a:schemeClr>
                </a:solidFill>
              </a:rPr>
              <a:t>能促进银行与金融科技公司的合作，为银行顾客提供创新和贴身的产品和服务，我们期望 </a:t>
            </a:r>
            <a:r>
              <a:rPr lang="en-US" altLang="zh-CN" sz="1600" dirty="0">
                <a:solidFill>
                  <a:schemeClr val="accent1">
                    <a:lumMod val="50000"/>
                  </a:schemeClr>
                </a:solidFill>
              </a:rPr>
              <a:t>2017</a:t>
            </a:r>
            <a:r>
              <a:rPr lang="zh-CN" altLang="en-US" sz="1600" dirty="0">
                <a:solidFill>
                  <a:schemeClr val="accent1">
                    <a:lumMod val="50000"/>
                  </a:schemeClr>
                </a:solidFill>
              </a:rPr>
              <a:t> 年底前完成业界谘询和订定开放</a:t>
            </a:r>
            <a:r>
              <a:rPr lang="en-US" altLang="zh-CN" sz="1600" dirty="0">
                <a:solidFill>
                  <a:schemeClr val="accent1">
                    <a:lumMod val="50000"/>
                  </a:schemeClr>
                </a:solidFill>
              </a:rPr>
              <a:t>API</a:t>
            </a:r>
            <a:r>
              <a:rPr lang="zh-CN" altLang="en-US" sz="1600" dirty="0">
                <a:solidFill>
                  <a:schemeClr val="accent1">
                    <a:lumMod val="50000"/>
                  </a:schemeClr>
                </a:solidFill>
              </a:rPr>
              <a:t>政策。</a:t>
            </a:r>
            <a:r>
              <a:rPr lang="zh-CN" altLang="en-US" sz="1600" dirty="0">
                <a:solidFill>
                  <a:schemeClr val="accent1">
                    <a:lumMod val="50000"/>
                  </a:schemeClr>
                </a:solidFill>
                <a:latin typeface="NotoSansCJKsc" charset="0"/>
              </a:rPr>
              <a:t>                                                                                                                                               </a:t>
            </a:r>
            <a:endParaRPr lang="en-US" altLang="zh-CN" sz="1600" dirty="0">
              <a:solidFill>
                <a:schemeClr val="accent1">
                  <a:lumMod val="50000"/>
                </a:schemeClr>
              </a:solidFill>
              <a:latin typeface="NotoSansCJKsc" charset="0"/>
            </a:endParaRPr>
          </a:p>
          <a:p>
            <a:pPr algn="l"/>
            <a:r>
              <a:rPr lang="zh-CN" altLang="en-US" sz="1600" dirty="0">
                <a:solidFill>
                  <a:schemeClr val="accent1">
                    <a:lumMod val="50000"/>
                  </a:schemeClr>
                </a:solidFill>
                <a:latin typeface="NotoSansCJKsc" charset="0"/>
              </a:rPr>
              <a:t>                                                                                                                                         </a:t>
            </a:r>
            <a:r>
              <a:rPr lang="en-US" altLang="zh-CN" sz="1600" dirty="0">
                <a:solidFill>
                  <a:schemeClr val="accent1">
                    <a:lumMod val="50000"/>
                  </a:schemeClr>
                </a:solidFill>
                <a:latin typeface="NotoSansCJKsc" charset="0"/>
              </a:rPr>
              <a:t>——</a:t>
            </a:r>
            <a:r>
              <a:rPr lang="zh-CN" altLang="en-US" sz="1600" i="1" dirty="0">
                <a:solidFill>
                  <a:schemeClr val="accent1">
                    <a:lumMod val="50000"/>
                  </a:schemeClr>
                </a:solidFill>
                <a:latin typeface="NotoSansCJKsc" charset="0"/>
              </a:rPr>
              <a:t>香港金融管理局总裁陈德霖</a:t>
            </a:r>
            <a:endParaRPr lang="zh-CN" altLang="en-US" sz="1600" i="1" dirty="0">
              <a:solidFill>
                <a:schemeClr val="accent1">
                  <a:lumMod val="50000"/>
                </a:schemeClr>
              </a:solidFill>
            </a:endParaRPr>
          </a:p>
        </p:txBody>
      </p:sp>
    </p:spTree>
    <p:extLst>
      <p:ext uri="{BB962C8B-B14F-4D97-AF65-F5344CB8AC3E}">
        <p14:creationId xmlns:p14="http://schemas.microsoft.com/office/powerpoint/2010/main" val="1866486809"/>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475963" y="410271"/>
            <a:ext cx="4157790"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全球范围内，金融数据共用浪潮袭来</a:t>
            </a:r>
            <a:endParaRPr sz="2000" dirty="0"/>
          </a:p>
        </p:txBody>
      </p:sp>
      <p:cxnSp>
        <p:nvCxnSpPr>
          <p:cNvPr id="7" name="直接箭头连接符 6">
            <a:extLst>
              <a:ext uri="{FF2B5EF4-FFF2-40B4-BE49-F238E27FC236}">
                <a16:creationId xmlns:a16="http://schemas.microsoft.com/office/drawing/2014/main" xmlns="" id="{9CBAD990-9B69-40CA-9EC0-83D457F50F4B}"/>
              </a:ext>
            </a:extLst>
          </p:cNvPr>
          <p:cNvCxnSpPr>
            <a:cxnSpLocks/>
          </p:cNvCxnSpPr>
          <p:nvPr/>
        </p:nvCxnSpPr>
        <p:spPr>
          <a:xfrm flipV="1">
            <a:off x="2030069" y="1236801"/>
            <a:ext cx="0" cy="4860000"/>
          </a:xfrm>
          <a:prstGeom prst="straightConnector1">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6" name="正文">
            <a:extLst>
              <a:ext uri="{FF2B5EF4-FFF2-40B4-BE49-F238E27FC236}">
                <a16:creationId xmlns:a16="http://schemas.microsoft.com/office/drawing/2014/main" xmlns="" id="{2DD70ABF-ADF4-47FA-AD55-A207CE88561E}"/>
              </a:ext>
            </a:extLst>
          </p:cNvPr>
          <p:cNvSpPr txBox="1"/>
          <p:nvPr/>
        </p:nvSpPr>
        <p:spPr>
          <a:xfrm>
            <a:off x="2617365" y="1544083"/>
            <a:ext cx="7348284" cy="23876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lgn="l">
              <a:defRPr sz="2000">
                <a:solidFill>
                  <a:srgbClr val="5E5E5E"/>
                </a:solidFill>
                <a:latin typeface="PingFang SC Regular"/>
                <a:ea typeface="PingFang SC Regular"/>
                <a:cs typeface="PingFang SC Regular"/>
                <a:sym typeface="PingFang SC Regular"/>
              </a:defRPr>
            </a:lvl1pPr>
          </a:lstStyle>
          <a:p>
            <a:pPr marL="342900" indent="-342900">
              <a:spcBef>
                <a:spcPts val="1200"/>
              </a:spcBef>
              <a:buFont typeface="Arial" panose="020B0604020202020204" pitchFamily="34" charset="0"/>
              <a:buChar char="•"/>
            </a:pPr>
            <a:r>
              <a:rPr lang="en-US" altLang="zh-TW" sz="1200" dirty="0">
                <a:sym typeface="Arial Black"/>
              </a:rPr>
              <a:t>2017</a:t>
            </a:r>
            <a:r>
              <a:rPr lang="zh-CN" altLang="en-US" sz="1200" dirty="0">
                <a:sym typeface="Arial Black"/>
              </a:rPr>
              <a:t>年</a:t>
            </a:r>
            <a:r>
              <a:rPr lang="en-US" altLang="zh-CN" sz="1200" dirty="0">
                <a:sym typeface="Arial Black"/>
              </a:rPr>
              <a:t>9</a:t>
            </a:r>
            <a:r>
              <a:rPr lang="zh-CN" altLang="en-US" sz="1200" dirty="0">
                <a:sym typeface="Arial Black"/>
              </a:rPr>
              <a:t>月</a:t>
            </a:r>
            <a:r>
              <a:rPr lang="en-US" altLang="zh-CN" sz="1200" dirty="0">
                <a:sym typeface="Arial Black"/>
              </a:rPr>
              <a:t>29</a:t>
            </a:r>
            <a:r>
              <a:rPr lang="zh-CN" altLang="en-US" sz="1200" dirty="0">
                <a:sym typeface="Arial Black"/>
              </a:rPr>
              <a:t>日，香港金融管理局发布</a:t>
            </a:r>
            <a:r>
              <a:rPr lang="en-US" altLang="zh-CN" sz="1200" dirty="0">
                <a:sym typeface="Arial Black"/>
              </a:rPr>
              <a:t>Open API</a:t>
            </a:r>
            <a:r>
              <a:rPr lang="zh-CN" altLang="en-US" sz="1200" dirty="0">
                <a:sym typeface="Arial Black"/>
              </a:rPr>
              <a:t>计划，决定在</a:t>
            </a:r>
            <a:r>
              <a:rPr lang="en-US" altLang="zh-CN" sz="1200" dirty="0">
                <a:sym typeface="Arial Black"/>
              </a:rPr>
              <a:t>2017</a:t>
            </a:r>
            <a:r>
              <a:rPr lang="zh-CN" altLang="en-US" sz="1200" dirty="0">
                <a:sym typeface="Arial Black"/>
              </a:rPr>
              <a:t>年底之前制定</a:t>
            </a:r>
            <a:r>
              <a:rPr lang="en-US" altLang="zh-CN" sz="1200" dirty="0">
                <a:sym typeface="Arial Black"/>
              </a:rPr>
              <a:t>Open API</a:t>
            </a:r>
            <a:r>
              <a:rPr lang="zh-CN" altLang="en-US" sz="1200" dirty="0">
                <a:sym typeface="Arial Black"/>
              </a:rPr>
              <a:t>标准</a:t>
            </a:r>
            <a:endParaRPr sz="1200" dirty="0">
              <a:sym typeface="Arial Black"/>
            </a:endParaRPr>
          </a:p>
        </p:txBody>
      </p:sp>
      <p:sp>
        <p:nvSpPr>
          <p:cNvPr id="9" name="矩形 8">
            <a:extLst>
              <a:ext uri="{FF2B5EF4-FFF2-40B4-BE49-F238E27FC236}">
                <a16:creationId xmlns:a16="http://schemas.microsoft.com/office/drawing/2014/main" xmlns="" id="{3BF4A321-7244-4516-ACF2-D49239B3DBEA}"/>
              </a:ext>
            </a:extLst>
          </p:cNvPr>
          <p:cNvSpPr/>
          <p:nvPr/>
        </p:nvSpPr>
        <p:spPr>
          <a:xfrm>
            <a:off x="1565467" y="4219795"/>
            <a:ext cx="955657" cy="238767"/>
          </a:xfrm>
          <a:prstGeom prst="rect">
            <a:avLst/>
          </a:prstGeom>
          <a:solidFill>
            <a:srgbClr val="CAA35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lt"/>
                <a:ea typeface="+mn-ea"/>
                <a:cs typeface="+mn-cs"/>
                <a:sym typeface="Helvetica Neue Medium"/>
              </a:rPr>
              <a:t>澳大利亚</a:t>
            </a:r>
          </a:p>
        </p:txBody>
      </p:sp>
      <p:sp>
        <p:nvSpPr>
          <p:cNvPr id="8" name="矩形 7">
            <a:extLst>
              <a:ext uri="{FF2B5EF4-FFF2-40B4-BE49-F238E27FC236}">
                <a16:creationId xmlns:a16="http://schemas.microsoft.com/office/drawing/2014/main" xmlns="" id="{F23D6561-751B-47C1-877C-4F331D166C11}"/>
              </a:ext>
            </a:extLst>
          </p:cNvPr>
          <p:cNvSpPr/>
          <p:nvPr/>
        </p:nvSpPr>
        <p:spPr>
          <a:xfrm>
            <a:off x="2549649" y="4219795"/>
            <a:ext cx="7416000" cy="276999"/>
          </a:xfrm>
          <a:prstGeom prst="rect">
            <a:avLst/>
          </a:prstGeom>
        </p:spPr>
        <p:txBody>
          <a:bodyPr wrap="square">
            <a:spAutoFit/>
          </a:bodyPr>
          <a:lstStyle/>
          <a:p>
            <a:pPr marL="342900" indent="-342900" algn="l">
              <a:spcBef>
                <a:spcPts val="1200"/>
              </a:spcBef>
              <a:buFont typeface="Arial" panose="020B0604020202020204" pitchFamily="34" charset="0"/>
              <a:buChar char="•"/>
            </a:pPr>
            <a:r>
              <a:rPr lang="en-US" altLang="zh-CN" sz="1200" dirty="0">
                <a:solidFill>
                  <a:srgbClr val="5E5E5E"/>
                </a:solidFill>
                <a:latin typeface="PingFang SC Regular"/>
                <a:sym typeface="PingFang SC Regular"/>
              </a:rPr>
              <a:t>2017</a:t>
            </a:r>
            <a:r>
              <a:rPr lang="zh-CN" altLang="en-US" sz="1200" dirty="0">
                <a:solidFill>
                  <a:srgbClr val="5E5E5E"/>
                </a:solidFill>
                <a:latin typeface="PingFang SC Regular"/>
                <a:sym typeface="PingFang SC Regular"/>
              </a:rPr>
              <a:t>年</a:t>
            </a:r>
            <a:r>
              <a:rPr lang="en-US" altLang="zh-CN" sz="1200" dirty="0">
                <a:solidFill>
                  <a:srgbClr val="5E5E5E"/>
                </a:solidFill>
                <a:latin typeface="PingFang SC Regular"/>
                <a:sym typeface="PingFang SC Regular"/>
              </a:rPr>
              <a:t>8</a:t>
            </a:r>
            <a:r>
              <a:rPr lang="zh-CN" altLang="en-US" sz="1200" dirty="0">
                <a:solidFill>
                  <a:srgbClr val="5E5E5E"/>
                </a:solidFill>
                <a:latin typeface="PingFang SC Regular"/>
                <a:sym typeface="PingFang SC Regular"/>
              </a:rPr>
              <a:t>月发布金融数据共享长远规划</a:t>
            </a:r>
            <a:r>
              <a:rPr lang="en-US" altLang="zh-CN" sz="1200" dirty="0">
                <a:solidFill>
                  <a:srgbClr val="5E5E5E"/>
                </a:solidFill>
                <a:latin typeface="PingFang SC Regular"/>
                <a:sym typeface="PingFang SC Regular"/>
              </a:rPr>
              <a:t>《Review into Open Banking in Australia (Issue Paper)》</a:t>
            </a:r>
          </a:p>
        </p:txBody>
      </p:sp>
      <p:sp>
        <p:nvSpPr>
          <p:cNvPr id="13" name="矩形 12">
            <a:extLst>
              <a:ext uri="{FF2B5EF4-FFF2-40B4-BE49-F238E27FC236}">
                <a16:creationId xmlns:a16="http://schemas.microsoft.com/office/drawing/2014/main" xmlns="" id="{8699F565-7296-48BD-B0C8-ECA873D1080F}"/>
              </a:ext>
            </a:extLst>
          </p:cNvPr>
          <p:cNvSpPr/>
          <p:nvPr/>
        </p:nvSpPr>
        <p:spPr>
          <a:xfrm>
            <a:off x="1565467" y="3550867"/>
            <a:ext cx="955657" cy="238767"/>
          </a:xfrm>
          <a:prstGeom prst="rect">
            <a:avLst/>
          </a:prstGeom>
          <a:solidFill>
            <a:srgbClr val="CAA35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lt"/>
                <a:ea typeface="+mn-ea"/>
                <a:cs typeface="+mn-cs"/>
                <a:sym typeface="Helvetica Neue Medium"/>
              </a:rPr>
              <a:t>美国</a:t>
            </a:r>
          </a:p>
        </p:txBody>
      </p:sp>
      <p:sp>
        <p:nvSpPr>
          <p:cNvPr id="10" name="矩形 9">
            <a:extLst>
              <a:ext uri="{FF2B5EF4-FFF2-40B4-BE49-F238E27FC236}">
                <a16:creationId xmlns:a16="http://schemas.microsoft.com/office/drawing/2014/main" xmlns="" id="{73B2B435-F86D-47B8-8D1B-27C588EF2393}"/>
              </a:ext>
            </a:extLst>
          </p:cNvPr>
          <p:cNvSpPr/>
          <p:nvPr/>
        </p:nvSpPr>
        <p:spPr>
          <a:xfrm>
            <a:off x="2549649" y="3550867"/>
            <a:ext cx="7416000" cy="461665"/>
          </a:xfrm>
          <a:prstGeom prst="rect">
            <a:avLst/>
          </a:prstGeom>
        </p:spPr>
        <p:txBody>
          <a:bodyPr wrap="square">
            <a:spAutoFit/>
          </a:bodyPr>
          <a:lstStyle/>
          <a:p>
            <a:pPr marL="342900" indent="-342900" algn="l">
              <a:spcBef>
                <a:spcPts val="1200"/>
              </a:spcBef>
              <a:buFont typeface="Arial" panose="020B0604020202020204" pitchFamily="34" charset="0"/>
              <a:buChar char="•"/>
            </a:pPr>
            <a:r>
              <a:rPr lang="zh-CN" altLang="en-US" sz="1200" dirty="0">
                <a:solidFill>
                  <a:srgbClr val="5E5E5E"/>
                </a:solidFill>
                <a:latin typeface="PingFang SC Regular"/>
              </a:rPr>
              <a:t>消费者金融保护局</a:t>
            </a:r>
            <a:r>
              <a:rPr lang="en-US" altLang="zh-CN" sz="1200" dirty="0">
                <a:solidFill>
                  <a:srgbClr val="5E5E5E"/>
                </a:solidFill>
                <a:latin typeface="PingFang SC Regular"/>
              </a:rPr>
              <a:t>CFPB</a:t>
            </a:r>
            <a:r>
              <a:rPr lang="zh-CN" altLang="en-US" sz="1200" dirty="0">
                <a:solidFill>
                  <a:srgbClr val="5E5E5E"/>
                </a:solidFill>
                <a:latin typeface="PingFang SC Regular"/>
              </a:rPr>
              <a:t>（</a:t>
            </a:r>
            <a:r>
              <a:rPr lang="en-US" altLang="zh-CN" sz="1200" dirty="0">
                <a:solidFill>
                  <a:srgbClr val="5E5E5E"/>
                </a:solidFill>
                <a:latin typeface="PingFang SC Regular"/>
              </a:rPr>
              <a:t>Consumer Financial Protection Bureau</a:t>
            </a:r>
            <a:r>
              <a:rPr lang="zh-CN" altLang="en-US" sz="1200" dirty="0">
                <a:solidFill>
                  <a:srgbClr val="5E5E5E"/>
                </a:solidFill>
                <a:latin typeface="PingFang SC Regular"/>
              </a:rPr>
              <a:t>）</a:t>
            </a:r>
            <a:r>
              <a:rPr lang="en-US" altLang="zh-CN" sz="1200" dirty="0">
                <a:solidFill>
                  <a:srgbClr val="5E5E5E"/>
                </a:solidFill>
                <a:latin typeface="PingFang SC Regular"/>
              </a:rPr>
              <a:t>2017</a:t>
            </a:r>
            <a:r>
              <a:rPr lang="zh-CN" altLang="en-US" sz="1200" dirty="0">
                <a:solidFill>
                  <a:srgbClr val="5E5E5E"/>
                </a:solidFill>
                <a:latin typeface="PingFang SC Regular"/>
              </a:rPr>
              <a:t>年</a:t>
            </a:r>
            <a:r>
              <a:rPr lang="en-US" altLang="zh-CN" sz="1200" dirty="0">
                <a:solidFill>
                  <a:srgbClr val="5E5E5E"/>
                </a:solidFill>
                <a:latin typeface="PingFang SC Regular"/>
              </a:rPr>
              <a:t>10</a:t>
            </a:r>
            <a:r>
              <a:rPr lang="zh-CN" altLang="en-US" sz="1200" dirty="0">
                <a:solidFill>
                  <a:srgbClr val="5E5E5E"/>
                </a:solidFill>
                <a:latin typeface="PingFang SC Regular"/>
              </a:rPr>
              <a:t>月</a:t>
            </a:r>
            <a:r>
              <a:rPr lang="en-US" altLang="zh-CN" sz="1200" dirty="0">
                <a:solidFill>
                  <a:srgbClr val="5E5E5E"/>
                </a:solidFill>
                <a:latin typeface="PingFang SC Regular"/>
              </a:rPr>
              <a:t>18</a:t>
            </a:r>
            <a:r>
              <a:rPr lang="zh-CN" altLang="en-US" sz="1200" dirty="0">
                <a:solidFill>
                  <a:srgbClr val="5E5E5E"/>
                </a:solidFill>
                <a:latin typeface="PingFang SC Regular"/>
              </a:rPr>
              <a:t>日发布金融数据共享指导意见。</a:t>
            </a:r>
            <a:endParaRPr lang="en-US" altLang="zh-CN" sz="1200" dirty="0">
              <a:solidFill>
                <a:srgbClr val="5E5E5E"/>
              </a:solidFill>
              <a:latin typeface="PingFang SC Regular"/>
            </a:endParaRPr>
          </a:p>
        </p:txBody>
      </p:sp>
      <p:sp>
        <p:nvSpPr>
          <p:cNvPr id="11" name="矩形 10">
            <a:extLst>
              <a:ext uri="{FF2B5EF4-FFF2-40B4-BE49-F238E27FC236}">
                <a16:creationId xmlns:a16="http://schemas.microsoft.com/office/drawing/2014/main" xmlns="" id="{BC297B69-8DCD-4A75-8274-81EB448A9360}"/>
              </a:ext>
            </a:extLst>
          </p:cNvPr>
          <p:cNvSpPr/>
          <p:nvPr/>
        </p:nvSpPr>
        <p:spPr>
          <a:xfrm>
            <a:off x="2549649" y="2881939"/>
            <a:ext cx="7416000" cy="461665"/>
          </a:xfrm>
          <a:prstGeom prst="rect">
            <a:avLst/>
          </a:prstGeom>
        </p:spPr>
        <p:txBody>
          <a:bodyPr wrap="square">
            <a:spAutoFit/>
          </a:bodyPr>
          <a:lstStyle/>
          <a:p>
            <a:pPr marL="342900" indent="-342900" algn="l">
              <a:spcBef>
                <a:spcPts val="1200"/>
              </a:spcBef>
              <a:buFont typeface="Arial" panose="020B0604020202020204" pitchFamily="34" charset="0"/>
              <a:buChar char="•"/>
            </a:pPr>
            <a:r>
              <a:rPr lang="en-US" altLang="zh-CN" sz="1200" dirty="0">
                <a:solidFill>
                  <a:srgbClr val="5E5E5E"/>
                </a:solidFill>
                <a:latin typeface="PingFang SC Regular"/>
              </a:rPr>
              <a:t>2016</a:t>
            </a:r>
            <a:r>
              <a:rPr lang="zh-CN" altLang="en-US" sz="1200" dirty="0">
                <a:solidFill>
                  <a:srgbClr val="5E5E5E"/>
                </a:solidFill>
                <a:latin typeface="PingFang SC Regular"/>
              </a:rPr>
              <a:t>年通过</a:t>
            </a:r>
            <a:r>
              <a:rPr lang="en-US" altLang="zh-CN" sz="1200" dirty="0">
                <a:solidFill>
                  <a:srgbClr val="5E5E5E"/>
                </a:solidFill>
                <a:latin typeface="PingFang SC Regular"/>
              </a:rPr>
              <a:t>PSD2</a:t>
            </a:r>
            <a:r>
              <a:rPr lang="zh-CN" altLang="en-US" sz="1200" dirty="0">
                <a:solidFill>
                  <a:srgbClr val="5E5E5E"/>
                </a:solidFill>
                <a:latin typeface="PingFang SC Regular"/>
              </a:rPr>
              <a:t>（</a:t>
            </a:r>
            <a:r>
              <a:rPr lang="en-US" altLang="zh-CN" sz="1200" dirty="0">
                <a:solidFill>
                  <a:srgbClr val="5E5E5E"/>
                </a:solidFill>
                <a:latin typeface="PingFang SC Regular"/>
              </a:rPr>
              <a:t>Payment Service Directive 2</a:t>
            </a:r>
            <a:r>
              <a:rPr lang="zh-CN" altLang="en-US" sz="1200" dirty="0">
                <a:solidFill>
                  <a:srgbClr val="5E5E5E"/>
                </a:solidFill>
                <a:latin typeface="PingFang SC Regular"/>
              </a:rPr>
              <a:t>）法令，规定在</a:t>
            </a:r>
            <a:r>
              <a:rPr lang="en-US" altLang="zh-CN" sz="1200" dirty="0">
                <a:solidFill>
                  <a:srgbClr val="5E5E5E"/>
                </a:solidFill>
                <a:latin typeface="PingFang SC Regular"/>
              </a:rPr>
              <a:t>2018</a:t>
            </a:r>
            <a:r>
              <a:rPr lang="zh-CN" altLang="en-US" sz="1200" dirty="0">
                <a:solidFill>
                  <a:srgbClr val="5E5E5E"/>
                </a:solidFill>
                <a:latin typeface="PingFang SC Regular"/>
              </a:rPr>
              <a:t>年</a:t>
            </a:r>
            <a:r>
              <a:rPr lang="en-US" altLang="zh-CN" sz="1200" dirty="0">
                <a:solidFill>
                  <a:srgbClr val="5E5E5E"/>
                </a:solidFill>
                <a:latin typeface="PingFang SC Regular"/>
              </a:rPr>
              <a:t>1</a:t>
            </a:r>
            <a:r>
              <a:rPr lang="zh-CN" altLang="en-US" sz="1200" dirty="0">
                <a:solidFill>
                  <a:srgbClr val="5E5E5E"/>
                </a:solidFill>
                <a:latin typeface="PingFang SC Regular"/>
              </a:rPr>
              <a:t>月</a:t>
            </a:r>
            <a:r>
              <a:rPr lang="en-US" altLang="zh-CN" sz="1200" dirty="0">
                <a:solidFill>
                  <a:srgbClr val="5E5E5E"/>
                </a:solidFill>
                <a:latin typeface="PingFang SC Regular"/>
              </a:rPr>
              <a:t>13</a:t>
            </a:r>
            <a:r>
              <a:rPr lang="zh-CN" altLang="en-US" sz="1200" dirty="0">
                <a:solidFill>
                  <a:srgbClr val="5E5E5E"/>
                </a:solidFill>
                <a:latin typeface="PingFang SC Regular"/>
              </a:rPr>
              <a:t>日起欧洲银行把支付服务和相关客户数据开放。</a:t>
            </a:r>
            <a:endParaRPr lang="en-US" altLang="zh-CN" sz="1200" dirty="0">
              <a:solidFill>
                <a:srgbClr val="5E5E5E"/>
              </a:solidFill>
              <a:latin typeface="PingFang SC Regular"/>
            </a:endParaRPr>
          </a:p>
        </p:txBody>
      </p:sp>
      <p:sp>
        <p:nvSpPr>
          <p:cNvPr id="12" name="矩形 11">
            <a:extLst>
              <a:ext uri="{FF2B5EF4-FFF2-40B4-BE49-F238E27FC236}">
                <a16:creationId xmlns:a16="http://schemas.microsoft.com/office/drawing/2014/main" xmlns="" id="{68DB1892-D7CE-4347-8C7B-A0E8F1BF50D5}"/>
              </a:ext>
            </a:extLst>
          </p:cNvPr>
          <p:cNvSpPr/>
          <p:nvPr/>
        </p:nvSpPr>
        <p:spPr>
          <a:xfrm>
            <a:off x="2549649" y="2203010"/>
            <a:ext cx="7416000" cy="461665"/>
          </a:xfrm>
          <a:prstGeom prst="rect">
            <a:avLst/>
          </a:prstGeom>
        </p:spPr>
        <p:txBody>
          <a:bodyPr wrap="square">
            <a:spAutoFit/>
          </a:bodyPr>
          <a:lstStyle/>
          <a:p>
            <a:pPr marL="342900" indent="-342900" algn="l">
              <a:spcBef>
                <a:spcPts val="1200"/>
              </a:spcBef>
              <a:buFont typeface="Arial" panose="020B0604020202020204" pitchFamily="34" charset="0"/>
              <a:buChar char="•"/>
            </a:pPr>
            <a:r>
              <a:rPr lang="zh-CN" altLang="en-US" sz="1200" dirty="0">
                <a:solidFill>
                  <a:srgbClr val="5E5E5E"/>
                </a:solidFill>
                <a:latin typeface="PingFang SC Regular"/>
              </a:rPr>
              <a:t>竞争和市场委员会</a:t>
            </a:r>
            <a:r>
              <a:rPr lang="en-US" altLang="zh-CN" sz="1200" dirty="0">
                <a:solidFill>
                  <a:srgbClr val="5E5E5E"/>
                </a:solidFill>
                <a:latin typeface="PingFang SC Regular"/>
              </a:rPr>
              <a:t>CMA</a:t>
            </a:r>
            <a:r>
              <a:rPr lang="zh-CN" altLang="en-US" sz="1200" dirty="0">
                <a:solidFill>
                  <a:srgbClr val="5E5E5E"/>
                </a:solidFill>
                <a:latin typeface="PingFang SC Regular"/>
              </a:rPr>
              <a:t>（</a:t>
            </a:r>
            <a:r>
              <a:rPr lang="en-US" altLang="zh-CN" sz="1200" dirty="0">
                <a:solidFill>
                  <a:srgbClr val="5E5E5E"/>
                </a:solidFill>
                <a:latin typeface="PingFang SC Regular"/>
              </a:rPr>
              <a:t>Competition and Markets Authority</a:t>
            </a:r>
            <a:r>
              <a:rPr lang="zh-CN" altLang="en-US" sz="1200" dirty="0">
                <a:solidFill>
                  <a:srgbClr val="5E5E5E"/>
                </a:solidFill>
                <a:latin typeface="PingFang SC Regular"/>
              </a:rPr>
              <a:t>）</a:t>
            </a:r>
            <a:r>
              <a:rPr lang="en-US" altLang="zh-CN" sz="1200" dirty="0">
                <a:solidFill>
                  <a:srgbClr val="5E5E5E"/>
                </a:solidFill>
                <a:latin typeface="PingFang SC Regular"/>
              </a:rPr>
              <a:t>2016</a:t>
            </a:r>
            <a:r>
              <a:rPr lang="zh-CN" altLang="en-US" sz="1200" dirty="0">
                <a:solidFill>
                  <a:srgbClr val="5E5E5E"/>
                </a:solidFill>
                <a:latin typeface="PingFang SC Regular"/>
              </a:rPr>
              <a:t>年开始主导</a:t>
            </a:r>
            <a:r>
              <a:rPr lang="en-US" altLang="zh-CN" sz="1200" dirty="0">
                <a:solidFill>
                  <a:srgbClr val="5E5E5E"/>
                </a:solidFill>
                <a:latin typeface="PingFang SC Regular"/>
              </a:rPr>
              <a:t>Open Banking </a:t>
            </a:r>
            <a:r>
              <a:rPr lang="zh-CN" altLang="en-US" sz="1200" dirty="0">
                <a:solidFill>
                  <a:srgbClr val="5E5E5E"/>
                </a:solidFill>
                <a:latin typeface="PingFang SC Regular"/>
              </a:rPr>
              <a:t>计划，预计</a:t>
            </a:r>
            <a:r>
              <a:rPr lang="en-US" altLang="zh-CN" sz="1200" dirty="0">
                <a:solidFill>
                  <a:srgbClr val="5E5E5E"/>
                </a:solidFill>
                <a:latin typeface="PingFang SC Regular"/>
              </a:rPr>
              <a:t>2018</a:t>
            </a:r>
            <a:r>
              <a:rPr lang="zh-CN" altLang="en-US" sz="1200" dirty="0">
                <a:solidFill>
                  <a:srgbClr val="5E5E5E"/>
                </a:solidFill>
                <a:latin typeface="PingFang SC Regular"/>
              </a:rPr>
              <a:t>年在英国大银行逐步实现</a:t>
            </a:r>
            <a:endParaRPr lang="en-US" altLang="zh-TW" sz="1200" dirty="0">
              <a:solidFill>
                <a:srgbClr val="5E5E5E"/>
              </a:solidFill>
              <a:latin typeface="PingFang SC Regular"/>
            </a:endParaRPr>
          </a:p>
        </p:txBody>
      </p:sp>
      <p:sp>
        <p:nvSpPr>
          <p:cNvPr id="14" name="矩形 13">
            <a:extLst>
              <a:ext uri="{FF2B5EF4-FFF2-40B4-BE49-F238E27FC236}">
                <a16:creationId xmlns:a16="http://schemas.microsoft.com/office/drawing/2014/main" xmlns="" id="{9B620AE2-6FDA-49D2-8410-DB675AA73953}"/>
              </a:ext>
            </a:extLst>
          </p:cNvPr>
          <p:cNvSpPr/>
          <p:nvPr/>
        </p:nvSpPr>
        <p:spPr>
          <a:xfrm>
            <a:off x="1565467" y="2881939"/>
            <a:ext cx="955657" cy="238767"/>
          </a:xfrm>
          <a:prstGeom prst="rect">
            <a:avLst/>
          </a:prstGeom>
          <a:solidFill>
            <a:srgbClr val="CAA35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lt"/>
                <a:ea typeface="+mn-ea"/>
                <a:cs typeface="+mn-cs"/>
                <a:sym typeface="Helvetica Neue Medium"/>
              </a:rPr>
              <a:t>欧盟</a:t>
            </a:r>
          </a:p>
        </p:txBody>
      </p:sp>
      <p:sp>
        <p:nvSpPr>
          <p:cNvPr id="15" name="矩形 14">
            <a:extLst>
              <a:ext uri="{FF2B5EF4-FFF2-40B4-BE49-F238E27FC236}">
                <a16:creationId xmlns:a16="http://schemas.microsoft.com/office/drawing/2014/main" xmlns="" id="{9E3D9BD1-2404-4820-9094-CA5A8BA1111B}"/>
              </a:ext>
            </a:extLst>
          </p:cNvPr>
          <p:cNvSpPr/>
          <p:nvPr/>
        </p:nvSpPr>
        <p:spPr>
          <a:xfrm>
            <a:off x="1565467" y="2203010"/>
            <a:ext cx="955657" cy="238767"/>
          </a:xfrm>
          <a:prstGeom prst="rect">
            <a:avLst/>
          </a:prstGeom>
          <a:solidFill>
            <a:srgbClr val="CAA35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lt"/>
                <a:ea typeface="+mn-ea"/>
                <a:cs typeface="+mn-cs"/>
                <a:sym typeface="Helvetica Neue Medium"/>
              </a:rPr>
              <a:t>英国</a:t>
            </a:r>
          </a:p>
        </p:txBody>
      </p:sp>
      <p:sp>
        <p:nvSpPr>
          <p:cNvPr id="62" name="矩形 61">
            <a:extLst>
              <a:ext uri="{FF2B5EF4-FFF2-40B4-BE49-F238E27FC236}">
                <a16:creationId xmlns:a16="http://schemas.microsoft.com/office/drawing/2014/main" xmlns="" id="{26C0832A-7636-49F3-9116-02584C8D1391}"/>
              </a:ext>
            </a:extLst>
          </p:cNvPr>
          <p:cNvSpPr/>
          <p:nvPr/>
        </p:nvSpPr>
        <p:spPr>
          <a:xfrm>
            <a:off x="1565467" y="1544083"/>
            <a:ext cx="955657" cy="238767"/>
          </a:xfrm>
          <a:prstGeom prst="rect">
            <a:avLst/>
          </a:prstGeom>
          <a:solidFill>
            <a:srgbClr val="C00000"/>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a:solidFill>
                  <a:schemeClr val="bg1"/>
                </a:solidFill>
                <a:latin typeface="+mn-lt"/>
                <a:ea typeface="+mn-ea"/>
                <a:cs typeface="+mn-cs"/>
                <a:sym typeface="Helvetica Neue Medium"/>
              </a:rPr>
              <a:t>香港</a:t>
            </a:r>
            <a:endParaRPr kumimoji="0" lang="zh-CN" altLang="en-US" sz="1200" b="0" i="0" u="none" strike="noStrike" cap="none" spc="0" normalizeH="0" baseline="0" dirty="0">
              <a:ln>
                <a:noFill/>
              </a:ln>
              <a:solidFill>
                <a:schemeClr val="bg1"/>
              </a:solidFill>
              <a:effectLst/>
              <a:uFillTx/>
              <a:latin typeface="+mn-lt"/>
              <a:ea typeface="+mn-ea"/>
              <a:cs typeface="+mn-cs"/>
              <a:sym typeface="Helvetica Neue Medium"/>
            </a:endParaRPr>
          </a:p>
        </p:txBody>
      </p:sp>
      <p:sp>
        <p:nvSpPr>
          <p:cNvPr id="64" name="矩形 63">
            <a:extLst>
              <a:ext uri="{FF2B5EF4-FFF2-40B4-BE49-F238E27FC236}">
                <a16:creationId xmlns:a16="http://schemas.microsoft.com/office/drawing/2014/main" xmlns="" id="{B53A2D4E-30C9-4033-A13A-A6D75310A3CA}"/>
              </a:ext>
            </a:extLst>
          </p:cNvPr>
          <p:cNvSpPr/>
          <p:nvPr/>
        </p:nvSpPr>
        <p:spPr>
          <a:xfrm>
            <a:off x="1565467" y="4888723"/>
            <a:ext cx="955657" cy="238767"/>
          </a:xfrm>
          <a:prstGeom prst="rect">
            <a:avLst/>
          </a:prstGeom>
          <a:solidFill>
            <a:srgbClr val="CAA35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lt"/>
                <a:ea typeface="+mn-ea"/>
                <a:cs typeface="+mn-cs"/>
                <a:sym typeface="Helvetica Neue Medium"/>
              </a:rPr>
              <a:t>日本</a:t>
            </a:r>
          </a:p>
        </p:txBody>
      </p:sp>
      <p:sp>
        <p:nvSpPr>
          <p:cNvPr id="63" name="矩形 62">
            <a:extLst>
              <a:ext uri="{FF2B5EF4-FFF2-40B4-BE49-F238E27FC236}">
                <a16:creationId xmlns:a16="http://schemas.microsoft.com/office/drawing/2014/main" xmlns="" id="{355F9DFF-DEA4-47F2-B9E1-3B26492AC013}"/>
              </a:ext>
            </a:extLst>
          </p:cNvPr>
          <p:cNvSpPr/>
          <p:nvPr/>
        </p:nvSpPr>
        <p:spPr>
          <a:xfrm>
            <a:off x="2549649" y="4888723"/>
            <a:ext cx="7416000" cy="276999"/>
          </a:xfrm>
          <a:prstGeom prst="rect">
            <a:avLst/>
          </a:prstGeom>
        </p:spPr>
        <p:txBody>
          <a:bodyPr wrap="square">
            <a:spAutoFit/>
          </a:bodyPr>
          <a:lstStyle/>
          <a:p>
            <a:pPr marL="342900" indent="-342900" algn="l">
              <a:spcBef>
                <a:spcPts val="1200"/>
              </a:spcBef>
              <a:buFont typeface="Arial" panose="020B0604020202020204" pitchFamily="34" charset="0"/>
              <a:buChar char="•"/>
            </a:pPr>
            <a:r>
              <a:rPr lang="en-US" altLang="zh-CN" sz="1200" dirty="0">
                <a:solidFill>
                  <a:srgbClr val="5E5E5E"/>
                </a:solidFill>
                <a:latin typeface="PingFang SC Regular"/>
                <a:sym typeface="PingFang SC Regular"/>
              </a:rPr>
              <a:t>2017</a:t>
            </a:r>
            <a:r>
              <a:rPr lang="zh-CN" altLang="en-US" sz="1200" dirty="0">
                <a:solidFill>
                  <a:srgbClr val="5E5E5E"/>
                </a:solidFill>
                <a:latin typeface="PingFang SC Regular"/>
                <a:sym typeface="PingFang SC Regular"/>
              </a:rPr>
              <a:t>年</a:t>
            </a:r>
            <a:r>
              <a:rPr lang="en-US" altLang="zh-CN" sz="1200" dirty="0">
                <a:solidFill>
                  <a:srgbClr val="5E5E5E"/>
                </a:solidFill>
                <a:latin typeface="PingFang SC Regular"/>
                <a:sym typeface="PingFang SC Regular"/>
              </a:rPr>
              <a:t>5</a:t>
            </a:r>
            <a:r>
              <a:rPr lang="zh-CN" altLang="en-US" sz="1200" dirty="0">
                <a:solidFill>
                  <a:srgbClr val="5E5E5E"/>
                </a:solidFill>
                <a:latin typeface="PingFang SC Regular"/>
                <a:sym typeface="PingFang SC Regular"/>
              </a:rPr>
              <a:t>月</a:t>
            </a:r>
            <a:r>
              <a:rPr lang="en-US" altLang="zh-CN" sz="1200" dirty="0">
                <a:solidFill>
                  <a:srgbClr val="5E5E5E"/>
                </a:solidFill>
                <a:latin typeface="PingFang SC Regular"/>
                <a:sym typeface="PingFang SC Regular"/>
              </a:rPr>
              <a:t>26</a:t>
            </a:r>
            <a:r>
              <a:rPr lang="zh-CN" altLang="en-US" sz="1200" dirty="0">
                <a:solidFill>
                  <a:srgbClr val="5E5E5E"/>
                </a:solidFill>
                <a:latin typeface="PingFang SC Regular"/>
                <a:sym typeface="PingFang SC Regular"/>
              </a:rPr>
              <a:t>日通过日本银行法案修正案，专门条款鼓励金融公司和金融科技公司共享数据。</a:t>
            </a:r>
            <a:endParaRPr lang="en-US" altLang="zh-CN" sz="1200" dirty="0">
              <a:solidFill>
                <a:srgbClr val="5E5E5E"/>
              </a:solidFill>
              <a:latin typeface="PingFang SC Regular"/>
              <a:sym typeface="PingFang SC Regular"/>
            </a:endParaRPr>
          </a:p>
        </p:txBody>
      </p:sp>
      <p:sp>
        <p:nvSpPr>
          <p:cNvPr id="66" name="矩形 65">
            <a:extLst>
              <a:ext uri="{FF2B5EF4-FFF2-40B4-BE49-F238E27FC236}">
                <a16:creationId xmlns:a16="http://schemas.microsoft.com/office/drawing/2014/main" xmlns="" id="{8E5E660D-CAD4-42E2-AF0A-14876975DFF0}"/>
              </a:ext>
            </a:extLst>
          </p:cNvPr>
          <p:cNvSpPr/>
          <p:nvPr/>
        </p:nvSpPr>
        <p:spPr>
          <a:xfrm>
            <a:off x="1565467" y="5543876"/>
            <a:ext cx="955657" cy="238767"/>
          </a:xfrm>
          <a:prstGeom prst="rect">
            <a:avLst/>
          </a:prstGeom>
          <a:solidFill>
            <a:srgbClr val="CAA35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mn-lt"/>
                <a:ea typeface="+mn-ea"/>
                <a:cs typeface="+mn-cs"/>
                <a:sym typeface="Helvetica Neue Medium"/>
              </a:rPr>
              <a:t>新加坡</a:t>
            </a:r>
          </a:p>
        </p:txBody>
      </p:sp>
      <p:sp>
        <p:nvSpPr>
          <p:cNvPr id="65" name="矩形 64">
            <a:extLst>
              <a:ext uri="{FF2B5EF4-FFF2-40B4-BE49-F238E27FC236}">
                <a16:creationId xmlns:a16="http://schemas.microsoft.com/office/drawing/2014/main" xmlns="" id="{FFD45763-3813-4B8A-8689-3BB6E9072004}"/>
              </a:ext>
            </a:extLst>
          </p:cNvPr>
          <p:cNvSpPr/>
          <p:nvPr/>
        </p:nvSpPr>
        <p:spPr>
          <a:xfrm>
            <a:off x="2549649" y="5543876"/>
            <a:ext cx="7416000" cy="276999"/>
          </a:xfrm>
          <a:prstGeom prst="rect">
            <a:avLst/>
          </a:prstGeom>
        </p:spPr>
        <p:txBody>
          <a:bodyPr wrap="square">
            <a:spAutoFit/>
          </a:bodyPr>
          <a:lstStyle/>
          <a:p>
            <a:pPr marL="342900" indent="-342900" algn="l">
              <a:spcBef>
                <a:spcPts val="1200"/>
              </a:spcBef>
              <a:buFont typeface="Arial" panose="020B0604020202020204" pitchFamily="34" charset="0"/>
              <a:buChar char="•"/>
            </a:pPr>
            <a:r>
              <a:rPr lang="zh-CN" altLang="en-US" sz="1200" dirty="0">
                <a:solidFill>
                  <a:srgbClr val="5E5E5E"/>
                </a:solidFill>
                <a:latin typeface="PingFang SC Regular"/>
                <a:sym typeface="PingFang SC Regular"/>
              </a:rPr>
              <a:t>金融管理局</a:t>
            </a:r>
            <a:r>
              <a:rPr lang="en-US" altLang="zh-CN" sz="1200" dirty="0">
                <a:solidFill>
                  <a:srgbClr val="5E5E5E"/>
                </a:solidFill>
                <a:latin typeface="PingFang SC Regular"/>
                <a:sym typeface="PingFang SC Regular"/>
              </a:rPr>
              <a:t>MAS (the Monetary Authority of Singapore)</a:t>
            </a:r>
            <a:r>
              <a:rPr lang="zh-CN" altLang="en-US" sz="1200" dirty="0">
                <a:solidFill>
                  <a:srgbClr val="5E5E5E"/>
                </a:solidFill>
                <a:latin typeface="PingFang SC Regular"/>
                <a:sym typeface="PingFang SC Regular"/>
              </a:rPr>
              <a:t>已成立专门金融数据共享注册中心。</a:t>
            </a:r>
            <a:endParaRPr lang="en-US" altLang="zh-CN" sz="1200" dirty="0">
              <a:solidFill>
                <a:srgbClr val="5E5E5E"/>
              </a:solidFill>
              <a:latin typeface="PingFang SC Regular"/>
              <a:sym typeface="PingFang SC Regular"/>
            </a:endParaRPr>
          </a:p>
        </p:txBody>
      </p:sp>
    </p:spTree>
    <p:extLst>
      <p:ext uri="{BB962C8B-B14F-4D97-AF65-F5344CB8AC3E}">
        <p14:creationId xmlns:p14="http://schemas.microsoft.com/office/powerpoint/2010/main" val="1943943908"/>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圆角 179">
            <a:extLst>
              <a:ext uri="{FF2B5EF4-FFF2-40B4-BE49-F238E27FC236}">
                <a16:creationId xmlns:a16="http://schemas.microsoft.com/office/drawing/2014/main" xmlns="" id="{CB295292-A480-4277-A652-D6505CC1105A}"/>
              </a:ext>
            </a:extLst>
          </p:cNvPr>
          <p:cNvSpPr/>
          <p:nvPr/>
        </p:nvSpPr>
        <p:spPr>
          <a:xfrm>
            <a:off x="6638926" y="1423968"/>
            <a:ext cx="3914774" cy="2088000"/>
          </a:xfrm>
          <a:prstGeom prst="roundRect">
            <a:avLst/>
          </a:prstGeom>
          <a:solidFill>
            <a:srgbClr val="F2F2F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282101" y="418660"/>
            <a:ext cx="3603151"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打破数据孤岛，“共享”连接一切</a:t>
            </a:r>
            <a:endParaRPr sz="2000" dirty="0"/>
          </a:p>
        </p:txBody>
      </p:sp>
      <p:grpSp>
        <p:nvGrpSpPr>
          <p:cNvPr id="158" name="组合 157">
            <a:extLst>
              <a:ext uri="{FF2B5EF4-FFF2-40B4-BE49-F238E27FC236}">
                <a16:creationId xmlns:a16="http://schemas.microsoft.com/office/drawing/2014/main" xmlns="" id="{EDA34E48-C800-44AE-8189-648E7E73DD84}"/>
              </a:ext>
            </a:extLst>
          </p:cNvPr>
          <p:cNvGrpSpPr/>
          <p:nvPr/>
        </p:nvGrpSpPr>
        <p:grpSpPr>
          <a:xfrm>
            <a:off x="1282101" y="1423969"/>
            <a:ext cx="4989073" cy="3266315"/>
            <a:chOff x="2175522" y="1509694"/>
            <a:chExt cx="4989073" cy="3266315"/>
          </a:xfrm>
        </p:grpSpPr>
        <p:pic>
          <p:nvPicPr>
            <p:cNvPr id="6" name="图片 5">
              <a:extLst>
                <a:ext uri="{FF2B5EF4-FFF2-40B4-BE49-F238E27FC236}">
                  <a16:creationId xmlns:a16="http://schemas.microsoft.com/office/drawing/2014/main" xmlns="" id="{9B860E05-03E2-42D3-B120-207B301ABB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6794" y="3580056"/>
              <a:ext cx="1084331" cy="1195953"/>
            </a:xfrm>
            <a:prstGeom prst="ellipse">
              <a:avLst/>
            </a:prstGeom>
          </p:spPr>
        </p:pic>
        <p:sp>
          <p:nvSpPr>
            <p:cNvPr id="7" name="椭圆 6">
              <a:extLst>
                <a:ext uri="{FF2B5EF4-FFF2-40B4-BE49-F238E27FC236}">
                  <a16:creationId xmlns:a16="http://schemas.microsoft.com/office/drawing/2014/main" xmlns="" id="{A1C99FC7-39C1-4D56-860D-D1433F163A94}"/>
                </a:ext>
              </a:extLst>
            </p:cNvPr>
            <p:cNvSpPr/>
            <p:nvPr/>
          </p:nvSpPr>
          <p:spPr>
            <a:xfrm>
              <a:off x="3546130" y="2847718"/>
              <a:ext cx="432000" cy="432000"/>
            </a:xfrm>
            <a:prstGeom prst="ellipse">
              <a:avLst/>
            </a:prstGeom>
            <a:noFill/>
            <a:ln w="31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1" name="椭圆 30">
              <a:extLst>
                <a:ext uri="{FF2B5EF4-FFF2-40B4-BE49-F238E27FC236}">
                  <a16:creationId xmlns:a16="http://schemas.microsoft.com/office/drawing/2014/main" xmlns="" id="{C270FB46-4F66-4926-B0A7-140FF3A31EF2}"/>
                </a:ext>
              </a:extLst>
            </p:cNvPr>
            <p:cNvSpPr/>
            <p:nvPr/>
          </p:nvSpPr>
          <p:spPr>
            <a:xfrm>
              <a:off x="4272071" y="2447558"/>
              <a:ext cx="432000" cy="432000"/>
            </a:xfrm>
            <a:prstGeom prst="ellipse">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椭圆 31">
              <a:extLst>
                <a:ext uri="{FF2B5EF4-FFF2-40B4-BE49-F238E27FC236}">
                  <a16:creationId xmlns:a16="http://schemas.microsoft.com/office/drawing/2014/main" xmlns="" id="{D8EE6793-8001-4F42-8A23-E09F42DD8655}"/>
                </a:ext>
              </a:extLst>
            </p:cNvPr>
            <p:cNvSpPr/>
            <p:nvPr/>
          </p:nvSpPr>
          <p:spPr>
            <a:xfrm>
              <a:off x="4662894" y="2918503"/>
              <a:ext cx="432000" cy="432000"/>
            </a:xfrm>
            <a:prstGeom prst="ellipse">
              <a:avLst/>
            </a:prstGeom>
            <a:noFill/>
            <a:ln w="31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3" name="椭圆 32">
              <a:extLst>
                <a:ext uri="{FF2B5EF4-FFF2-40B4-BE49-F238E27FC236}">
                  <a16:creationId xmlns:a16="http://schemas.microsoft.com/office/drawing/2014/main" xmlns="" id="{CE34D691-8FA3-4FBA-9103-60CB2ED99782}"/>
                </a:ext>
              </a:extLst>
            </p:cNvPr>
            <p:cNvSpPr/>
            <p:nvPr/>
          </p:nvSpPr>
          <p:spPr>
            <a:xfrm>
              <a:off x="2930419" y="2640501"/>
              <a:ext cx="432000" cy="432000"/>
            </a:xfrm>
            <a:prstGeom prst="ellipse">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1" name="直接连接符 10">
              <a:extLst>
                <a:ext uri="{FF2B5EF4-FFF2-40B4-BE49-F238E27FC236}">
                  <a16:creationId xmlns:a16="http://schemas.microsoft.com/office/drawing/2014/main" xmlns="" id="{21D3505B-0AE3-4305-80FE-6ED8A981C539}"/>
                </a:ext>
              </a:extLst>
            </p:cNvPr>
            <p:cNvCxnSpPr>
              <a:cxnSpLocks/>
              <a:stCxn id="6" idx="0"/>
              <a:endCxn id="33" idx="4"/>
            </p:cNvCxnSpPr>
            <p:nvPr/>
          </p:nvCxnSpPr>
          <p:spPr>
            <a:xfrm flipH="1" flipV="1">
              <a:off x="3146419" y="3072501"/>
              <a:ext cx="782541" cy="507555"/>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19" name="直接连接符 18">
              <a:extLst>
                <a:ext uri="{FF2B5EF4-FFF2-40B4-BE49-F238E27FC236}">
                  <a16:creationId xmlns:a16="http://schemas.microsoft.com/office/drawing/2014/main" xmlns="" id="{3F2CEAF4-58BE-4394-B56C-5C488883888A}"/>
                </a:ext>
              </a:extLst>
            </p:cNvPr>
            <p:cNvCxnSpPr>
              <a:stCxn id="6" idx="0"/>
              <a:endCxn id="7" idx="4"/>
            </p:cNvCxnSpPr>
            <p:nvPr/>
          </p:nvCxnSpPr>
          <p:spPr>
            <a:xfrm flipH="1" flipV="1">
              <a:off x="3762130" y="3279718"/>
              <a:ext cx="166830" cy="300338"/>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22" name="直接连接符 21">
              <a:extLst>
                <a:ext uri="{FF2B5EF4-FFF2-40B4-BE49-F238E27FC236}">
                  <a16:creationId xmlns:a16="http://schemas.microsoft.com/office/drawing/2014/main" xmlns="" id="{952E3A0D-9482-4308-9660-25EE12865CC5}"/>
                </a:ext>
              </a:extLst>
            </p:cNvPr>
            <p:cNvCxnSpPr>
              <a:stCxn id="6" idx="0"/>
              <a:endCxn id="31" idx="4"/>
            </p:cNvCxnSpPr>
            <p:nvPr/>
          </p:nvCxnSpPr>
          <p:spPr>
            <a:xfrm flipV="1">
              <a:off x="3928960" y="2879558"/>
              <a:ext cx="559111" cy="700498"/>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25" name="直接连接符 24">
              <a:extLst>
                <a:ext uri="{FF2B5EF4-FFF2-40B4-BE49-F238E27FC236}">
                  <a16:creationId xmlns:a16="http://schemas.microsoft.com/office/drawing/2014/main" xmlns="" id="{66E46E5D-FE42-41F9-BA80-8ADB4AE6341E}"/>
                </a:ext>
              </a:extLst>
            </p:cNvPr>
            <p:cNvCxnSpPr>
              <a:stCxn id="6" idx="0"/>
              <a:endCxn id="32" idx="3"/>
            </p:cNvCxnSpPr>
            <p:nvPr/>
          </p:nvCxnSpPr>
          <p:spPr>
            <a:xfrm flipV="1">
              <a:off x="3928960" y="3287238"/>
              <a:ext cx="797199" cy="292818"/>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sp>
          <p:nvSpPr>
            <p:cNvPr id="35" name="文本框 34">
              <a:extLst>
                <a:ext uri="{FF2B5EF4-FFF2-40B4-BE49-F238E27FC236}">
                  <a16:creationId xmlns:a16="http://schemas.microsoft.com/office/drawing/2014/main" xmlns="" id="{2A80364C-781C-4419-ADEE-0295307A8A9B}"/>
                </a:ext>
              </a:extLst>
            </p:cNvPr>
            <p:cNvSpPr txBox="1"/>
            <p:nvPr/>
          </p:nvSpPr>
          <p:spPr>
            <a:xfrm>
              <a:off x="2865474" y="2694536"/>
              <a:ext cx="552446"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银行</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chemeClr val="bg2"/>
                  </a:solidFill>
                  <a:effectLst/>
                  <a:uFillTx/>
                  <a:latin typeface="PingFang SC Light"/>
                  <a:sym typeface="Arial Black"/>
                </a:rPr>
                <a:t>A</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50" name="文本框 49">
              <a:extLst>
                <a:ext uri="{FF2B5EF4-FFF2-40B4-BE49-F238E27FC236}">
                  <a16:creationId xmlns:a16="http://schemas.microsoft.com/office/drawing/2014/main" xmlns="" id="{C3582DAF-D643-4F99-833C-3DE5394DE016}"/>
                </a:ext>
              </a:extLst>
            </p:cNvPr>
            <p:cNvSpPr txBox="1"/>
            <p:nvPr/>
          </p:nvSpPr>
          <p:spPr>
            <a:xfrm>
              <a:off x="3484599" y="2904086"/>
              <a:ext cx="552446"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银行</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chemeClr val="bg2"/>
                  </a:solidFill>
                  <a:effectLst/>
                  <a:uFillTx/>
                  <a:latin typeface="PingFang SC Light"/>
                  <a:sym typeface="Arial Black"/>
                </a:rPr>
                <a:t>B</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57" name="文本框 56">
              <a:extLst>
                <a:ext uri="{FF2B5EF4-FFF2-40B4-BE49-F238E27FC236}">
                  <a16:creationId xmlns:a16="http://schemas.microsoft.com/office/drawing/2014/main" xmlns="" id="{4966FF84-4097-4485-A26C-64D0CBC04929}"/>
                </a:ext>
              </a:extLst>
            </p:cNvPr>
            <p:cNvSpPr txBox="1"/>
            <p:nvPr/>
          </p:nvSpPr>
          <p:spPr>
            <a:xfrm>
              <a:off x="4230909" y="2513597"/>
              <a:ext cx="552446"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银行</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chemeClr val="bg2"/>
                  </a:solidFill>
                  <a:effectLst/>
                  <a:uFillTx/>
                  <a:latin typeface="PingFang SC Light"/>
                  <a:sym typeface="Arial Black"/>
                </a:rPr>
                <a:t>C</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58" name="文本框 57">
              <a:extLst>
                <a:ext uri="{FF2B5EF4-FFF2-40B4-BE49-F238E27FC236}">
                  <a16:creationId xmlns:a16="http://schemas.microsoft.com/office/drawing/2014/main" xmlns="" id="{205FF570-1EAE-4E0F-BAB5-75637D6D31C4}"/>
                </a:ext>
              </a:extLst>
            </p:cNvPr>
            <p:cNvSpPr txBox="1"/>
            <p:nvPr/>
          </p:nvSpPr>
          <p:spPr>
            <a:xfrm>
              <a:off x="4620041" y="2964472"/>
              <a:ext cx="517706"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银行</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chemeClr val="bg2"/>
                  </a:solidFill>
                  <a:effectLst/>
                  <a:uFillTx/>
                  <a:latin typeface="PingFang SC Light"/>
                  <a:sym typeface="Arial Black"/>
                </a:rPr>
                <a:t>D</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36" name="矩形: 圆角 35">
              <a:extLst>
                <a:ext uri="{FF2B5EF4-FFF2-40B4-BE49-F238E27FC236}">
                  <a16:creationId xmlns:a16="http://schemas.microsoft.com/office/drawing/2014/main" xmlns="" id="{D4AD57CA-5B24-4656-BFE9-F549591BCD48}"/>
                </a:ext>
              </a:extLst>
            </p:cNvPr>
            <p:cNvSpPr/>
            <p:nvPr/>
          </p:nvSpPr>
          <p:spPr>
            <a:xfrm>
              <a:off x="2437279" y="3015440"/>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9" name="矩形: 圆角 58">
              <a:extLst>
                <a:ext uri="{FF2B5EF4-FFF2-40B4-BE49-F238E27FC236}">
                  <a16:creationId xmlns:a16="http://schemas.microsoft.com/office/drawing/2014/main" xmlns="" id="{4FC9FDDE-DFED-444E-A119-5720B4ECB6CF}"/>
                </a:ext>
              </a:extLst>
            </p:cNvPr>
            <p:cNvSpPr/>
            <p:nvPr/>
          </p:nvSpPr>
          <p:spPr>
            <a:xfrm>
              <a:off x="2411371" y="2544495"/>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0" name="矩形: 圆角 59">
              <a:extLst>
                <a:ext uri="{FF2B5EF4-FFF2-40B4-BE49-F238E27FC236}">
                  <a16:creationId xmlns:a16="http://schemas.microsoft.com/office/drawing/2014/main" xmlns="" id="{6F176575-0BF9-4755-8963-C72847D2261C}"/>
                </a:ext>
              </a:extLst>
            </p:cNvPr>
            <p:cNvSpPr/>
            <p:nvPr/>
          </p:nvSpPr>
          <p:spPr>
            <a:xfrm>
              <a:off x="2874996" y="2176897"/>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1" name="文本框 60">
              <a:extLst>
                <a:ext uri="{FF2B5EF4-FFF2-40B4-BE49-F238E27FC236}">
                  <a16:creationId xmlns:a16="http://schemas.microsoft.com/office/drawing/2014/main" xmlns="" id="{3CB41C7E-95A7-4506-AEF3-E500B34B452D}"/>
                </a:ext>
              </a:extLst>
            </p:cNvPr>
            <p:cNvSpPr txBox="1"/>
            <p:nvPr/>
          </p:nvSpPr>
          <p:spPr>
            <a:xfrm>
              <a:off x="2779747" y="2221340"/>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证券账户</a:t>
              </a:r>
            </a:p>
          </p:txBody>
        </p:sp>
        <p:sp>
          <p:nvSpPr>
            <p:cNvPr id="62" name="文本框 61">
              <a:extLst>
                <a:ext uri="{FF2B5EF4-FFF2-40B4-BE49-F238E27FC236}">
                  <a16:creationId xmlns:a16="http://schemas.microsoft.com/office/drawing/2014/main" xmlns="" id="{64D1F10A-13A8-4A8E-AFAD-7350616C4512}"/>
                </a:ext>
              </a:extLst>
            </p:cNvPr>
            <p:cNvSpPr txBox="1"/>
            <p:nvPr/>
          </p:nvSpPr>
          <p:spPr>
            <a:xfrm>
              <a:off x="2313022" y="2583290"/>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存款帐户</a:t>
              </a:r>
            </a:p>
          </p:txBody>
        </p:sp>
        <p:sp>
          <p:nvSpPr>
            <p:cNvPr id="63" name="文本框 62">
              <a:extLst>
                <a:ext uri="{FF2B5EF4-FFF2-40B4-BE49-F238E27FC236}">
                  <a16:creationId xmlns:a16="http://schemas.microsoft.com/office/drawing/2014/main" xmlns="" id="{BE5D6783-F8B8-489E-B1D7-F74C977116C5}"/>
                </a:ext>
              </a:extLst>
            </p:cNvPr>
            <p:cNvSpPr txBox="1"/>
            <p:nvPr/>
          </p:nvSpPr>
          <p:spPr>
            <a:xfrm>
              <a:off x="2342539" y="3060490"/>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基金账户</a:t>
              </a:r>
            </a:p>
          </p:txBody>
        </p:sp>
        <p:sp>
          <p:nvSpPr>
            <p:cNvPr id="64" name="矩形: 圆角 63">
              <a:extLst>
                <a:ext uri="{FF2B5EF4-FFF2-40B4-BE49-F238E27FC236}">
                  <a16:creationId xmlns:a16="http://schemas.microsoft.com/office/drawing/2014/main" xmlns="" id="{5CFE9D6C-31F4-45D9-B3D5-ABDB0FA1748C}"/>
                </a:ext>
              </a:extLst>
            </p:cNvPr>
            <p:cNvSpPr/>
            <p:nvPr/>
          </p:nvSpPr>
          <p:spPr>
            <a:xfrm>
              <a:off x="3608854" y="2424890"/>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5" name="文本框 64">
              <a:extLst>
                <a:ext uri="{FF2B5EF4-FFF2-40B4-BE49-F238E27FC236}">
                  <a16:creationId xmlns:a16="http://schemas.microsoft.com/office/drawing/2014/main" xmlns="" id="{CED13265-18CA-42F7-83D5-2173C923AABC}"/>
                </a:ext>
              </a:extLst>
            </p:cNvPr>
            <p:cNvSpPr txBox="1"/>
            <p:nvPr/>
          </p:nvSpPr>
          <p:spPr>
            <a:xfrm>
              <a:off x="3514114" y="2469940"/>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信用卡</a:t>
              </a:r>
            </a:p>
          </p:txBody>
        </p:sp>
        <p:sp>
          <p:nvSpPr>
            <p:cNvPr id="66" name="矩形: 圆角 65">
              <a:extLst>
                <a:ext uri="{FF2B5EF4-FFF2-40B4-BE49-F238E27FC236}">
                  <a16:creationId xmlns:a16="http://schemas.microsoft.com/office/drawing/2014/main" xmlns="" id="{0453A8DF-66F0-481D-9E3E-D6BCBEA2FD64}"/>
                </a:ext>
              </a:extLst>
            </p:cNvPr>
            <p:cNvSpPr/>
            <p:nvPr/>
          </p:nvSpPr>
          <p:spPr>
            <a:xfrm>
              <a:off x="4389904" y="2081990"/>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7" name="文本框 66">
              <a:extLst>
                <a:ext uri="{FF2B5EF4-FFF2-40B4-BE49-F238E27FC236}">
                  <a16:creationId xmlns:a16="http://schemas.microsoft.com/office/drawing/2014/main" xmlns="" id="{121F52E4-2F70-447D-987C-14BB390B46DE}"/>
                </a:ext>
              </a:extLst>
            </p:cNvPr>
            <p:cNvSpPr txBox="1"/>
            <p:nvPr/>
          </p:nvSpPr>
          <p:spPr>
            <a:xfrm>
              <a:off x="4295164" y="2127040"/>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养老账户</a:t>
              </a:r>
            </a:p>
          </p:txBody>
        </p:sp>
        <p:sp>
          <p:nvSpPr>
            <p:cNvPr id="68" name="矩形: 圆角 67">
              <a:extLst>
                <a:ext uri="{FF2B5EF4-FFF2-40B4-BE49-F238E27FC236}">
                  <a16:creationId xmlns:a16="http://schemas.microsoft.com/office/drawing/2014/main" xmlns="" id="{6A7B1F2E-85EE-4B6E-8431-1E7053C5727F}"/>
                </a:ext>
              </a:extLst>
            </p:cNvPr>
            <p:cNvSpPr/>
            <p:nvPr/>
          </p:nvSpPr>
          <p:spPr>
            <a:xfrm>
              <a:off x="4923304" y="2339165"/>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9" name="文本框 68">
              <a:extLst>
                <a:ext uri="{FF2B5EF4-FFF2-40B4-BE49-F238E27FC236}">
                  <a16:creationId xmlns:a16="http://schemas.microsoft.com/office/drawing/2014/main" xmlns="" id="{9A949C81-B069-4B51-8672-48F10AC6D380}"/>
                </a:ext>
              </a:extLst>
            </p:cNvPr>
            <p:cNvSpPr txBox="1"/>
            <p:nvPr/>
          </p:nvSpPr>
          <p:spPr>
            <a:xfrm>
              <a:off x="4909604" y="2375689"/>
              <a:ext cx="43330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车贷</a:t>
              </a:r>
            </a:p>
          </p:txBody>
        </p:sp>
        <p:sp>
          <p:nvSpPr>
            <p:cNvPr id="70" name="矩形: 圆角 69">
              <a:extLst>
                <a:ext uri="{FF2B5EF4-FFF2-40B4-BE49-F238E27FC236}">
                  <a16:creationId xmlns:a16="http://schemas.microsoft.com/office/drawing/2014/main" xmlns="" id="{CB34C1A6-5880-4C39-A27D-045F640D72E7}"/>
                </a:ext>
              </a:extLst>
            </p:cNvPr>
            <p:cNvSpPr/>
            <p:nvPr/>
          </p:nvSpPr>
          <p:spPr>
            <a:xfrm>
              <a:off x="5313829" y="3244040"/>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1" name="文本框 70">
              <a:extLst>
                <a:ext uri="{FF2B5EF4-FFF2-40B4-BE49-F238E27FC236}">
                  <a16:creationId xmlns:a16="http://schemas.microsoft.com/office/drawing/2014/main" xmlns="" id="{91EEC38A-7E4B-453D-8247-7C21425804D5}"/>
                </a:ext>
              </a:extLst>
            </p:cNvPr>
            <p:cNvSpPr txBox="1"/>
            <p:nvPr/>
          </p:nvSpPr>
          <p:spPr>
            <a:xfrm>
              <a:off x="5228614" y="3298615"/>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600" b="0" i="0" u="none" strike="noStrike" cap="none" spc="0" normalizeH="0" baseline="0" dirty="0">
                  <a:ln>
                    <a:noFill/>
                  </a:ln>
                  <a:solidFill>
                    <a:schemeClr val="bg2"/>
                  </a:solidFill>
                  <a:effectLst/>
                  <a:uFillTx/>
                  <a:latin typeface="PingFang SC Light"/>
                  <a:sym typeface="Arial Black"/>
                </a:rPr>
                <a:t>信用卡</a:t>
              </a:r>
            </a:p>
          </p:txBody>
        </p:sp>
        <p:sp>
          <p:nvSpPr>
            <p:cNvPr id="72" name="矩形: 圆角 71">
              <a:extLst>
                <a:ext uri="{FF2B5EF4-FFF2-40B4-BE49-F238E27FC236}">
                  <a16:creationId xmlns:a16="http://schemas.microsoft.com/office/drawing/2014/main" xmlns="" id="{8D7310DF-BE33-4E4E-8BE4-428C539A7164}"/>
                </a:ext>
              </a:extLst>
            </p:cNvPr>
            <p:cNvSpPr/>
            <p:nvPr/>
          </p:nvSpPr>
          <p:spPr>
            <a:xfrm>
              <a:off x="5237629" y="2843990"/>
              <a:ext cx="361949" cy="238125"/>
            </a:xfrm>
            <a:prstGeom prst="roundRect">
              <a:avLst/>
            </a:prstGeom>
            <a:solidFill>
              <a:schemeClr val="tx1">
                <a:lumMod val="95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3" name="文本框 72">
              <a:extLst>
                <a:ext uri="{FF2B5EF4-FFF2-40B4-BE49-F238E27FC236}">
                  <a16:creationId xmlns:a16="http://schemas.microsoft.com/office/drawing/2014/main" xmlns="" id="{31D2E0DB-B4CE-42C3-A35C-7ECDAD55438A}"/>
                </a:ext>
              </a:extLst>
            </p:cNvPr>
            <p:cNvSpPr txBox="1"/>
            <p:nvPr/>
          </p:nvSpPr>
          <p:spPr>
            <a:xfrm>
              <a:off x="5142889" y="2889040"/>
              <a:ext cx="552446" cy="14643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600" dirty="0">
                  <a:solidFill>
                    <a:schemeClr val="bg2"/>
                  </a:solidFill>
                  <a:latin typeface="PingFang SC Light"/>
                </a:rPr>
                <a:t>房贷</a:t>
              </a:r>
              <a:endParaRPr kumimoji="0" lang="zh-CN" altLang="en-US" sz="600" b="0" i="0" u="none" strike="noStrike" cap="none" spc="0" normalizeH="0" baseline="0" dirty="0">
                <a:ln>
                  <a:noFill/>
                </a:ln>
                <a:solidFill>
                  <a:schemeClr val="bg2"/>
                </a:solidFill>
                <a:effectLst/>
                <a:uFillTx/>
                <a:latin typeface="PingFang SC Light"/>
                <a:sym typeface="Arial Black"/>
              </a:endParaRPr>
            </a:p>
          </p:txBody>
        </p:sp>
        <p:cxnSp>
          <p:nvCxnSpPr>
            <p:cNvPr id="38" name="直接连接符 37">
              <a:extLst>
                <a:ext uri="{FF2B5EF4-FFF2-40B4-BE49-F238E27FC236}">
                  <a16:creationId xmlns:a16="http://schemas.microsoft.com/office/drawing/2014/main" xmlns="" id="{909BD549-0955-4970-9AF8-E0B3DE594EDB}"/>
                </a:ext>
              </a:extLst>
            </p:cNvPr>
            <p:cNvCxnSpPr>
              <a:cxnSpLocks/>
              <a:stCxn id="33" idx="0"/>
              <a:endCxn id="61" idx="2"/>
            </p:cNvCxnSpPr>
            <p:nvPr/>
          </p:nvCxnSpPr>
          <p:spPr>
            <a:xfrm flipH="1" flipV="1">
              <a:off x="3055970" y="2367774"/>
              <a:ext cx="90449" cy="272727"/>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41" name="直接连接符 40">
              <a:extLst>
                <a:ext uri="{FF2B5EF4-FFF2-40B4-BE49-F238E27FC236}">
                  <a16:creationId xmlns:a16="http://schemas.microsoft.com/office/drawing/2014/main" xmlns="" id="{CF14BD3D-5BA5-4101-9FE3-118940ECC33D}"/>
                </a:ext>
              </a:extLst>
            </p:cNvPr>
            <p:cNvCxnSpPr>
              <a:endCxn id="59" idx="3"/>
            </p:cNvCxnSpPr>
            <p:nvPr/>
          </p:nvCxnSpPr>
          <p:spPr>
            <a:xfrm flipH="1" flipV="1">
              <a:off x="2773320" y="2663558"/>
              <a:ext cx="176976" cy="78226"/>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43" name="直接连接符 42">
              <a:extLst>
                <a:ext uri="{FF2B5EF4-FFF2-40B4-BE49-F238E27FC236}">
                  <a16:creationId xmlns:a16="http://schemas.microsoft.com/office/drawing/2014/main" xmlns="" id="{25B374E7-A8AD-46F2-B6AF-8D44E323733D}"/>
                </a:ext>
              </a:extLst>
            </p:cNvPr>
            <p:cNvCxnSpPr>
              <a:cxnSpLocks/>
              <a:endCxn id="36" idx="0"/>
            </p:cNvCxnSpPr>
            <p:nvPr/>
          </p:nvCxnSpPr>
          <p:spPr>
            <a:xfrm flipH="1">
              <a:off x="2618254" y="2964472"/>
              <a:ext cx="347804" cy="50968"/>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77" name="直接连接符 76">
              <a:extLst>
                <a:ext uri="{FF2B5EF4-FFF2-40B4-BE49-F238E27FC236}">
                  <a16:creationId xmlns:a16="http://schemas.microsoft.com/office/drawing/2014/main" xmlns="" id="{3CCE0EBC-374C-4534-9C91-486F83096DCF}"/>
                </a:ext>
              </a:extLst>
            </p:cNvPr>
            <p:cNvCxnSpPr>
              <a:cxnSpLocks/>
              <a:stCxn id="7" idx="0"/>
              <a:endCxn id="64" idx="2"/>
            </p:cNvCxnSpPr>
            <p:nvPr/>
          </p:nvCxnSpPr>
          <p:spPr>
            <a:xfrm flipV="1">
              <a:off x="3762130" y="2663015"/>
              <a:ext cx="27699" cy="184703"/>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80" name="直接连接符 79">
              <a:extLst>
                <a:ext uri="{FF2B5EF4-FFF2-40B4-BE49-F238E27FC236}">
                  <a16:creationId xmlns:a16="http://schemas.microsoft.com/office/drawing/2014/main" xmlns="" id="{7D513168-2013-418B-B2E8-D987090751AA}"/>
                </a:ext>
              </a:extLst>
            </p:cNvPr>
            <p:cNvCxnSpPr>
              <a:stCxn id="31" idx="0"/>
              <a:endCxn id="67" idx="2"/>
            </p:cNvCxnSpPr>
            <p:nvPr/>
          </p:nvCxnSpPr>
          <p:spPr>
            <a:xfrm flipV="1">
              <a:off x="4488071" y="2273474"/>
              <a:ext cx="83316" cy="174084"/>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82" name="直接连接符 81">
              <a:extLst>
                <a:ext uri="{FF2B5EF4-FFF2-40B4-BE49-F238E27FC236}">
                  <a16:creationId xmlns:a16="http://schemas.microsoft.com/office/drawing/2014/main" xmlns="" id="{A18B0AD2-54F9-4724-86B2-7405DD6529B5}"/>
                </a:ext>
              </a:extLst>
            </p:cNvPr>
            <p:cNvCxnSpPr>
              <a:cxnSpLocks/>
              <a:stCxn id="31" idx="7"/>
              <a:endCxn id="68" idx="1"/>
            </p:cNvCxnSpPr>
            <p:nvPr/>
          </p:nvCxnSpPr>
          <p:spPr>
            <a:xfrm flipV="1">
              <a:off x="4640806" y="2458228"/>
              <a:ext cx="282498" cy="52595"/>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92" name="直接连接符 91">
              <a:extLst>
                <a:ext uri="{FF2B5EF4-FFF2-40B4-BE49-F238E27FC236}">
                  <a16:creationId xmlns:a16="http://schemas.microsoft.com/office/drawing/2014/main" xmlns="" id="{3449A483-9C46-427E-9846-5B5557FA7A1B}"/>
                </a:ext>
              </a:extLst>
            </p:cNvPr>
            <p:cNvCxnSpPr>
              <a:cxnSpLocks/>
            </p:cNvCxnSpPr>
            <p:nvPr/>
          </p:nvCxnSpPr>
          <p:spPr>
            <a:xfrm flipV="1">
              <a:off x="5038114" y="2964473"/>
              <a:ext cx="199515" cy="70911"/>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95" name="直接连接符 94">
              <a:extLst>
                <a:ext uri="{FF2B5EF4-FFF2-40B4-BE49-F238E27FC236}">
                  <a16:creationId xmlns:a16="http://schemas.microsoft.com/office/drawing/2014/main" xmlns="" id="{310776D1-6286-4447-89E5-3D3DA0AE62FB}"/>
                </a:ext>
              </a:extLst>
            </p:cNvPr>
            <p:cNvCxnSpPr>
              <a:cxnSpLocks/>
            </p:cNvCxnSpPr>
            <p:nvPr/>
          </p:nvCxnSpPr>
          <p:spPr>
            <a:xfrm>
              <a:off x="5038114" y="3216322"/>
              <a:ext cx="304796" cy="141701"/>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sp>
          <p:nvSpPr>
            <p:cNvPr id="148" name="椭圆 147">
              <a:extLst>
                <a:ext uri="{FF2B5EF4-FFF2-40B4-BE49-F238E27FC236}">
                  <a16:creationId xmlns:a16="http://schemas.microsoft.com/office/drawing/2014/main" xmlns="" id="{7707E5CE-8434-4155-A731-9386991D0C37}"/>
                </a:ext>
              </a:extLst>
            </p:cNvPr>
            <p:cNvSpPr/>
            <p:nvPr/>
          </p:nvSpPr>
          <p:spPr>
            <a:xfrm>
              <a:off x="4592496" y="2740473"/>
              <a:ext cx="1296000" cy="756000"/>
            </a:xfrm>
            <a:prstGeom prst="ellipse">
              <a:avLst/>
            </a:prstGeom>
            <a:noFill/>
            <a:ln w="31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9" name="矩形: 圆角 148">
              <a:extLst>
                <a:ext uri="{FF2B5EF4-FFF2-40B4-BE49-F238E27FC236}">
                  <a16:creationId xmlns:a16="http://schemas.microsoft.com/office/drawing/2014/main" xmlns="" id="{77D7C29A-5954-44E4-8133-DC75174F7372}"/>
                </a:ext>
              </a:extLst>
            </p:cNvPr>
            <p:cNvSpPr/>
            <p:nvPr/>
          </p:nvSpPr>
          <p:spPr>
            <a:xfrm>
              <a:off x="2175522" y="1509694"/>
              <a:ext cx="3723046" cy="2066925"/>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0" name="箭头: 虚尾 149">
              <a:extLst>
                <a:ext uri="{FF2B5EF4-FFF2-40B4-BE49-F238E27FC236}">
                  <a16:creationId xmlns:a16="http://schemas.microsoft.com/office/drawing/2014/main" xmlns="" id="{143B0E9D-E2E3-4A36-B9AB-C64EF4EB5D10}"/>
                </a:ext>
              </a:extLst>
            </p:cNvPr>
            <p:cNvSpPr/>
            <p:nvPr/>
          </p:nvSpPr>
          <p:spPr>
            <a:xfrm rot="10800000" flipH="1">
              <a:off x="5772150" y="2758473"/>
              <a:ext cx="468000" cy="396000"/>
            </a:xfrm>
            <a:prstGeom prst="stripedRightArrow">
              <a:avLst/>
            </a:prstGeom>
            <a:noFill/>
            <a:ln w="3175" cap="flat">
              <a:solidFill>
                <a:srgbClr val="C0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1" name="矩形 150">
              <a:extLst>
                <a:ext uri="{FF2B5EF4-FFF2-40B4-BE49-F238E27FC236}">
                  <a16:creationId xmlns:a16="http://schemas.microsoft.com/office/drawing/2014/main" xmlns="" id="{EC2D2EBD-DFEB-43A0-8A9B-52AF22F7FE8A}"/>
                </a:ext>
              </a:extLst>
            </p:cNvPr>
            <p:cNvSpPr/>
            <p:nvPr/>
          </p:nvSpPr>
          <p:spPr>
            <a:xfrm>
              <a:off x="6372225" y="2546140"/>
              <a:ext cx="720000" cy="720000"/>
            </a:xfrm>
            <a:prstGeom prst="rect">
              <a:avLst/>
            </a:prstGeom>
            <a:noFill/>
            <a:ln w="3175" cap="flat">
              <a:solidFill>
                <a:srgbClr val="C0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2" name="箭头: 虚尾 151">
              <a:extLst>
                <a:ext uri="{FF2B5EF4-FFF2-40B4-BE49-F238E27FC236}">
                  <a16:creationId xmlns:a16="http://schemas.microsoft.com/office/drawing/2014/main" xmlns="" id="{5B44A2D5-5F65-424A-819E-3BCA2945BB76}"/>
                </a:ext>
              </a:extLst>
            </p:cNvPr>
            <p:cNvSpPr/>
            <p:nvPr/>
          </p:nvSpPr>
          <p:spPr>
            <a:xfrm rot="10800000" flipH="1">
              <a:off x="5772150" y="1699578"/>
              <a:ext cx="468000" cy="396000"/>
            </a:xfrm>
            <a:prstGeom prst="stripedRightArrow">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3" name="矩形 152">
              <a:extLst>
                <a:ext uri="{FF2B5EF4-FFF2-40B4-BE49-F238E27FC236}">
                  <a16:creationId xmlns:a16="http://schemas.microsoft.com/office/drawing/2014/main" xmlns="" id="{B247C9D3-52DF-48AA-AA6D-B112B60BFF7F}"/>
                </a:ext>
              </a:extLst>
            </p:cNvPr>
            <p:cNvSpPr/>
            <p:nvPr/>
          </p:nvSpPr>
          <p:spPr>
            <a:xfrm>
              <a:off x="6372225" y="1584115"/>
              <a:ext cx="720000" cy="720000"/>
            </a:xfrm>
            <a:prstGeom prst="rect">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4" name="文本框 153">
              <a:extLst>
                <a:ext uri="{FF2B5EF4-FFF2-40B4-BE49-F238E27FC236}">
                  <a16:creationId xmlns:a16="http://schemas.microsoft.com/office/drawing/2014/main" xmlns="" id="{39525C6E-7C69-44AA-95D9-EB296C215FFB}"/>
                </a:ext>
              </a:extLst>
            </p:cNvPr>
            <p:cNvSpPr txBox="1"/>
            <p:nvPr/>
          </p:nvSpPr>
          <p:spPr>
            <a:xfrm>
              <a:off x="6328472" y="2585363"/>
              <a:ext cx="836123" cy="66965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第一步</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内部数据</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共享</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155" name="文本框 154">
              <a:extLst>
                <a:ext uri="{FF2B5EF4-FFF2-40B4-BE49-F238E27FC236}">
                  <a16:creationId xmlns:a16="http://schemas.microsoft.com/office/drawing/2014/main" xmlns="" id="{32A0F7F4-23D1-4B15-9DED-DD2A29C6794A}"/>
                </a:ext>
              </a:extLst>
            </p:cNvPr>
            <p:cNvSpPr txBox="1"/>
            <p:nvPr/>
          </p:nvSpPr>
          <p:spPr>
            <a:xfrm>
              <a:off x="6318947" y="1585238"/>
              <a:ext cx="836123" cy="66965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第二步</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defTabSz="410765"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外部数据</a:t>
              </a:r>
              <a:endParaRPr lang="en-US" altLang="zh-CN" sz="100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共享</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sp>
        <p:nvSpPr>
          <p:cNvPr id="159" name="等腰三角形 158">
            <a:extLst>
              <a:ext uri="{FF2B5EF4-FFF2-40B4-BE49-F238E27FC236}">
                <a16:creationId xmlns:a16="http://schemas.microsoft.com/office/drawing/2014/main" xmlns="" id="{ECC7D0F7-E990-4716-AABD-40AEAA149FF9}"/>
              </a:ext>
            </a:extLst>
          </p:cNvPr>
          <p:cNvSpPr/>
          <p:nvPr/>
        </p:nvSpPr>
        <p:spPr>
          <a:xfrm rot="5400000">
            <a:off x="5520578" y="2254106"/>
            <a:ext cx="1800000" cy="180000"/>
          </a:xfrm>
          <a:prstGeom prst="triangle">
            <a:avLst/>
          </a:prstGeom>
          <a:solidFill>
            <a:srgbClr val="F2F2F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97" name="图片 96">
            <a:extLst>
              <a:ext uri="{FF2B5EF4-FFF2-40B4-BE49-F238E27FC236}">
                <a16:creationId xmlns:a16="http://schemas.microsoft.com/office/drawing/2014/main" xmlns="" id="{ABC8A08A-4705-4319-9828-57081127AE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9679" y="3620248"/>
            <a:ext cx="1286256" cy="963168"/>
          </a:xfrm>
          <a:prstGeom prst="round2SameRect">
            <a:avLst>
              <a:gd name="adj1" fmla="val 31501"/>
              <a:gd name="adj2" fmla="val 23734"/>
            </a:avLst>
          </a:prstGeom>
        </p:spPr>
      </p:pic>
      <p:pic>
        <p:nvPicPr>
          <p:cNvPr id="160" name="图片 159">
            <a:extLst>
              <a:ext uri="{FF2B5EF4-FFF2-40B4-BE49-F238E27FC236}">
                <a16:creationId xmlns:a16="http://schemas.microsoft.com/office/drawing/2014/main" xmlns="" id="{57DD63E0-04E3-47B7-9BD4-AC938AC78A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96969" y="2399913"/>
            <a:ext cx="598383" cy="613014"/>
          </a:xfrm>
          <a:prstGeom prst="ellipse">
            <a:avLst/>
          </a:prstGeom>
        </p:spPr>
      </p:pic>
      <p:pic>
        <p:nvPicPr>
          <p:cNvPr id="164" name="图片 163">
            <a:extLst>
              <a:ext uri="{FF2B5EF4-FFF2-40B4-BE49-F238E27FC236}">
                <a16:creationId xmlns:a16="http://schemas.microsoft.com/office/drawing/2014/main" xmlns="" id="{14A4EFE7-F039-48D3-A031-8B52C315A16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78759" y="2546654"/>
            <a:ext cx="438259" cy="456081"/>
          </a:xfrm>
          <a:prstGeom prst="ellipse">
            <a:avLst/>
          </a:prstGeom>
        </p:spPr>
      </p:pic>
      <p:pic>
        <p:nvPicPr>
          <p:cNvPr id="166" name="图片 165">
            <a:extLst>
              <a:ext uri="{FF2B5EF4-FFF2-40B4-BE49-F238E27FC236}">
                <a16:creationId xmlns:a16="http://schemas.microsoft.com/office/drawing/2014/main" xmlns="" id="{57AB6560-3DE1-467C-B68F-B09F74DA28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94632" y="2767790"/>
            <a:ext cx="328071" cy="357362"/>
          </a:xfrm>
          <a:prstGeom prst="ellipse">
            <a:avLst/>
          </a:prstGeom>
        </p:spPr>
      </p:pic>
      <p:pic>
        <p:nvPicPr>
          <p:cNvPr id="167" name="图片 166">
            <a:extLst>
              <a:ext uri="{FF2B5EF4-FFF2-40B4-BE49-F238E27FC236}">
                <a16:creationId xmlns:a16="http://schemas.microsoft.com/office/drawing/2014/main" xmlns="" id="{A430E80C-305F-49CB-BBD6-E7E949C2AEC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73850" y="2170312"/>
            <a:ext cx="268957" cy="296644"/>
          </a:xfrm>
          <a:prstGeom prst="ellipse">
            <a:avLst/>
          </a:prstGeom>
        </p:spPr>
      </p:pic>
      <p:cxnSp>
        <p:nvCxnSpPr>
          <p:cNvPr id="169" name="直接连接符 168">
            <a:extLst>
              <a:ext uri="{FF2B5EF4-FFF2-40B4-BE49-F238E27FC236}">
                <a16:creationId xmlns:a16="http://schemas.microsoft.com/office/drawing/2014/main" xmlns="" id="{748E61CB-FD49-42E8-9348-3E1C8308185C}"/>
              </a:ext>
            </a:extLst>
          </p:cNvPr>
          <p:cNvCxnSpPr>
            <a:cxnSpLocks/>
            <a:stCxn id="97" idx="3"/>
            <a:endCxn id="164" idx="4"/>
          </p:cNvCxnSpPr>
          <p:nvPr/>
        </p:nvCxnSpPr>
        <p:spPr>
          <a:xfrm flipH="1" flipV="1">
            <a:off x="7197889" y="3002735"/>
            <a:ext cx="644918" cy="617513"/>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172" name="直接连接符 171">
            <a:extLst>
              <a:ext uri="{FF2B5EF4-FFF2-40B4-BE49-F238E27FC236}">
                <a16:creationId xmlns:a16="http://schemas.microsoft.com/office/drawing/2014/main" xmlns="" id="{EC038561-1BD2-40CE-B07F-0A42E4368E43}"/>
              </a:ext>
            </a:extLst>
          </p:cNvPr>
          <p:cNvCxnSpPr>
            <a:stCxn id="97" idx="3"/>
            <a:endCxn id="167" idx="4"/>
          </p:cNvCxnSpPr>
          <p:nvPr/>
        </p:nvCxnSpPr>
        <p:spPr>
          <a:xfrm flipH="1" flipV="1">
            <a:off x="7708329" y="2466956"/>
            <a:ext cx="134478" cy="1153292"/>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174" name="直接连接符 173">
            <a:extLst>
              <a:ext uri="{FF2B5EF4-FFF2-40B4-BE49-F238E27FC236}">
                <a16:creationId xmlns:a16="http://schemas.microsoft.com/office/drawing/2014/main" xmlns="" id="{0B1A5E96-A09F-4E32-A074-BDE30357D539}"/>
              </a:ext>
            </a:extLst>
          </p:cNvPr>
          <p:cNvCxnSpPr>
            <a:stCxn id="97" idx="3"/>
            <a:endCxn id="160" idx="4"/>
          </p:cNvCxnSpPr>
          <p:nvPr/>
        </p:nvCxnSpPr>
        <p:spPr>
          <a:xfrm flipV="1">
            <a:off x="7842807" y="3012927"/>
            <a:ext cx="253354" cy="607321"/>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cxnSp>
        <p:nvCxnSpPr>
          <p:cNvPr id="179" name="直接连接符 178">
            <a:extLst>
              <a:ext uri="{FF2B5EF4-FFF2-40B4-BE49-F238E27FC236}">
                <a16:creationId xmlns:a16="http://schemas.microsoft.com/office/drawing/2014/main" xmlns="" id="{2287103D-8F43-42D0-84DF-041DA26235C5}"/>
              </a:ext>
            </a:extLst>
          </p:cNvPr>
          <p:cNvCxnSpPr>
            <a:stCxn id="97" idx="3"/>
            <a:endCxn id="166" idx="4"/>
          </p:cNvCxnSpPr>
          <p:nvPr/>
        </p:nvCxnSpPr>
        <p:spPr>
          <a:xfrm flipV="1">
            <a:off x="7842807" y="3125152"/>
            <a:ext cx="915861" cy="495096"/>
          </a:xfrm>
          <a:prstGeom prst="line">
            <a:avLst/>
          </a:prstGeom>
          <a:noFill/>
          <a:ln w="3175" cap="flat">
            <a:solidFill>
              <a:srgbClr val="BCBDBC"/>
            </a:solidFill>
            <a:prstDash val="solid"/>
            <a:miter lim="400000"/>
          </a:ln>
          <a:effectLst/>
          <a:sp3d/>
        </p:spPr>
        <p:style>
          <a:lnRef idx="0">
            <a:scrgbClr r="0" g="0" b="0"/>
          </a:lnRef>
          <a:fillRef idx="0">
            <a:scrgbClr r="0" g="0" b="0"/>
          </a:fillRef>
          <a:effectRef idx="0">
            <a:scrgbClr r="0" g="0" b="0"/>
          </a:effectRef>
          <a:fontRef idx="none"/>
        </p:style>
      </p:cxnSp>
      <p:sp>
        <p:nvSpPr>
          <p:cNvPr id="184" name="文本框 183">
            <a:extLst>
              <a:ext uri="{FF2B5EF4-FFF2-40B4-BE49-F238E27FC236}">
                <a16:creationId xmlns:a16="http://schemas.microsoft.com/office/drawing/2014/main" xmlns="" id="{CA61D983-5F83-4E97-BE00-2F90CA3C043D}"/>
              </a:ext>
            </a:extLst>
          </p:cNvPr>
          <p:cNvSpPr txBox="1"/>
          <p:nvPr/>
        </p:nvSpPr>
        <p:spPr>
          <a:xfrm>
            <a:off x="9075103" y="2383803"/>
            <a:ext cx="1633778" cy="51576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171450" marR="0" indent="-1714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lang="zh-CN" altLang="en-US" sz="1000" dirty="0">
                <a:solidFill>
                  <a:srgbClr val="D4A344"/>
                </a:solidFill>
                <a:latin typeface="PingFang SC Light"/>
              </a:rPr>
              <a:t>更精细的用户画像</a:t>
            </a:r>
            <a:endParaRPr lang="en-US" altLang="zh-CN" sz="1000" dirty="0">
              <a:solidFill>
                <a:srgbClr val="D4A344"/>
              </a:solidFill>
              <a:latin typeface="PingFang SC Light"/>
            </a:endParaRPr>
          </a:p>
          <a:p>
            <a:pPr marL="171450" marR="0" indent="-1714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kumimoji="0" lang="zh-CN" altLang="en-US" sz="1000" b="0" i="0" u="none" strike="noStrike" cap="none" spc="0" normalizeH="0" baseline="0" dirty="0">
                <a:ln>
                  <a:noFill/>
                </a:ln>
                <a:solidFill>
                  <a:srgbClr val="D4A344"/>
                </a:solidFill>
                <a:effectLst/>
                <a:uFillTx/>
                <a:latin typeface="PingFang SC Light"/>
                <a:sym typeface="Arial Black"/>
              </a:rPr>
              <a:t>更低的风控成本</a:t>
            </a:r>
            <a:endParaRPr kumimoji="0" lang="en-US" altLang="zh-CN" sz="1000" b="0" i="0" u="none" strike="noStrike" cap="none" spc="0" normalizeH="0" baseline="0" dirty="0">
              <a:ln>
                <a:noFill/>
              </a:ln>
              <a:solidFill>
                <a:srgbClr val="D4A344"/>
              </a:solidFill>
              <a:effectLst/>
              <a:uFillTx/>
              <a:latin typeface="PingFang SC Light"/>
              <a:sym typeface="Arial Black"/>
            </a:endParaRPr>
          </a:p>
          <a:p>
            <a:pPr marL="171450" marR="0" indent="-171450" algn="l" defTabSz="410765" rtl="0" fontAlgn="auto" latinLnBrk="0" hangingPunct="0">
              <a:lnSpc>
                <a:spcPct val="100000"/>
              </a:lnSpc>
              <a:spcBef>
                <a:spcPts val="0"/>
              </a:spcBef>
              <a:spcAft>
                <a:spcPts val="0"/>
              </a:spcAft>
              <a:buClrTx/>
              <a:buSzTx/>
              <a:buFont typeface="Arial" panose="020B0604020202020204" pitchFamily="34" charset="0"/>
              <a:buChar char="•"/>
              <a:tabLst/>
            </a:pPr>
            <a:r>
              <a:rPr kumimoji="0" lang="zh-CN" altLang="en-US" sz="1000" b="0" i="0" u="none" strike="noStrike" cap="none" spc="0" normalizeH="0" baseline="0" dirty="0">
                <a:ln>
                  <a:noFill/>
                </a:ln>
                <a:solidFill>
                  <a:srgbClr val="D4A344"/>
                </a:solidFill>
                <a:effectLst/>
                <a:uFillTx/>
                <a:latin typeface="PingFang SC Light"/>
                <a:sym typeface="Arial Black"/>
              </a:rPr>
              <a:t>一站式财务管理</a:t>
            </a:r>
          </a:p>
        </p:txBody>
      </p:sp>
      <p:sp>
        <p:nvSpPr>
          <p:cNvPr id="185" name="文本框 184">
            <a:extLst>
              <a:ext uri="{FF2B5EF4-FFF2-40B4-BE49-F238E27FC236}">
                <a16:creationId xmlns:a16="http://schemas.microsoft.com/office/drawing/2014/main" xmlns="" id="{697B3656-FF4C-45C4-9CB8-C01FC5646C6B}"/>
              </a:ext>
            </a:extLst>
          </p:cNvPr>
          <p:cNvSpPr txBox="1"/>
          <p:nvPr/>
        </p:nvSpPr>
        <p:spPr>
          <a:xfrm>
            <a:off x="6276975" y="1582486"/>
            <a:ext cx="3162300"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rgbClr val="D4A344"/>
                </a:solidFill>
                <a:effectLst/>
                <a:uFillTx/>
                <a:latin typeface="Arial Black"/>
                <a:ea typeface="Arial Black"/>
                <a:cs typeface="Arial Black"/>
                <a:sym typeface="Arial Black"/>
              </a:rPr>
              <a:t>率先拥抱共享的大型银行将占据优势</a:t>
            </a:r>
          </a:p>
        </p:txBody>
      </p:sp>
    </p:spTree>
    <p:extLst>
      <p:ext uri="{BB962C8B-B14F-4D97-AF65-F5344CB8AC3E}">
        <p14:creationId xmlns:p14="http://schemas.microsoft.com/office/powerpoint/2010/main" val="85990166"/>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5" y="1797772"/>
            <a:ext cx="6973588"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477526"/>
            <a:ext cx="7935192" cy="128520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4000" dirty="0" smtClean="0"/>
              <a:t>“数据驱动”：</a:t>
            </a:r>
            <a:endParaRPr lang="zh-TW" altLang="en-US" sz="4000" dirty="0" smtClean="0"/>
          </a:p>
          <a:p>
            <a:pPr algn="l"/>
            <a:r>
              <a:rPr lang="zh-CN" altLang="en-US" sz="4000" dirty="0" smtClean="0"/>
              <a:t>智能投顾</a:t>
            </a:r>
            <a:r>
              <a:rPr lang="zh-TW" altLang="en-US" sz="4000" dirty="0" smtClean="0"/>
              <a:t>最佳实践分析</a:t>
            </a:r>
            <a:endParaRPr lang="zh-TW" altLang="en-US" sz="4000" dirty="0"/>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Rectangle 6"/>
          <p:cNvSpPr/>
          <p:nvPr/>
        </p:nvSpPr>
        <p:spPr>
          <a:xfrm>
            <a:off x="1901434" y="5141728"/>
            <a:ext cx="10101262" cy="830997"/>
          </a:xfrm>
          <a:prstGeom prst="rect">
            <a:avLst/>
          </a:prstGeom>
        </p:spPr>
        <p:txBody>
          <a:bodyPr wrap="square">
            <a:spAutoFit/>
          </a:bodyPr>
          <a:lstStyle/>
          <a:p>
            <a:pPr algn="l"/>
            <a:r>
              <a:rPr lang="zh-CN" altLang="en-US" sz="1600" dirty="0">
                <a:solidFill>
                  <a:schemeClr val="accent1">
                    <a:lumMod val="50000"/>
                  </a:schemeClr>
                </a:solidFill>
              </a:rPr>
              <a:t>香港应将重点放在网络安全、支付和证券结算、数码身份认证、财富科技和保险科技、以及监管科技这五个方面，以加强其在区内金融科技枢纽的地位。 </a:t>
            </a:r>
          </a:p>
          <a:p>
            <a:pPr algn="l"/>
            <a:r>
              <a:rPr lang="zh-CN" altLang="en-US" sz="1600" dirty="0">
                <a:solidFill>
                  <a:schemeClr val="accent1">
                    <a:lumMod val="50000"/>
                  </a:schemeClr>
                </a:solidFill>
                <a:latin typeface="NotoSansCJKsc" charset="0"/>
              </a:rPr>
              <a:t>                                                                                                                                                           </a:t>
            </a:r>
            <a:r>
              <a:rPr lang="en-US" altLang="zh-CN" sz="1600" dirty="0">
                <a:solidFill>
                  <a:schemeClr val="accent1">
                    <a:lumMod val="50000"/>
                  </a:schemeClr>
                </a:solidFill>
                <a:latin typeface="NotoSansCJKsc" charset="0"/>
              </a:rPr>
              <a:t>——</a:t>
            </a:r>
            <a:r>
              <a:rPr lang="zh-CN" altLang="en-US" sz="1600" i="1" dirty="0">
                <a:solidFill>
                  <a:schemeClr val="accent1">
                    <a:lumMod val="50000"/>
                  </a:schemeClr>
                </a:solidFill>
                <a:latin typeface="NotoSansCJKsc" charset="0"/>
              </a:rPr>
              <a:t>香港金融发展局</a:t>
            </a:r>
            <a:endParaRPr lang="zh-CN" altLang="en-US" sz="1600" i="1" dirty="0">
              <a:solidFill>
                <a:schemeClr val="accent1">
                  <a:lumMod val="50000"/>
                </a:schemeClr>
              </a:solidFill>
            </a:endParaRPr>
          </a:p>
        </p:txBody>
      </p:sp>
    </p:spTree>
    <p:extLst>
      <p:ext uri="{BB962C8B-B14F-4D97-AF65-F5344CB8AC3E}">
        <p14:creationId xmlns:p14="http://schemas.microsoft.com/office/powerpoint/2010/main" val="3858393061"/>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标题">
            <a:extLst>
              <a:ext uri="{FF2B5EF4-FFF2-40B4-BE49-F238E27FC236}">
                <a16:creationId xmlns:a16="http://schemas.microsoft.com/office/drawing/2014/main" xmlns="" id="{F2112D4C-1AFB-44E5-8EEC-81B8421E7C0D}"/>
              </a:ext>
            </a:extLst>
          </p:cNvPr>
          <p:cNvSpPr txBox="1"/>
          <p:nvPr/>
        </p:nvSpPr>
        <p:spPr>
          <a:xfrm>
            <a:off x="4655124" y="60947"/>
            <a:ext cx="2926682" cy="546544"/>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3200" dirty="0" smtClean="0"/>
              <a:t>智能投顾服务链</a:t>
            </a:r>
            <a:endParaRPr sz="3200" dirty="0"/>
          </a:p>
        </p:txBody>
      </p:sp>
      <p:pic>
        <p:nvPicPr>
          <p:cNvPr id="2" name="图片 1">
            <a:extLst>
              <a:ext uri="{FF2B5EF4-FFF2-40B4-BE49-F238E27FC236}">
                <a16:creationId xmlns:a16="http://schemas.microsoft.com/office/drawing/2014/main" xmlns="" id="{AB2C3A96-BF9F-4AE9-A655-0565092F9378}"/>
              </a:ext>
            </a:extLst>
          </p:cNvPr>
          <p:cNvPicPr>
            <a:picLocks noChangeAspect="1"/>
          </p:cNvPicPr>
          <p:nvPr/>
        </p:nvPicPr>
        <p:blipFill>
          <a:blip r:embed="rId3"/>
          <a:stretch>
            <a:fillRect/>
          </a:stretch>
        </p:blipFill>
        <p:spPr>
          <a:xfrm>
            <a:off x="497566" y="607491"/>
            <a:ext cx="11241793" cy="4128623"/>
          </a:xfrm>
          <a:prstGeom prst="rect">
            <a:avLst/>
          </a:prstGeom>
        </p:spPr>
      </p:pic>
      <p:sp>
        <p:nvSpPr>
          <p:cNvPr id="4" name="文本框 3">
            <a:extLst>
              <a:ext uri="{FF2B5EF4-FFF2-40B4-BE49-F238E27FC236}">
                <a16:creationId xmlns:a16="http://schemas.microsoft.com/office/drawing/2014/main" xmlns="" id="{03EE13C9-243E-4907-9F1F-620A2F063501}"/>
              </a:ext>
            </a:extLst>
          </p:cNvPr>
          <p:cNvSpPr txBox="1"/>
          <p:nvPr/>
        </p:nvSpPr>
        <p:spPr>
          <a:xfrm>
            <a:off x="871538" y="5261477"/>
            <a:ext cx="10744200" cy="97743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342900" marR="0" indent="-342900" algn="l" defTabSz="410765" rtl="0" fontAlgn="auto" latinLnBrk="0" hangingPunct="0">
              <a:lnSpc>
                <a:spcPct val="100000"/>
              </a:lnSpc>
              <a:spcBef>
                <a:spcPts val="0"/>
              </a:spcBef>
              <a:spcAft>
                <a:spcPts val="0"/>
              </a:spcAft>
              <a:buClrTx/>
              <a:buSzTx/>
              <a:buFont typeface="Arial" charset="0"/>
              <a:buChar char="•"/>
              <a:tabLst/>
            </a:pPr>
            <a:r>
              <a:rPr kumimoji="0" lang="zh-CN" altLang="en-US" sz="2000" b="0" i="0" u="none" strike="noStrike" cap="none" spc="0" normalizeH="0" baseline="0" dirty="0" smtClean="0">
                <a:ln>
                  <a:noFill/>
                </a:ln>
                <a:solidFill>
                  <a:schemeClr val="bg2"/>
                </a:solidFill>
                <a:effectLst/>
                <a:uFillTx/>
                <a:latin typeface="Arial Black"/>
                <a:ea typeface="Arial Black"/>
                <a:cs typeface="Arial Black"/>
                <a:sym typeface="Arial Black"/>
              </a:rPr>
              <a:t>智能</a:t>
            </a:r>
            <a:r>
              <a:rPr kumimoji="0" lang="zh-CN" altLang="en-US" sz="2000" b="0" i="0" u="none" strike="noStrike" cap="none" spc="0" normalizeH="0" baseline="0" dirty="0">
                <a:ln>
                  <a:noFill/>
                </a:ln>
                <a:solidFill>
                  <a:schemeClr val="bg2"/>
                </a:solidFill>
                <a:effectLst/>
                <a:uFillTx/>
                <a:latin typeface="Arial Black"/>
                <a:ea typeface="Arial Black"/>
                <a:cs typeface="Arial Black"/>
                <a:sym typeface="Arial Black"/>
              </a:rPr>
              <a:t>投顾服务包括：客户分析、大类资产配置、投资组合选择、交易执行、投资组合再选择、税收规划、投资组合分析</a:t>
            </a:r>
            <a:r>
              <a:rPr kumimoji="0" lang="zh-CN" altLang="en-US" sz="2000" b="0" i="0" u="none" strike="noStrike" cap="none" spc="0" normalizeH="0" baseline="0" dirty="0" smtClean="0">
                <a:ln>
                  <a:noFill/>
                </a:ln>
                <a:solidFill>
                  <a:schemeClr val="bg2"/>
                </a:solidFill>
                <a:effectLst/>
                <a:uFillTx/>
                <a:latin typeface="Arial Black"/>
                <a:ea typeface="Arial Black"/>
                <a:cs typeface="Arial Black"/>
                <a:sym typeface="Arial Black"/>
              </a:rPr>
              <a:t>。</a:t>
            </a:r>
            <a:endParaRPr kumimoji="0" lang="en-US" altLang="zh-CN" sz="2000" b="0" i="0" u="none" strike="noStrike" cap="none" spc="0" normalizeH="0" baseline="0" dirty="0" smtClean="0">
              <a:ln>
                <a:noFill/>
              </a:ln>
              <a:solidFill>
                <a:schemeClr val="bg2"/>
              </a:solidFill>
              <a:effectLst/>
              <a:uFillTx/>
              <a:latin typeface="Arial Black"/>
              <a:ea typeface="Arial Black"/>
              <a:cs typeface="Arial Black"/>
              <a:sym typeface="Arial Black"/>
            </a:endParaRPr>
          </a:p>
          <a:p>
            <a:pPr marL="342900" marR="0" indent="-342900" algn="l" defTabSz="410765" rtl="0" fontAlgn="auto" latinLnBrk="0" hangingPunct="0">
              <a:lnSpc>
                <a:spcPct val="100000"/>
              </a:lnSpc>
              <a:spcBef>
                <a:spcPts val="0"/>
              </a:spcBef>
              <a:spcAft>
                <a:spcPts val="0"/>
              </a:spcAft>
              <a:buClrTx/>
              <a:buSzTx/>
              <a:buFont typeface="Arial" charset="0"/>
              <a:buChar char="•"/>
              <a:tabLst/>
            </a:pPr>
            <a:r>
              <a:rPr kumimoji="0" lang="zh-CN" altLang="en-US" sz="2000" b="0" i="0" u="none" strike="noStrike" cap="none" spc="0" normalizeH="0" baseline="0" dirty="0" smtClean="0">
                <a:ln>
                  <a:noFill/>
                </a:ln>
                <a:solidFill>
                  <a:schemeClr val="bg2"/>
                </a:solidFill>
                <a:effectLst/>
                <a:uFillTx/>
                <a:latin typeface="Arial Black"/>
                <a:ea typeface="Arial Black"/>
                <a:cs typeface="Arial Black"/>
                <a:sym typeface="Arial Black"/>
              </a:rPr>
              <a:t>人工</a:t>
            </a:r>
            <a:r>
              <a:rPr kumimoji="0" lang="zh-CN" altLang="en-US" sz="2000" b="0" i="0" u="none" strike="noStrike" cap="none" spc="0" normalizeH="0" baseline="0" dirty="0">
                <a:ln>
                  <a:noFill/>
                </a:ln>
                <a:solidFill>
                  <a:schemeClr val="bg2"/>
                </a:solidFill>
                <a:effectLst/>
                <a:uFillTx/>
                <a:latin typeface="Arial Black"/>
                <a:ea typeface="Arial Black"/>
                <a:cs typeface="Arial Black"/>
                <a:sym typeface="Arial Black"/>
              </a:rPr>
              <a:t>智能技术核心应用于客户分析、大类资产配置、投资</a:t>
            </a:r>
            <a:r>
              <a:rPr kumimoji="0" lang="zh-CN" altLang="en-US" sz="2000" b="0" i="0" u="none" strike="noStrike" cap="none" spc="0" normalizeH="0" baseline="0" dirty="0" smtClean="0">
                <a:ln>
                  <a:noFill/>
                </a:ln>
                <a:solidFill>
                  <a:schemeClr val="bg2"/>
                </a:solidFill>
                <a:effectLst/>
                <a:uFillTx/>
                <a:latin typeface="Arial Black"/>
                <a:ea typeface="Arial Black"/>
                <a:cs typeface="Arial Black"/>
                <a:sym typeface="Arial Black"/>
              </a:rPr>
              <a:t>组合选择和</a:t>
            </a:r>
            <a:r>
              <a:rPr kumimoji="0" lang="zh-CN" altLang="en-US" sz="2000" b="0" i="0" u="none" strike="noStrike" cap="none" spc="0" normalizeH="0" baseline="0" dirty="0">
                <a:ln>
                  <a:noFill/>
                </a:ln>
                <a:solidFill>
                  <a:schemeClr val="bg2"/>
                </a:solidFill>
                <a:effectLst/>
                <a:uFillTx/>
                <a:latin typeface="Arial Black"/>
                <a:ea typeface="Arial Black"/>
                <a:cs typeface="Arial Black"/>
                <a:sym typeface="Arial Black"/>
              </a:rPr>
              <a:t>组合再选择环节</a:t>
            </a:r>
          </a:p>
        </p:txBody>
      </p:sp>
    </p:spTree>
    <p:extLst>
      <p:ext uri="{BB962C8B-B14F-4D97-AF65-F5344CB8AC3E}">
        <p14:creationId xmlns:p14="http://schemas.microsoft.com/office/powerpoint/2010/main" val="2326069202"/>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Picture Placeholder 4"/>
          <p:cNvGraphicFramePr>
            <a:graphicFrameLocks noGrp="1"/>
          </p:cNvGraphicFramePr>
          <p:nvPr>
            <p:ph type="pic" sz="quarter" idx="13"/>
            <p:extLst/>
          </p:nvPr>
        </p:nvGraphicFramePr>
        <p:xfrm>
          <a:off x="655544" y="1284568"/>
          <a:ext cx="4447098" cy="488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a:blip r:embed="rId7">
            <a:alphaModFix amt="82000"/>
          </a:blip>
          <a:stretch>
            <a:fillRect/>
          </a:stretch>
        </p:blipFill>
        <p:spPr>
          <a:xfrm>
            <a:off x="5514975" y="1653988"/>
            <a:ext cx="6677025" cy="4144309"/>
          </a:xfrm>
          <a:prstGeom prst="rect">
            <a:avLst/>
          </a:prstGeom>
        </p:spPr>
      </p:pic>
      <p:sp>
        <p:nvSpPr>
          <p:cNvPr id="8" name="标题">
            <a:extLst>
              <a:ext uri="{FF2B5EF4-FFF2-40B4-BE49-F238E27FC236}">
                <a16:creationId xmlns:a16="http://schemas.microsoft.com/office/drawing/2014/main" xmlns="" id="{5849D0CE-203C-4122-BE45-6C25FE92C64C}"/>
              </a:ext>
            </a:extLst>
          </p:cNvPr>
          <p:cNvSpPr txBox="1"/>
          <p:nvPr/>
        </p:nvSpPr>
        <p:spPr>
          <a:xfrm>
            <a:off x="1192218" y="356781"/>
            <a:ext cx="7048004"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a:t>
            </a:r>
            <a:r>
              <a:rPr lang="zh-CN" altLang="en-US" sz="2000" dirty="0"/>
              <a:t>涵盖数据、算法、应用和后台管理</a:t>
            </a:r>
            <a:endParaRPr sz="2000" dirty="0"/>
          </a:p>
        </p:txBody>
      </p:sp>
    </p:spTree>
    <p:extLst>
      <p:ext uri="{BB962C8B-B14F-4D97-AF65-F5344CB8AC3E}">
        <p14:creationId xmlns:p14="http://schemas.microsoft.com/office/powerpoint/2010/main" val="431576469"/>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 9"/>
          <p:cNvGraphicFramePr/>
          <p:nvPr>
            <p:extLst/>
          </p:nvPr>
        </p:nvGraphicFramePr>
        <p:xfrm>
          <a:off x="1045883" y="1434354"/>
          <a:ext cx="2165337" cy="426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p:cNvGraphicFramePr/>
          <p:nvPr>
            <p:extLst/>
          </p:nvPr>
        </p:nvGraphicFramePr>
        <p:xfrm>
          <a:off x="4084919" y="1434353"/>
          <a:ext cx="2136587" cy="4267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2" name="Diagram 11"/>
          <p:cNvGraphicFramePr/>
          <p:nvPr>
            <p:extLst/>
          </p:nvPr>
        </p:nvGraphicFramePr>
        <p:xfrm>
          <a:off x="6924875" y="1398495"/>
          <a:ext cx="2147407" cy="42672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3" name="Diagram 12"/>
          <p:cNvGraphicFramePr/>
          <p:nvPr>
            <p:extLst/>
          </p:nvPr>
        </p:nvGraphicFramePr>
        <p:xfrm>
          <a:off x="9625107" y="1398495"/>
          <a:ext cx="2118658" cy="426720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9" name="标题">
            <a:extLst>
              <a:ext uri="{FF2B5EF4-FFF2-40B4-BE49-F238E27FC236}">
                <a16:creationId xmlns:a16="http://schemas.microsoft.com/office/drawing/2014/main" xmlns="" id="{2E2C1194-8479-4C45-B521-85C140E573BC}"/>
              </a:ext>
            </a:extLst>
          </p:cNvPr>
          <p:cNvSpPr txBox="1"/>
          <p:nvPr/>
        </p:nvSpPr>
        <p:spPr>
          <a:xfrm>
            <a:off x="1192218" y="356781"/>
            <a:ext cx="7048004"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a:t>
            </a:r>
            <a:r>
              <a:rPr lang="zh-CN" altLang="en-US" sz="2000" dirty="0"/>
              <a:t>涵盖数据、算法、应用和后台管理</a:t>
            </a:r>
            <a:endParaRPr sz="2000" dirty="0"/>
          </a:p>
        </p:txBody>
      </p:sp>
    </p:spTree>
    <p:extLst>
      <p:ext uri="{BB962C8B-B14F-4D97-AF65-F5344CB8AC3E}">
        <p14:creationId xmlns:p14="http://schemas.microsoft.com/office/powerpoint/2010/main" val="1569463510"/>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74050" y="1564195"/>
            <a:ext cx="9438138" cy="402441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571500" marR="0" indent="-571500" algn="l" defTabSz="410765" rtl="0" fontAlgn="auto" latinLnBrk="0" hangingPunct="0">
              <a:lnSpc>
                <a:spcPct val="100000"/>
              </a:lnSpc>
              <a:spcBef>
                <a:spcPts val="0"/>
              </a:spcBef>
              <a:spcAft>
                <a:spcPts val="0"/>
              </a:spcAft>
              <a:buClrTx/>
              <a:buSzTx/>
              <a:buFont typeface="Arial" charset="0"/>
              <a:buChar char="•"/>
              <a:tabLst/>
            </a:pPr>
            <a:r>
              <a:rPr lang="zh-CN" altLang="en-US" sz="2400" dirty="0">
                <a:solidFill>
                  <a:schemeClr val="tx2">
                    <a:lumMod val="10000"/>
                  </a:schemeClr>
                </a:solidFill>
              </a:rPr>
              <a:t>为您和您的客户提供优质的在线网上服务</a:t>
            </a:r>
            <a:endParaRPr lang="en-US" altLang="zh-CN" sz="2400" dirty="0">
              <a:solidFill>
                <a:schemeClr val="tx2">
                  <a:lumMod val="10000"/>
                </a:schemeClr>
              </a:solidFill>
            </a:endParaRPr>
          </a:p>
          <a:p>
            <a:pPr marL="571500" indent="-571500" algn="l">
              <a:buFont typeface="Arial" charset="0"/>
              <a:buChar char="•"/>
            </a:pPr>
            <a:r>
              <a:rPr lang="zh-CN" altLang="en-US" sz="2400" dirty="0">
                <a:solidFill>
                  <a:schemeClr val="tx2">
                    <a:lumMod val="10000"/>
                  </a:schemeClr>
                </a:solidFill>
              </a:rPr>
              <a:t>让您获得更方便的产品管理和分析工具</a:t>
            </a:r>
            <a:endParaRPr lang="en-US" altLang="zh-CN" sz="2400" dirty="0">
              <a:solidFill>
                <a:schemeClr val="tx2">
                  <a:lumMod val="10000"/>
                </a:schemeClr>
              </a:solidFill>
            </a:endParaRPr>
          </a:p>
          <a:p>
            <a:pPr marL="571500" indent="-571500" algn="l">
              <a:buFont typeface="Arial" charset="0"/>
              <a:buChar char="•"/>
            </a:pPr>
            <a:r>
              <a:rPr lang="zh-CN" altLang="en-US" sz="2400" dirty="0">
                <a:solidFill>
                  <a:schemeClr val="tx2">
                    <a:lumMod val="10000"/>
                  </a:schemeClr>
                </a:solidFill>
              </a:rPr>
              <a:t>帮助您分析客户行为</a:t>
            </a:r>
            <a:endParaRPr lang="en-US" altLang="zh-CN" sz="2400" dirty="0">
              <a:solidFill>
                <a:schemeClr val="tx2">
                  <a:lumMod val="10000"/>
                </a:schemeClr>
              </a:solidFill>
            </a:endParaRPr>
          </a:p>
          <a:p>
            <a:pPr marL="571500" marR="0" indent="-571500" algn="l" defTabSz="410765" rtl="0" fontAlgn="auto" latinLnBrk="0" hangingPunct="0">
              <a:lnSpc>
                <a:spcPct val="100000"/>
              </a:lnSpc>
              <a:spcBef>
                <a:spcPts val="0"/>
              </a:spcBef>
              <a:spcAft>
                <a:spcPts val="0"/>
              </a:spcAft>
              <a:buClrTx/>
              <a:buSzTx/>
              <a:buFont typeface="Arial" charset="0"/>
              <a:buChar char="•"/>
              <a:tabLst/>
            </a:pPr>
            <a:r>
              <a:rPr lang="zh-CN" altLang="en-US" sz="2400" dirty="0">
                <a:solidFill>
                  <a:schemeClr val="tx2">
                    <a:lumMod val="10000"/>
                  </a:schemeClr>
                </a:solidFill>
              </a:rPr>
              <a:t>为您管理客户提供方便高效的工具</a:t>
            </a:r>
            <a:endParaRPr lang="en-US" altLang="zh-CN" sz="2400" dirty="0">
              <a:solidFill>
                <a:schemeClr val="tx2">
                  <a:lumMod val="10000"/>
                </a:schemeClr>
              </a:solidFill>
            </a:endParaRPr>
          </a:p>
          <a:p>
            <a:pPr marL="571500" marR="0" indent="-571500" algn="l" defTabSz="410765" rtl="0" fontAlgn="auto" latinLnBrk="0" hangingPunct="0">
              <a:lnSpc>
                <a:spcPct val="100000"/>
              </a:lnSpc>
              <a:spcBef>
                <a:spcPts val="0"/>
              </a:spcBef>
              <a:spcAft>
                <a:spcPts val="0"/>
              </a:spcAft>
              <a:buClrTx/>
              <a:buSzTx/>
              <a:buFont typeface="Arial" charset="0"/>
              <a:buChar char="•"/>
              <a:tabLst/>
            </a:pPr>
            <a:r>
              <a:rPr lang="zh-CN" altLang="en-US" sz="2400" dirty="0">
                <a:solidFill>
                  <a:schemeClr val="tx2">
                    <a:lumMod val="10000"/>
                  </a:schemeClr>
                </a:solidFill>
              </a:rPr>
              <a:t>我们的智能算法模型</a:t>
            </a:r>
            <a:r>
              <a:rPr lang="zh-CN" altLang="en-US" sz="2400" dirty="0" smtClean="0">
                <a:solidFill>
                  <a:schemeClr val="tx2">
                    <a:lumMod val="10000"/>
                  </a:schemeClr>
                </a:solidFill>
              </a:rPr>
              <a:t>是应用大</a:t>
            </a:r>
            <a:r>
              <a:rPr lang="zh-CN" altLang="en-US" sz="2400" dirty="0">
                <a:solidFill>
                  <a:schemeClr val="tx2">
                    <a:lumMod val="10000"/>
                  </a:schemeClr>
                </a:solidFill>
              </a:rPr>
              <a:t>数据和人工智能得到</a:t>
            </a:r>
            <a:endParaRPr lang="en-US" altLang="zh-CN" sz="2400" dirty="0">
              <a:solidFill>
                <a:schemeClr val="tx2">
                  <a:lumMod val="10000"/>
                </a:schemeClr>
              </a:solidFill>
            </a:endParaRPr>
          </a:p>
          <a:p>
            <a:pPr marL="571500" marR="0" indent="-571500" algn="l" defTabSz="410765" rtl="0" fontAlgn="auto" latinLnBrk="0" hangingPunct="0">
              <a:lnSpc>
                <a:spcPct val="100000"/>
              </a:lnSpc>
              <a:spcBef>
                <a:spcPts val="0"/>
              </a:spcBef>
              <a:spcAft>
                <a:spcPts val="0"/>
              </a:spcAft>
              <a:buClrTx/>
              <a:buSzTx/>
              <a:buFont typeface="Arial" charset="0"/>
              <a:buChar char="•"/>
              <a:tabLst/>
            </a:pPr>
            <a:r>
              <a:rPr lang="zh-CN" altLang="en-US" sz="2400" dirty="0">
                <a:solidFill>
                  <a:schemeClr val="tx2">
                    <a:lumMod val="10000"/>
                  </a:schemeClr>
                </a:solidFill>
              </a:rPr>
              <a:t>我们的资产管理模型是和最前沿的科研机构得到的</a:t>
            </a:r>
            <a:endParaRPr lang="en-US" altLang="zh-CN" sz="2400" dirty="0">
              <a:solidFill>
                <a:schemeClr val="tx2">
                  <a:lumMod val="10000"/>
                </a:schemeClr>
              </a:solidFill>
            </a:endParaRPr>
          </a:p>
          <a:p>
            <a:pPr marL="571500" marR="0" indent="-571500" algn="l" defTabSz="410765" rtl="0" fontAlgn="auto" latinLnBrk="0" hangingPunct="0">
              <a:lnSpc>
                <a:spcPct val="100000"/>
              </a:lnSpc>
              <a:spcBef>
                <a:spcPts val="0"/>
              </a:spcBef>
              <a:spcAft>
                <a:spcPts val="0"/>
              </a:spcAft>
              <a:buClrTx/>
              <a:buSzTx/>
              <a:buFont typeface="Arial" charset="0"/>
              <a:buChar char="•"/>
              <a:tabLst/>
            </a:pPr>
            <a:r>
              <a:rPr lang="zh-CN" altLang="en-US" sz="2400" dirty="0">
                <a:solidFill>
                  <a:schemeClr val="tx2">
                    <a:lumMod val="10000"/>
                  </a:schemeClr>
                </a:solidFill>
              </a:rPr>
              <a:t>快捷的在线交易</a:t>
            </a:r>
            <a:endParaRPr lang="en-US" altLang="zh-CN" sz="2400" dirty="0">
              <a:solidFill>
                <a:schemeClr val="tx2">
                  <a:lumMod val="10000"/>
                </a:schemeClr>
              </a:solidFill>
            </a:endParaRPr>
          </a:p>
          <a:p>
            <a:pPr marL="571500" marR="0" indent="-571500" algn="l" defTabSz="410765" rtl="0" fontAlgn="auto" latinLnBrk="0" hangingPunct="0">
              <a:lnSpc>
                <a:spcPct val="100000"/>
              </a:lnSpc>
              <a:spcBef>
                <a:spcPts val="0"/>
              </a:spcBef>
              <a:spcAft>
                <a:spcPts val="0"/>
              </a:spcAft>
              <a:buClrTx/>
              <a:buSzTx/>
              <a:buFont typeface="Arial" charset="0"/>
              <a:buChar char="•"/>
              <a:tabLst/>
            </a:pPr>
            <a:r>
              <a:rPr lang="zh-CN" altLang="en-US" sz="2400" dirty="0">
                <a:solidFill>
                  <a:schemeClr val="tx2">
                    <a:lumMod val="10000"/>
                  </a:schemeClr>
                </a:solidFill>
              </a:rPr>
              <a:t>高质量的数据服务</a:t>
            </a:r>
            <a:endParaRPr lang="en-US" altLang="zh-CN" sz="2400" dirty="0">
              <a:solidFill>
                <a:schemeClr val="tx2">
                  <a:lumMod val="10000"/>
                </a:schemeClr>
              </a:solidFill>
            </a:endParaRPr>
          </a:p>
          <a:p>
            <a:pPr marL="571500" marR="0" indent="-571500" algn="l" defTabSz="410765" rtl="0" fontAlgn="auto" latinLnBrk="0" hangingPunct="0">
              <a:lnSpc>
                <a:spcPct val="100000"/>
              </a:lnSpc>
              <a:spcBef>
                <a:spcPts val="0"/>
              </a:spcBef>
              <a:spcAft>
                <a:spcPts val="0"/>
              </a:spcAft>
              <a:buClrTx/>
              <a:buSzTx/>
              <a:buFont typeface="Arial" charset="0"/>
              <a:buChar char="•"/>
              <a:tabLst/>
            </a:pPr>
            <a:endParaRPr lang="en-US" altLang="zh-CN" sz="2400" dirty="0">
              <a:solidFill>
                <a:schemeClr val="tx2">
                  <a:lumMod val="10000"/>
                </a:schemeClr>
              </a:solidFill>
            </a:endParaRPr>
          </a:p>
          <a:p>
            <a:pPr marL="0" marR="0" indent="0" algn="ctr" defTabSz="410765" rtl="0" fontAlgn="auto" latinLnBrk="0" hangingPunct="0">
              <a:lnSpc>
                <a:spcPct val="100000"/>
              </a:lnSpc>
              <a:spcBef>
                <a:spcPts val="0"/>
              </a:spcBef>
              <a:spcAft>
                <a:spcPts val="0"/>
              </a:spcAft>
              <a:buClrTx/>
              <a:buSzTx/>
              <a:buFontTx/>
              <a:buNone/>
              <a:tabLst/>
            </a:pPr>
            <a:endParaRPr kumimoji="0" lang="en-US" sz="4200" b="0" i="0" u="none" strike="noStrike" cap="none" spc="0" normalizeH="0" baseline="0" dirty="0">
              <a:ln>
                <a:noFill/>
              </a:ln>
              <a:solidFill>
                <a:schemeClr val="tx2">
                  <a:lumMod val="10000"/>
                </a:schemeClr>
              </a:solidFill>
              <a:effectLst/>
              <a:uFillTx/>
              <a:sym typeface="Arial Black"/>
            </a:endParaRPr>
          </a:p>
        </p:txBody>
      </p:sp>
      <p:sp>
        <p:nvSpPr>
          <p:cNvPr id="7" name="标题">
            <a:extLst>
              <a:ext uri="{FF2B5EF4-FFF2-40B4-BE49-F238E27FC236}">
                <a16:creationId xmlns:a16="http://schemas.microsoft.com/office/drawing/2014/main" xmlns="" id="{02C6977A-AA6F-444A-871C-711FB2BC3B76}"/>
              </a:ext>
            </a:extLst>
          </p:cNvPr>
          <p:cNvSpPr txBox="1"/>
          <p:nvPr/>
        </p:nvSpPr>
        <p:spPr>
          <a:xfrm>
            <a:off x="1192218" y="356781"/>
            <a:ext cx="7048004"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a:t>
            </a:r>
            <a:r>
              <a:rPr lang="zh-CN" altLang="en-US" sz="2000" dirty="0"/>
              <a:t>涵盖数据、算法、应用和后台管理</a:t>
            </a:r>
            <a:endParaRPr sz="2000" dirty="0"/>
          </a:p>
        </p:txBody>
      </p:sp>
    </p:spTree>
    <p:extLst>
      <p:ext uri="{BB962C8B-B14F-4D97-AF65-F5344CB8AC3E}">
        <p14:creationId xmlns:p14="http://schemas.microsoft.com/office/powerpoint/2010/main" val="2455652195"/>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84A1C68A-F5AA-45CA-98AD-6ED41C2DC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185" y="1766504"/>
            <a:ext cx="6532469" cy="3551974"/>
          </a:xfrm>
          <a:prstGeom prst="rect">
            <a:avLst/>
          </a:prstGeom>
        </p:spPr>
      </p:pic>
      <p:grpSp>
        <p:nvGrpSpPr>
          <p:cNvPr id="3" name="组合 2">
            <a:extLst>
              <a:ext uri="{FF2B5EF4-FFF2-40B4-BE49-F238E27FC236}">
                <a16:creationId xmlns:a16="http://schemas.microsoft.com/office/drawing/2014/main" xmlns="" id="{0BD726F3-3B4B-40D6-B728-BFE3EE364D06}"/>
              </a:ext>
            </a:extLst>
          </p:cNvPr>
          <p:cNvGrpSpPr/>
          <p:nvPr/>
        </p:nvGrpSpPr>
        <p:grpSpPr>
          <a:xfrm>
            <a:off x="5074208" y="1554480"/>
            <a:ext cx="6227480" cy="4610875"/>
            <a:chOff x="4391649" y="3310694"/>
            <a:chExt cx="4412873" cy="3008839"/>
          </a:xfrm>
        </p:grpSpPr>
        <p:pic>
          <p:nvPicPr>
            <p:cNvPr id="14" name="图片 13">
              <a:extLst>
                <a:ext uri="{FF2B5EF4-FFF2-40B4-BE49-F238E27FC236}">
                  <a16:creationId xmlns:a16="http://schemas.microsoft.com/office/drawing/2014/main" xmlns="" id="{02FE35D1-F2D5-4976-9D53-DC284492E14F}"/>
                </a:ext>
              </a:extLst>
            </p:cNvPr>
            <p:cNvPicPr>
              <a:picLocks noChangeAspect="1"/>
            </p:cNvPicPr>
            <p:nvPr/>
          </p:nvPicPr>
          <p:blipFill>
            <a:blip r:embed="rId3"/>
            <a:stretch>
              <a:fillRect/>
            </a:stretch>
          </p:blipFill>
          <p:spPr>
            <a:xfrm>
              <a:off x="4391649" y="3310694"/>
              <a:ext cx="2965753" cy="2317850"/>
            </a:xfrm>
            <a:prstGeom prst="rect">
              <a:avLst/>
            </a:prstGeom>
          </p:spPr>
        </p:pic>
        <p:sp>
          <p:nvSpPr>
            <p:cNvPr id="2" name="矩形: 圆角 1">
              <a:extLst>
                <a:ext uri="{FF2B5EF4-FFF2-40B4-BE49-F238E27FC236}">
                  <a16:creationId xmlns:a16="http://schemas.microsoft.com/office/drawing/2014/main" xmlns="" id="{494DEFCB-1E5E-4FBF-A925-4072903F9B72}"/>
                </a:ext>
              </a:extLst>
            </p:cNvPr>
            <p:cNvSpPr/>
            <p:nvPr/>
          </p:nvSpPr>
          <p:spPr>
            <a:xfrm>
              <a:off x="5809431" y="5544587"/>
              <a:ext cx="1677034" cy="774946"/>
            </a:xfrm>
            <a:prstGeom prst="roundRect">
              <a:avLst/>
            </a:prstGeom>
            <a:solidFill>
              <a:srgbClr val="C00000"/>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FFFFFF"/>
                  </a:solidFill>
                  <a:effectLst/>
                  <a:uFillTx/>
                  <a:latin typeface="+mn-lt"/>
                  <a:ea typeface="+mn-ea"/>
                  <a:cs typeface="+mn-cs"/>
                  <a:sym typeface="Helvetica Neue Medium"/>
                </a:rPr>
                <a:t>用戶分析的核心目的是找到每個人的無差異曲線</a:t>
              </a:r>
            </a:p>
          </p:txBody>
        </p:sp>
        <p:sp>
          <p:nvSpPr>
            <p:cNvPr id="16" name="矩形: 圆角 15">
              <a:extLst>
                <a:ext uri="{FF2B5EF4-FFF2-40B4-BE49-F238E27FC236}">
                  <a16:creationId xmlns:a16="http://schemas.microsoft.com/office/drawing/2014/main" xmlns="" id="{C5FFBF58-0563-4B53-832A-E233E0D9E365}"/>
                </a:ext>
              </a:extLst>
            </p:cNvPr>
            <p:cNvSpPr/>
            <p:nvPr/>
          </p:nvSpPr>
          <p:spPr>
            <a:xfrm>
              <a:off x="7127488" y="3738141"/>
              <a:ext cx="1677034" cy="536583"/>
            </a:xfrm>
            <a:prstGeom prst="roundRect">
              <a:avLst/>
            </a:prstGeom>
            <a:solidFill>
              <a:srgbClr val="C00000"/>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FFFFFF"/>
                  </a:solidFill>
                  <a:effectLst/>
                  <a:uFillTx/>
                  <a:latin typeface="+mn-lt"/>
                  <a:ea typeface="+mn-ea"/>
                  <a:cs typeface="+mn-cs"/>
                  <a:sym typeface="Helvetica Neue Medium"/>
                </a:rPr>
                <a:t>基金分析的核心目的是找到有效邊界</a:t>
              </a:r>
            </a:p>
          </p:txBody>
        </p:sp>
      </p:grpSp>
      <p:sp>
        <p:nvSpPr>
          <p:cNvPr id="11" name="标题">
            <a:extLst>
              <a:ext uri="{FF2B5EF4-FFF2-40B4-BE49-F238E27FC236}">
                <a16:creationId xmlns:a16="http://schemas.microsoft.com/office/drawing/2014/main" xmlns="" id="{153A42CE-92E0-4B12-90D2-93D77B6F7372}"/>
              </a:ext>
            </a:extLst>
          </p:cNvPr>
          <p:cNvSpPr txBox="1"/>
          <p:nvPr/>
        </p:nvSpPr>
        <p:spPr>
          <a:xfrm>
            <a:off x="696185" y="330760"/>
            <a:ext cx="8540399"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如何将资产配置模型和投资组合选择技术化、产品化充满挑战：以</a:t>
            </a:r>
            <a:r>
              <a:rPr lang="en-US" altLang="zh-CN" sz="2000" dirty="0"/>
              <a:t>MVO</a:t>
            </a:r>
            <a:r>
              <a:rPr lang="zh-CN" altLang="en-US" sz="2000" dirty="0"/>
              <a:t>为例</a:t>
            </a:r>
            <a:endParaRPr sz="2000" dirty="0"/>
          </a:p>
        </p:txBody>
      </p:sp>
      <p:sp>
        <p:nvSpPr>
          <p:cNvPr id="4" name="文本框 3">
            <a:extLst>
              <a:ext uri="{FF2B5EF4-FFF2-40B4-BE49-F238E27FC236}">
                <a16:creationId xmlns:a16="http://schemas.microsoft.com/office/drawing/2014/main" xmlns="" id="{1C7D7B5B-F72D-4E18-8582-7A4E4CD6AC31}"/>
              </a:ext>
            </a:extLst>
          </p:cNvPr>
          <p:cNvSpPr txBox="1"/>
          <p:nvPr/>
        </p:nvSpPr>
        <p:spPr>
          <a:xfrm>
            <a:off x="1341120" y="4645096"/>
            <a:ext cx="2193968" cy="134676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2800" b="0" i="0" u="none" strike="noStrike" cap="none" spc="0" normalizeH="0" baseline="0" dirty="0">
                <a:ln>
                  <a:noFill/>
                </a:ln>
                <a:solidFill>
                  <a:schemeClr val="bg2"/>
                </a:solidFill>
                <a:effectLst/>
                <a:uFillTx/>
                <a:latin typeface="Arial Black"/>
                <a:ea typeface="Arial Black"/>
                <a:cs typeface="Arial Black"/>
                <a:sym typeface="Arial Black"/>
              </a:rPr>
              <a:t>参数很简单，但背后的技术门槛很高。</a:t>
            </a:r>
          </a:p>
        </p:txBody>
      </p:sp>
    </p:spTree>
    <p:extLst>
      <p:ext uri="{BB962C8B-B14F-4D97-AF65-F5344CB8AC3E}">
        <p14:creationId xmlns:p14="http://schemas.microsoft.com/office/powerpoint/2010/main" val="4140883633"/>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642659" y="356781"/>
            <a:ext cx="6147115"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1.</a:t>
            </a:r>
            <a:r>
              <a:rPr lang="zh-CN" altLang="en-US" sz="2000" dirty="0"/>
              <a:t>用户画像支撑客戶分析</a:t>
            </a:r>
            <a:endParaRPr sz="2000" dirty="0"/>
          </a:p>
        </p:txBody>
      </p:sp>
      <p:sp>
        <p:nvSpPr>
          <p:cNvPr id="4" name="矩形 3">
            <a:extLst>
              <a:ext uri="{FF2B5EF4-FFF2-40B4-BE49-F238E27FC236}">
                <a16:creationId xmlns:a16="http://schemas.microsoft.com/office/drawing/2014/main" xmlns="" id="{2BE52633-7F29-424D-89AA-0ED17D2794B6}"/>
              </a:ext>
            </a:extLst>
          </p:cNvPr>
          <p:cNvSpPr/>
          <p:nvPr/>
        </p:nvSpPr>
        <p:spPr>
          <a:xfrm>
            <a:off x="7234914" y="1706065"/>
            <a:ext cx="5803037" cy="3139321"/>
          </a:xfrm>
          <a:prstGeom prst="rect">
            <a:avLst/>
          </a:prstGeom>
        </p:spPr>
        <p:txBody>
          <a:bodyPr wrap="square">
            <a:spAutoFit/>
          </a:bodyPr>
          <a:lstStyle/>
          <a:p>
            <a:pPr marL="285750" indent="-285750" algn="l">
              <a:buFont typeface="Wingdings" panose="05000000000000000000" pitchFamily="2" charset="2"/>
              <a:buChar char="l"/>
            </a:pPr>
            <a:r>
              <a:rPr lang="zh-CN" altLang="en-US" sz="1800" dirty="0">
                <a:solidFill>
                  <a:schemeClr val="bg2"/>
                </a:solidFill>
              </a:rPr>
              <a:t>风险问卷和投资目标调查</a:t>
            </a:r>
            <a:endParaRPr lang="en-US" altLang="zh-CN" sz="1800" dirty="0">
              <a:solidFill>
                <a:schemeClr val="bg2"/>
              </a:solidFill>
            </a:endParaRPr>
          </a:p>
          <a:p>
            <a:pPr algn="l"/>
            <a:r>
              <a:rPr lang="zh-CN" altLang="en-US" sz="1800" dirty="0">
                <a:solidFill>
                  <a:schemeClr val="bg2"/>
                </a:solidFill>
              </a:rPr>
              <a:t>用户基本信息</a:t>
            </a:r>
            <a:endParaRPr lang="en-US" altLang="zh-CN" sz="1800" dirty="0">
              <a:solidFill>
                <a:schemeClr val="bg2"/>
              </a:solidFill>
            </a:endParaRPr>
          </a:p>
          <a:p>
            <a:pPr algn="l"/>
            <a:r>
              <a:rPr lang="zh-CN" altLang="en-US" sz="1800" dirty="0">
                <a:solidFill>
                  <a:schemeClr val="bg2"/>
                </a:solidFill>
              </a:rPr>
              <a:t>投资目标</a:t>
            </a:r>
            <a:endParaRPr lang="en-US" altLang="zh-CN" sz="1800" dirty="0">
              <a:solidFill>
                <a:schemeClr val="bg2"/>
              </a:solidFill>
            </a:endParaRPr>
          </a:p>
          <a:p>
            <a:pPr algn="l"/>
            <a:r>
              <a:rPr lang="zh-CN" altLang="en-US" sz="1800" dirty="0">
                <a:solidFill>
                  <a:schemeClr val="bg2"/>
                </a:solidFill>
              </a:rPr>
              <a:t>投资时间</a:t>
            </a:r>
            <a:endParaRPr lang="en-US" altLang="zh-CN" sz="1800" dirty="0">
              <a:solidFill>
                <a:schemeClr val="bg2"/>
              </a:solidFill>
            </a:endParaRPr>
          </a:p>
          <a:p>
            <a:pPr algn="l"/>
            <a:r>
              <a:rPr lang="zh-CN" altLang="en-US" sz="1800" dirty="0">
                <a:solidFill>
                  <a:schemeClr val="bg2"/>
                </a:solidFill>
              </a:rPr>
              <a:t>风险资产状况</a:t>
            </a:r>
            <a:endParaRPr lang="en-US" altLang="zh-CN" sz="1800" dirty="0">
              <a:solidFill>
                <a:schemeClr val="bg2"/>
              </a:solidFill>
            </a:endParaRPr>
          </a:p>
          <a:p>
            <a:pPr algn="l"/>
            <a:r>
              <a:rPr lang="zh-CN" altLang="en-US" sz="1800" dirty="0">
                <a:solidFill>
                  <a:schemeClr val="bg2"/>
                </a:solidFill>
              </a:rPr>
              <a:t>其他</a:t>
            </a:r>
            <a:endParaRPr lang="en-US" altLang="zh-CN" sz="1800" dirty="0">
              <a:solidFill>
                <a:schemeClr val="bg2"/>
              </a:solidFill>
            </a:endParaRPr>
          </a:p>
          <a:p>
            <a:pPr marL="285750" indent="-285750" algn="l">
              <a:buFont typeface="Wingdings" panose="05000000000000000000" pitchFamily="2" charset="2"/>
              <a:buChar char="l"/>
            </a:pPr>
            <a:r>
              <a:rPr lang="zh-CN" altLang="en-US" sz="1800" dirty="0">
                <a:solidFill>
                  <a:schemeClr val="bg2"/>
                </a:solidFill>
              </a:rPr>
              <a:t>用户分析</a:t>
            </a:r>
            <a:endParaRPr lang="en-US" altLang="zh-CN" sz="1800" dirty="0">
              <a:solidFill>
                <a:schemeClr val="bg2"/>
              </a:solidFill>
            </a:endParaRPr>
          </a:p>
          <a:p>
            <a:pPr algn="l"/>
            <a:r>
              <a:rPr lang="zh-CN" altLang="en-US" sz="1800" dirty="0">
                <a:solidFill>
                  <a:schemeClr val="bg2"/>
                </a:solidFill>
              </a:rPr>
              <a:t>用户聚类</a:t>
            </a:r>
            <a:endParaRPr lang="en-US" altLang="zh-CN" sz="1800" dirty="0">
              <a:solidFill>
                <a:schemeClr val="bg2"/>
              </a:solidFill>
            </a:endParaRPr>
          </a:p>
          <a:p>
            <a:pPr algn="l"/>
            <a:r>
              <a:rPr lang="zh-CN" altLang="en-US" sz="1800" dirty="0">
                <a:solidFill>
                  <a:schemeClr val="bg2"/>
                </a:solidFill>
              </a:rPr>
              <a:t>用户风险理解</a:t>
            </a:r>
            <a:endParaRPr lang="en-US" altLang="zh-CN" sz="1800" dirty="0">
              <a:solidFill>
                <a:schemeClr val="bg2"/>
              </a:solidFill>
            </a:endParaRPr>
          </a:p>
          <a:p>
            <a:pPr algn="l"/>
            <a:r>
              <a:rPr lang="zh-CN" altLang="en-US" sz="1800" dirty="0">
                <a:solidFill>
                  <a:schemeClr val="bg2"/>
                </a:solidFill>
              </a:rPr>
              <a:t>用户目标理解</a:t>
            </a:r>
            <a:endParaRPr lang="en-US" altLang="zh-CN" sz="1800" dirty="0">
              <a:solidFill>
                <a:schemeClr val="bg2"/>
              </a:solidFill>
            </a:endParaRPr>
          </a:p>
          <a:p>
            <a:pPr algn="l"/>
            <a:r>
              <a:rPr lang="zh-CN" altLang="en-US" sz="1800" dirty="0">
                <a:solidFill>
                  <a:schemeClr val="bg2"/>
                </a:solidFill>
              </a:rPr>
              <a:t>用户喜好</a:t>
            </a:r>
            <a:endParaRPr lang="en-US" altLang="zh-CN" sz="1800" dirty="0">
              <a:solidFill>
                <a:schemeClr val="bg2"/>
              </a:solidFill>
            </a:endParaRPr>
          </a:p>
        </p:txBody>
      </p:sp>
      <p:sp>
        <p:nvSpPr>
          <p:cNvPr id="5" name="文本框 4">
            <a:extLst>
              <a:ext uri="{FF2B5EF4-FFF2-40B4-BE49-F238E27FC236}">
                <a16:creationId xmlns:a16="http://schemas.microsoft.com/office/drawing/2014/main" xmlns="" id="{9494E38A-44FE-4BD1-84EB-BFC9C95B97F2}"/>
              </a:ext>
            </a:extLst>
          </p:cNvPr>
          <p:cNvSpPr txBox="1"/>
          <p:nvPr/>
        </p:nvSpPr>
        <p:spPr>
          <a:xfrm>
            <a:off x="1963803" y="1191678"/>
            <a:ext cx="3617843" cy="42343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lang="zh-CN" altLang="en-US" sz="2400" dirty="0">
                <a:solidFill>
                  <a:schemeClr val="bg2"/>
                </a:solidFill>
              </a:rPr>
              <a:t>客户营销阶段</a:t>
            </a:r>
            <a:endParaRPr kumimoji="0" lang="zh-CN" altLang="en-US" sz="2400" b="0" i="0" u="none" strike="noStrike" cap="none" spc="0" normalizeH="0" baseline="0" dirty="0">
              <a:ln>
                <a:noFill/>
              </a:ln>
              <a:solidFill>
                <a:schemeClr val="bg2"/>
              </a:solidFill>
              <a:effectLst/>
              <a:uFillTx/>
              <a:sym typeface="Arial Black"/>
            </a:endParaRPr>
          </a:p>
        </p:txBody>
      </p:sp>
      <p:sp>
        <p:nvSpPr>
          <p:cNvPr id="2" name="矩形 1">
            <a:extLst>
              <a:ext uri="{FF2B5EF4-FFF2-40B4-BE49-F238E27FC236}">
                <a16:creationId xmlns:a16="http://schemas.microsoft.com/office/drawing/2014/main" xmlns="" id="{10B6C54D-C22E-4B72-A213-6F01458C3A41}"/>
              </a:ext>
            </a:extLst>
          </p:cNvPr>
          <p:cNvSpPr/>
          <p:nvPr/>
        </p:nvSpPr>
        <p:spPr>
          <a:xfrm>
            <a:off x="1739641" y="1570750"/>
            <a:ext cx="4500975" cy="4093428"/>
          </a:xfrm>
          <a:prstGeom prst="rect">
            <a:avLst/>
          </a:prstGeom>
        </p:spPr>
        <p:txBody>
          <a:bodyPr wrap="square">
            <a:spAutoFit/>
          </a:bodyPr>
          <a:lstStyle/>
          <a:p>
            <a:pPr algn="l"/>
            <a:r>
              <a:rPr lang="zh-TW" altLang="en-US" sz="2000" b="1" dirty="0">
                <a:solidFill>
                  <a:schemeClr val="tx2">
                    <a:lumMod val="10000"/>
                  </a:schemeClr>
                </a:solidFill>
              </a:rPr>
              <a:t>尋找高端資產客户</a:t>
            </a:r>
          </a:p>
          <a:p>
            <a:pPr algn="l"/>
            <a:r>
              <a:rPr lang="zh-TW" altLang="en-US" sz="2000" dirty="0">
                <a:solidFill>
                  <a:schemeClr val="tx2">
                    <a:lumMod val="10000"/>
                  </a:schemeClr>
                </a:solidFill>
              </a:rPr>
              <a:t>利用銀聯數據＋移動位置數據（別墅／高檔小區）＋物業費代扣數據＋銀行自身數據＋汽車型號數據，發現在銀行資產較少，在其他行資產較多的用户，為其提供高端資產管理服務</a:t>
            </a:r>
          </a:p>
          <a:p>
            <a:pPr algn="l"/>
            <a:r>
              <a:rPr lang="zh-TW" altLang="en-US" sz="2000" b="1" dirty="0">
                <a:solidFill>
                  <a:schemeClr val="tx2">
                    <a:lumMod val="10000"/>
                  </a:schemeClr>
                </a:solidFill>
              </a:rPr>
              <a:t>需找理財客户</a:t>
            </a:r>
          </a:p>
          <a:p>
            <a:pPr algn="l"/>
            <a:r>
              <a:rPr lang="zh-TW" altLang="en-US" sz="2000" dirty="0">
                <a:solidFill>
                  <a:schemeClr val="tx2">
                    <a:lumMod val="10000"/>
                  </a:schemeClr>
                </a:solidFill>
              </a:rPr>
              <a:t>利用自身數據（交易＋工資）＋移動端理財客户端／電商活躍數據。發現客户將工資／資產轉到外部，但是電商消費不活躍客户，其互聯網理財可能性較大，可以為其提供理財服務，將資金留在本行。</a:t>
            </a:r>
          </a:p>
        </p:txBody>
      </p:sp>
      <p:sp>
        <p:nvSpPr>
          <p:cNvPr id="12" name="文本框 11">
            <a:extLst>
              <a:ext uri="{FF2B5EF4-FFF2-40B4-BE49-F238E27FC236}">
                <a16:creationId xmlns:a16="http://schemas.microsoft.com/office/drawing/2014/main" xmlns="" id="{FC144F94-6818-443E-89B0-64C442BAABA6}"/>
              </a:ext>
            </a:extLst>
          </p:cNvPr>
          <p:cNvSpPr txBox="1"/>
          <p:nvPr/>
        </p:nvSpPr>
        <p:spPr>
          <a:xfrm>
            <a:off x="8120457" y="1282632"/>
            <a:ext cx="3617843" cy="42343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lang="zh-CN" altLang="en-US" sz="2400" dirty="0">
                <a:solidFill>
                  <a:schemeClr val="bg2"/>
                </a:solidFill>
              </a:rPr>
              <a:t>客户投资特征分析阶段</a:t>
            </a:r>
            <a:endParaRPr kumimoji="0" lang="zh-CN" altLang="en-US" sz="2400" b="0" i="0" u="none" strike="noStrike" cap="none" spc="0" normalizeH="0" baseline="0" dirty="0">
              <a:ln>
                <a:noFill/>
              </a:ln>
              <a:solidFill>
                <a:schemeClr val="bg2"/>
              </a:solidFill>
              <a:effectLst/>
              <a:uFillTx/>
              <a:sym typeface="Arial Black"/>
            </a:endParaRPr>
          </a:p>
        </p:txBody>
      </p:sp>
    </p:spTree>
    <p:extLst>
      <p:ext uri="{BB962C8B-B14F-4D97-AF65-F5344CB8AC3E}">
        <p14:creationId xmlns:p14="http://schemas.microsoft.com/office/powerpoint/2010/main" val="1425573563"/>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a:extLst>
              <a:ext uri="{FF2B5EF4-FFF2-40B4-BE49-F238E27FC236}">
                <a16:creationId xmlns:a16="http://schemas.microsoft.com/office/drawing/2014/main" xmlns="" id="{66A08A78-6641-4204-9349-A86A4314C1B5}"/>
              </a:ext>
            </a:extLst>
          </p:cNvPr>
          <p:cNvSpPr txBox="1"/>
          <p:nvPr/>
        </p:nvSpPr>
        <p:spPr>
          <a:xfrm>
            <a:off x="723892" y="422200"/>
            <a:ext cx="6403596"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2.</a:t>
            </a:r>
            <a:r>
              <a:rPr lang="zh-CN" altLang="en-US" sz="2000" dirty="0"/>
              <a:t>智能投资组合构建和优化</a:t>
            </a:r>
            <a:endParaRPr sz="2000" dirty="0"/>
          </a:p>
        </p:txBody>
      </p:sp>
      <p:pic>
        <p:nvPicPr>
          <p:cNvPr id="6" name="Shape 403">
            <a:extLst>
              <a:ext uri="{FF2B5EF4-FFF2-40B4-BE49-F238E27FC236}">
                <a16:creationId xmlns:a16="http://schemas.microsoft.com/office/drawing/2014/main" xmlns="" id="{93EAC0C3-E663-44DE-9F07-041495032474}"/>
              </a:ext>
            </a:extLst>
          </p:cNvPr>
          <p:cNvPicPr preferRelativeResize="0">
            <a:picLocks noGrp="1"/>
          </p:cNvPicPr>
          <p:nvPr>
            <p:ph type="body" idx="1"/>
          </p:nvPr>
        </p:nvPicPr>
        <p:blipFill rotWithShape="1">
          <a:blip r:embed="rId2">
            <a:alphaModFix/>
          </a:blip>
          <a:srcRect/>
          <a:stretch/>
        </p:blipFill>
        <p:spPr>
          <a:xfrm>
            <a:off x="1574077" y="1143001"/>
            <a:ext cx="9043845" cy="4824306"/>
          </a:xfrm>
          <a:prstGeom prst="rect">
            <a:avLst/>
          </a:prstGeom>
          <a:noFill/>
          <a:ln>
            <a:noFill/>
          </a:ln>
        </p:spPr>
      </p:pic>
    </p:spTree>
    <p:extLst>
      <p:ext uri="{BB962C8B-B14F-4D97-AF65-F5344CB8AC3E}">
        <p14:creationId xmlns:p14="http://schemas.microsoft.com/office/powerpoint/2010/main" val="1215464570"/>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a:extLst>
              <a:ext uri="{FF2B5EF4-FFF2-40B4-BE49-F238E27FC236}">
                <a16:creationId xmlns:a16="http://schemas.microsoft.com/office/drawing/2014/main" xmlns="" id="{66A08A78-6641-4204-9349-A86A4314C1B5}"/>
              </a:ext>
            </a:extLst>
          </p:cNvPr>
          <p:cNvSpPr txBox="1"/>
          <p:nvPr/>
        </p:nvSpPr>
        <p:spPr>
          <a:xfrm>
            <a:off x="980373" y="422200"/>
            <a:ext cx="5890635"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3.</a:t>
            </a:r>
            <a:r>
              <a:rPr lang="zh-CN" altLang="en-US" sz="2000" dirty="0"/>
              <a:t>个性化基金产品推荐</a:t>
            </a:r>
            <a:endParaRPr sz="2000" dirty="0"/>
          </a:p>
        </p:txBody>
      </p:sp>
      <p:pic>
        <p:nvPicPr>
          <p:cNvPr id="8" name="Shape 410">
            <a:extLst>
              <a:ext uri="{FF2B5EF4-FFF2-40B4-BE49-F238E27FC236}">
                <a16:creationId xmlns:a16="http://schemas.microsoft.com/office/drawing/2014/main" xmlns="" id="{375A797E-9CA1-4D18-8B27-A019631D203C}"/>
              </a:ext>
            </a:extLst>
          </p:cNvPr>
          <p:cNvPicPr preferRelativeResize="0"/>
          <p:nvPr/>
        </p:nvPicPr>
        <p:blipFill rotWithShape="1">
          <a:blip r:embed="rId2">
            <a:alphaModFix/>
          </a:blip>
          <a:srcRect/>
          <a:stretch/>
        </p:blipFill>
        <p:spPr>
          <a:xfrm>
            <a:off x="1493713" y="1250710"/>
            <a:ext cx="8768777" cy="4356580"/>
          </a:xfrm>
          <a:prstGeom prst="rect">
            <a:avLst/>
          </a:prstGeom>
          <a:noFill/>
          <a:ln>
            <a:noFill/>
          </a:ln>
        </p:spPr>
      </p:pic>
    </p:spTree>
    <p:extLst>
      <p:ext uri="{BB962C8B-B14F-4D97-AF65-F5344CB8AC3E}">
        <p14:creationId xmlns:p14="http://schemas.microsoft.com/office/powerpoint/2010/main" val="3612425319"/>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a:extLst>
              <a:ext uri="{FF2B5EF4-FFF2-40B4-BE49-F238E27FC236}">
                <a16:creationId xmlns:a16="http://schemas.microsoft.com/office/drawing/2014/main" xmlns="" id="{66A08A78-6641-4204-9349-A86A4314C1B5}"/>
              </a:ext>
            </a:extLst>
          </p:cNvPr>
          <p:cNvSpPr txBox="1"/>
          <p:nvPr/>
        </p:nvSpPr>
        <p:spPr>
          <a:xfrm>
            <a:off x="852132" y="422200"/>
            <a:ext cx="6147116"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我们提供一站式的解决方案：</a:t>
            </a:r>
            <a:r>
              <a:rPr lang="en-US" altLang="zh-CN" sz="2000" dirty="0"/>
              <a:t>4.</a:t>
            </a:r>
            <a:r>
              <a:rPr lang="zh-CN" altLang="en-US" sz="2000" dirty="0"/>
              <a:t>高效的全终端部署架构</a:t>
            </a:r>
            <a:endParaRPr sz="2000" dirty="0"/>
          </a:p>
        </p:txBody>
      </p:sp>
      <p:pic>
        <p:nvPicPr>
          <p:cNvPr id="8" name="Shape 397">
            <a:extLst>
              <a:ext uri="{FF2B5EF4-FFF2-40B4-BE49-F238E27FC236}">
                <a16:creationId xmlns:a16="http://schemas.microsoft.com/office/drawing/2014/main" xmlns="" id="{094054F1-3467-4508-9402-E952DB92CB3E}"/>
              </a:ext>
            </a:extLst>
          </p:cNvPr>
          <p:cNvPicPr preferRelativeResize="0">
            <a:picLocks noGrp="1"/>
          </p:cNvPicPr>
          <p:nvPr>
            <p:ph type="body" idx="1"/>
          </p:nvPr>
        </p:nvPicPr>
        <p:blipFill rotWithShape="1">
          <a:blip r:embed="rId2">
            <a:alphaModFix/>
          </a:blip>
          <a:srcRect/>
          <a:stretch/>
        </p:blipFill>
        <p:spPr>
          <a:xfrm>
            <a:off x="1415267" y="1155032"/>
            <a:ext cx="8795533" cy="4547936"/>
          </a:xfrm>
          <a:prstGeom prst="rect">
            <a:avLst/>
          </a:prstGeom>
          <a:noFill/>
          <a:ln>
            <a:noFill/>
          </a:ln>
        </p:spPr>
      </p:pic>
    </p:spTree>
    <p:extLst>
      <p:ext uri="{BB962C8B-B14F-4D97-AF65-F5344CB8AC3E}">
        <p14:creationId xmlns:p14="http://schemas.microsoft.com/office/powerpoint/2010/main" val="2138171115"/>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3">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681494" y="412598"/>
            <a:ext cx="2440973"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一些商业伦理的思考</a:t>
            </a:r>
            <a:endParaRPr sz="2000" dirty="0"/>
          </a:p>
        </p:txBody>
      </p:sp>
      <p:sp>
        <p:nvSpPr>
          <p:cNvPr id="3" name="矩形 2">
            <a:extLst>
              <a:ext uri="{FF2B5EF4-FFF2-40B4-BE49-F238E27FC236}">
                <a16:creationId xmlns:a16="http://schemas.microsoft.com/office/drawing/2014/main" xmlns="" id="{B3470D6C-62AF-4544-A39C-17527B4DD757}"/>
              </a:ext>
            </a:extLst>
          </p:cNvPr>
          <p:cNvSpPr/>
          <p:nvPr/>
        </p:nvSpPr>
        <p:spPr>
          <a:xfrm>
            <a:off x="2022281" y="2019173"/>
            <a:ext cx="7503375" cy="1569660"/>
          </a:xfrm>
          <a:prstGeom prst="rect">
            <a:avLst/>
          </a:prstGeom>
        </p:spPr>
        <p:txBody>
          <a:bodyPr wrap="square">
            <a:spAutoFit/>
          </a:bodyPr>
          <a:lstStyle/>
          <a:p>
            <a:r>
              <a:rPr lang="zh-CN" altLang="en-US" sz="3200" dirty="0">
                <a:solidFill>
                  <a:schemeClr val="bg2"/>
                </a:solidFill>
              </a:rPr>
              <a:t>如何在保证用户利益的前提下，最优化銀行的利益，即提高银行在資產管理领域的市场占有率，增加销量。</a:t>
            </a:r>
          </a:p>
        </p:txBody>
      </p:sp>
    </p:spTree>
    <p:extLst>
      <p:ext uri="{BB962C8B-B14F-4D97-AF65-F5344CB8AC3E}">
        <p14:creationId xmlns:p14="http://schemas.microsoft.com/office/powerpoint/2010/main" val="2261256534"/>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0" y="0"/>
            <a:ext cx="12192000" cy="6858000"/>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2565" y="1797772"/>
            <a:ext cx="6973588"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477526"/>
            <a:ext cx="6738895" cy="128520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4000" dirty="0"/>
              <a:t>“数据驱动”：</a:t>
            </a:r>
            <a:endParaRPr lang="en-US" altLang="zh-CN" sz="4000" dirty="0"/>
          </a:p>
          <a:p>
            <a:pPr algn="l"/>
            <a:r>
              <a:rPr lang="zh-CN" altLang="en-US" sz="4000" dirty="0"/>
              <a:t>智慧信用卡最佳实践分析</a:t>
            </a:r>
            <a:endParaRPr sz="4000" dirty="0"/>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7" name="Rectangle 6"/>
          <p:cNvSpPr/>
          <p:nvPr/>
        </p:nvSpPr>
        <p:spPr>
          <a:xfrm>
            <a:off x="1901434" y="5141728"/>
            <a:ext cx="10101262" cy="584775"/>
          </a:xfrm>
          <a:prstGeom prst="rect">
            <a:avLst/>
          </a:prstGeom>
        </p:spPr>
        <p:txBody>
          <a:bodyPr wrap="square">
            <a:spAutoFit/>
          </a:bodyPr>
          <a:lstStyle/>
          <a:p>
            <a:pPr algn="l"/>
            <a:r>
              <a:rPr lang="zh-CN" altLang="en-US" sz="1600" dirty="0">
                <a:solidFill>
                  <a:schemeClr val="accent1">
                    <a:lumMod val="50000"/>
                  </a:schemeClr>
                </a:solidFill>
              </a:rPr>
              <a:t>未来消费金融的发展，技术驱动的特征会愈发明显，新型机构与传统机构之间的合作也会越来越多。</a:t>
            </a:r>
            <a:endParaRPr lang="en-US" altLang="zh-CN" sz="1600" dirty="0">
              <a:solidFill>
                <a:schemeClr val="accent1">
                  <a:lumMod val="50000"/>
                </a:schemeClr>
              </a:solidFill>
            </a:endParaRPr>
          </a:p>
          <a:p>
            <a:pPr algn="l"/>
            <a:r>
              <a:rPr lang="zh-CN" altLang="en-US" sz="1600" dirty="0">
                <a:solidFill>
                  <a:schemeClr val="accent1">
                    <a:lumMod val="50000"/>
                  </a:schemeClr>
                </a:solidFill>
                <a:latin typeface="NotoSansCJKsc" charset="0"/>
              </a:rPr>
              <a:t>                                                                                                                                                </a:t>
            </a:r>
            <a:r>
              <a:rPr lang="en-US" altLang="zh-CN" sz="1600" dirty="0">
                <a:solidFill>
                  <a:schemeClr val="accent1">
                    <a:lumMod val="50000"/>
                  </a:schemeClr>
                </a:solidFill>
                <a:latin typeface="NotoSansCJKsc" charset="0"/>
              </a:rPr>
              <a:t>——</a:t>
            </a:r>
            <a:r>
              <a:rPr lang="zh-CN" altLang="en-US" sz="1600" i="1" dirty="0">
                <a:solidFill>
                  <a:schemeClr val="accent1">
                    <a:lumMod val="50000"/>
                  </a:schemeClr>
                </a:solidFill>
                <a:latin typeface="NotoSansCJKsc" charset="0"/>
              </a:rPr>
              <a:t>中国互联网金融协会</a:t>
            </a:r>
            <a:endParaRPr lang="zh-CN" altLang="en-US" sz="1600" i="1" dirty="0">
              <a:solidFill>
                <a:schemeClr val="accent1">
                  <a:lumMod val="50000"/>
                </a:schemeClr>
              </a:solidFill>
            </a:endParaRPr>
          </a:p>
        </p:txBody>
      </p:sp>
    </p:spTree>
    <p:extLst>
      <p:ext uri="{BB962C8B-B14F-4D97-AF65-F5344CB8AC3E}">
        <p14:creationId xmlns:p14="http://schemas.microsoft.com/office/powerpoint/2010/main" val="1144319711"/>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圆角 30">
            <a:extLst>
              <a:ext uri="{FF2B5EF4-FFF2-40B4-BE49-F238E27FC236}">
                <a16:creationId xmlns:a16="http://schemas.microsoft.com/office/drawing/2014/main" xmlns="" id="{34C73D02-50C8-4AF7-8A83-152E0CF63FA8}"/>
              </a:ext>
            </a:extLst>
          </p:cNvPr>
          <p:cNvSpPr/>
          <p:nvPr/>
        </p:nvSpPr>
        <p:spPr>
          <a:xfrm>
            <a:off x="8272150" y="2151828"/>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 name="矩形: 圆角 2">
            <a:extLst>
              <a:ext uri="{FF2B5EF4-FFF2-40B4-BE49-F238E27FC236}">
                <a16:creationId xmlns:a16="http://schemas.microsoft.com/office/drawing/2014/main" xmlns="" id="{1A3B1DEF-CC13-46F1-A6AF-FDAD267BB7D3}"/>
              </a:ext>
            </a:extLst>
          </p:cNvPr>
          <p:cNvSpPr/>
          <p:nvPr/>
        </p:nvSpPr>
        <p:spPr>
          <a:xfrm>
            <a:off x="4957043" y="2164271"/>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871205" y="412557"/>
            <a:ext cx="2875386"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smtClean="0"/>
              <a:t>智能信用卡業務整体</a:t>
            </a:r>
            <a:r>
              <a:rPr lang="zh-CN" altLang="en-US" sz="2000" dirty="0"/>
              <a:t>概览</a:t>
            </a:r>
            <a:endParaRPr sz="2000" dirty="0"/>
          </a:p>
        </p:txBody>
      </p:sp>
      <p:grpSp>
        <p:nvGrpSpPr>
          <p:cNvPr id="29" name="组合 28">
            <a:extLst>
              <a:ext uri="{FF2B5EF4-FFF2-40B4-BE49-F238E27FC236}">
                <a16:creationId xmlns:a16="http://schemas.microsoft.com/office/drawing/2014/main" xmlns="" id="{E0049AAC-93F7-405A-BB65-F3B59F5E5CE4}"/>
              </a:ext>
            </a:extLst>
          </p:cNvPr>
          <p:cNvGrpSpPr/>
          <p:nvPr/>
        </p:nvGrpSpPr>
        <p:grpSpPr>
          <a:xfrm>
            <a:off x="1577132" y="1369383"/>
            <a:ext cx="9286812" cy="3456000"/>
            <a:chOff x="1577132" y="1784254"/>
            <a:chExt cx="9286812" cy="3456000"/>
          </a:xfrm>
        </p:grpSpPr>
        <p:sp>
          <p:nvSpPr>
            <p:cNvPr id="2" name="矩形 1">
              <a:extLst>
                <a:ext uri="{FF2B5EF4-FFF2-40B4-BE49-F238E27FC236}">
                  <a16:creationId xmlns:a16="http://schemas.microsoft.com/office/drawing/2014/main" xmlns="" id="{BDE5AAF6-9428-441F-8AC8-32A55BCD5CA3}"/>
                </a:ext>
              </a:extLst>
            </p:cNvPr>
            <p:cNvSpPr/>
            <p:nvPr/>
          </p:nvSpPr>
          <p:spPr>
            <a:xfrm>
              <a:off x="5109776" y="2720575"/>
              <a:ext cx="2133594" cy="269545"/>
            </a:xfrm>
            <a:prstGeom prst="rect">
              <a:avLst/>
            </a:prstGeom>
            <a:solidFill>
              <a:schemeClr val="accent6"/>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准入模型</a:t>
              </a:r>
            </a:p>
          </p:txBody>
        </p:sp>
        <p:sp>
          <p:nvSpPr>
            <p:cNvPr id="44" name="矩形 43">
              <a:extLst>
                <a:ext uri="{FF2B5EF4-FFF2-40B4-BE49-F238E27FC236}">
                  <a16:creationId xmlns:a16="http://schemas.microsoft.com/office/drawing/2014/main" xmlns="" id="{0C4B604C-3DEB-420F-9468-46F2B126E46F}"/>
                </a:ext>
              </a:extLst>
            </p:cNvPr>
            <p:cNvSpPr/>
            <p:nvPr/>
          </p:nvSpPr>
          <p:spPr>
            <a:xfrm>
              <a:off x="5109776" y="3899688"/>
              <a:ext cx="2133594" cy="269545"/>
            </a:xfrm>
            <a:prstGeom prst="rect">
              <a:avLst/>
            </a:prstGeom>
            <a:solidFill>
              <a:schemeClr val="accent2">
                <a:lumMod val="40000"/>
                <a:lumOff val="60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新</a:t>
              </a: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客户</a:t>
              </a:r>
              <a:r>
                <a:rPr lang="zh-CN" altLang="en-US" sz="1400" dirty="0" smtClean="0">
                  <a:solidFill>
                    <a:srgbClr val="232323"/>
                  </a:solidFill>
                  <a:latin typeface="+mn-lt"/>
                  <a:ea typeface="+mn-ea"/>
                  <a:cs typeface="+mn-cs"/>
                  <a:sym typeface="Helvetica Neue Medium"/>
                </a:rPr>
                <a:t>收益</a:t>
              </a: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模型</a:t>
              </a:r>
              <a:endParaRPr kumimoji="0" lang="zh-CN" altLang="en-US" sz="1400" b="0" i="0" u="none" strike="noStrike" cap="none" spc="0" normalizeH="0" baseline="0" dirty="0">
                <a:ln>
                  <a:noFill/>
                </a:ln>
                <a:solidFill>
                  <a:srgbClr val="232323"/>
                </a:solidFill>
                <a:effectLst/>
                <a:uFillTx/>
                <a:latin typeface="+mn-lt"/>
                <a:ea typeface="+mn-ea"/>
                <a:cs typeface="+mn-cs"/>
                <a:sym typeface="Helvetica Neue Medium"/>
              </a:endParaRPr>
            </a:p>
          </p:txBody>
        </p:sp>
        <p:sp>
          <p:nvSpPr>
            <p:cNvPr id="45" name="矩形 44">
              <a:extLst>
                <a:ext uri="{FF2B5EF4-FFF2-40B4-BE49-F238E27FC236}">
                  <a16:creationId xmlns:a16="http://schemas.microsoft.com/office/drawing/2014/main" xmlns="" id="{2AF13813-D65B-4CFD-A8B0-093CCD3B5016}"/>
                </a:ext>
              </a:extLst>
            </p:cNvPr>
            <p:cNvSpPr/>
            <p:nvPr/>
          </p:nvSpPr>
          <p:spPr>
            <a:xfrm>
              <a:off x="5109776" y="3310134"/>
              <a:ext cx="2133594" cy="269545"/>
            </a:xfrm>
            <a:prstGeom prst="rect">
              <a:avLst/>
            </a:prstGeom>
            <a:solidFill>
              <a:schemeClr val="accent4">
                <a:lumMod val="40000"/>
                <a:lumOff val="60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初始授信额度模型</a:t>
              </a:r>
            </a:p>
          </p:txBody>
        </p:sp>
        <p:sp>
          <p:nvSpPr>
            <p:cNvPr id="49" name="矩形 48">
              <a:extLst>
                <a:ext uri="{FF2B5EF4-FFF2-40B4-BE49-F238E27FC236}">
                  <a16:creationId xmlns:a16="http://schemas.microsoft.com/office/drawing/2014/main" xmlns="" id="{ADF8A85F-57E5-48C9-9BBD-AE96F1EA8B7C}"/>
                </a:ext>
              </a:extLst>
            </p:cNvPr>
            <p:cNvSpPr/>
            <p:nvPr/>
          </p:nvSpPr>
          <p:spPr>
            <a:xfrm>
              <a:off x="8438411" y="2795778"/>
              <a:ext cx="2133594" cy="269545"/>
            </a:xfrm>
            <a:prstGeom prst="rect">
              <a:avLst/>
            </a:prstGeom>
            <a:solidFill>
              <a:schemeClr val="accent1">
                <a:lumMod val="40000"/>
                <a:lumOff val="60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贷后额度管理模型</a:t>
              </a:r>
            </a:p>
          </p:txBody>
        </p:sp>
        <p:sp>
          <p:nvSpPr>
            <p:cNvPr id="51" name="矩形 50">
              <a:extLst>
                <a:ext uri="{FF2B5EF4-FFF2-40B4-BE49-F238E27FC236}">
                  <a16:creationId xmlns:a16="http://schemas.microsoft.com/office/drawing/2014/main" xmlns="" id="{82CBED5F-ADD4-439E-BEA0-3A3A8C6F23B1}"/>
                </a:ext>
              </a:extLst>
            </p:cNvPr>
            <p:cNvSpPr/>
            <p:nvPr/>
          </p:nvSpPr>
          <p:spPr>
            <a:xfrm>
              <a:off x="8424123" y="3356759"/>
              <a:ext cx="2133594" cy="269545"/>
            </a:xfrm>
            <a:prstGeom prst="rect">
              <a:avLst/>
            </a:prstGeom>
            <a:solidFill>
              <a:schemeClr val="accent5">
                <a:lumMod val="20000"/>
                <a:lumOff val="80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存量</a:t>
              </a: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客户</a:t>
              </a:r>
              <a:r>
                <a:rPr lang="zh-CN" altLang="en-US" sz="1400" dirty="0" smtClean="0">
                  <a:solidFill>
                    <a:srgbClr val="232323"/>
                  </a:solidFill>
                  <a:latin typeface="+mn-lt"/>
                  <a:ea typeface="+mn-ea"/>
                  <a:cs typeface="+mn-cs"/>
                  <a:sym typeface="Helvetica Neue Medium"/>
                </a:rPr>
                <a:t>收益</a:t>
              </a: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模型</a:t>
              </a:r>
              <a:endParaRPr kumimoji="0" lang="zh-CN" altLang="en-US" sz="1400" b="0" i="0" u="none" strike="noStrike" cap="none" spc="0" normalizeH="0" baseline="0" dirty="0">
                <a:ln>
                  <a:noFill/>
                </a:ln>
                <a:solidFill>
                  <a:srgbClr val="232323"/>
                </a:solidFill>
                <a:effectLst/>
                <a:uFillTx/>
                <a:latin typeface="+mn-lt"/>
                <a:ea typeface="+mn-ea"/>
                <a:cs typeface="+mn-cs"/>
                <a:sym typeface="Helvetica Neue Medium"/>
              </a:endParaRPr>
            </a:p>
          </p:txBody>
        </p:sp>
        <p:sp>
          <p:nvSpPr>
            <p:cNvPr id="52" name="矩形 51">
              <a:extLst>
                <a:ext uri="{FF2B5EF4-FFF2-40B4-BE49-F238E27FC236}">
                  <a16:creationId xmlns:a16="http://schemas.microsoft.com/office/drawing/2014/main" xmlns="" id="{65BAF368-8168-43AF-9D8E-B99743D187F5}"/>
                </a:ext>
              </a:extLst>
            </p:cNvPr>
            <p:cNvSpPr/>
            <p:nvPr/>
          </p:nvSpPr>
          <p:spPr>
            <a:xfrm>
              <a:off x="8452699" y="3889162"/>
              <a:ext cx="2133594" cy="269545"/>
            </a:xfrm>
            <a:prstGeom prst="rect">
              <a:avLst/>
            </a:prstGeom>
            <a:solidFill>
              <a:schemeClr val="accent2">
                <a:lumMod val="20000"/>
                <a:lumOff val="80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smtClean="0">
                  <a:solidFill>
                    <a:srgbClr val="232323"/>
                  </a:solidFill>
                  <a:latin typeface="+mn-lt"/>
                  <a:ea typeface="+mn-ea"/>
                  <a:cs typeface="+mn-cs"/>
                  <a:sym typeface="Helvetica Neue Medium"/>
                </a:rPr>
                <a:t>贷后</a:t>
              </a: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风险</a:t>
              </a: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管理模型</a:t>
              </a:r>
            </a:p>
          </p:txBody>
        </p:sp>
        <p:cxnSp>
          <p:nvCxnSpPr>
            <p:cNvPr id="4" name="直接箭头连接符 3">
              <a:extLst>
                <a:ext uri="{FF2B5EF4-FFF2-40B4-BE49-F238E27FC236}">
                  <a16:creationId xmlns:a16="http://schemas.microsoft.com/office/drawing/2014/main" xmlns="" id="{8489FFB7-4277-47ED-9774-540977D035FA}"/>
                </a:ext>
              </a:extLst>
            </p:cNvPr>
            <p:cNvCxnSpPr>
              <a:cxnSpLocks/>
            </p:cNvCxnSpPr>
            <p:nvPr/>
          </p:nvCxnSpPr>
          <p:spPr>
            <a:xfrm>
              <a:off x="1738276" y="2423754"/>
              <a:ext cx="9060353" cy="0"/>
            </a:xfrm>
            <a:prstGeom prst="straightConnector1">
              <a:avLst/>
            </a:prstGeom>
            <a:noFill/>
            <a:ln w="3175" cap="flat">
              <a:solidFill>
                <a:srgbClr val="D4A344"/>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 name="矩形 4">
              <a:extLst>
                <a:ext uri="{FF2B5EF4-FFF2-40B4-BE49-F238E27FC236}">
                  <a16:creationId xmlns:a16="http://schemas.microsoft.com/office/drawing/2014/main" xmlns="" id="{29CB0145-0835-48F8-94D1-F42394D63B22}"/>
                </a:ext>
              </a:extLst>
            </p:cNvPr>
            <p:cNvSpPr/>
            <p:nvPr/>
          </p:nvSpPr>
          <p:spPr>
            <a:xfrm>
              <a:off x="1738276" y="2013021"/>
              <a:ext cx="2133588" cy="269545"/>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FFFFFF"/>
                  </a:solidFill>
                  <a:effectLst/>
                  <a:uFillTx/>
                  <a:latin typeface="+mn-lt"/>
                  <a:ea typeface="+mn-ea"/>
                  <a:cs typeface="+mn-cs"/>
                  <a:sym typeface="Helvetica Neue Medium"/>
                </a:rPr>
                <a:t>贷前</a:t>
              </a:r>
            </a:p>
          </p:txBody>
        </p:sp>
        <p:sp>
          <p:nvSpPr>
            <p:cNvPr id="55" name="矩形 54">
              <a:extLst>
                <a:ext uri="{FF2B5EF4-FFF2-40B4-BE49-F238E27FC236}">
                  <a16:creationId xmlns:a16="http://schemas.microsoft.com/office/drawing/2014/main" xmlns="" id="{EE6FCE5C-E815-4AB7-B458-880B945BA009}"/>
                </a:ext>
              </a:extLst>
            </p:cNvPr>
            <p:cNvSpPr/>
            <p:nvPr/>
          </p:nvSpPr>
          <p:spPr>
            <a:xfrm>
              <a:off x="5109782" y="1990716"/>
              <a:ext cx="2133588" cy="269545"/>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FFFFFF"/>
                  </a:solidFill>
                  <a:effectLst/>
                  <a:uFillTx/>
                  <a:latin typeface="+mn-lt"/>
                  <a:ea typeface="+mn-ea"/>
                  <a:cs typeface="+mn-cs"/>
                  <a:sym typeface="Helvetica Neue Medium"/>
                </a:rPr>
                <a:t>贷中</a:t>
              </a:r>
            </a:p>
          </p:txBody>
        </p:sp>
        <p:sp>
          <p:nvSpPr>
            <p:cNvPr id="56" name="矩形 55">
              <a:extLst>
                <a:ext uri="{FF2B5EF4-FFF2-40B4-BE49-F238E27FC236}">
                  <a16:creationId xmlns:a16="http://schemas.microsoft.com/office/drawing/2014/main" xmlns="" id="{C4C652AA-3F9B-4D59-99DC-5986859EE368}"/>
                </a:ext>
              </a:extLst>
            </p:cNvPr>
            <p:cNvSpPr/>
            <p:nvPr/>
          </p:nvSpPr>
          <p:spPr>
            <a:xfrm>
              <a:off x="8458316" y="2013020"/>
              <a:ext cx="2133588" cy="269545"/>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rgbClr val="FFFFFF"/>
                  </a:solidFill>
                  <a:effectLst/>
                  <a:uFillTx/>
                  <a:latin typeface="+mn-lt"/>
                  <a:ea typeface="+mn-ea"/>
                  <a:cs typeface="+mn-cs"/>
                  <a:sym typeface="Helvetica Neue Medium"/>
                </a:rPr>
                <a:t>贷后</a:t>
              </a:r>
            </a:p>
          </p:txBody>
        </p:sp>
        <p:sp>
          <p:nvSpPr>
            <p:cNvPr id="28" name="矩形 27">
              <a:extLst>
                <a:ext uri="{FF2B5EF4-FFF2-40B4-BE49-F238E27FC236}">
                  <a16:creationId xmlns:a16="http://schemas.microsoft.com/office/drawing/2014/main" xmlns="" id="{BAE0C401-9E43-4D5F-9DBB-6A32F6E463B4}"/>
                </a:ext>
              </a:extLst>
            </p:cNvPr>
            <p:cNvSpPr/>
            <p:nvPr/>
          </p:nvSpPr>
          <p:spPr>
            <a:xfrm>
              <a:off x="1577132" y="1784254"/>
              <a:ext cx="9286812" cy="3456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24" name="矩形: 圆角 2">
            <a:extLst>
              <a:ext uri="{FF2B5EF4-FFF2-40B4-BE49-F238E27FC236}">
                <a16:creationId xmlns:a16="http://schemas.microsoft.com/office/drawing/2014/main" xmlns="" id="{1A3B1DEF-CC13-46F1-A6AF-FDAD267BB7D3}"/>
              </a:ext>
            </a:extLst>
          </p:cNvPr>
          <p:cNvSpPr/>
          <p:nvPr/>
        </p:nvSpPr>
        <p:spPr>
          <a:xfrm>
            <a:off x="1609533" y="2165874"/>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5" name="矩形 52">
            <a:extLst>
              <a:ext uri="{FF2B5EF4-FFF2-40B4-BE49-F238E27FC236}">
                <a16:creationId xmlns:a16="http://schemas.microsoft.com/office/drawing/2014/main" xmlns="" id="{698A47B0-4029-40F9-8318-429D9AB8964C}"/>
              </a:ext>
            </a:extLst>
          </p:cNvPr>
          <p:cNvSpPr/>
          <p:nvPr/>
        </p:nvSpPr>
        <p:spPr>
          <a:xfrm>
            <a:off x="1738276" y="2285155"/>
            <a:ext cx="2133594" cy="269545"/>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rgbClr val="232323"/>
                </a:solidFill>
                <a:latin typeface="+mn-lt"/>
                <a:ea typeface="+mn-ea"/>
                <a:cs typeface="+mn-cs"/>
                <a:sym typeface="Helvetica Neue Medium"/>
              </a:rPr>
              <a:t>获客</a:t>
            </a:r>
            <a:r>
              <a:rPr kumimoji="0" lang="zh-CN" altLang="en-US" sz="1400" b="0" i="0" u="none" strike="noStrike" cap="none" spc="0" normalizeH="0" baseline="0" dirty="0">
                <a:ln>
                  <a:noFill/>
                </a:ln>
                <a:solidFill>
                  <a:srgbClr val="232323"/>
                </a:solidFill>
                <a:effectLst/>
                <a:uFillTx/>
                <a:latin typeface="+mn-lt"/>
                <a:ea typeface="+mn-ea"/>
                <a:cs typeface="+mn-cs"/>
                <a:sym typeface="Helvetica Neue Medium"/>
              </a:rPr>
              <a:t>营销</a:t>
            </a:r>
          </a:p>
        </p:txBody>
      </p:sp>
      <p:sp>
        <p:nvSpPr>
          <p:cNvPr id="26" name="矩形 53">
            <a:extLst>
              <a:ext uri="{FF2B5EF4-FFF2-40B4-BE49-F238E27FC236}">
                <a16:creationId xmlns:a16="http://schemas.microsoft.com/office/drawing/2014/main" xmlns="" id="{4C3EB63C-BC8B-4783-ACFC-639471847CE2}"/>
              </a:ext>
            </a:extLst>
          </p:cNvPr>
          <p:cNvSpPr/>
          <p:nvPr/>
        </p:nvSpPr>
        <p:spPr>
          <a:xfrm>
            <a:off x="1738276" y="2974726"/>
            <a:ext cx="2133594" cy="269545"/>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smtClean="0">
                <a:solidFill>
                  <a:srgbClr val="232323"/>
                </a:solidFill>
                <a:latin typeface="+mn-lt"/>
                <a:ea typeface="+mn-ea"/>
                <a:cs typeface="+mn-cs"/>
                <a:sym typeface="Helvetica Neue Medium"/>
              </a:rPr>
              <a:t>新客户</a:t>
            </a:r>
            <a:r>
              <a:rPr lang="zh-CN" altLang="en-US" sz="1400" dirty="0">
                <a:solidFill>
                  <a:srgbClr val="232323"/>
                </a:solidFill>
                <a:latin typeface="+mn-lt"/>
                <a:ea typeface="+mn-ea"/>
                <a:cs typeface="+mn-cs"/>
                <a:sym typeface="Helvetica Neue Medium"/>
              </a:rPr>
              <a:t>申请</a:t>
            </a:r>
            <a:endParaRPr kumimoji="0" lang="zh-CN" altLang="en-US" sz="1400" b="0" i="0" u="none" strike="noStrike" cap="none" spc="0" normalizeH="0" baseline="0" dirty="0">
              <a:ln>
                <a:noFill/>
              </a:ln>
              <a:solidFill>
                <a:srgbClr val="232323"/>
              </a:solidFill>
              <a:effectLst/>
              <a:uFillTx/>
              <a:latin typeface="+mn-lt"/>
              <a:ea typeface="+mn-ea"/>
              <a:cs typeface="+mn-cs"/>
              <a:sym typeface="Helvetica Neue Medium"/>
            </a:endParaRPr>
          </a:p>
        </p:txBody>
      </p:sp>
      <p:cxnSp>
        <p:nvCxnSpPr>
          <p:cNvPr id="27" name="直接箭头连接符 7">
            <a:extLst>
              <a:ext uri="{FF2B5EF4-FFF2-40B4-BE49-F238E27FC236}">
                <a16:creationId xmlns:a16="http://schemas.microsoft.com/office/drawing/2014/main" xmlns="" id="{C755EEC8-5D8F-4425-9544-826B4F43ACC3}"/>
              </a:ext>
            </a:extLst>
          </p:cNvPr>
          <p:cNvCxnSpPr/>
          <p:nvPr/>
        </p:nvCxnSpPr>
        <p:spPr>
          <a:xfrm>
            <a:off x="2805073" y="2554700"/>
            <a:ext cx="0" cy="420026"/>
          </a:xfrm>
          <a:prstGeom prst="straightConnector1">
            <a:avLst/>
          </a:prstGeom>
          <a:noFill/>
          <a:ln w="3175" cap="flat">
            <a:solidFill>
              <a:srgbClr val="D4A344"/>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 name="Straight Arrow Connector 12"/>
          <p:cNvCxnSpPr>
            <a:stCxn id="24" idx="3"/>
            <a:endCxn id="3" idx="1"/>
          </p:cNvCxnSpPr>
          <p:nvPr/>
        </p:nvCxnSpPr>
        <p:spPr>
          <a:xfrm flipV="1">
            <a:off x="4048594" y="3424271"/>
            <a:ext cx="908449" cy="1603"/>
          </a:xfrm>
          <a:prstGeom prst="straightConnector1">
            <a:avLst/>
          </a:prstGeom>
          <a:noFill/>
          <a:ln w="3175" cap="flat">
            <a:solidFill>
              <a:srgbClr val="D4A344"/>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5" name="Straight Arrow Connector 14"/>
          <p:cNvCxnSpPr>
            <a:stCxn id="3" idx="3"/>
            <a:endCxn id="31" idx="1"/>
          </p:cNvCxnSpPr>
          <p:nvPr/>
        </p:nvCxnSpPr>
        <p:spPr>
          <a:xfrm flipV="1">
            <a:off x="7396104" y="3411828"/>
            <a:ext cx="876046" cy="12443"/>
          </a:xfrm>
          <a:prstGeom prst="straightConnector1">
            <a:avLst/>
          </a:prstGeom>
          <a:noFill/>
          <a:ln w="3175" cap="flat">
            <a:solidFill>
              <a:srgbClr val="D4A344"/>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7" name="矩形 43">
            <a:extLst>
              <a:ext uri="{FF2B5EF4-FFF2-40B4-BE49-F238E27FC236}">
                <a16:creationId xmlns:a16="http://schemas.microsoft.com/office/drawing/2014/main" xmlns="" id="{0C4B604C-3DEB-420F-9468-46F2B126E46F}"/>
              </a:ext>
            </a:extLst>
          </p:cNvPr>
          <p:cNvSpPr/>
          <p:nvPr/>
        </p:nvSpPr>
        <p:spPr>
          <a:xfrm>
            <a:off x="5119300" y="4016722"/>
            <a:ext cx="2133594" cy="269545"/>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smtClean="0">
                <a:solidFill>
                  <a:srgbClr val="232323"/>
                </a:solidFill>
                <a:latin typeface="+mn-lt"/>
                <a:ea typeface="+mn-ea"/>
                <a:cs typeface="+mn-cs"/>
                <a:sym typeface="Helvetica Neue Medium"/>
              </a:rPr>
              <a:t>申请反欺诈</a:t>
            </a: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模型</a:t>
            </a:r>
            <a:endParaRPr kumimoji="0" lang="zh-CN" altLang="en-US" sz="1400" b="0" i="0" u="none" strike="noStrike" cap="none" spc="0" normalizeH="0" baseline="0" dirty="0">
              <a:ln>
                <a:noFill/>
              </a:ln>
              <a:solidFill>
                <a:srgbClr val="232323"/>
              </a:solidFill>
              <a:effectLst/>
              <a:uFillTx/>
              <a:latin typeface="+mn-lt"/>
              <a:ea typeface="+mn-ea"/>
              <a:cs typeface="+mn-cs"/>
              <a:sym typeface="Helvetica Neue Medium"/>
            </a:endParaRPr>
          </a:p>
        </p:txBody>
      </p:sp>
      <p:sp>
        <p:nvSpPr>
          <p:cNvPr id="38" name="矩形 43">
            <a:extLst>
              <a:ext uri="{FF2B5EF4-FFF2-40B4-BE49-F238E27FC236}">
                <a16:creationId xmlns:a16="http://schemas.microsoft.com/office/drawing/2014/main" xmlns="" id="{0C4B604C-3DEB-420F-9468-46F2B126E46F}"/>
              </a:ext>
            </a:extLst>
          </p:cNvPr>
          <p:cNvSpPr/>
          <p:nvPr/>
        </p:nvSpPr>
        <p:spPr>
          <a:xfrm>
            <a:off x="8462594" y="4002439"/>
            <a:ext cx="2133594" cy="269545"/>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smtClean="0">
                <a:ln>
                  <a:noFill/>
                </a:ln>
                <a:solidFill>
                  <a:srgbClr val="232323"/>
                </a:solidFill>
                <a:effectLst/>
                <a:uFillTx/>
                <a:latin typeface="+mn-lt"/>
                <a:ea typeface="+mn-ea"/>
                <a:cs typeface="+mn-cs"/>
                <a:sym typeface="Helvetica Neue Medium"/>
              </a:rPr>
              <a:t>交易欺诈模型</a:t>
            </a:r>
            <a:endParaRPr kumimoji="0" lang="zh-CN" altLang="en-US" sz="1400" b="0" i="0" u="none" strike="noStrike" cap="none" spc="0" normalizeH="0" baseline="0" dirty="0">
              <a:ln>
                <a:noFill/>
              </a:ln>
              <a:solidFill>
                <a:srgbClr val="232323"/>
              </a:solidFill>
              <a:effectLst/>
              <a:uFillTx/>
              <a:latin typeface="+mn-lt"/>
              <a:ea typeface="+mn-ea"/>
              <a:cs typeface="+mn-cs"/>
              <a:sym typeface="Helvetica Neue Medium"/>
            </a:endParaRPr>
          </a:p>
        </p:txBody>
      </p:sp>
    </p:spTree>
    <p:extLst>
      <p:ext uri="{BB962C8B-B14F-4D97-AF65-F5344CB8AC3E}">
        <p14:creationId xmlns:p14="http://schemas.microsoft.com/office/powerpoint/2010/main" val="2928550701"/>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069735" y="763384"/>
            <a:ext cx="4970512"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智能计算将</a:t>
            </a:r>
            <a:r>
              <a:rPr lang="zh-CN" altLang="en-US" sz="2000" dirty="0" smtClean="0"/>
              <a:t>为信贷周期各模型</a:t>
            </a:r>
            <a:r>
              <a:rPr lang="zh-CN" altLang="en-US" sz="2000" dirty="0"/>
              <a:t>注入全新活力</a:t>
            </a:r>
            <a:endParaRPr sz="2000" dirty="0"/>
          </a:p>
        </p:txBody>
      </p:sp>
      <p:sp>
        <p:nvSpPr>
          <p:cNvPr id="23" name="矩形: 圆角 2">
            <a:extLst>
              <a:ext uri="{FF2B5EF4-FFF2-40B4-BE49-F238E27FC236}">
                <a16:creationId xmlns:a16="http://schemas.microsoft.com/office/drawing/2014/main" xmlns="" id="{1A3B1DEF-CC13-46F1-A6AF-FDAD267BB7D3}"/>
              </a:ext>
            </a:extLst>
          </p:cNvPr>
          <p:cNvSpPr/>
          <p:nvPr/>
        </p:nvSpPr>
        <p:spPr>
          <a:xfrm>
            <a:off x="1695266" y="1308624"/>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8" name="TextBox 27"/>
          <p:cNvSpPr txBox="1"/>
          <p:nvPr/>
        </p:nvSpPr>
        <p:spPr>
          <a:xfrm>
            <a:off x="1978965" y="1411134"/>
            <a:ext cx="1871662" cy="300322"/>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600" dirty="0">
                <a:solidFill>
                  <a:schemeClr val="bg2"/>
                </a:solidFill>
                <a:latin typeface="PingFang SC Light"/>
              </a:rPr>
              <a:t>准入模型</a:t>
            </a:r>
            <a:endParaRPr kumimoji="0" lang="en-US" sz="1600" b="0" i="0" u="none" strike="noStrike" cap="none" spc="0" normalizeH="0" baseline="0" dirty="0">
              <a:ln>
                <a:noFill/>
              </a:ln>
              <a:solidFill>
                <a:srgbClr val="FFFFFF"/>
              </a:solidFill>
              <a:effectLst/>
              <a:uFillTx/>
              <a:sym typeface="Arial Black"/>
            </a:endParaRPr>
          </a:p>
        </p:txBody>
      </p:sp>
      <p:sp>
        <p:nvSpPr>
          <p:cNvPr id="31" name="矩形: 圆角 2">
            <a:extLst>
              <a:ext uri="{FF2B5EF4-FFF2-40B4-BE49-F238E27FC236}">
                <a16:creationId xmlns:a16="http://schemas.microsoft.com/office/drawing/2014/main" xmlns="" id="{1A3B1DEF-CC13-46F1-A6AF-FDAD267BB7D3}"/>
              </a:ext>
            </a:extLst>
          </p:cNvPr>
          <p:cNvSpPr/>
          <p:nvPr/>
        </p:nvSpPr>
        <p:spPr>
          <a:xfrm>
            <a:off x="4689492" y="1308624"/>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9" name="矩形: 圆角 2">
            <a:extLst>
              <a:ext uri="{FF2B5EF4-FFF2-40B4-BE49-F238E27FC236}">
                <a16:creationId xmlns:a16="http://schemas.microsoft.com/office/drawing/2014/main" xmlns="" id="{1A3B1DEF-CC13-46F1-A6AF-FDAD267BB7D3}"/>
              </a:ext>
            </a:extLst>
          </p:cNvPr>
          <p:cNvSpPr/>
          <p:nvPr/>
        </p:nvSpPr>
        <p:spPr>
          <a:xfrm>
            <a:off x="7769442" y="1305295"/>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45" name="TextBox 44"/>
          <p:cNvSpPr txBox="1"/>
          <p:nvPr/>
        </p:nvSpPr>
        <p:spPr>
          <a:xfrm>
            <a:off x="4973191" y="1411134"/>
            <a:ext cx="1871662" cy="300322"/>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600" dirty="0">
                <a:solidFill>
                  <a:schemeClr val="bg2"/>
                </a:solidFill>
                <a:latin typeface="PingFang SC Light"/>
              </a:rPr>
              <a:t>初始授信额度模型</a:t>
            </a:r>
            <a:endParaRPr kumimoji="0" lang="en-US" sz="1600" b="0" i="0" u="none" strike="noStrike" cap="none" spc="0" normalizeH="0" baseline="0" dirty="0">
              <a:ln>
                <a:noFill/>
              </a:ln>
              <a:solidFill>
                <a:srgbClr val="FFFFFF"/>
              </a:solidFill>
              <a:effectLst/>
              <a:uFillTx/>
              <a:sym typeface="Arial Black"/>
            </a:endParaRPr>
          </a:p>
        </p:txBody>
      </p:sp>
      <p:sp>
        <p:nvSpPr>
          <p:cNvPr id="48" name="Rectangle 47"/>
          <p:cNvSpPr/>
          <p:nvPr/>
        </p:nvSpPr>
        <p:spPr>
          <a:xfrm>
            <a:off x="4744585" y="1711456"/>
            <a:ext cx="2260009" cy="1274195"/>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1600" dirty="0">
                <a:solidFill>
                  <a:schemeClr val="bg2"/>
                </a:solidFill>
                <a:latin typeface="PingFang SC Light"/>
              </a:rPr>
              <a:t>智能计算将收集到的各种特征进行初始授信额度决策，实现快速放贷。</a:t>
            </a:r>
            <a:endParaRPr lang="en-US" altLang="zh-CN" sz="1600" dirty="0">
              <a:solidFill>
                <a:schemeClr val="bg2"/>
              </a:solidFill>
              <a:latin typeface="PingFang SC Light"/>
            </a:endParaRPr>
          </a:p>
        </p:txBody>
      </p:sp>
      <p:sp>
        <p:nvSpPr>
          <p:cNvPr id="49" name="TextBox 48"/>
          <p:cNvSpPr txBox="1"/>
          <p:nvPr/>
        </p:nvSpPr>
        <p:spPr>
          <a:xfrm>
            <a:off x="8053141" y="1411134"/>
            <a:ext cx="1871662" cy="300322"/>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600" dirty="0">
                <a:solidFill>
                  <a:schemeClr val="bg2"/>
                </a:solidFill>
                <a:latin typeface="PingFang SC Light"/>
              </a:rPr>
              <a:t>新客户估价模型</a:t>
            </a:r>
            <a:endParaRPr kumimoji="0" lang="en-US" sz="1600" b="0" i="0" u="none" strike="noStrike" cap="none" spc="0" normalizeH="0" baseline="0" dirty="0">
              <a:ln>
                <a:noFill/>
              </a:ln>
              <a:solidFill>
                <a:srgbClr val="FFFFFF"/>
              </a:solidFill>
              <a:effectLst/>
              <a:uFillTx/>
              <a:sym typeface="Arial Black"/>
            </a:endParaRPr>
          </a:p>
        </p:txBody>
      </p:sp>
      <p:sp>
        <p:nvSpPr>
          <p:cNvPr id="50" name="Rectangle 49"/>
          <p:cNvSpPr/>
          <p:nvPr/>
        </p:nvSpPr>
        <p:spPr>
          <a:xfrm>
            <a:off x="7831086" y="1711456"/>
            <a:ext cx="2377416" cy="1274195"/>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1600" dirty="0">
                <a:solidFill>
                  <a:schemeClr val="bg2"/>
                </a:solidFill>
                <a:latin typeface="PingFang SC Light"/>
              </a:rPr>
              <a:t>智能计算可对新客户的消费方式和还款方式作出预判，估算用户所能带来的价值。</a:t>
            </a:r>
            <a:endParaRPr lang="en-US" altLang="zh-CN" sz="1600" dirty="0">
              <a:solidFill>
                <a:schemeClr val="bg2"/>
              </a:solidFill>
              <a:latin typeface="PingFang SC Light"/>
            </a:endParaRPr>
          </a:p>
        </p:txBody>
      </p:sp>
      <p:sp>
        <p:nvSpPr>
          <p:cNvPr id="52" name="矩形: 圆角 2">
            <a:extLst>
              <a:ext uri="{FF2B5EF4-FFF2-40B4-BE49-F238E27FC236}">
                <a16:creationId xmlns:a16="http://schemas.microsoft.com/office/drawing/2014/main" xmlns="" id="{1A3B1DEF-CC13-46F1-A6AF-FDAD267BB7D3}"/>
              </a:ext>
            </a:extLst>
          </p:cNvPr>
          <p:cNvSpPr/>
          <p:nvPr/>
        </p:nvSpPr>
        <p:spPr>
          <a:xfrm>
            <a:off x="1719074" y="4118507"/>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3" name="TextBox 52"/>
          <p:cNvSpPr txBox="1"/>
          <p:nvPr/>
        </p:nvSpPr>
        <p:spPr>
          <a:xfrm>
            <a:off x="2002773" y="4221017"/>
            <a:ext cx="1871662" cy="300322"/>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600" dirty="0" smtClean="0">
                <a:solidFill>
                  <a:schemeClr val="bg2"/>
                </a:solidFill>
                <a:latin typeface="PingFang SC Light"/>
              </a:rPr>
              <a:t>贷后额度管理模型</a:t>
            </a:r>
            <a:endParaRPr kumimoji="0" lang="en-US" sz="1600" b="0" i="0" u="none" strike="noStrike" cap="none" spc="0" normalizeH="0" baseline="0" dirty="0">
              <a:ln>
                <a:noFill/>
              </a:ln>
              <a:solidFill>
                <a:srgbClr val="FFFFFF"/>
              </a:solidFill>
              <a:effectLst/>
              <a:uFillTx/>
              <a:sym typeface="Arial Black"/>
            </a:endParaRPr>
          </a:p>
        </p:txBody>
      </p:sp>
      <p:sp>
        <p:nvSpPr>
          <p:cNvPr id="54" name="Rectangle 53"/>
          <p:cNvSpPr/>
          <p:nvPr/>
        </p:nvSpPr>
        <p:spPr>
          <a:xfrm>
            <a:off x="1719074" y="4521339"/>
            <a:ext cx="2439061" cy="1254574"/>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1600" dirty="0">
                <a:solidFill>
                  <a:schemeClr val="bg2"/>
                </a:solidFill>
                <a:latin typeface="PingFang SC Light"/>
              </a:rPr>
              <a:t>智能计算可根据用户数据定期调整其额度，挖掘更大的用户价值，带来更好的用户体验。</a:t>
            </a:r>
            <a:endParaRPr lang="en-US" altLang="zh-CN" sz="1600" dirty="0">
              <a:solidFill>
                <a:schemeClr val="bg2"/>
              </a:solidFill>
              <a:latin typeface="PingFang SC Light"/>
            </a:endParaRPr>
          </a:p>
        </p:txBody>
      </p:sp>
      <p:sp>
        <p:nvSpPr>
          <p:cNvPr id="55" name="矩形: 圆角 2">
            <a:extLst>
              <a:ext uri="{FF2B5EF4-FFF2-40B4-BE49-F238E27FC236}">
                <a16:creationId xmlns:a16="http://schemas.microsoft.com/office/drawing/2014/main" xmlns="" id="{1A3B1DEF-CC13-46F1-A6AF-FDAD267BB7D3}"/>
              </a:ext>
            </a:extLst>
          </p:cNvPr>
          <p:cNvSpPr/>
          <p:nvPr/>
        </p:nvSpPr>
        <p:spPr>
          <a:xfrm>
            <a:off x="4713300" y="4118507"/>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6" name="矩形: 圆角 2">
            <a:extLst>
              <a:ext uri="{FF2B5EF4-FFF2-40B4-BE49-F238E27FC236}">
                <a16:creationId xmlns:a16="http://schemas.microsoft.com/office/drawing/2014/main" xmlns="" id="{1A3B1DEF-CC13-46F1-A6AF-FDAD267BB7D3}"/>
              </a:ext>
            </a:extLst>
          </p:cNvPr>
          <p:cNvSpPr/>
          <p:nvPr/>
        </p:nvSpPr>
        <p:spPr>
          <a:xfrm>
            <a:off x="7793250" y="4115178"/>
            <a:ext cx="2439061" cy="2520000"/>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8" name="TextBox 57"/>
          <p:cNvSpPr txBox="1"/>
          <p:nvPr/>
        </p:nvSpPr>
        <p:spPr>
          <a:xfrm>
            <a:off x="4996999" y="4221017"/>
            <a:ext cx="1871662" cy="300322"/>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600" dirty="0" smtClean="0">
                <a:solidFill>
                  <a:schemeClr val="bg2"/>
                </a:solidFill>
                <a:latin typeface="PingFang SC Light"/>
              </a:rPr>
              <a:t>存量客户收益模型</a:t>
            </a:r>
            <a:endParaRPr kumimoji="0" lang="en-US" sz="1600" b="0" i="0" u="none" strike="noStrike" cap="none" spc="0" normalizeH="0" baseline="0" dirty="0">
              <a:ln>
                <a:noFill/>
              </a:ln>
              <a:solidFill>
                <a:srgbClr val="FFFFFF"/>
              </a:solidFill>
              <a:effectLst/>
              <a:uFillTx/>
              <a:sym typeface="Arial Black"/>
            </a:endParaRPr>
          </a:p>
        </p:txBody>
      </p:sp>
      <p:sp>
        <p:nvSpPr>
          <p:cNvPr id="59" name="Rectangle 58"/>
          <p:cNvSpPr/>
          <p:nvPr/>
        </p:nvSpPr>
        <p:spPr>
          <a:xfrm>
            <a:off x="4768393" y="4521339"/>
            <a:ext cx="2260009" cy="1550040"/>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1600" dirty="0">
                <a:solidFill>
                  <a:schemeClr val="bg2"/>
                </a:solidFill>
                <a:latin typeface="PingFang SC Light"/>
              </a:rPr>
              <a:t>智能计算可对存量用户进行估价，预测用户消费行为和还款行为，提高存量客户活跃度。</a:t>
            </a:r>
            <a:endParaRPr lang="en-US" altLang="zh-CN" sz="1600" dirty="0">
              <a:solidFill>
                <a:schemeClr val="bg2"/>
              </a:solidFill>
              <a:latin typeface="PingFang SC Light"/>
            </a:endParaRPr>
          </a:p>
        </p:txBody>
      </p:sp>
      <p:sp>
        <p:nvSpPr>
          <p:cNvPr id="60" name="TextBox 59"/>
          <p:cNvSpPr txBox="1"/>
          <p:nvPr/>
        </p:nvSpPr>
        <p:spPr>
          <a:xfrm>
            <a:off x="8076949" y="4221017"/>
            <a:ext cx="1871662" cy="300322"/>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600" dirty="0" smtClean="0">
                <a:solidFill>
                  <a:schemeClr val="bg2"/>
                </a:solidFill>
                <a:latin typeface="PingFang SC Light"/>
              </a:rPr>
              <a:t>贷后风险管理模型</a:t>
            </a:r>
            <a:endParaRPr kumimoji="0" lang="en-US" sz="1600" b="0" i="0" u="none" strike="noStrike" cap="none" spc="0" normalizeH="0" baseline="0" dirty="0">
              <a:ln>
                <a:noFill/>
              </a:ln>
              <a:solidFill>
                <a:srgbClr val="FFFFFF"/>
              </a:solidFill>
              <a:effectLst/>
              <a:uFillTx/>
              <a:sym typeface="Arial Black"/>
            </a:endParaRPr>
          </a:p>
        </p:txBody>
      </p:sp>
      <p:sp>
        <p:nvSpPr>
          <p:cNvPr id="61" name="Rectangle 60"/>
          <p:cNvSpPr/>
          <p:nvPr/>
        </p:nvSpPr>
        <p:spPr>
          <a:xfrm>
            <a:off x="7854894" y="4521339"/>
            <a:ext cx="2377416" cy="1274195"/>
          </a:xfrm>
          <a:prstGeom prst="rect">
            <a:avLst/>
          </a:prstGeom>
        </p:spPr>
        <p:txBody>
          <a:bodyPr wrap="square">
            <a:spAutoFit/>
          </a:bodyPr>
          <a:lstStyle/>
          <a:p>
            <a:pPr marL="171450" indent="-171450" algn="l">
              <a:lnSpc>
                <a:spcPct val="120000"/>
              </a:lnSpc>
              <a:buFont typeface="Arial" panose="020B0604020202020204" pitchFamily="34" charset="0"/>
              <a:buChar char="•"/>
            </a:pPr>
            <a:r>
              <a:rPr lang="zh-CN" altLang="en-US" sz="1600" dirty="0">
                <a:solidFill>
                  <a:schemeClr val="bg2"/>
                </a:solidFill>
                <a:latin typeface="PingFang SC Light"/>
              </a:rPr>
              <a:t>智能计算可对已有客户风险作出判定，优化风控流程，实现公司总体的风险管控。</a:t>
            </a:r>
            <a:endParaRPr lang="en-US" altLang="zh-CN" sz="1600" dirty="0">
              <a:solidFill>
                <a:schemeClr val="bg2"/>
              </a:solidFill>
              <a:latin typeface="PingFang SC Light"/>
            </a:endParaRPr>
          </a:p>
        </p:txBody>
      </p:sp>
      <p:sp>
        <p:nvSpPr>
          <p:cNvPr id="2" name="Rounded Rectangle 1"/>
          <p:cNvSpPr>
            <a:spLocks noChangeAspect="1"/>
          </p:cNvSpPr>
          <p:nvPr/>
        </p:nvSpPr>
        <p:spPr>
          <a:xfrm>
            <a:off x="1719074" y="2040523"/>
            <a:ext cx="2248823" cy="298220"/>
          </a:xfrm>
          <a:prstGeom prst="roundRect">
            <a:avLst/>
          </a:prstGeom>
          <a:solidFill>
            <a:schemeClr val="accent5">
              <a:lumMod val="20000"/>
              <a:lumOff val="80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smtClean="0">
                <a:ln>
                  <a:solidFill>
                    <a:sysClr val="windowText" lastClr="000000"/>
                  </a:solidFill>
                </a:ln>
                <a:solidFill>
                  <a:sysClr val="windowText" lastClr="000000"/>
                </a:solidFill>
                <a:latin typeface="+mn-lt"/>
                <a:ea typeface="+mn-ea"/>
                <a:cs typeface="+mn-cs"/>
                <a:sym typeface="Helvetica Neue Medium"/>
              </a:rPr>
              <a:t>传统：线下为主，流程长</a:t>
            </a:r>
            <a:endParaRPr kumimoji="0" lang="en-US" sz="1400" b="0" i="0" u="none" strike="noStrike" cap="none" spc="0" normalizeH="0" baseline="0" dirty="0">
              <a:ln>
                <a:solidFill>
                  <a:sysClr val="windowText" lastClr="000000"/>
                </a:solidFill>
              </a:ln>
              <a:solidFill>
                <a:sysClr val="windowText" lastClr="000000"/>
              </a:solidFill>
              <a:effectLst/>
              <a:uFillTx/>
              <a:latin typeface="+mn-lt"/>
              <a:ea typeface="+mn-ea"/>
              <a:cs typeface="+mn-cs"/>
              <a:sym typeface="Helvetica Neue Medium"/>
            </a:endParaRPr>
          </a:p>
        </p:txBody>
      </p:sp>
      <p:sp>
        <p:nvSpPr>
          <p:cNvPr id="25" name="Rounded Rectangle 24"/>
          <p:cNvSpPr/>
          <p:nvPr/>
        </p:nvSpPr>
        <p:spPr>
          <a:xfrm>
            <a:off x="1872894" y="2719330"/>
            <a:ext cx="2106202" cy="536583"/>
          </a:xfrm>
          <a:prstGeom prst="roundRect">
            <a:avLst/>
          </a:prstGeom>
          <a:solidFill>
            <a:schemeClr val="accent3">
              <a:lumMod val="20000"/>
              <a:lumOff val="80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smtClean="0">
                <a:ln>
                  <a:solidFill>
                    <a:sysClr val="windowText" lastClr="000000"/>
                  </a:solidFill>
                </a:ln>
                <a:solidFill>
                  <a:srgbClr val="FFFFFF"/>
                </a:solidFill>
                <a:effectLst/>
                <a:uFillTx/>
                <a:latin typeface="+mn-lt"/>
                <a:ea typeface="+mn-ea"/>
                <a:cs typeface="+mn-cs"/>
                <a:sym typeface="Helvetica Neue Medium"/>
              </a:rPr>
              <a:t>智能：线上为主，快速审批</a:t>
            </a:r>
            <a:endParaRPr kumimoji="0" lang="en-US" sz="1400" b="0" i="0" u="none" strike="noStrike" cap="none" spc="0" normalizeH="0" baseline="0" dirty="0">
              <a:ln>
                <a:solidFill>
                  <a:sysClr val="windowText" lastClr="000000"/>
                </a:solid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1111215714"/>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069735" y="763384"/>
            <a:ext cx="4970512"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智能计算将</a:t>
            </a:r>
            <a:r>
              <a:rPr lang="zh-CN" altLang="en-US" sz="2000" dirty="0" smtClean="0"/>
              <a:t>为信贷周期各模型</a:t>
            </a:r>
            <a:r>
              <a:rPr lang="zh-CN" altLang="en-US" sz="2000" dirty="0"/>
              <a:t>注入全新活力</a:t>
            </a:r>
            <a:endParaRPr sz="2000" dirty="0"/>
          </a:p>
        </p:txBody>
      </p:sp>
      <p:graphicFrame>
        <p:nvGraphicFramePr>
          <p:cNvPr id="3" name="Diagram 2"/>
          <p:cNvGraphicFramePr/>
          <p:nvPr>
            <p:extLst>
              <p:ext uri="{D42A27DB-BD31-4B8C-83A1-F6EECF244321}">
                <p14:modId xmlns:p14="http://schemas.microsoft.com/office/powerpoint/2010/main" val="2050356060"/>
              </p:ext>
            </p:extLst>
          </p:nvPr>
        </p:nvGraphicFramePr>
        <p:xfrm>
          <a:off x="2391594" y="-81719"/>
          <a:ext cx="9618895" cy="68010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3924844"/>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162" name="标题"/>
          <p:cNvSpPr txBox="1"/>
          <p:nvPr/>
        </p:nvSpPr>
        <p:spPr>
          <a:xfrm>
            <a:off x="1317545" y="763384"/>
            <a:ext cx="3131867"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人工智能对信贷业务的赋能</a:t>
            </a:r>
            <a:endParaRPr sz="2000" dirty="0"/>
          </a:p>
        </p:txBody>
      </p:sp>
      <p:sp>
        <p:nvSpPr>
          <p:cNvPr id="23" name="矩形: 圆角 2">
            <a:extLst>
              <a:ext uri="{FF2B5EF4-FFF2-40B4-BE49-F238E27FC236}">
                <a16:creationId xmlns:a16="http://schemas.microsoft.com/office/drawing/2014/main" xmlns="" id="{1A3B1DEF-CC13-46F1-A6AF-FDAD267BB7D3}"/>
              </a:ext>
            </a:extLst>
          </p:cNvPr>
          <p:cNvSpPr/>
          <p:nvPr/>
        </p:nvSpPr>
        <p:spPr>
          <a:xfrm>
            <a:off x="1191304" y="2393931"/>
            <a:ext cx="2706248" cy="3861046"/>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9" name="Rectangle 28"/>
          <p:cNvSpPr/>
          <p:nvPr/>
        </p:nvSpPr>
        <p:spPr>
          <a:xfrm>
            <a:off x="1246743" y="2683008"/>
            <a:ext cx="2439061" cy="2973122"/>
          </a:xfrm>
          <a:prstGeom prst="rect">
            <a:avLst/>
          </a:prstGeom>
        </p:spPr>
        <p:txBody>
          <a:bodyPr wrap="square">
            <a:spAutoFit/>
          </a:bodyPr>
          <a:lstStyle/>
          <a:p>
            <a:pPr marL="285750" indent="-285750" algn="l">
              <a:lnSpc>
                <a:spcPct val="130000"/>
              </a:lnSpc>
              <a:buFont typeface="Arial" charset="0"/>
              <a:buChar char="•"/>
            </a:pPr>
            <a:r>
              <a:rPr lang="zh-CN" altLang="zh-CN" sz="1600" dirty="0" smtClean="0">
                <a:solidFill>
                  <a:schemeClr val="bg2">
                    <a:lumMod val="50000"/>
                  </a:schemeClr>
                </a:solidFill>
                <a:latin typeface="Arial" charset="0"/>
                <a:ea typeface="Arial" charset="0"/>
                <a:cs typeface="Arial" charset="0"/>
              </a:rPr>
              <a:t>将</a:t>
            </a:r>
            <a:r>
              <a:rPr lang="zh-CN" altLang="zh-CN" sz="1600" b="1" dirty="0">
                <a:solidFill>
                  <a:srgbClr val="FF0000"/>
                </a:solidFill>
                <a:latin typeface="Arial" charset="0"/>
                <a:ea typeface="Arial" charset="0"/>
                <a:cs typeface="Arial" charset="0"/>
              </a:rPr>
              <a:t>受理、调查、评级、授信、风险预警</a:t>
            </a:r>
            <a:r>
              <a:rPr lang="zh-CN" altLang="zh-CN" sz="1600" dirty="0">
                <a:solidFill>
                  <a:schemeClr val="bg2">
                    <a:lumMod val="50000"/>
                  </a:schemeClr>
                </a:solidFill>
                <a:latin typeface="Arial" charset="0"/>
                <a:ea typeface="Arial" charset="0"/>
                <a:cs typeface="Arial" charset="0"/>
              </a:rPr>
              <a:t>等环节从线下搬到线上</a:t>
            </a:r>
            <a:r>
              <a:rPr lang="zh-CN" altLang="zh-CN" sz="1600" dirty="0" smtClean="0">
                <a:solidFill>
                  <a:schemeClr val="bg2">
                    <a:lumMod val="50000"/>
                  </a:schemeClr>
                </a:solidFill>
                <a:latin typeface="Arial" charset="0"/>
                <a:ea typeface="Arial" charset="0"/>
                <a:cs typeface="Arial" charset="0"/>
              </a:rPr>
              <a:t>运行</a:t>
            </a:r>
            <a:r>
              <a:rPr lang="zh-CN" altLang="en-US" sz="1600" dirty="0" smtClean="0">
                <a:solidFill>
                  <a:schemeClr val="bg2">
                    <a:lumMod val="50000"/>
                  </a:schemeClr>
                </a:solidFill>
                <a:latin typeface="Arial" charset="0"/>
                <a:ea typeface="Arial" charset="0"/>
                <a:cs typeface="Arial" charset="0"/>
              </a:rPr>
              <a:t>。</a:t>
            </a:r>
            <a:endParaRPr lang="en-US" altLang="zh-CN" sz="1600" dirty="0" smtClean="0">
              <a:solidFill>
                <a:schemeClr val="bg2">
                  <a:lumMod val="50000"/>
                </a:schemeClr>
              </a:solidFill>
              <a:latin typeface="Arial" charset="0"/>
              <a:ea typeface="Arial" charset="0"/>
              <a:cs typeface="Arial" charset="0"/>
            </a:endParaRPr>
          </a:p>
          <a:p>
            <a:pPr marL="285750" indent="-285750" algn="l">
              <a:lnSpc>
                <a:spcPct val="130000"/>
              </a:lnSpc>
              <a:buFont typeface="Arial" charset="0"/>
              <a:buChar char="•"/>
            </a:pPr>
            <a:r>
              <a:rPr lang="zh-CN" altLang="zh-CN" sz="1600" b="1" dirty="0" smtClean="0">
                <a:solidFill>
                  <a:schemeClr val="accent3"/>
                </a:solidFill>
                <a:latin typeface="Arial" charset="0"/>
                <a:ea typeface="Arial" charset="0"/>
                <a:cs typeface="Arial" charset="0"/>
              </a:rPr>
              <a:t>减轻</a:t>
            </a:r>
            <a:r>
              <a:rPr lang="zh-CN" altLang="zh-CN" sz="1600" b="1" dirty="0">
                <a:solidFill>
                  <a:schemeClr val="accent3"/>
                </a:solidFill>
                <a:latin typeface="Arial" charset="0"/>
                <a:ea typeface="Arial" charset="0"/>
                <a:cs typeface="Arial" charset="0"/>
              </a:rPr>
              <a:t>贷前调查、贷时审查、贷后检查</a:t>
            </a:r>
            <a:r>
              <a:rPr lang="zh-CN" altLang="zh-CN" sz="1600" dirty="0">
                <a:solidFill>
                  <a:schemeClr val="bg2">
                    <a:lumMod val="50000"/>
                  </a:schemeClr>
                </a:solidFill>
                <a:latin typeface="Arial" charset="0"/>
                <a:ea typeface="Arial" charset="0"/>
                <a:cs typeface="Arial" charset="0"/>
              </a:rPr>
              <a:t>的工作量，节约人力成本，释放业务流程压力。</a:t>
            </a:r>
            <a:endParaRPr lang="zh-CN" altLang="en-US" sz="1600" dirty="0">
              <a:solidFill>
                <a:schemeClr val="bg2">
                  <a:lumMod val="50000"/>
                </a:schemeClr>
              </a:solidFill>
              <a:latin typeface="Arial" charset="0"/>
              <a:ea typeface="Arial" charset="0"/>
              <a:cs typeface="Arial" charset="0"/>
            </a:endParaRPr>
          </a:p>
        </p:txBody>
      </p:sp>
      <p:sp>
        <p:nvSpPr>
          <p:cNvPr id="31" name="矩形: 圆角 2">
            <a:extLst>
              <a:ext uri="{FF2B5EF4-FFF2-40B4-BE49-F238E27FC236}">
                <a16:creationId xmlns:a16="http://schemas.microsoft.com/office/drawing/2014/main" xmlns="" id="{1A3B1DEF-CC13-46F1-A6AF-FDAD267BB7D3}"/>
              </a:ext>
            </a:extLst>
          </p:cNvPr>
          <p:cNvSpPr/>
          <p:nvPr/>
        </p:nvSpPr>
        <p:spPr>
          <a:xfrm>
            <a:off x="4333631" y="2362408"/>
            <a:ext cx="2767398" cy="3892569"/>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9" name="矩形: 圆角 2">
            <a:extLst>
              <a:ext uri="{FF2B5EF4-FFF2-40B4-BE49-F238E27FC236}">
                <a16:creationId xmlns:a16="http://schemas.microsoft.com/office/drawing/2014/main" xmlns="" id="{1A3B1DEF-CC13-46F1-A6AF-FDAD267BB7D3}"/>
              </a:ext>
            </a:extLst>
          </p:cNvPr>
          <p:cNvSpPr/>
          <p:nvPr/>
        </p:nvSpPr>
        <p:spPr>
          <a:xfrm>
            <a:off x="7768952" y="2393931"/>
            <a:ext cx="2794502" cy="3861046"/>
          </a:xfrm>
          <a:prstGeom prst="roundRect">
            <a:avLst/>
          </a:prstGeom>
          <a:solidFill>
            <a:schemeClr val="tx1">
              <a:lumMod val="95000"/>
            </a:schemeClr>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50" name="Rectangle 49"/>
          <p:cNvSpPr/>
          <p:nvPr/>
        </p:nvSpPr>
        <p:spPr>
          <a:xfrm>
            <a:off x="7768343" y="2688296"/>
            <a:ext cx="2661536" cy="2751522"/>
          </a:xfrm>
          <a:prstGeom prst="rect">
            <a:avLst/>
          </a:prstGeom>
        </p:spPr>
        <p:txBody>
          <a:bodyPr wrap="square">
            <a:spAutoFit/>
          </a:bodyPr>
          <a:lstStyle/>
          <a:p>
            <a:pPr algn="l">
              <a:lnSpc>
                <a:spcPct val="120000"/>
              </a:lnSpc>
            </a:pPr>
            <a:r>
              <a:rPr lang="zh-CN" altLang="zh-CN" sz="1600" dirty="0">
                <a:solidFill>
                  <a:schemeClr val="bg2">
                    <a:lumMod val="50000"/>
                  </a:schemeClr>
                </a:solidFill>
                <a:latin typeface="Arial" charset="0"/>
                <a:ea typeface="Arial" charset="0"/>
                <a:cs typeface="Arial" charset="0"/>
              </a:rPr>
              <a:t>人工智能</a:t>
            </a:r>
            <a:r>
              <a:rPr lang="zh-CN" altLang="en-US" sz="1600" dirty="0">
                <a:solidFill>
                  <a:schemeClr val="bg2">
                    <a:lumMod val="50000"/>
                  </a:schemeClr>
                </a:solidFill>
                <a:latin typeface="Arial" charset="0"/>
                <a:ea typeface="Arial" charset="0"/>
                <a:cs typeface="Arial" charset="0"/>
              </a:rPr>
              <a:t>与</a:t>
            </a:r>
            <a:r>
              <a:rPr lang="zh-CN" altLang="zh-CN" sz="1600" dirty="0">
                <a:solidFill>
                  <a:schemeClr val="bg2">
                    <a:lumMod val="50000"/>
                  </a:schemeClr>
                </a:solidFill>
                <a:latin typeface="Arial" charset="0"/>
                <a:ea typeface="Arial" charset="0"/>
                <a:cs typeface="Arial" charset="0"/>
              </a:rPr>
              <a:t>互联网金融</a:t>
            </a:r>
            <a:r>
              <a:rPr lang="zh-CN" altLang="en-US" sz="1600" dirty="0">
                <a:solidFill>
                  <a:schemeClr val="bg2">
                    <a:lumMod val="50000"/>
                  </a:schemeClr>
                </a:solidFill>
              </a:rPr>
              <a:t>可以从根本上调整业务结构</a:t>
            </a:r>
            <a:r>
              <a:rPr lang="zh-CN" altLang="en-US" sz="1600" dirty="0">
                <a:solidFill>
                  <a:schemeClr val="bg2">
                    <a:lumMod val="50000"/>
                  </a:schemeClr>
                </a:solidFill>
                <a:latin typeface="Arial" charset="0"/>
                <a:ea typeface="Arial" charset="0"/>
                <a:cs typeface="Arial" charset="0"/>
              </a:rPr>
              <a:t>，</a:t>
            </a:r>
            <a:r>
              <a:rPr lang="zh-CN" altLang="en-US" sz="1600" dirty="0">
                <a:solidFill>
                  <a:schemeClr val="bg2">
                    <a:lumMod val="50000"/>
                  </a:schemeClr>
                </a:solidFill>
              </a:rPr>
              <a:t>线上业务</a:t>
            </a:r>
            <a:r>
              <a:rPr lang="zh-CN" altLang="en-US" sz="1600" b="1" dirty="0">
                <a:solidFill>
                  <a:schemeClr val="accent1">
                    <a:lumMod val="75000"/>
                  </a:schemeClr>
                </a:solidFill>
              </a:rPr>
              <a:t>边际成本极低</a:t>
            </a:r>
            <a:r>
              <a:rPr lang="zh-CN" altLang="en-US" sz="1600" dirty="0">
                <a:solidFill>
                  <a:schemeClr val="bg2">
                    <a:lumMod val="50000"/>
                  </a:schemeClr>
                </a:solidFill>
              </a:rPr>
              <a:t>，具有明显的规模效应，可以充分发挥互联网低成本、广覆盖的精髓，推动</a:t>
            </a:r>
            <a:r>
              <a:rPr lang="zh-CN" altLang="en-US" sz="1600" b="1" dirty="0">
                <a:solidFill>
                  <a:schemeClr val="accent1">
                    <a:lumMod val="75000"/>
                  </a:schemeClr>
                </a:solidFill>
              </a:rPr>
              <a:t>金融服务普惠化</a:t>
            </a:r>
            <a:r>
              <a:rPr lang="zh-CN" altLang="en-US" sz="1600" dirty="0">
                <a:solidFill>
                  <a:schemeClr val="bg2">
                    <a:lumMod val="50000"/>
                  </a:schemeClr>
                </a:solidFill>
              </a:rPr>
              <a:t>。</a:t>
            </a:r>
            <a:r>
              <a:rPr lang="zh-CN" altLang="zh-CN" sz="1600" dirty="0">
                <a:solidFill>
                  <a:schemeClr val="bg2">
                    <a:lumMod val="50000"/>
                  </a:schemeClr>
                </a:solidFill>
                <a:latin typeface="Arial" charset="0"/>
                <a:ea typeface="Arial" charset="0"/>
                <a:cs typeface="Arial" charset="0"/>
              </a:rPr>
              <a:t>可以在最大程度上提升客户体验度，</a:t>
            </a:r>
            <a:r>
              <a:rPr lang="zh-CN" altLang="zh-CN" sz="1600" b="1" dirty="0">
                <a:solidFill>
                  <a:schemeClr val="accent1">
                    <a:lumMod val="75000"/>
                  </a:schemeClr>
                </a:solidFill>
                <a:latin typeface="Arial" charset="0"/>
                <a:ea typeface="Arial" charset="0"/>
                <a:cs typeface="Arial" charset="0"/>
              </a:rPr>
              <a:t>增强客户粘合度</a:t>
            </a:r>
            <a:r>
              <a:rPr lang="zh-CN" altLang="zh-CN" sz="1600" dirty="0">
                <a:solidFill>
                  <a:schemeClr val="bg2">
                    <a:lumMod val="50000"/>
                  </a:schemeClr>
                </a:solidFill>
                <a:latin typeface="Arial" charset="0"/>
                <a:ea typeface="Arial" charset="0"/>
                <a:cs typeface="Arial" charset="0"/>
              </a:rPr>
              <a:t>。</a:t>
            </a:r>
            <a:endParaRPr lang="zh-CN" altLang="en-US" sz="1600" dirty="0">
              <a:solidFill>
                <a:schemeClr val="bg2">
                  <a:lumMod val="50000"/>
                </a:schemeClr>
              </a:solidFill>
              <a:latin typeface="Arial" charset="0"/>
              <a:ea typeface="Arial" charset="0"/>
              <a:cs typeface="Arial" charset="0"/>
            </a:endParaRPr>
          </a:p>
        </p:txBody>
      </p:sp>
      <p:sp>
        <p:nvSpPr>
          <p:cNvPr id="24" name="AutoShape 12"/>
          <p:cNvSpPr>
            <a:spLocks noChangeArrowheads="1"/>
          </p:cNvSpPr>
          <p:nvPr/>
        </p:nvSpPr>
        <p:spPr bwMode="auto">
          <a:xfrm>
            <a:off x="1191304" y="1342350"/>
            <a:ext cx="2706248" cy="790298"/>
          </a:xfrm>
          <a:prstGeom prst="homePlate">
            <a:avLst>
              <a:gd name="adj" fmla="val 63872"/>
            </a:avLst>
          </a:prstGeom>
          <a:solidFill>
            <a:schemeClr val="bg1">
              <a:lumMod val="95000"/>
            </a:schemeClr>
          </a:solidFill>
          <a:ln>
            <a:solidFill>
              <a:srgbClr val="D4A344"/>
            </a:solidFill>
            <a:headEnd/>
            <a:tailEnd/>
          </a:ln>
        </p:spPr>
        <p:style>
          <a:lnRef idx="1">
            <a:schemeClr val="accent1"/>
          </a:lnRef>
          <a:fillRef idx="3">
            <a:schemeClr val="accent1"/>
          </a:fillRef>
          <a:effectRef idx="2">
            <a:schemeClr val="accent1"/>
          </a:effectRef>
          <a:fontRef idx="minor">
            <a:schemeClr val="lt1"/>
          </a:fontRef>
        </p:style>
        <p:txBody>
          <a:bodyPr wrap="none" lIns="91472" tIns="45736" rIns="91472" bIns="45736" anchor="ctr"/>
          <a:lstStyle/>
          <a:p>
            <a:pPr algn="ctr"/>
            <a:r>
              <a:rPr lang="zh-CN" altLang="en-US" sz="2000" dirty="0">
                <a:solidFill>
                  <a:schemeClr val="bg2">
                    <a:lumMod val="50000"/>
                  </a:schemeClr>
                </a:solidFill>
                <a:latin typeface="微软雅黑" pitchFamily="34" charset="-122"/>
                <a:ea typeface="微软雅黑" pitchFamily="34" charset="-122"/>
              </a:rPr>
              <a:t>缩减成本</a:t>
            </a:r>
          </a:p>
        </p:txBody>
      </p:sp>
      <p:sp>
        <p:nvSpPr>
          <p:cNvPr id="25" name="AutoShape 12"/>
          <p:cNvSpPr>
            <a:spLocks noChangeArrowheads="1"/>
          </p:cNvSpPr>
          <p:nvPr/>
        </p:nvSpPr>
        <p:spPr bwMode="auto">
          <a:xfrm>
            <a:off x="4344091" y="1337583"/>
            <a:ext cx="2756938" cy="790298"/>
          </a:xfrm>
          <a:prstGeom prst="homePlate">
            <a:avLst>
              <a:gd name="adj" fmla="val 63872"/>
            </a:avLst>
          </a:prstGeom>
          <a:solidFill>
            <a:schemeClr val="bg1">
              <a:lumMod val="95000"/>
            </a:schemeClr>
          </a:solidFill>
          <a:ln>
            <a:solidFill>
              <a:srgbClr val="D4A344"/>
            </a:solidFill>
            <a:headEnd/>
            <a:tailEnd/>
          </a:ln>
        </p:spPr>
        <p:style>
          <a:lnRef idx="1">
            <a:schemeClr val="accent1"/>
          </a:lnRef>
          <a:fillRef idx="3">
            <a:schemeClr val="accent1"/>
          </a:fillRef>
          <a:effectRef idx="2">
            <a:schemeClr val="accent1"/>
          </a:effectRef>
          <a:fontRef idx="minor">
            <a:schemeClr val="lt1"/>
          </a:fontRef>
        </p:style>
        <p:txBody>
          <a:bodyPr wrap="none" lIns="91472" tIns="45736" rIns="91472" bIns="45736" anchor="ctr"/>
          <a:lstStyle/>
          <a:p>
            <a:pPr algn="ctr"/>
            <a:r>
              <a:rPr lang="zh-CN" altLang="en-US" sz="2000">
                <a:solidFill>
                  <a:schemeClr val="bg2">
                    <a:lumMod val="50000"/>
                  </a:schemeClr>
                </a:solidFill>
                <a:latin typeface="微软雅黑" pitchFamily="34" charset="-122"/>
                <a:ea typeface="微软雅黑" pitchFamily="34" charset="-122"/>
              </a:rPr>
              <a:t>优化风控</a:t>
            </a:r>
            <a:endParaRPr lang="zh-CN" altLang="en-US" sz="2000" dirty="0">
              <a:solidFill>
                <a:schemeClr val="bg2">
                  <a:lumMod val="50000"/>
                </a:schemeClr>
              </a:solidFill>
              <a:latin typeface="微软雅黑" pitchFamily="34" charset="-122"/>
              <a:ea typeface="微软雅黑" pitchFamily="34" charset="-122"/>
            </a:endParaRPr>
          </a:p>
        </p:txBody>
      </p:sp>
      <p:sp>
        <p:nvSpPr>
          <p:cNvPr id="26" name="AutoShape 12"/>
          <p:cNvSpPr>
            <a:spLocks noChangeArrowheads="1"/>
          </p:cNvSpPr>
          <p:nvPr/>
        </p:nvSpPr>
        <p:spPr bwMode="auto">
          <a:xfrm>
            <a:off x="7768343" y="1332817"/>
            <a:ext cx="2661536" cy="790298"/>
          </a:xfrm>
          <a:prstGeom prst="homePlate">
            <a:avLst>
              <a:gd name="adj" fmla="val 63872"/>
            </a:avLst>
          </a:prstGeom>
          <a:solidFill>
            <a:schemeClr val="bg1">
              <a:lumMod val="95000"/>
            </a:schemeClr>
          </a:solidFill>
          <a:ln>
            <a:solidFill>
              <a:srgbClr val="D4A344"/>
            </a:solidFill>
            <a:headEnd/>
            <a:tailEnd/>
          </a:ln>
        </p:spPr>
        <p:style>
          <a:lnRef idx="1">
            <a:schemeClr val="accent1"/>
          </a:lnRef>
          <a:fillRef idx="3">
            <a:schemeClr val="accent1"/>
          </a:fillRef>
          <a:effectRef idx="2">
            <a:schemeClr val="accent1"/>
          </a:effectRef>
          <a:fontRef idx="minor">
            <a:schemeClr val="lt1"/>
          </a:fontRef>
        </p:style>
        <p:txBody>
          <a:bodyPr wrap="none" lIns="91472" tIns="45736" rIns="91472" bIns="45736" anchor="ctr"/>
          <a:lstStyle/>
          <a:p>
            <a:pPr algn="ctr"/>
            <a:r>
              <a:rPr lang="zh-CN" altLang="en-US" sz="2000" dirty="0">
                <a:solidFill>
                  <a:schemeClr val="bg2">
                    <a:lumMod val="50000"/>
                  </a:schemeClr>
                </a:solidFill>
                <a:latin typeface="微软雅黑" pitchFamily="34" charset="-122"/>
                <a:ea typeface="微软雅黑" pitchFamily="34" charset="-122"/>
              </a:rPr>
              <a:t>促进转型</a:t>
            </a:r>
          </a:p>
        </p:txBody>
      </p:sp>
      <p:sp>
        <p:nvSpPr>
          <p:cNvPr id="2" name="Rectangle 1"/>
          <p:cNvSpPr/>
          <p:nvPr/>
        </p:nvSpPr>
        <p:spPr>
          <a:xfrm>
            <a:off x="4333631" y="2642423"/>
            <a:ext cx="2767398" cy="3046988"/>
          </a:xfrm>
          <a:prstGeom prst="rect">
            <a:avLst/>
          </a:prstGeom>
        </p:spPr>
        <p:txBody>
          <a:bodyPr wrap="square">
            <a:spAutoFit/>
          </a:bodyPr>
          <a:lstStyle/>
          <a:p>
            <a:pPr marL="285750" indent="-285750" algn="l">
              <a:lnSpc>
                <a:spcPct val="120000"/>
              </a:lnSpc>
              <a:buFont typeface="Arial" charset="0"/>
              <a:buChar char="•"/>
            </a:pPr>
            <a:r>
              <a:rPr lang="zh-CN" altLang="en-US" sz="1600" dirty="0" smtClean="0">
                <a:solidFill>
                  <a:schemeClr val="bg2">
                    <a:lumMod val="50000"/>
                  </a:schemeClr>
                </a:solidFill>
                <a:latin typeface="Arial" charset="0"/>
                <a:ea typeface="Arial" charset="0"/>
                <a:cs typeface="Arial" charset="0"/>
              </a:rPr>
              <a:t>传统</a:t>
            </a:r>
            <a:r>
              <a:rPr lang="zh-CN" altLang="en-US" sz="1600" dirty="0">
                <a:solidFill>
                  <a:schemeClr val="bg2">
                    <a:lumMod val="50000"/>
                  </a:schemeClr>
                </a:solidFill>
                <a:latin typeface="Arial" charset="0"/>
                <a:ea typeface="Arial" charset="0"/>
                <a:cs typeface="Arial" charset="0"/>
              </a:rPr>
              <a:t>的</a:t>
            </a:r>
            <a:r>
              <a:rPr lang="zh-CN" altLang="en-US" sz="1600" b="1" dirty="0">
                <a:solidFill>
                  <a:schemeClr val="accent1">
                    <a:lumMod val="60000"/>
                    <a:lumOff val="40000"/>
                  </a:schemeClr>
                </a:solidFill>
                <a:latin typeface="Arial" charset="0"/>
                <a:ea typeface="Arial" charset="0"/>
                <a:cs typeface="Arial" charset="0"/>
              </a:rPr>
              <a:t>评分卡模型</a:t>
            </a:r>
            <a:r>
              <a:rPr lang="zh-CN" altLang="en-US" sz="1600" dirty="0">
                <a:solidFill>
                  <a:schemeClr val="bg2">
                    <a:lumMod val="50000"/>
                  </a:schemeClr>
                </a:solidFill>
                <a:latin typeface="Arial" charset="0"/>
                <a:ea typeface="Arial" charset="0"/>
                <a:cs typeface="Arial" charset="0"/>
              </a:rPr>
              <a:t>无法解决客户需求的细微变化，也无法对客户流失可能给予预测</a:t>
            </a:r>
            <a:r>
              <a:rPr lang="zh-CN" altLang="en-US" sz="1600" dirty="0" smtClean="0">
                <a:solidFill>
                  <a:schemeClr val="bg2">
                    <a:lumMod val="50000"/>
                  </a:schemeClr>
                </a:solidFill>
                <a:latin typeface="Arial" charset="0"/>
                <a:ea typeface="Arial" charset="0"/>
                <a:cs typeface="Arial" charset="0"/>
              </a:rPr>
              <a:t>。</a:t>
            </a:r>
            <a:endParaRPr lang="en-US" altLang="zh-CN" sz="1600" dirty="0" smtClean="0">
              <a:solidFill>
                <a:schemeClr val="bg2">
                  <a:lumMod val="50000"/>
                </a:schemeClr>
              </a:solidFill>
              <a:latin typeface="Arial" charset="0"/>
              <a:ea typeface="Arial" charset="0"/>
              <a:cs typeface="Arial" charset="0"/>
            </a:endParaRPr>
          </a:p>
          <a:p>
            <a:pPr marL="285750" indent="-285750" algn="l">
              <a:lnSpc>
                <a:spcPct val="120000"/>
              </a:lnSpc>
              <a:buFont typeface="Arial" charset="0"/>
              <a:buChar char="•"/>
            </a:pPr>
            <a:r>
              <a:rPr lang="zh-CN" altLang="zh-CN" sz="1600" dirty="0" smtClean="0">
                <a:solidFill>
                  <a:schemeClr val="bg2">
                    <a:lumMod val="50000"/>
                  </a:schemeClr>
                </a:solidFill>
                <a:latin typeface="Arial" charset="0"/>
                <a:ea typeface="Arial" charset="0"/>
                <a:cs typeface="Arial" charset="0"/>
              </a:rPr>
              <a:t>大</a:t>
            </a:r>
            <a:r>
              <a:rPr lang="zh-CN" altLang="zh-CN" sz="1600" dirty="0">
                <a:solidFill>
                  <a:schemeClr val="bg2">
                    <a:lumMod val="50000"/>
                  </a:schemeClr>
                </a:solidFill>
                <a:latin typeface="Arial" charset="0"/>
                <a:ea typeface="Arial" charset="0"/>
                <a:cs typeface="Arial" charset="0"/>
              </a:rPr>
              <a:t>数据</a:t>
            </a:r>
            <a:r>
              <a:rPr lang="zh-CN" altLang="en-US" sz="1600" dirty="0">
                <a:solidFill>
                  <a:schemeClr val="bg2">
                    <a:lumMod val="50000"/>
                  </a:schemeClr>
                </a:solidFill>
                <a:latin typeface="Arial" charset="0"/>
                <a:ea typeface="Arial" charset="0"/>
                <a:cs typeface="Arial" charset="0"/>
              </a:rPr>
              <a:t>提高了信息的完备性，对客户的信息，行为抽象出</a:t>
            </a:r>
            <a:r>
              <a:rPr lang="zh-CN" altLang="en-US" sz="1600" b="1" dirty="0">
                <a:solidFill>
                  <a:schemeClr val="accent3"/>
                </a:solidFill>
                <a:latin typeface="Arial" charset="0"/>
                <a:ea typeface="Arial" charset="0"/>
                <a:cs typeface="Arial" charset="0"/>
              </a:rPr>
              <a:t>成百上千维的特征</a:t>
            </a:r>
            <a:r>
              <a:rPr lang="zh-CN" altLang="en-US" sz="1600" dirty="0">
                <a:solidFill>
                  <a:schemeClr val="bg2">
                    <a:lumMod val="50000"/>
                  </a:schemeClr>
                </a:solidFill>
                <a:latin typeface="Arial" charset="0"/>
                <a:ea typeface="Arial" charset="0"/>
                <a:cs typeface="Arial" charset="0"/>
              </a:rPr>
              <a:t>，</a:t>
            </a:r>
            <a:r>
              <a:rPr lang="zh-CN" altLang="en-US" sz="1600" dirty="0" smtClean="0">
                <a:solidFill>
                  <a:schemeClr val="bg2">
                    <a:lumMod val="50000"/>
                  </a:schemeClr>
                </a:solidFill>
                <a:latin typeface="Arial" charset="0"/>
                <a:ea typeface="Arial" charset="0"/>
                <a:cs typeface="Arial" charset="0"/>
              </a:rPr>
              <a:t>通过</a:t>
            </a:r>
            <a:r>
              <a:rPr lang="zh-CN" altLang="en-US" sz="1600" b="1" dirty="0" smtClean="0">
                <a:solidFill>
                  <a:srgbClr val="FF0000"/>
                </a:solidFill>
                <a:latin typeface="Arial" charset="0"/>
                <a:ea typeface="Arial" charset="0"/>
                <a:cs typeface="Arial" charset="0"/>
              </a:rPr>
              <a:t>非线性的机器学习</a:t>
            </a:r>
            <a:r>
              <a:rPr lang="zh-CN" altLang="en-US" sz="1600" dirty="0" smtClean="0">
                <a:solidFill>
                  <a:schemeClr val="bg2">
                    <a:lumMod val="50000"/>
                  </a:schemeClr>
                </a:solidFill>
                <a:latin typeface="Arial" charset="0"/>
                <a:ea typeface="Arial" charset="0"/>
                <a:cs typeface="Arial" charset="0"/>
              </a:rPr>
              <a:t>，及时识别出信用风险并采取措施。</a:t>
            </a:r>
            <a:endParaRPr lang="en-US" altLang="zh-CN" sz="1600" dirty="0">
              <a:solidFill>
                <a:schemeClr val="bg2">
                  <a:lumMod val="50000"/>
                </a:schemeClr>
              </a:solidFill>
              <a:latin typeface="Arial" charset="0"/>
              <a:ea typeface="Arial" charset="0"/>
              <a:cs typeface="Arial" charset="0"/>
            </a:endParaRPr>
          </a:p>
        </p:txBody>
      </p:sp>
    </p:spTree>
    <p:extLst>
      <p:ext uri="{BB962C8B-B14F-4D97-AF65-F5344CB8AC3E}">
        <p14:creationId xmlns:p14="http://schemas.microsoft.com/office/powerpoint/2010/main" val="1383555948"/>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42" name="标题">
            <a:extLst>
              <a:ext uri="{FF2B5EF4-FFF2-40B4-BE49-F238E27FC236}">
                <a16:creationId xmlns:a16="http://schemas.microsoft.com/office/drawing/2014/main" xmlns="" id="{AE4BA4B2-976D-4444-9722-56B8CCD159A5}"/>
              </a:ext>
            </a:extLst>
          </p:cNvPr>
          <p:cNvSpPr txBox="1"/>
          <p:nvPr/>
        </p:nvSpPr>
        <p:spPr>
          <a:xfrm>
            <a:off x="1338567" y="399850"/>
            <a:ext cx="3388347"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传统信用卡与智能服务信用卡</a:t>
            </a:r>
            <a:endParaRPr sz="2000" dirty="0"/>
          </a:p>
        </p:txBody>
      </p:sp>
      <p:grpSp>
        <p:nvGrpSpPr>
          <p:cNvPr id="3" name="组合 2">
            <a:extLst>
              <a:ext uri="{FF2B5EF4-FFF2-40B4-BE49-F238E27FC236}">
                <a16:creationId xmlns:a16="http://schemas.microsoft.com/office/drawing/2014/main" xmlns="" id="{9786C621-C91E-4777-A4E5-80A8B9B5FBBE}"/>
              </a:ext>
            </a:extLst>
          </p:cNvPr>
          <p:cNvGrpSpPr/>
          <p:nvPr/>
        </p:nvGrpSpPr>
        <p:grpSpPr>
          <a:xfrm>
            <a:off x="1595045" y="1037531"/>
            <a:ext cx="9576000" cy="3231642"/>
            <a:chOff x="1595045" y="1149314"/>
            <a:chExt cx="9576000" cy="4333246"/>
          </a:xfrm>
        </p:grpSpPr>
        <p:sp>
          <p:nvSpPr>
            <p:cNvPr id="129" name="矩形 128">
              <a:extLst>
                <a:ext uri="{FF2B5EF4-FFF2-40B4-BE49-F238E27FC236}">
                  <a16:creationId xmlns:a16="http://schemas.microsoft.com/office/drawing/2014/main" xmlns="" id="{78D1AA0C-F06D-40E5-BC46-DFFF66DF74F8}"/>
                </a:ext>
              </a:extLst>
            </p:cNvPr>
            <p:cNvSpPr/>
            <p:nvPr/>
          </p:nvSpPr>
          <p:spPr>
            <a:xfrm>
              <a:off x="1968923" y="1708515"/>
              <a:ext cx="176260" cy="320157"/>
            </a:xfrm>
            <a:prstGeom prst="rect">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CAA354"/>
                  </a:solidFill>
                  <a:effectLst/>
                  <a:uFillTx/>
                  <a:latin typeface="PingFang SC Light"/>
                  <a:ea typeface="+mn-ea"/>
                  <a:cs typeface="+mn-cs"/>
                  <a:sym typeface="Helvetica Neue Medium"/>
                </a:rPr>
                <a:t>1</a:t>
              </a:r>
              <a:endParaRPr kumimoji="0" lang="zh-CN" altLang="en-US" sz="1200" b="0" i="0" u="none" strike="noStrike" cap="none" spc="0" normalizeH="0" baseline="0" dirty="0">
                <a:ln>
                  <a:noFill/>
                </a:ln>
                <a:solidFill>
                  <a:srgbClr val="CAA354"/>
                </a:solidFill>
                <a:effectLst/>
                <a:uFillTx/>
                <a:latin typeface="PingFang SC Light"/>
                <a:ea typeface="+mn-ea"/>
                <a:cs typeface="+mn-cs"/>
                <a:sym typeface="Helvetica Neue Medium"/>
              </a:endParaRPr>
            </a:p>
          </p:txBody>
        </p:sp>
        <p:sp>
          <p:nvSpPr>
            <p:cNvPr id="47" name="矩形 46">
              <a:extLst>
                <a:ext uri="{FF2B5EF4-FFF2-40B4-BE49-F238E27FC236}">
                  <a16:creationId xmlns:a16="http://schemas.microsoft.com/office/drawing/2014/main" xmlns="" id="{5DB5CABE-BE29-4BD4-873A-06FA254746D6}"/>
                </a:ext>
              </a:extLst>
            </p:cNvPr>
            <p:cNvSpPr/>
            <p:nvPr/>
          </p:nvSpPr>
          <p:spPr>
            <a:xfrm>
              <a:off x="1968923" y="2341846"/>
              <a:ext cx="176260" cy="320157"/>
            </a:xfrm>
            <a:prstGeom prst="rect">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CAA354"/>
                  </a:solidFill>
                  <a:effectLst/>
                  <a:uFillTx/>
                  <a:latin typeface="PingFang SC Light"/>
                  <a:ea typeface="+mn-ea"/>
                  <a:cs typeface="+mn-cs"/>
                  <a:sym typeface="Helvetica Neue Medium"/>
                </a:rPr>
                <a:t>2</a:t>
              </a:r>
              <a:endParaRPr kumimoji="0" lang="zh-CN" altLang="en-US" sz="1200" b="0" i="0" u="none" strike="noStrike" cap="none" spc="0" normalizeH="0" baseline="0" dirty="0">
                <a:ln>
                  <a:noFill/>
                </a:ln>
                <a:solidFill>
                  <a:srgbClr val="CAA354"/>
                </a:solidFill>
                <a:effectLst/>
                <a:uFillTx/>
                <a:latin typeface="PingFang SC Light"/>
                <a:ea typeface="+mn-ea"/>
                <a:cs typeface="+mn-cs"/>
                <a:sym typeface="Helvetica Neue Medium"/>
              </a:endParaRPr>
            </a:p>
          </p:txBody>
        </p:sp>
        <p:sp>
          <p:nvSpPr>
            <p:cNvPr id="147" name="矩形 146">
              <a:extLst>
                <a:ext uri="{FF2B5EF4-FFF2-40B4-BE49-F238E27FC236}">
                  <a16:creationId xmlns:a16="http://schemas.microsoft.com/office/drawing/2014/main" xmlns="" id="{B0EEC45B-DC2C-4048-8C10-66B58D99F0D5}"/>
                </a:ext>
              </a:extLst>
            </p:cNvPr>
            <p:cNvSpPr/>
            <p:nvPr/>
          </p:nvSpPr>
          <p:spPr>
            <a:xfrm>
              <a:off x="2320667" y="1736152"/>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chemeClr val="bg2"/>
                  </a:solidFill>
                  <a:latin typeface="PingFang SC Light"/>
                  <a:ea typeface="+mn-ea"/>
                  <a:cs typeface="+mn-cs"/>
                  <a:sym typeface="Helvetica Neue Medium"/>
                </a:rPr>
                <a:t>人工审批</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cxnSp>
          <p:nvCxnSpPr>
            <p:cNvPr id="154" name="直接连接符 153">
              <a:extLst>
                <a:ext uri="{FF2B5EF4-FFF2-40B4-BE49-F238E27FC236}">
                  <a16:creationId xmlns:a16="http://schemas.microsoft.com/office/drawing/2014/main" xmlns="" id="{C02809FF-6B59-46FC-B1FB-00CE8EB34B89}"/>
                </a:ext>
              </a:extLst>
            </p:cNvPr>
            <p:cNvCxnSpPr/>
            <p:nvPr/>
          </p:nvCxnSpPr>
          <p:spPr>
            <a:xfrm>
              <a:off x="1595045" y="1212589"/>
              <a:ext cx="9576000" cy="0"/>
            </a:xfrm>
            <a:prstGeom prst="line">
              <a:avLst/>
            </a:prstGeom>
            <a:noFill/>
            <a:ln w="3175" cap="flat">
              <a:solidFill>
                <a:srgbClr val="CAA354"/>
              </a:solidFill>
              <a:prstDash val="solid"/>
              <a:miter lim="400000"/>
            </a:ln>
            <a:effectLst/>
            <a:sp3d/>
          </p:spPr>
          <p:style>
            <a:lnRef idx="0">
              <a:scrgbClr r="0" g="0" b="0"/>
            </a:lnRef>
            <a:fillRef idx="0">
              <a:scrgbClr r="0" g="0" b="0"/>
            </a:fillRef>
            <a:effectRef idx="0">
              <a:scrgbClr r="0" g="0" b="0"/>
            </a:effectRef>
            <a:fontRef idx="none"/>
          </p:style>
        </p:cxnSp>
        <p:sp>
          <p:nvSpPr>
            <p:cNvPr id="155" name="椭圆 154">
              <a:extLst>
                <a:ext uri="{FF2B5EF4-FFF2-40B4-BE49-F238E27FC236}">
                  <a16:creationId xmlns:a16="http://schemas.microsoft.com/office/drawing/2014/main" xmlns="" id="{1BD5C069-E610-44BC-BBE8-8A63DBA19A8D}"/>
                </a:ext>
              </a:extLst>
            </p:cNvPr>
            <p:cNvSpPr/>
            <p:nvPr/>
          </p:nvSpPr>
          <p:spPr>
            <a:xfrm>
              <a:off x="4131432" y="1149314"/>
              <a:ext cx="132326" cy="508234"/>
            </a:xfrm>
            <a:prstGeom prst="ellipse">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PingFang SC Light"/>
                <a:ea typeface="+mn-ea"/>
                <a:cs typeface="+mn-cs"/>
                <a:sym typeface="Helvetica Neue Medium"/>
              </a:endParaRPr>
            </a:p>
          </p:txBody>
        </p:sp>
        <p:sp>
          <p:nvSpPr>
            <p:cNvPr id="86" name="椭圆 85">
              <a:extLst>
                <a:ext uri="{FF2B5EF4-FFF2-40B4-BE49-F238E27FC236}">
                  <a16:creationId xmlns:a16="http://schemas.microsoft.com/office/drawing/2014/main" xmlns="" id="{81E2FB82-CFD3-4EFB-A993-11B7B69037EF}"/>
                </a:ext>
              </a:extLst>
            </p:cNvPr>
            <p:cNvSpPr/>
            <p:nvPr/>
          </p:nvSpPr>
          <p:spPr>
            <a:xfrm>
              <a:off x="8516443" y="1149314"/>
              <a:ext cx="132326" cy="508234"/>
            </a:xfrm>
            <a:prstGeom prst="ellipse">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PingFang SC Light"/>
                <a:ea typeface="+mn-ea"/>
                <a:cs typeface="+mn-cs"/>
                <a:sym typeface="Helvetica Neue Medium"/>
              </a:endParaRPr>
            </a:p>
          </p:txBody>
        </p:sp>
        <p:sp>
          <p:nvSpPr>
            <p:cNvPr id="46" name="矩形 45">
              <a:extLst>
                <a:ext uri="{FF2B5EF4-FFF2-40B4-BE49-F238E27FC236}">
                  <a16:creationId xmlns:a16="http://schemas.microsoft.com/office/drawing/2014/main" xmlns="" id="{894DD0D8-F33D-4F10-8EEC-39830FB66307}"/>
                </a:ext>
              </a:extLst>
            </p:cNvPr>
            <p:cNvSpPr/>
            <p:nvPr/>
          </p:nvSpPr>
          <p:spPr>
            <a:xfrm>
              <a:off x="6690060" y="1736153"/>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模型自动化审批</a:t>
              </a:r>
            </a:p>
          </p:txBody>
        </p:sp>
        <p:sp>
          <p:nvSpPr>
            <p:cNvPr id="49" name="矩形 48">
              <a:extLst>
                <a:ext uri="{FF2B5EF4-FFF2-40B4-BE49-F238E27FC236}">
                  <a16:creationId xmlns:a16="http://schemas.microsoft.com/office/drawing/2014/main" xmlns="" id="{A4223B86-5B0C-4434-9F4D-DD4C4417B209}"/>
                </a:ext>
              </a:extLst>
            </p:cNvPr>
            <p:cNvSpPr/>
            <p:nvPr/>
          </p:nvSpPr>
          <p:spPr>
            <a:xfrm>
              <a:off x="2320667" y="2369483"/>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人工</a:t>
              </a:r>
              <a:r>
                <a:rPr lang="zh-CN" altLang="en-US" sz="1400" dirty="0">
                  <a:solidFill>
                    <a:schemeClr val="bg2"/>
                  </a:solidFill>
                  <a:latin typeface="PingFang SC Light"/>
                  <a:ea typeface="+mn-ea"/>
                  <a:cs typeface="+mn-cs"/>
                  <a:sym typeface="Helvetica Neue Medium"/>
                </a:rPr>
                <a:t>决定</a:t>
              </a: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授信额度</a:t>
              </a:r>
            </a:p>
          </p:txBody>
        </p:sp>
        <p:sp>
          <p:nvSpPr>
            <p:cNvPr id="51" name="矩形 50">
              <a:extLst>
                <a:ext uri="{FF2B5EF4-FFF2-40B4-BE49-F238E27FC236}">
                  <a16:creationId xmlns:a16="http://schemas.microsoft.com/office/drawing/2014/main" xmlns="" id="{1E3C3201-815C-4376-8B10-7D56E9655891}"/>
                </a:ext>
              </a:extLst>
            </p:cNvPr>
            <p:cNvSpPr/>
            <p:nvPr/>
          </p:nvSpPr>
          <p:spPr>
            <a:xfrm>
              <a:off x="6690060" y="2369483"/>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模型自动决定授信额度</a:t>
              </a:r>
            </a:p>
          </p:txBody>
        </p:sp>
        <p:sp>
          <p:nvSpPr>
            <p:cNvPr id="52" name="矩形 51">
              <a:extLst>
                <a:ext uri="{FF2B5EF4-FFF2-40B4-BE49-F238E27FC236}">
                  <a16:creationId xmlns:a16="http://schemas.microsoft.com/office/drawing/2014/main" xmlns="" id="{8567A3EB-0366-4A40-96BB-73ECF43836FF}"/>
                </a:ext>
              </a:extLst>
            </p:cNvPr>
            <p:cNvSpPr/>
            <p:nvPr/>
          </p:nvSpPr>
          <p:spPr>
            <a:xfrm>
              <a:off x="1968923" y="2973882"/>
              <a:ext cx="176260" cy="320157"/>
            </a:xfrm>
            <a:prstGeom prst="rect">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CAA354"/>
                  </a:solidFill>
                  <a:effectLst/>
                  <a:uFillTx/>
                  <a:latin typeface="PingFang SC Light"/>
                  <a:ea typeface="+mn-ea"/>
                  <a:cs typeface="+mn-cs"/>
                  <a:sym typeface="Helvetica Neue Medium"/>
                </a:rPr>
                <a:t>3</a:t>
              </a:r>
              <a:endParaRPr kumimoji="0" lang="zh-CN" altLang="en-US" sz="1200" b="0" i="0" u="none" strike="noStrike" cap="none" spc="0" normalizeH="0" baseline="0" dirty="0">
                <a:ln>
                  <a:noFill/>
                </a:ln>
                <a:solidFill>
                  <a:srgbClr val="CAA354"/>
                </a:solidFill>
                <a:effectLst/>
                <a:uFillTx/>
                <a:latin typeface="PingFang SC Light"/>
                <a:ea typeface="+mn-ea"/>
                <a:cs typeface="+mn-cs"/>
                <a:sym typeface="Helvetica Neue Medium"/>
              </a:endParaRPr>
            </a:p>
          </p:txBody>
        </p:sp>
        <p:sp>
          <p:nvSpPr>
            <p:cNvPr id="53" name="矩形 52">
              <a:extLst>
                <a:ext uri="{FF2B5EF4-FFF2-40B4-BE49-F238E27FC236}">
                  <a16:creationId xmlns:a16="http://schemas.microsoft.com/office/drawing/2014/main" xmlns="" id="{E32738C0-5283-41CC-A9E6-DBA4ED713EFB}"/>
                </a:ext>
              </a:extLst>
            </p:cNvPr>
            <p:cNvSpPr/>
            <p:nvPr/>
          </p:nvSpPr>
          <p:spPr>
            <a:xfrm>
              <a:off x="2320667" y="3596520"/>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chemeClr val="bg2"/>
                  </a:solidFill>
                  <a:latin typeface="PingFang SC Light"/>
                  <a:ea typeface="+mn-ea"/>
                  <a:cs typeface="+mn-cs"/>
                  <a:sym typeface="Helvetica Neue Medium"/>
                </a:rPr>
                <a:t>客户请求额度调整</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54" name="矩形 53">
              <a:extLst>
                <a:ext uri="{FF2B5EF4-FFF2-40B4-BE49-F238E27FC236}">
                  <a16:creationId xmlns:a16="http://schemas.microsoft.com/office/drawing/2014/main" xmlns="" id="{BFFA2444-553D-4A61-9B7A-0B9105681766}"/>
                </a:ext>
              </a:extLst>
            </p:cNvPr>
            <p:cNvSpPr/>
            <p:nvPr/>
          </p:nvSpPr>
          <p:spPr>
            <a:xfrm>
              <a:off x="6690060" y="3596520"/>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银行发起额度调整</a:t>
              </a:r>
            </a:p>
          </p:txBody>
        </p:sp>
        <p:sp>
          <p:nvSpPr>
            <p:cNvPr id="55" name="矩形 54">
              <a:extLst>
                <a:ext uri="{FF2B5EF4-FFF2-40B4-BE49-F238E27FC236}">
                  <a16:creationId xmlns:a16="http://schemas.microsoft.com/office/drawing/2014/main" xmlns="" id="{8A413CD3-2BBE-431C-AA87-40CC829B50C9}"/>
                </a:ext>
              </a:extLst>
            </p:cNvPr>
            <p:cNvSpPr/>
            <p:nvPr/>
          </p:nvSpPr>
          <p:spPr>
            <a:xfrm>
              <a:off x="1968923" y="3567587"/>
              <a:ext cx="176260" cy="320157"/>
            </a:xfrm>
            <a:prstGeom prst="rect">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CAA354"/>
                  </a:solidFill>
                  <a:effectLst/>
                  <a:uFillTx/>
                  <a:latin typeface="PingFang SC Light"/>
                  <a:ea typeface="+mn-ea"/>
                  <a:cs typeface="+mn-cs"/>
                  <a:sym typeface="Helvetica Neue Medium"/>
                </a:rPr>
                <a:t>4</a:t>
              </a:r>
              <a:endParaRPr kumimoji="0" lang="zh-CN" altLang="en-US" sz="1200" b="0" i="0" u="none" strike="noStrike" cap="none" spc="0" normalizeH="0" baseline="0" dirty="0">
                <a:ln>
                  <a:noFill/>
                </a:ln>
                <a:solidFill>
                  <a:srgbClr val="CAA354"/>
                </a:solidFill>
                <a:effectLst/>
                <a:uFillTx/>
                <a:latin typeface="PingFang SC Light"/>
                <a:ea typeface="+mn-ea"/>
                <a:cs typeface="+mn-cs"/>
                <a:sym typeface="Helvetica Neue Medium"/>
              </a:endParaRPr>
            </a:p>
          </p:txBody>
        </p:sp>
        <p:sp>
          <p:nvSpPr>
            <p:cNvPr id="56" name="矩形 55">
              <a:extLst>
                <a:ext uri="{FF2B5EF4-FFF2-40B4-BE49-F238E27FC236}">
                  <a16:creationId xmlns:a16="http://schemas.microsoft.com/office/drawing/2014/main" xmlns="" id="{D3FF25F2-51E7-4DA8-8063-3433A25891DF}"/>
                </a:ext>
              </a:extLst>
            </p:cNvPr>
            <p:cNvSpPr/>
            <p:nvPr/>
          </p:nvSpPr>
          <p:spPr>
            <a:xfrm>
              <a:off x="2320667" y="3002814"/>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chemeClr val="bg2"/>
                  </a:solidFill>
                  <a:latin typeface="PingFang SC Light"/>
                  <a:ea typeface="+mn-ea"/>
                  <a:cs typeface="+mn-cs"/>
                  <a:sym typeface="Helvetica Neue Medium"/>
                </a:rPr>
                <a:t>贷后额度基本不变</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64" name="矩形 63">
              <a:extLst>
                <a:ext uri="{FF2B5EF4-FFF2-40B4-BE49-F238E27FC236}">
                  <a16:creationId xmlns:a16="http://schemas.microsoft.com/office/drawing/2014/main" xmlns="" id="{49BD6A8C-028B-4BF9-995F-6C4C5FB57E73}"/>
                </a:ext>
              </a:extLst>
            </p:cNvPr>
            <p:cNvSpPr/>
            <p:nvPr/>
          </p:nvSpPr>
          <p:spPr>
            <a:xfrm>
              <a:off x="6690060" y="3002814"/>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贷后额度定期调整</a:t>
              </a:r>
            </a:p>
          </p:txBody>
        </p:sp>
        <p:sp>
          <p:nvSpPr>
            <p:cNvPr id="65" name="矩形 64">
              <a:extLst>
                <a:ext uri="{FF2B5EF4-FFF2-40B4-BE49-F238E27FC236}">
                  <a16:creationId xmlns:a16="http://schemas.microsoft.com/office/drawing/2014/main" xmlns="" id="{87EC97DA-A1A8-454D-80FD-3C3DD2213A67}"/>
                </a:ext>
              </a:extLst>
            </p:cNvPr>
            <p:cNvSpPr/>
            <p:nvPr/>
          </p:nvSpPr>
          <p:spPr>
            <a:xfrm>
              <a:off x="1968923" y="4240542"/>
              <a:ext cx="176260" cy="320157"/>
            </a:xfrm>
            <a:prstGeom prst="rect">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rgbClr val="CAA354"/>
                  </a:solidFill>
                  <a:effectLst/>
                  <a:uFillTx/>
                  <a:latin typeface="PingFang SC Light"/>
                  <a:ea typeface="+mn-ea"/>
                  <a:cs typeface="+mn-cs"/>
                  <a:sym typeface="Helvetica Neue Medium"/>
                </a:rPr>
                <a:t>5</a:t>
              </a:r>
              <a:endParaRPr kumimoji="0" lang="zh-CN" altLang="en-US" sz="1200" b="0" i="0" u="none" strike="noStrike" cap="none" spc="0" normalizeH="0" baseline="0" dirty="0">
                <a:ln>
                  <a:noFill/>
                </a:ln>
                <a:solidFill>
                  <a:srgbClr val="CAA354"/>
                </a:solidFill>
                <a:effectLst/>
                <a:uFillTx/>
                <a:latin typeface="PingFang SC Light"/>
                <a:ea typeface="+mn-ea"/>
                <a:cs typeface="+mn-cs"/>
                <a:sym typeface="Helvetica Neue Medium"/>
              </a:endParaRPr>
            </a:p>
          </p:txBody>
        </p:sp>
        <p:sp>
          <p:nvSpPr>
            <p:cNvPr id="66" name="矩形 65">
              <a:extLst>
                <a:ext uri="{FF2B5EF4-FFF2-40B4-BE49-F238E27FC236}">
                  <a16:creationId xmlns:a16="http://schemas.microsoft.com/office/drawing/2014/main" xmlns="" id="{57B4B32D-7964-443B-8535-1806351D6BCD}"/>
                </a:ext>
              </a:extLst>
            </p:cNvPr>
            <p:cNvSpPr/>
            <p:nvPr/>
          </p:nvSpPr>
          <p:spPr>
            <a:xfrm>
              <a:off x="2320667" y="4269474"/>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信用卡分期等产品统一定价</a:t>
              </a:r>
            </a:p>
          </p:txBody>
        </p:sp>
        <p:sp>
          <p:nvSpPr>
            <p:cNvPr id="67" name="矩形 66">
              <a:extLst>
                <a:ext uri="{FF2B5EF4-FFF2-40B4-BE49-F238E27FC236}">
                  <a16:creationId xmlns:a16="http://schemas.microsoft.com/office/drawing/2014/main" xmlns="" id="{5622A2C2-3E7D-417E-A222-9A6E9E5D354E}"/>
                </a:ext>
              </a:extLst>
            </p:cNvPr>
            <p:cNvSpPr/>
            <p:nvPr/>
          </p:nvSpPr>
          <p:spPr>
            <a:xfrm>
              <a:off x="6690060" y="4269474"/>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信用卡分期等产品个性化定价</a:t>
              </a:r>
            </a:p>
          </p:txBody>
        </p:sp>
        <p:sp>
          <p:nvSpPr>
            <p:cNvPr id="68" name="矩形 67">
              <a:extLst>
                <a:ext uri="{FF2B5EF4-FFF2-40B4-BE49-F238E27FC236}">
                  <a16:creationId xmlns:a16="http://schemas.microsoft.com/office/drawing/2014/main" xmlns="" id="{04BD1CA1-45F0-49A3-AD6D-A8F27613504F}"/>
                </a:ext>
              </a:extLst>
            </p:cNvPr>
            <p:cNvSpPr/>
            <p:nvPr/>
          </p:nvSpPr>
          <p:spPr>
            <a:xfrm>
              <a:off x="1968923" y="4873871"/>
              <a:ext cx="176260" cy="320157"/>
            </a:xfrm>
            <a:prstGeom prst="rect">
              <a:avLst/>
            </a:prstGeom>
            <a:noFill/>
            <a:ln w="3175" cap="flat">
              <a:solidFill>
                <a:srgbClr val="CAA35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en-US" altLang="zh-CN" sz="1200" dirty="0">
                  <a:solidFill>
                    <a:srgbClr val="CAA354"/>
                  </a:solidFill>
                  <a:latin typeface="PingFang SC Light"/>
                  <a:ea typeface="+mn-ea"/>
                  <a:cs typeface="+mn-cs"/>
                  <a:sym typeface="Helvetica Neue Medium"/>
                </a:rPr>
                <a:t>6</a:t>
              </a:r>
              <a:endParaRPr kumimoji="0" lang="zh-CN" altLang="en-US" sz="1200" b="0" i="0" u="none" strike="noStrike" cap="none" spc="0" normalizeH="0" baseline="0" dirty="0">
                <a:ln>
                  <a:noFill/>
                </a:ln>
                <a:solidFill>
                  <a:srgbClr val="CAA354"/>
                </a:solidFill>
                <a:effectLst/>
                <a:uFillTx/>
                <a:latin typeface="PingFang SC Light"/>
                <a:ea typeface="+mn-ea"/>
                <a:cs typeface="+mn-cs"/>
                <a:sym typeface="Helvetica Neue Medium"/>
              </a:endParaRPr>
            </a:p>
          </p:txBody>
        </p:sp>
        <p:sp>
          <p:nvSpPr>
            <p:cNvPr id="69" name="矩形 68">
              <a:extLst>
                <a:ext uri="{FF2B5EF4-FFF2-40B4-BE49-F238E27FC236}">
                  <a16:creationId xmlns:a16="http://schemas.microsoft.com/office/drawing/2014/main" xmlns="" id="{6451C512-9766-4ECE-A43D-CC889D67F063}"/>
                </a:ext>
              </a:extLst>
            </p:cNvPr>
            <p:cNvSpPr/>
            <p:nvPr/>
          </p:nvSpPr>
          <p:spPr>
            <a:xfrm>
              <a:off x="2320667" y="4902803"/>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chemeClr val="bg2"/>
                  </a:solidFill>
                  <a:latin typeface="PingFang SC Light"/>
                  <a:ea typeface="+mn-ea"/>
                  <a:cs typeface="+mn-cs"/>
                  <a:sym typeface="Helvetica Neue Medium"/>
                </a:rPr>
                <a:t>被动风控，侧重催收</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70" name="矩形 69">
              <a:extLst>
                <a:ext uri="{FF2B5EF4-FFF2-40B4-BE49-F238E27FC236}">
                  <a16:creationId xmlns:a16="http://schemas.microsoft.com/office/drawing/2014/main" xmlns="" id="{9F75290D-476B-4110-9741-CEF56CE22515}"/>
                </a:ext>
              </a:extLst>
            </p:cNvPr>
            <p:cNvSpPr/>
            <p:nvPr/>
          </p:nvSpPr>
          <p:spPr>
            <a:xfrm>
              <a:off x="6690060" y="4902803"/>
              <a:ext cx="3852590" cy="361427"/>
            </a:xfrm>
            <a:prstGeom prst="rect">
              <a:avLst/>
            </a:prstGeom>
            <a:noFill/>
            <a:ln w="3175" cap="flat">
              <a:solidFill>
                <a:srgbClr val="CAA354"/>
              </a:solidFill>
              <a:prstDash val="sys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主动风控，侧重反欺诈等早期防范</a:t>
              </a:r>
            </a:p>
          </p:txBody>
        </p:sp>
        <p:sp>
          <p:nvSpPr>
            <p:cNvPr id="2" name="矩形 1">
              <a:extLst>
                <a:ext uri="{FF2B5EF4-FFF2-40B4-BE49-F238E27FC236}">
                  <a16:creationId xmlns:a16="http://schemas.microsoft.com/office/drawing/2014/main" xmlns="" id="{238EFFB9-2357-44ED-B5E0-DA36AD2C27D8}"/>
                </a:ext>
              </a:extLst>
            </p:cNvPr>
            <p:cNvSpPr/>
            <p:nvPr/>
          </p:nvSpPr>
          <p:spPr>
            <a:xfrm>
              <a:off x="1595045" y="1620824"/>
              <a:ext cx="9575998" cy="3861736"/>
            </a:xfrm>
            <a:prstGeom prst="rect">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PingFang SC Light"/>
                <a:ea typeface="+mn-ea"/>
                <a:cs typeface="+mn-cs"/>
                <a:sym typeface="Helvetica Neue Medium"/>
              </a:endParaRPr>
            </a:p>
          </p:txBody>
        </p:sp>
      </p:grpSp>
      <p:sp>
        <p:nvSpPr>
          <p:cNvPr id="33" name="文本框 32">
            <a:extLst>
              <a:ext uri="{FF2B5EF4-FFF2-40B4-BE49-F238E27FC236}">
                <a16:creationId xmlns:a16="http://schemas.microsoft.com/office/drawing/2014/main" xmlns="" id="{ACAEB375-243B-42A5-A2F9-D28BC7D4202D}"/>
              </a:ext>
            </a:extLst>
          </p:cNvPr>
          <p:cNvSpPr txBox="1"/>
          <p:nvPr/>
        </p:nvSpPr>
        <p:spPr>
          <a:xfrm>
            <a:off x="5809276" y="1133551"/>
            <a:ext cx="1299446" cy="26954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400" b="1" i="0" u="none" strike="noStrike" cap="none" spc="0" normalizeH="0" baseline="0" dirty="0">
                <a:ln>
                  <a:noFill/>
                </a:ln>
                <a:solidFill>
                  <a:schemeClr val="bg2"/>
                </a:solidFill>
                <a:effectLst/>
                <a:uFillTx/>
                <a:latin typeface="PingFang SC Light"/>
                <a:sym typeface="Arial Black"/>
              </a:rPr>
              <a:t>V.S.</a:t>
            </a:r>
            <a:endParaRPr kumimoji="0" lang="zh-CN" altLang="en-US" sz="1400" b="1" i="0" u="none" strike="noStrike" cap="none" spc="0" normalizeH="0" baseline="0" dirty="0">
              <a:ln>
                <a:noFill/>
              </a:ln>
              <a:solidFill>
                <a:schemeClr val="bg2"/>
              </a:solidFill>
              <a:effectLst/>
              <a:uFillTx/>
              <a:latin typeface="PingFang SC Light"/>
              <a:sym typeface="Arial Black"/>
            </a:endParaRPr>
          </a:p>
        </p:txBody>
      </p:sp>
      <p:grpSp>
        <p:nvGrpSpPr>
          <p:cNvPr id="31" name="组合 33">
            <a:extLst>
              <a:ext uri="{FF2B5EF4-FFF2-40B4-BE49-F238E27FC236}">
                <a16:creationId xmlns:a16="http://schemas.microsoft.com/office/drawing/2014/main" xmlns="" id="{DCF044B4-8B16-484C-8DEF-FF578D4FE1C4}"/>
              </a:ext>
            </a:extLst>
          </p:cNvPr>
          <p:cNvGrpSpPr/>
          <p:nvPr/>
        </p:nvGrpSpPr>
        <p:grpSpPr>
          <a:xfrm>
            <a:off x="1556305" y="4959066"/>
            <a:ext cx="9698541" cy="1798918"/>
            <a:chOff x="1412971" y="4966873"/>
            <a:chExt cx="9698541" cy="1696013"/>
          </a:xfrm>
        </p:grpSpPr>
        <p:grpSp>
          <p:nvGrpSpPr>
            <p:cNvPr id="32" name="组合 20">
              <a:extLst>
                <a:ext uri="{FF2B5EF4-FFF2-40B4-BE49-F238E27FC236}">
                  <a16:creationId xmlns:a16="http://schemas.microsoft.com/office/drawing/2014/main" xmlns="" id="{2EBA6621-63A7-497F-ADD9-5D2C073D36D9}"/>
                </a:ext>
              </a:extLst>
            </p:cNvPr>
            <p:cNvGrpSpPr/>
            <p:nvPr/>
          </p:nvGrpSpPr>
          <p:grpSpPr>
            <a:xfrm>
              <a:off x="1412971" y="4966874"/>
              <a:ext cx="9698541" cy="1696012"/>
              <a:chOff x="1548514" y="5291335"/>
              <a:chExt cx="9698541" cy="1696012"/>
            </a:xfrm>
          </p:grpSpPr>
          <p:grpSp>
            <p:nvGrpSpPr>
              <p:cNvPr id="39" name="组合 7">
                <a:extLst>
                  <a:ext uri="{FF2B5EF4-FFF2-40B4-BE49-F238E27FC236}">
                    <a16:creationId xmlns:a16="http://schemas.microsoft.com/office/drawing/2014/main" xmlns="" id="{E49B5902-29C3-4BCE-9C82-7F842C276BD3}"/>
                  </a:ext>
                </a:extLst>
              </p:cNvPr>
              <p:cNvGrpSpPr/>
              <p:nvPr/>
            </p:nvGrpSpPr>
            <p:grpSpPr>
              <a:xfrm>
                <a:off x="1548514" y="5291335"/>
                <a:ext cx="2329573" cy="1470908"/>
                <a:chOff x="1805676" y="5226022"/>
                <a:chExt cx="1733219" cy="1470908"/>
              </a:xfrm>
            </p:grpSpPr>
            <p:sp>
              <p:nvSpPr>
                <p:cNvPr id="72" name="文本框 3">
                  <a:extLst>
                    <a:ext uri="{FF2B5EF4-FFF2-40B4-BE49-F238E27FC236}">
                      <a16:creationId xmlns:a16="http://schemas.microsoft.com/office/drawing/2014/main" xmlns="" id="{A285A120-4F21-439C-91AA-5413D3124290}"/>
                    </a:ext>
                  </a:extLst>
                </p:cNvPr>
                <p:cNvSpPr txBox="1"/>
                <p:nvPr/>
              </p:nvSpPr>
              <p:spPr>
                <a:xfrm>
                  <a:off x="1805676" y="5880922"/>
                  <a:ext cx="871353"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a:solidFill>
                        <a:schemeClr val="bg2"/>
                      </a:solidFill>
                      <a:latin typeface="PingFang SC Light"/>
                    </a:rPr>
                    <a:t>常用交易卡</a:t>
                  </a:r>
                  <a:endParaRPr kumimoji="0" lang="zh-CN" altLang="en-US" sz="1200" b="0" i="0" u="none" strike="noStrike" cap="none" spc="0" normalizeH="0" baseline="0" dirty="0">
                    <a:ln>
                      <a:noFill/>
                    </a:ln>
                    <a:solidFill>
                      <a:schemeClr val="bg2"/>
                    </a:solidFill>
                    <a:effectLst/>
                    <a:uFillTx/>
                    <a:latin typeface="PingFang SC Light"/>
                    <a:sym typeface="Arial Black"/>
                  </a:endParaRPr>
                </a:p>
              </p:txBody>
            </p:sp>
            <p:sp>
              <p:nvSpPr>
                <p:cNvPr id="73" name="椭圆 4">
                  <a:extLst>
                    <a:ext uri="{FF2B5EF4-FFF2-40B4-BE49-F238E27FC236}">
                      <a16:creationId xmlns:a16="http://schemas.microsoft.com/office/drawing/2014/main" xmlns="" id="{3B16BF32-2354-4286-BF6A-99D7D874A432}"/>
                    </a:ext>
                  </a:extLst>
                </p:cNvPr>
                <p:cNvSpPr/>
                <p:nvPr/>
              </p:nvSpPr>
              <p:spPr>
                <a:xfrm>
                  <a:off x="2677029" y="5762570"/>
                  <a:ext cx="590155" cy="379031"/>
                </a:xfrm>
                <a:prstGeom prst="ellipse">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r>
                    <a:rPr lang="zh-CN" altLang="en-US" sz="1400" dirty="0">
                      <a:solidFill>
                        <a:schemeClr val="bg2"/>
                      </a:solidFill>
                      <a:latin typeface="PingFang SC Light"/>
                    </a:rPr>
                    <a:t>客户</a:t>
                  </a:r>
                  <a:r>
                    <a:rPr lang="en-US" altLang="zh-CN" sz="1400" dirty="0">
                      <a:solidFill>
                        <a:schemeClr val="bg2"/>
                      </a:solidFill>
                      <a:latin typeface="PingFang SC Light"/>
                    </a:rPr>
                    <a:t>A</a:t>
                  </a:r>
                  <a:endParaRPr kumimoji="0" lang="zh-CN" altLang="en-US" sz="1400" b="0" i="0" u="none" strike="noStrike" cap="none" spc="0" normalizeH="0" baseline="0" dirty="0">
                    <a:ln>
                      <a:noFill/>
                    </a:ln>
                    <a:solidFill>
                      <a:srgbClr val="FFFFFF"/>
                    </a:solidFill>
                    <a:effectLst/>
                    <a:uFillTx/>
                    <a:latin typeface="PingFang SC Light"/>
                    <a:ea typeface="+mn-ea"/>
                    <a:cs typeface="+mn-cs"/>
                    <a:sym typeface="Helvetica Neue Medium"/>
                  </a:endParaRPr>
                </a:p>
              </p:txBody>
            </p:sp>
            <p:sp>
              <p:nvSpPr>
                <p:cNvPr id="74" name="矩形 5">
                  <a:extLst>
                    <a:ext uri="{FF2B5EF4-FFF2-40B4-BE49-F238E27FC236}">
                      <a16:creationId xmlns:a16="http://schemas.microsoft.com/office/drawing/2014/main" xmlns="" id="{450C9FDD-C066-4054-A205-BE463479C8A2}"/>
                    </a:ext>
                  </a:extLst>
                </p:cNvPr>
                <p:cNvSpPr/>
                <p:nvPr/>
              </p:nvSpPr>
              <p:spPr>
                <a:xfrm>
                  <a:off x="2018554" y="5508932"/>
                  <a:ext cx="595369" cy="276999"/>
                </a:xfrm>
                <a:prstGeom prst="rect">
                  <a:avLst/>
                </a:prstGeom>
              </p:spPr>
              <p:txBody>
                <a:bodyPr wrap="none">
                  <a:spAutoFit/>
                </a:bodyPr>
                <a:lstStyle/>
                <a:p>
                  <a:r>
                    <a:rPr lang="zh-CN" altLang="en-US" sz="1200" dirty="0">
                      <a:solidFill>
                        <a:schemeClr val="bg2"/>
                      </a:solidFill>
                      <a:latin typeface="PingFang SC Light"/>
                    </a:rPr>
                    <a:t>发薪卡行</a:t>
                  </a:r>
                  <a:endParaRPr lang="zh-CN" altLang="en-US" sz="1200" dirty="0">
                    <a:latin typeface="PingFang SC Light"/>
                  </a:endParaRPr>
                </a:p>
              </p:txBody>
            </p:sp>
            <p:sp>
              <p:nvSpPr>
                <p:cNvPr id="75" name="矩形 6">
                  <a:extLst>
                    <a:ext uri="{FF2B5EF4-FFF2-40B4-BE49-F238E27FC236}">
                      <a16:creationId xmlns:a16="http://schemas.microsoft.com/office/drawing/2014/main" xmlns="" id="{0E41F2A4-299E-404E-8927-AFD5998351AC}"/>
                    </a:ext>
                  </a:extLst>
                </p:cNvPr>
                <p:cNvSpPr/>
                <p:nvPr/>
              </p:nvSpPr>
              <p:spPr>
                <a:xfrm>
                  <a:off x="2608391" y="5226022"/>
                  <a:ext cx="655001" cy="276999"/>
                </a:xfrm>
                <a:prstGeom prst="rect">
                  <a:avLst/>
                </a:prstGeom>
              </p:spPr>
              <p:txBody>
                <a:bodyPr wrap="none">
                  <a:spAutoFit/>
                </a:bodyPr>
                <a:lstStyle/>
                <a:p>
                  <a:r>
                    <a:rPr lang="zh-CN" altLang="en-US" sz="1200" dirty="0">
                      <a:solidFill>
                        <a:schemeClr val="bg2"/>
                      </a:solidFill>
                      <a:latin typeface="PingFang SC Light"/>
                    </a:rPr>
                    <a:t>月薪</a:t>
                  </a:r>
                  <a:r>
                    <a:rPr lang="en-US" altLang="zh-CN" sz="1200" dirty="0">
                      <a:solidFill>
                        <a:schemeClr val="bg2"/>
                      </a:solidFill>
                      <a:latin typeface="PingFang SC Light"/>
                    </a:rPr>
                    <a:t>10</a:t>
                  </a:r>
                  <a:r>
                    <a:rPr lang="zh-CN" altLang="en-US" sz="1200" dirty="0">
                      <a:solidFill>
                        <a:schemeClr val="bg2"/>
                      </a:solidFill>
                      <a:latin typeface="PingFang SC Light"/>
                    </a:rPr>
                    <a:t>万</a:t>
                  </a:r>
                  <a:r>
                    <a:rPr lang="en-US" altLang="zh-CN" sz="1200" dirty="0">
                      <a:solidFill>
                        <a:schemeClr val="bg2"/>
                      </a:solidFill>
                      <a:latin typeface="PingFang SC Light"/>
                    </a:rPr>
                    <a:t>+</a:t>
                  </a:r>
                  <a:endParaRPr lang="zh-CN" altLang="en-US" sz="1200" dirty="0">
                    <a:latin typeface="PingFang SC Light"/>
                  </a:endParaRPr>
                </a:p>
              </p:txBody>
            </p:sp>
            <p:sp>
              <p:nvSpPr>
                <p:cNvPr id="76" name="文本框 71">
                  <a:extLst>
                    <a:ext uri="{FF2B5EF4-FFF2-40B4-BE49-F238E27FC236}">
                      <a16:creationId xmlns:a16="http://schemas.microsoft.com/office/drawing/2014/main" xmlns="" id="{93CFD096-8216-4C51-822B-12D783E0F38B}"/>
                    </a:ext>
                  </a:extLst>
                </p:cNvPr>
                <p:cNvSpPr txBox="1"/>
                <p:nvPr/>
              </p:nvSpPr>
              <p:spPr>
                <a:xfrm>
                  <a:off x="1814994" y="6212696"/>
                  <a:ext cx="1192101"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PingFang SC Light"/>
                      <a:sym typeface="Arial Black"/>
                    </a:rPr>
                    <a:t>博士学位</a:t>
                  </a:r>
                </a:p>
              </p:txBody>
            </p:sp>
            <p:sp>
              <p:nvSpPr>
                <p:cNvPr id="77" name="文本框 72">
                  <a:extLst>
                    <a:ext uri="{FF2B5EF4-FFF2-40B4-BE49-F238E27FC236}">
                      <a16:creationId xmlns:a16="http://schemas.microsoft.com/office/drawing/2014/main" xmlns="" id="{6B2D6926-D412-47E1-9A7E-0DCFECDEA71A}"/>
                    </a:ext>
                  </a:extLst>
                </p:cNvPr>
                <p:cNvSpPr txBox="1"/>
                <p:nvPr/>
              </p:nvSpPr>
              <p:spPr>
                <a:xfrm>
                  <a:off x="2346794" y="6458163"/>
                  <a:ext cx="1192101"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200" dirty="0">
                      <a:solidFill>
                        <a:schemeClr val="bg2"/>
                      </a:solidFill>
                      <a:latin typeface="PingFang SC Light"/>
                    </a:rPr>
                    <a:t>企业高管</a:t>
                  </a:r>
                  <a:endParaRPr kumimoji="0" lang="zh-CN" altLang="en-US" sz="1200" b="0" i="0" u="none" strike="noStrike" cap="none" spc="0" normalizeH="0" baseline="0" dirty="0">
                    <a:ln>
                      <a:noFill/>
                    </a:ln>
                    <a:solidFill>
                      <a:schemeClr val="bg2"/>
                    </a:solidFill>
                    <a:effectLst/>
                    <a:uFillTx/>
                    <a:latin typeface="PingFang SC Light"/>
                    <a:sym typeface="Arial Black"/>
                  </a:endParaRPr>
                </a:p>
              </p:txBody>
            </p:sp>
          </p:grpSp>
          <p:sp>
            <p:nvSpPr>
              <p:cNvPr id="40" name="矩形 8">
                <a:extLst>
                  <a:ext uri="{FF2B5EF4-FFF2-40B4-BE49-F238E27FC236}">
                    <a16:creationId xmlns:a16="http://schemas.microsoft.com/office/drawing/2014/main" xmlns="" id="{E3CFD746-D715-425B-A002-2826031701C0}"/>
                  </a:ext>
                </a:extLst>
              </p:cNvPr>
              <p:cNvSpPr/>
              <p:nvPr/>
            </p:nvSpPr>
            <p:spPr>
              <a:xfrm>
                <a:off x="4512499" y="5462113"/>
                <a:ext cx="1075553" cy="269545"/>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审批时间</a:t>
                </a:r>
              </a:p>
            </p:txBody>
          </p:sp>
          <p:sp>
            <p:nvSpPr>
              <p:cNvPr id="41" name="矩形 73">
                <a:extLst>
                  <a:ext uri="{FF2B5EF4-FFF2-40B4-BE49-F238E27FC236}">
                    <a16:creationId xmlns:a16="http://schemas.microsoft.com/office/drawing/2014/main" xmlns="" id="{71BBCF7F-B65D-4CED-BC2D-C2E5593819B7}"/>
                  </a:ext>
                </a:extLst>
              </p:cNvPr>
              <p:cNvSpPr/>
              <p:nvPr/>
            </p:nvSpPr>
            <p:spPr>
              <a:xfrm>
                <a:off x="4512499" y="5986114"/>
                <a:ext cx="1075553" cy="269545"/>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chemeClr val="bg2"/>
                    </a:solidFill>
                    <a:latin typeface="PingFang SC Light"/>
                    <a:ea typeface="+mn-ea"/>
                    <a:cs typeface="+mn-cs"/>
                    <a:sym typeface="Helvetica Neue Medium"/>
                  </a:rPr>
                  <a:t>初始额度</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43" name="矩形 74">
                <a:extLst>
                  <a:ext uri="{FF2B5EF4-FFF2-40B4-BE49-F238E27FC236}">
                    <a16:creationId xmlns:a16="http://schemas.microsoft.com/office/drawing/2014/main" xmlns="" id="{15F0783B-CA74-470B-8EEF-2707EDD7F386}"/>
                  </a:ext>
                </a:extLst>
              </p:cNvPr>
              <p:cNvSpPr/>
              <p:nvPr/>
            </p:nvSpPr>
            <p:spPr>
              <a:xfrm>
                <a:off x="4512499" y="6480105"/>
                <a:ext cx="1075553" cy="269545"/>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400" dirty="0">
                    <a:solidFill>
                      <a:schemeClr val="bg2"/>
                    </a:solidFill>
                    <a:latin typeface="PingFang SC Light"/>
                    <a:ea typeface="+mn-ea"/>
                    <a:cs typeface="+mn-cs"/>
                    <a:sym typeface="Helvetica Neue Medium"/>
                  </a:rPr>
                  <a:t>贷后额度</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44" name="矩形 11">
                <a:extLst>
                  <a:ext uri="{FF2B5EF4-FFF2-40B4-BE49-F238E27FC236}">
                    <a16:creationId xmlns:a16="http://schemas.microsoft.com/office/drawing/2014/main" xmlns="" id="{CC5D2C64-AF4A-4382-9250-EE18F32A4ABD}"/>
                  </a:ext>
                </a:extLst>
              </p:cNvPr>
              <p:cNvSpPr/>
              <p:nvPr/>
            </p:nvSpPr>
            <p:spPr>
              <a:xfrm>
                <a:off x="5867750" y="5462113"/>
                <a:ext cx="900000" cy="270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chemeClr val="bg2"/>
                    </a:solidFill>
                    <a:effectLst/>
                    <a:uFillTx/>
                    <a:latin typeface="PingFang SC Light"/>
                    <a:ea typeface="+mn-ea"/>
                    <a:cs typeface="+mn-cs"/>
                    <a:sym typeface="Helvetica Neue Medium"/>
                  </a:rPr>
                  <a:t>1</a:t>
                </a: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个月</a:t>
                </a:r>
              </a:p>
            </p:txBody>
          </p:sp>
          <p:sp>
            <p:nvSpPr>
              <p:cNvPr id="45" name="矩形 76">
                <a:extLst>
                  <a:ext uri="{FF2B5EF4-FFF2-40B4-BE49-F238E27FC236}">
                    <a16:creationId xmlns:a16="http://schemas.microsoft.com/office/drawing/2014/main" xmlns="" id="{0EE590B4-4EEE-459B-BBBB-1020124CCC72}"/>
                  </a:ext>
                </a:extLst>
              </p:cNvPr>
              <p:cNvSpPr/>
              <p:nvPr/>
            </p:nvSpPr>
            <p:spPr>
              <a:xfrm>
                <a:off x="5867750" y="5986114"/>
                <a:ext cx="900000" cy="270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chemeClr val="bg2"/>
                    </a:solidFill>
                    <a:effectLst/>
                    <a:uFillTx/>
                    <a:latin typeface="PingFang SC Light"/>
                    <a:ea typeface="+mn-ea"/>
                    <a:cs typeface="+mn-cs"/>
                    <a:sym typeface="Helvetica Neue Medium"/>
                  </a:rPr>
                  <a:t>8K</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48" name="矩形 78">
                <a:extLst>
                  <a:ext uri="{FF2B5EF4-FFF2-40B4-BE49-F238E27FC236}">
                    <a16:creationId xmlns:a16="http://schemas.microsoft.com/office/drawing/2014/main" xmlns="" id="{56A90E82-82B2-43DF-91F9-847E206B12D4}"/>
                  </a:ext>
                </a:extLst>
              </p:cNvPr>
              <p:cNvSpPr/>
              <p:nvPr/>
            </p:nvSpPr>
            <p:spPr>
              <a:xfrm>
                <a:off x="5861060" y="6480105"/>
                <a:ext cx="900000" cy="270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无变化</a:t>
                </a:r>
              </a:p>
            </p:txBody>
          </p:sp>
          <p:sp>
            <p:nvSpPr>
              <p:cNvPr id="50" name="矩形 79">
                <a:extLst>
                  <a:ext uri="{FF2B5EF4-FFF2-40B4-BE49-F238E27FC236}">
                    <a16:creationId xmlns:a16="http://schemas.microsoft.com/office/drawing/2014/main" xmlns="" id="{2CC7AFC6-5339-424F-9F2B-AD6693CC5C13}"/>
                  </a:ext>
                </a:extLst>
              </p:cNvPr>
              <p:cNvSpPr/>
              <p:nvPr/>
            </p:nvSpPr>
            <p:spPr>
              <a:xfrm>
                <a:off x="7261118" y="5462113"/>
                <a:ext cx="900000" cy="270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chemeClr val="bg2"/>
                    </a:solidFill>
                    <a:effectLst/>
                    <a:uFillTx/>
                    <a:latin typeface="PingFang SC Light"/>
                    <a:ea typeface="+mn-ea"/>
                    <a:cs typeface="+mn-cs"/>
                    <a:sym typeface="Helvetica Neue Medium"/>
                  </a:rPr>
                  <a:t>1</a:t>
                </a:r>
                <a:r>
                  <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rPr>
                  <a:t>个工作日</a:t>
                </a:r>
              </a:p>
            </p:txBody>
          </p:sp>
          <p:sp>
            <p:nvSpPr>
              <p:cNvPr id="57" name="矩形 80">
                <a:extLst>
                  <a:ext uri="{FF2B5EF4-FFF2-40B4-BE49-F238E27FC236}">
                    <a16:creationId xmlns:a16="http://schemas.microsoft.com/office/drawing/2014/main" xmlns="" id="{A12E9004-A29A-4639-B58B-015C12623E7E}"/>
                  </a:ext>
                </a:extLst>
              </p:cNvPr>
              <p:cNvSpPr/>
              <p:nvPr/>
            </p:nvSpPr>
            <p:spPr>
              <a:xfrm>
                <a:off x="7261118" y="5986114"/>
                <a:ext cx="900000" cy="270000"/>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chemeClr val="bg2"/>
                    </a:solidFill>
                    <a:effectLst/>
                    <a:uFillTx/>
                    <a:latin typeface="PingFang SC Light"/>
                    <a:ea typeface="+mn-ea"/>
                    <a:cs typeface="+mn-cs"/>
                    <a:sym typeface="Helvetica Neue Medium"/>
                  </a:rPr>
                  <a:t>40K</a:t>
                </a:r>
                <a:endParaRPr kumimoji="0" lang="zh-CN" altLang="en-US" sz="1400" b="0" i="0" u="none" strike="noStrike" cap="none" spc="0" normalizeH="0" baseline="0" dirty="0">
                  <a:ln>
                    <a:noFill/>
                  </a:ln>
                  <a:solidFill>
                    <a:schemeClr val="bg2"/>
                  </a:solidFill>
                  <a:effectLst/>
                  <a:uFillTx/>
                  <a:latin typeface="PingFang SC Light"/>
                  <a:ea typeface="+mn-ea"/>
                  <a:cs typeface="+mn-cs"/>
                  <a:sym typeface="Helvetica Neue Medium"/>
                </a:endParaRPr>
              </a:p>
            </p:txBody>
          </p:sp>
          <p:sp>
            <p:nvSpPr>
              <p:cNvPr id="58" name="矩形 81">
                <a:extLst>
                  <a:ext uri="{FF2B5EF4-FFF2-40B4-BE49-F238E27FC236}">
                    <a16:creationId xmlns:a16="http://schemas.microsoft.com/office/drawing/2014/main" xmlns="" id="{820923D7-B973-4A39-9DCF-FD1D24E2C8D9}"/>
                  </a:ext>
                </a:extLst>
              </p:cNvPr>
              <p:cNvSpPr/>
              <p:nvPr/>
            </p:nvSpPr>
            <p:spPr>
              <a:xfrm>
                <a:off x="7254428" y="6503415"/>
                <a:ext cx="900000" cy="223378"/>
              </a:xfrm>
              <a:prstGeom prst="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100" dirty="0">
                    <a:solidFill>
                      <a:schemeClr val="bg2"/>
                    </a:solidFill>
                    <a:latin typeface="PingFang SC Light"/>
                    <a:ea typeface="+mn-ea"/>
                    <a:cs typeface="+mn-cs"/>
                    <a:sym typeface="Helvetica Neue Medium"/>
                  </a:rPr>
                  <a:t>因时因势</a:t>
                </a:r>
                <a:r>
                  <a:rPr kumimoji="0" lang="zh-CN" altLang="en-US" sz="1100" b="0" i="0" u="none" strike="noStrike" cap="none" spc="0" normalizeH="0" baseline="0" dirty="0">
                    <a:ln>
                      <a:noFill/>
                    </a:ln>
                    <a:solidFill>
                      <a:schemeClr val="bg2"/>
                    </a:solidFill>
                    <a:effectLst/>
                    <a:uFillTx/>
                    <a:latin typeface="PingFang SC Light"/>
                    <a:ea typeface="+mn-ea"/>
                    <a:cs typeface="+mn-cs"/>
                    <a:sym typeface="Helvetica Neue Medium"/>
                  </a:rPr>
                  <a:t>变化</a:t>
                </a:r>
              </a:p>
            </p:txBody>
          </p:sp>
          <p:sp>
            <p:nvSpPr>
              <p:cNvPr id="59" name="箭头: 虚尾 12">
                <a:extLst>
                  <a:ext uri="{FF2B5EF4-FFF2-40B4-BE49-F238E27FC236}">
                    <a16:creationId xmlns:a16="http://schemas.microsoft.com/office/drawing/2014/main" xmlns="" id="{9961DB5A-8C79-4CD2-A500-ED5FDF461C42}"/>
                  </a:ext>
                </a:extLst>
              </p:cNvPr>
              <p:cNvSpPr/>
              <p:nvPr/>
            </p:nvSpPr>
            <p:spPr>
              <a:xfrm>
                <a:off x="8353882" y="6508842"/>
                <a:ext cx="543942" cy="252000"/>
              </a:xfrm>
              <a:prstGeom prst="stripedRightArrow">
                <a:avLst>
                  <a:gd name="adj1" fmla="val 50000"/>
                  <a:gd name="adj2" fmla="val 47246"/>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PingFang SC Light"/>
                  <a:ea typeface="+mn-ea"/>
                  <a:cs typeface="+mn-cs"/>
                  <a:sym typeface="Helvetica Neue Medium"/>
                </a:endParaRPr>
              </a:p>
            </p:txBody>
          </p:sp>
          <p:sp>
            <p:nvSpPr>
              <p:cNvPr id="60" name="文本框 14">
                <a:extLst>
                  <a:ext uri="{FF2B5EF4-FFF2-40B4-BE49-F238E27FC236}">
                    <a16:creationId xmlns:a16="http://schemas.microsoft.com/office/drawing/2014/main" xmlns="" id="{09FDA778-B751-4C58-A392-1F30B2DA1522}"/>
                  </a:ext>
                </a:extLst>
              </p:cNvPr>
              <p:cNvSpPr txBox="1"/>
              <p:nvPr/>
            </p:nvSpPr>
            <p:spPr>
              <a:xfrm>
                <a:off x="6770824" y="5453165"/>
                <a:ext cx="493368" cy="2387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bg2"/>
                    </a:solidFill>
                    <a:effectLst/>
                    <a:uFillTx/>
                    <a:latin typeface="PingFang SC Light"/>
                    <a:sym typeface="Arial Black"/>
                  </a:rPr>
                  <a:t>V.S.</a:t>
                </a:r>
                <a:endParaRPr kumimoji="0" lang="zh-CN" altLang="en-US" sz="1200" b="0" i="0" u="none" strike="noStrike" cap="none" spc="0" normalizeH="0" baseline="0" dirty="0">
                  <a:ln>
                    <a:noFill/>
                  </a:ln>
                  <a:solidFill>
                    <a:schemeClr val="bg2"/>
                  </a:solidFill>
                  <a:effectLst/>
                  <a:uFillTx/>
                  <a:latin typeface="PingFang SC Light"/>
                  <a:sym typeface="Arial Black"/>
                </a:endParaRPr>
              </a:p>
            </p:txBody>
          </p:sp>
          <p:cxnSp>
            <p:nvCxnSpPr>
              <p:cNvPr id="61" name="直接连接符 17">
                <a:extLst>
                  <a:ext uri="{FF2B5EF4-FFF2-40B4-BE49-F238E27FC236}">
                    <a16:creationId xmlns:a16="http://schemas.microsoft.com/office/drawing/2014/main" xmlns="" id="{195E2CC7-9571-4052-BD91-809B965C44B9}"/>
                  </a:ext>
                </a:extLst>
              </p:cNvPr>
              <p:cNvCxnSpPr/>
              <p:nvPr/>
            </p:nvCxnSpPr>
            <p:spPr>
              <a:xfrm>
                <a:off x="5588052" y="5731658"/>
                <a:ext cx="2727910"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cxnSp>
            <p:nvCxnSpPr>
              <p:cNvPr id="62" name="直接连接符 86">
                <a:extLst>
                  <a:ext uri="{FF2B5EF4-FFF2-40B4-BE49-F238E27FC236}">
                    <a16:creationId xmlns:a16="http://schemas.microsoft.com/office/drawing/2014/main" xmlns="" id="{82A2D800-CE4D-4F9D-8F78-2EB3D4FD3375}"/>
                  </a:ext>
                </a:extLst>
              </p:cNvPr>
              <p:cNvCxnSpPr/>
              <p:nvPr/>
            </p:nvCxnSpPr>
            <p:spPr>
              <a:xfrm>
                <a:off x="5625279" y="6254165"/>
                <a:ext cx="2727910"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cxnSp>
            <p:nvCxnSpPr>
              <p:cNvPr id="63" name="直接连接符 87">
                <a:extLst>
                  <a:ext uri="{FF2B5EF4-FFF2-40B4-BE49-F238E27FC236}">
                    <a16:creationId xmlns:a16="http://schemas.microsoft.com/office/drawing/2014/main" xmlns="" id="{E1732D48-9CA3-4CFD-9138-19FA64729F04}"/>
                  </a:ext>
                </a:extLst>
              </p:cNvPr>
              <p:cNvCxnSpPr/>
              <p:nvPr/>
            </p:nvCxnSpPr>
            <p:spPr>
              <a:xfrm>
                <a:off x="5617557" y="6754906"/>
                <a:ext cx="2727910"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sp>
            <p:nvSpPr>
              <p:cNvPr id="71" name="文本框 19">
                <a:extLst>
                  <a:ext uri="{FF2B5EF4-FFF2-40B4-BE49-F238E27FC236}">
                    <a16:creationId xmlns:a16="http://schemas.microsoft.com/office/drawing/2014/main" xmlns="" id="{A65C711E-45CE-4AF7-9B3A-B4C979009FE1}"/>
                  </a:ext>
                </a:extLst>
              </p:cNvPr>
              <p:cNvSpPr txBox="1"/>
              <p:nvPr/>
            </p:nvSpPr>
            <p:spPr>
              <a:xfrm>
                <a:off x="9043569" y="5382052"/>
                <a:ext cx="2203486" cy="160529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R="0" defTabSz="410765" rtl="0" fontAlgn="auto" latinLnBrk="0" hangingPunct="0">
                  <a:lnSpc>
                    <a:spcPct val="120000"/>
                  </a:lnSpc>
                  <a:spcBef>
                    <a:spcPts val="0"/>
                  </a:spcBef>
                  <a:spcAft>
                    <a:spcPts val="0"/>
                  </a:spcAft>
                  <a:buClrTx/>
                  <a:buSzTx/>
                  <a:tabLst/>
                </a:pPr>
                <a:r>
                  <a:rPr lang="zh-CN" altLang="en-US" sz="1200" dirty="0">
                    <a:solidFill>
                      <a:schemeClr val="bg2"/>
                    </a:solidFill>
                    <a:latin typeface="PingFang SC Light"/>
                  </a:rPr>
                  <a:t>变化举例</a:t>
                </a:r>
                <a:endParaRPr lang="en-US" altLang="zh-CN" sz="1200" dirty="0">
                  <a:solidFill>
                    <a:schemeClr val="bg2"/>
                  </a:solidFill>
                  <a:latin typeface="PingFang SC Light"/>
                </a:endParaRPr>
              </a:p>
              <a:p>
                <a:pPr marR="0" defTabSz="410765" rtl="0" fontAlgn="auto" latinLnBrk="0" hangingPunct="0">
                  <a:lnSpc>
                    <a:spcPct val="120000"/>
                  </a:lnSpc>
                  <a:spcBef>
                    <a:spcPts val="0"/>
                  </a:spcBef>
                  <a:spcAft>
                    <a:spcPts val="0"/>
                  </a:spcAft>
                  <a:buClrTx/>
                  <a:buSzTx/>
                  <a:tabLst/>
                </a:pPr>
                <a:endParaRPr lang="en-US" altLang="zh-CN" sz="1200" dirty="0">
                  <a:solidFill>
                    <a:schemeClr val="bg2"/>
                  </a:solidFill>
                  <a:latin typeface="PingFang SC Light"/>
                </a:endParaRPr>
              </a:p>
              <a:p>
                <a:pPr marL="171450" marR="0" indent="-171450" algn="l" defTabSz="410765" rtl="0" fontAlgn="auto" latinLnBrk="0" hangingPunct="0">
                  <a:lnSpc>
                    <a:spcPct val="120000"/>
                  </a:lnSpc>
                  <a:spcBef>
                    <a:spcPts val="0"/>
                  </a:spcBef>
                  <a:spcAft>
                    <a:spcPts val="0"/>
                  </a:spcAft>
                  <a:buClrTx/>
                  <a:buSzTx/>
                  <a:buFont typeface="Arial" panose="020B0604020202020204" pitchFamily="34" charset="0"/>
                  <a:buChar char="•"/>
                  <a:tabLst/>
                </a:pPr>
                <a:r>
                  <a:rPr lang="zh-CN" altLang="en-US" sz="1200" dirty="0">
                    <a:solidFill>
                      <a:schemeClr val="bg2"/>
                    </a:solidFill>
                    <a:latin typeface="PingFang SC Light"/>
                  </a:rPr>
                  <a:t>薪资上涨，调增固定额度</a:t>
                </a:r>
                <a:endParaRPr lang="en-US" altLang="zh-CN" sz="1200" dirty="0">
                  <a:solidFill>
                    <a:schemeClr val="bg2"/>
                  </a:solidFill>
                  <a:latin typeface="PingFang SC Light"/>
                </a:endParaRPr>
              </a:p>
              <a:p>
                <a:pPr marL="171450" marR="0" indent="-171450" algn="l" defTabSz="410765" rtl="0" fontAlgn="auto" latinLnBrk="0" hangingPunct="0">
                  <a:lnSpc>
                    <a:spcPct val="120000"/>
                  </a:lnSpc>
                  <a:spcBef>
                    <a:spcPts val="0"/>
                  </a:spcBef>
                  <a:spcAft>
                    <a:spcPts val="0"/>
                  </a:spcAft>
                  <a:buClrTx/>
                  <a:buSzTx/>
                  <a:buFont typeface="Arial" panose="020B0604020202020204" pitchFamily="34" charset="0"/>
                  <a:buChar char="•"/>
                  <a:tabLst/>
                </a:pPr>
                <a:r>
                  <a:rPr lang="zh-CN" altLang="en-US" sz="1200" dirty="0">
                    <a:solidFill>
                      <a:schemeClr val="bg2"/>
                    </a:solidFill>
                    <a:latin typeface="PingFang SC Light"/>
                  </a:rPr>
                  <a:t>节假日，调增临时额度</a:t>
                </a:r>
                <a:endParaRPr lang="en-US" altLang="zh-CN" sz="1200" dirty="0">
                  <a:solidFill>
                    <a:schemeClr val="bg2"/>
                  </a:solidFill>
                  <a:latin typeface="PingFang SC Light"/>
                </a:endParaRPr>
              </a:p>
              <a:p>
                <a:pPr marL="171450" marR="0" indent="-171450" algn="l" defTabSz="410765" rtl="0" fontAlgn="auto" latinLnBrk="0" hangingPunct="0">
                  <a:lnSpc>
                    <a:spcPct val="120000"/>
                  </a:lnSpc>
                  <a:spcBef>
                    <a:spcPts val="0"/>
                  </a:spcBef>
                  <a:spcAft>
                    <a:spcPts val="0"/>
                  </a:spcAft>
                  <a:buClrTx/>
                  <a:buSzTx/>
                  <a:buFont typeface="Arial" panose="020B0604020202020204" pitchFamily="34" charset="0"/>
                  <a:buChar char="•"/>
                  <a:tabLst/>
                </a:pPr>
                <a:r>
                  <a:rPr lang="zh-CN" altLang="en-US" sz="1200" dirty="0">
                    <a:solidFill>
                      <a:schemeClr val="bg2"/>
                    </a:solidFill>
                    <a:latin typeface="PingFang SC Light"/>
                  </a:rPr>
                  <a:t>信用状况变化，调减额度</a:t>
                </a:r>
                <a:endParaRPr lang="en-US" altLang="zh-CN" sz="1200" dirty="0">
                  <a:solidFill>
                    <a:schemeClr val="bg2"/>
                  </a:solidFill>
                  <a:latin typeface="PingFang SC Light"/>
                </a:endParaRPr>
              </a:p>
              <a:p>
                <a:pPr marL="171450" marR="0" indent="-171450" algn="l" defTabSz="410765" rtl="0" fontAlgn="auto" latinLnBrk="0" hangingPunct="0">
                  <a:lnSpc>
                    <a:spcPct val="120000"/>
                  </a:lnSpc>
                  <a:spcBef>
                    <a:spcPts val="0"/>
                  </a:spcBef>
                  <a:spcAft>
                    <a:spcPts val="0"/>
                  </a:spcAft>
                  <a:buClrTx/>
                  <a:buSzTx/>
                  <a:buFont typeface="Arial" panose="020B0604020202020204" pitchFamily="34" charset="0"/>
                  <a:buChar char="•"/>
                  <a:tabLst/>
                </a:pPr>
                <a:r>
                  <a:rPr lang="zh-CN" altLang="en-US" sz="1200" dirty="0">
                    <a:solidFill>
                      <a:schemeClr val="bg2"/>
                    </a:solidFill>
                    <a:latin typeface="PingFang SC Light"/>
                  </a:rPr>
                  <a:t>大额交易后，推送分期</a:t>
                </a:r>
                <a:endParaRPr lang="en-US" altLang="zh-CN" sz="1200" dirty="0">
                  <a:solidFill>
                    <a:schemeClr val="bg2"/>
                  </a:solidFill>
                  <a:latin typeface="PingFang SC Light"/>
                </a:endParaRPr>
              </a:p>
              <a:p>
                <a:pPr marL="0" marR="0" indent="0" algn="ctr" defTabSz="410765" rtl="0" fontAlgn="auto" latinLnBrk="0" hangingPunct="0">
                  <a:lnSpc>
                    <a:spcPct val="120000"/>
                  </a:lnSpc>
                  <a:spcBef>
                    <a:spcPts val="0"/>
                  </a:spcBef>
                  <a:spcAft>
                    <a:spcPts val="0"/>
                  </a:spcAft>
                  <a:buClrTx/>
                  <a:buSzTx/>
                  <a:buFontTx/>
                  <a:buNone/>
                  <a:tabLst/>
                </a:pPr>
                <a:endParaRPr lang="en-US" altLang="zh-CN" sz="1200" dirty="0">
                  <a:solidFill>
                    <a:schemeClr val="bg2"/>
                  </a:solidFill>
                  <a:latin typeface="PingFang SC Light"/>
                </a:endParaRPr>
              </a:p>
            </p:txBody>
          </p:sp>
        </p:grpSp>
        <p:sp>
          <p:nvSpPr>
            <p:cNvPr id="34" name="矩形: 圆角 23">
              <a:extLst>
                <a:ext uri="{FF2B5EF4-FFF2-40B4-BE49-F238E27FC236}">
                  <a16:creationId xmlns:a16="http://schemas.microsoft.com/office/drawing/2014/main" xmlns="" id="{7F9FC19B-8C65-46AE-B516-8C91B062F3F4}"/>
                </a:ext>
              </a:extLst>
            </p:cNvPr>
            <p:cNvSpPr/>
            <p:nvPr/>
          </p:nvSpPr>
          <p:spPr>
            <a:xfrm>
              <a:off x="4192710" y="4966874"/>
              <a:ext cx="4235686" cy="1574241"/>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5" name="矩形: 圆角 26">
              <a:extLst>
                <a:ext uri="{FF2B5EF4-FFF2-40B4-BE49-F238E27FC236}">
                  <a16:creationId xmlns:a16="http://schemas.microsoft.com/office/drawing/2014/main" xmlns="" id="{75CD7407-183F-4FBA-9B02-CECE585282B7}"/>
                </a:ext>
              </a:extLst>
            </p:cNvPr>
            <p:cNvSpPr/>
            <p:nvPr/>
          </p:nvSpPr>
          <p:spPr>
            <a:xfrm>
              <a:off x="8893937" y="4966873"/>
              <a:ext cx="2134531" cy="1574241"/>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36" name="直接连接符 28">
              <a:extLst>
                <a:ext uri="{FF2B5EF4-FFF2-40B4-BE49-F238E27FC236}">
                  <a16:creationId xmlns:a16="http://schemas.microsoft.com/office/drawing/2014/main" xmlns="" id="{F73E1F8E-1430-448B-8B12-EB583C5D83F8}"/>
                </a:ext>
              </a:extLst>
            </p:cNvPr>
            <p:cNvCxnSpPr/>
            <p:nvPr/>
          </p:nvCxnSpPr>
          <p:spPr>
            <a:xfrm>
              <a:off x="8893937" y="5402089"/>
              <a:ext cx="1944000" cy="0"/>
            </a:xfrm>
            <a:prstGeom prst="line">
              <a:avLst/>
            </a:prstGeom>
            <a:noFill/>
            <a:ln w="3175" cap="flat">
              <a:solidFill>
                <a:srgbClr val="D4A344"/>
              </a:solidFill>
              <a:prstDash val="solid"/>
              <a:miter lim="400000"/>
            </a:ln>
            <a:effectLst/>
            <a:sp3d/>
          </p:spPr>
          <p:style>
            <a:lnRef idx="0">
              <a:scrgbClr r="0" g="0" b="0"/>
            </a:lnRef>
            <a:fillRef idx="0">
              <a:scrgbClr r="0" g="0" b="0"/>
            </a:fillRef>
            <a:effectRef idx="0">
              <a:scrgbClr r="0" g="0" b="0"/>
            </a:effectRef>
            <a:fontRef idx="none"/>
          </p:style>
        </p:cxnSp>
        <p:sp>
          <p:nvSpPr>
            <p:cNvPr id="37" name="矩形: 圆角 30">
              <a:extLst>
                <a:ext uri="{FF2B5EF4-FFF2-40B4-BE49-F238E27FC236}">
                  <a16:creationId xmlns:a16="http://schemas.microsoft.com/office/drawing/2014/main" xmlns="" id="{5D888221-E446-4910-A0F2-EA0E06D42DEB}"/>
                </a:ext>
              </a:extLst>
            </p:cNvPr>
            <p:cNvSpPr/>
            <p:nvPr/>
          </p:nvSpPr>
          <p:spPr>
            <a:xfrm>
              <a:off x="1595045" y="4967915"/>
              <a:ext cx="2011133" cy="147629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8" name="箭头: 虚尾 98">
              <a:extLst>
                <a:ext uri="{FF2B5EF4-FFF2-40B4-BE49-F238E27FC236}">
                  <a16:creationId xmlns:a16="http://schemas.microsoft.com/office/drawing/2014/main" xmlns="" id="{BCE9F631-A185-43FC-80C5-E9F8689C5343}"/>
                </a:ext>
              </a:extLst>
            </p:cNvPr>
            <p:cNvSpPr/>
            <p:nvPr/>
          </p:nvSpPr>
          <p:spPr>
            <a:xfrm>
              <a:off x="3668350" y="5590550"/>
              <a:ext cx="396000" cy="252000"/>
            </a:xfrm>
            <a:prstGeom prst="stripedRightArrow">
              <a:avLst>
                <a:gd name="adj1" fmla="val 50000"/>
                <a:gd name="adj2" fmla="val 47246"/>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PingFang SC Light"/>
                <a:ea typeface="+mn-ea"/>
                <a:cs typeface="+mn-cs"/>
                <a:sym typeface="Helvetica Neue Medium"/>
              </a:endParaRPr>
            </a:p>
          </p:txBody>
        </p:sp>
      </p:grpSp>
    </p:spTree>
    <p:extLst>
      <p:ext uri="{BB962C8B-B14F-4D97-AF65-F5344CB8AC3E}">
        <p14:creationId xmlns:p14="http://schemas.microsoft.com/office/powerpoint/2010/main" val="3473431415"/>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84724" y="427048"/>
            <a:ext cx="1253576" cy="332979"/>
          </a:xfrm>
          <a:prstGeom prst="rect">
            <a:avLst/>
          </a:prstGeom>
          <a:ln w="3175">
            <a:miter lim="400000"/>
          </a:ln>
        </p:spPr>
      </p:pic>
      <p:sp>
        <p:nvSpPr>
          <p:cNvPr id="42" name="标题">
            <a:extLst>
              <a:ext uri="{FF2B5EF4-FFF2-40B4-BE49-F238E27FC236}">
                <a16:creationId xmlns:a16="http://schemas.microsoft.com/office/drawing/2014/main" xmlns="" id="{AE4BA4B2-976D-4444-9722-56B8CCD159A5}"/>
              </a:ext>
            </a:extLst>
          </p:cNvPr>
          <p:cNvSpPr txBox="1"/>
          <p:nvPr/>
        </p:nvSpPr>
        <p:spPr>
          <a:xfrm>
            <a:off x="1499454" y="488440"/>
            <a:ext cx="2618906"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核心风控：线上反欺诈</a:t>
            </a:r>
            <a:endParaRPr sz="2000" dirty="0"/>
          </a:p>
        </p:txBody>
      </p:sp>
      <p:grpSp>
        <p:nvGrpSpPr>
          <p:cNvPr id="38" name="组合 37">
            <a:extLst>
              <a:ext uri="{FF2B5EF4-FFF2-40B4-BE49-F238E27FC236}">
                <a16:creationId xmlns:a16="http://schemas.microsoft.com/office/drawing/2014/main" xmlns="" id="{D282837E-D66F-41E1-835B-012B7E18DDD6}"/>
              </a:ext>
            </a:extLst>
          </p:cNvPr>
          <p:cNvGrpSpPr/>
          <p:nvPr/>
        </p:nvGrpSpPr>
        <p:grpSpPr>
          <a:xfrm>
            <a:off x="1509795" y="3963248"/>
            <a:ext cx="5644579" cy="1811661"/>
            <a:chOff x="1832240" y="4185622"/>
            <a:chExt cx="5644579" cy="1811661"/>
          </a:xfrm>
        </p:grpSpPr>
        <p:sp>
          <p:nvSpPr>
            <p:cNvPr id="25" name="矩形 24">
              <a:extLst>
                <a:ext uri="{FF2B5EF4-FFF2-40B4-BE49-F238E27FC236}">
                  <a16:creationId xmlns:a16="http://schemas.microsoft.com/office/drawing/2014/main" xmlns="" id="{33EA630C-A1DE-4D92-BC03-62689F269FC6}"/>
                </a:ext>
              </a:extLst>
            </p:cNvPr>
            <p:cNvSpPr/>
            <p:nvPr/>
          </p:nvSpPr>
          <p:spPr>
            <a:xfrm>
              <a:off x="1832240" y="4185622"/>
              <a:ext cx="5644565" cy="215684"/>
            </a:xfrm>
            <a:prstGeom prst="rect">
              <a:avLst/>
            </a:prstGeom>
            <a:solidFill>
              <a:srgbClr val="D4A344"/>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50" dirty="0">
                  <a:latin typeface="+mn-lt"/>
                  <a:ea typeface="+mn-ea"/>
                  <a:cs typeface="+mn-cs"/>
                  <a:sym typeface="Helvetica Neue Medium"/>
                </a:rPr>
                <a:t>解决方案的演进</a:t>
              </a: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0" name="文本框 9">
              <a:extLst>
                <a:ext uri="{FF2B5EF4-FFF2-40B4-BE49-F238E27FC236}">
                  <a16:creationId xmlns:a16="http://schemas.microsoft.com/office/drawing/2014/main" xmlns="" id="{868B64D9-ED39-4039-AAA9-6E033608C828}"/>
                </a:ext>
              </a:extLst>
            </p:cNvPr>
            <p:cNvSpPr txBox="1"/>
            <p:nvPr/>
          </p:nvSpPr>
          <p:spPr>
            <a:xfrm>
              <a:off x="1862652" y="5423035"/>
              <a:ext cx="1415179"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人力物力投入高</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效率低</a:t>
              </a:r>
            </a:p>
          </p:txBody>
        </p:sp>
        <p:sp>
          <p:nvSpPr>
            <p:cNvPr id="24" name="矩形: 圆角 23">
              <a:extLst>
                <a:ext uri="{FF2B5EF4-FFF2-40B4-BE49-F238E27FC236}">
                  <a16:creationId xmlns:a16="http://schemas.microsoft.com/office/drawing/2014/main" xmlns="" id="{7F9FC19B-8C65-46AE-B516-8C91B062F3F4}"/>
                </a:ext>
              </a:extLst>
            </p:cNvPr>
            <p:cNvSpPr/>
            <p:nvPr/>
          </p:nvSpPr>
          <p:spPr>
            <a:xfrm>
              <a:off x="1832241" y="5061283"/>
              <a:ext cx="1476000" cy="936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 name="椭圆 13">
              <a:extLst>
                <a:ext uri="{FF2B5EF4-FFF2-40B4-BE49-F238E27FC236}">
                  <a16:creationId xmlns:a16="http://schemas.microsoft.com/office/drawing/2014/main" xmlns="" id="{D663C6E8-9557-4226-AC8C-5F6AB2F9173A}"/>
                </a:ext>
              </a:extLst>
            </p:cNvPr>
            <p:cNvSpPr/>
            <p:nvPr/>
          </p:nvSpPr>
          <p:spPr>
            <a:xfrm>
              <a:off x="2246241" y="4647830"/>
              <a:ext cx="648000" cy="648000"/>
            </a:xfrm>
            <a:prstGeom prst="ellipse">
              <a:avLst/>
            </a:prstGeom>
            <a:solidFill>
              <a:schemeClr val="bg1"/>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62" name="文本框 61">
              <a:extLst>
                <a:ext uri="{FF2B5EF4-FFF2-40B4-BE49-F238E27FC236}">
                  <a16:creationId xmlns:a16="http://schemas.microsoft.com/office/drawing/2014/main" xmlns="" id="{9A85C490-CFB4-4B66-BE10-3E24BD784F07}"/>
                </a:ext>
              </a:extLst>
            </p:cNvPr>
            <p:cNvSpPr txBox="1"/>
            <p:nvPr/>
          </p:nvSpPr>
          <p:spPr>
            <a:xfrm>
              <a:off x="1917540" y="4748052"/>
              <a:ext cx="1305403"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人工</a:t>
              </a:r>
              <a:endParaRPr lang="en-US" altLang="zh-CN" sz="105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kumimoji="0" lang="zh-CN" altLang="en-US" sz="1050" b="0" i="0" u="none" strike="noStrike" cap="none" spc="0" normalizeH="0" baseline="0" dirty="0">
                  <a:ln>
                    <a:noFill/>
                  </a:ln>
                  <a:solidFill>
                    <a:schemeClr val="bg2"/>
                  </a:solidFill>
                  <a:effectLst/>
                  <a:uFillTx/>
                  <a:latin typeface="PingFang SC Light"/>
                  <a:sym typeface="Arial Black"/>
                </a:rPr>
                <a:t>审核</a:t>
              </a:r>
            </a:p>
          </p:txBody>
        </p:sp>
        <p:sp>
          <p:nvSpPr>
            <p:cNvPr id="91" name="文本框 90">
              <a:extLst>
                <a:ext uri="{FF2B5EF4-FFF2-40B4-BE49-F238E27FC236}">
                  <a16:creationId xmlns:a16="http://schemas.microsoft.com/office/drawing/2014/main" xmlns="" id="{C6F45CE8-5C71-4EDE-93E9-D362BED04D9E}"/>
                </a:ext>
              </a:extLst>
            </p:cNvPr>
            <p:cNvSpPr txBox="1"/>
            <p:nvPr/>
          </p:nvSpPr>
          <p:spPr>
            <a:xfrm>
              <a:off x="3659198" y="5269147"/>
              <a:ext cx="1990663" cy="66965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措施：</a:t>
              </a:r>
              <a:r>
                <a:rPr kumimoji="0" lang="en-US" altLang="zh-CN" sz="1000" b="0" i="0" u="none" strike="noStrike" cap="none" spc="0" normalizeH="0" baseline="0" dirty="0">
                  <a:ln>
                    <a:noFill/>
                  </a:ln>
                  <a:solidFill>
                    <a:schemeClr val="bg2"/>
                  </a:solidFill>
                  <a:effectLst/>
                  <a:uFillTx/>
                  <a:latin typeface="PingFang SC Light"/>
                  <a:sym typeface="Arial Black"/>
                </a:rPr>
                <a:t>IP</a:t>
              </a:r>
              <a:r>
                <a:rPr kumimoji="0" lang="zh-CN" altLang="en-US" sz="1000" b="0" i="0" u="none" strike="noStrike" cap="none" spc="0" normalizeH="0" baseline="0" dirty="0">
                  <a:ln>
                    <a:noFill/>
                  </a:ln>
                  <a:solidFill>
                    <a:schemeClr val="bg2"/>
                  </a:solidFill>
                  <a:effectLst/>
                  <a:uFillTx/>
                  <a:latin typeface="PingFang SC Light"/>
                  <a:sym typeface="Arial Black"/>
                </a:rPr>
                <a:t>、</a:t>
              </a:r>
              <a:r>
                <a:rPr kumimoji="0" lang="en-US" altLang="zh-CN" sz="1000" b="0" i="0" u="none" strike="noStrike" cap="none" spc="0" normalizeH="0" baseline="0" dirty="0">
                  <a:ln>
                    <a:noFill/>
                  </a:ln>
                  <a:solidFill>
                    <a:schemeClr val="bg2"/>
                  </a:solidFill>
                  <a:effectLst/>
                  <a:uFillTx/>
                  <a:latin typeface="PingFang SC Light"/>
                  <a:sym typeface="Arial Black"/>
                </a:rPr>
                <a:t>DID</a:t>
              </a:r>
              <a:r>
                <a:rPr kumimoji="0" lang="zh-CN" altLang="en-US" sz="1000" b="0" i="0" u="none" strike="noStrike" cap="none" spc="0" normalizeH="0" baseline="0" dirty="0">
                  <a:ln>
                    <a:noFill/>
                  </a:ln>
                  <a:solidFill>
                    <a:schemeClr val="bg2"/>
                  </a:solidFill>
                  <a:effectLst/>
                  <a:uFillTx/>
                  <a:latin typeface="PingFang SC Light"/>
                  <a:sym typeface="Arial Black"/>
                </a:rPr>
                <a:t>频次限制</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易规避</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多误伤</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93" name="矩形: 圆角 92">
              <a:extLst>
                <a:ext uri="{FF2B5EF4-FFF2-40B4-BE49-F238E27FC236}">
                  <a16:creationId xmlns:a16="http://schemas.microsoft.com/office/drawing/2014/main" xmlns="" id="{1CD3EEA6-7966-43AA-82F9-CA39F93E62D0}"/>
                </a:ext>
              </a:extLst>
            </p:cNvPr>
            <p:cNvSpPr/>
            <p:nvPr/>
          </p:nvSpPr>
          <p:spPr>
            <a:xfrm>
              <a:off x="3916529" y="5027058"/>
              <a:ext cx="1476000" cy="936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96" name="椭圆 95">
              <a:extLst>
                <a:ext uri="{FF2B5EF4-FFF2-40B4-BE49-F238E27FC236}">
                  <a16:creationId xmlns:a16="http://schemas.microsoft.com/office/drawing/2014/main" xmlns="" id="{E8C7EAE4-E16F-406B-802C-5449CD96C139}"/>
                </a:ext>
              </a:extLst>
            </p:cNvPr>
            <p:cNvSpPr/>
            <p:nvPr/>
          </p:nvSpPr>
          <p:spPr>
            <a:xfrm>
              <a:off x="4330529" y="4613606"/>
              <a:ext cx="648000" cy="648000"/>
            </a:xfrm>
            <a:prstGeom prst="ellipse">
              <a:avLst/>
            </a:prstGeom>
            <a:solidFill>
              <a:schemeClr val="bg1"/>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97" name="文本框 96">
              <a:extLst>
                <a:ext uri="{FF2B5EF4-FFF2-40B4-BE49-F238E27FC236}">
                  <a16:creationId xmlns:a16="http://schemas.microsoft.com/office/drawing/2014/main" xmlns="" id="{5C9713A0-82B2-459D-9CA9-CDA9AA8D0EFE}"/>
                </a:ext>
              </a:extLst>
            </p:cNvPr>
            <p:cNvSpPr txBox="1"/>
            <p:nvPr/>
          </p:nvSpPr>
          <p:spPr>
            <a:xfrm>
              <a:off x="4141192" y="4748052"/>
              <a:ext cx="1026674"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静态</a:t>
              </a:r>
              <a:endParaRPr lang="en-US" altLang="zh-CN" sz="105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规则</a:t>
              </a:r>
              <a:endParaRPr kumimoji="0" lang="zh-CN" altLang="en-US" sz="1050" b="0" i="0" u="none" strike="noStrike" cap="none" spc="0" normalizeH="0" baseline="0" dirty="0">
                <a:ln>
                  <a:noFill/>
                </a:ln>
                <a:solidFill>
                  <a:schemeClr val="bg2"/>
                </a:solidFill>
                <a:effectLst/>
                <a:uFillTx/>
                <a:latin typeface="PingFang SC Light"/>
                <a:sym typeface="Arial Black"/>
              </a:endParaRPr>
            </a:p>
          </p:txBody>
        </p:sp>
        <p:sp>
          <p:nvSpPr>
            <p:cNvPr id="112" name="文本框 111">
              <a:extLst>
                <a:ext uri="{FF2B5EF4-FFF2-40B4-BE49-F238E27FC236}">
                  <a16:creationId xmlns:a16="http://schemas.microsoft.com/office/drawing/2014/main" xmlns="" id="{F23D1E3E-CBCE-4E4C-97E6-FF57324EE37E}"/>
                </a:ext>
              </a:extLst>
            </p:cNvPr>
            <p:cNvSpPr txBox="1"/>
            <p:nvPr/>
          </p:nvSpPr>
          <p:spPr>
            <a:xfrm>
              <a:off x="6000819" y="5269147"/>
              <a:ext cx="1476000" cy="66965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措施：机器学习算法</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实时</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动态</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113" name="矩形: 圆角 112">
              <a:extLst>
                <a:ext uri="{FF2B5EF4-FFF2-40B4-BE49-F238E27FC236}">
                  <a16:creationId xmlns:a16="http://schemas.microsoft.com/office/drawing/2014/main" xmlns="" id="{16BDED8C-9372-439B-A57C-D5AF4CDCCCA3}"/>
                </a:ext>
              </a:extLst>
            </p:cNvPr>
            <p:cNvSpPr/>
            <p:nvPr/>
          </p:nvSpPr>
          <p:spPr>
            <a:xfrm>
              <a:off x="6000818" y="5027056"/>
              <a:ext cx="1476000" cy="936000"/>
            </a:xfrm>
            <a:prstGeom prst="roundRect">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4" name="椭圆 113">
              <a:extLst>
                <a:ext uri="{FF2B5EF4-FFF2-40B4-BE49-F238E27FC236}">
                  <a16:creationId xmlns:a16="http://schemas.microsoft.com/office/drawing/2014/main" xmlns="" id="{8EB76DD9-993F-4C5B-B2C6-70EDFD825AA9}"/>
                </a:ext>
              </a:extLst>
            </p:cNvPr>
            <p:cNvSpPr/>
            <p:nvPr/>
          </p:nvSpPr>
          <p:spPr>
            <a:xfrm>
              <a:off x="6414818" y="4613603"/>
              <a:ext cx="648000" cy="648000"/>
            </a:xfrm>
            <a:prstGeom prst="ellipse">
              <a:avLst/>
            </a:prstGeom>
            <a:solidFill>
              <a:schemeClr val="bg1"/>
            </a:solid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15" name="文本框 114">
              <a:extLst>
                <a:ext uri="{FF2B5EF4-FFF2-40B4-BE49-F238E27FC236}">
                  <a16:creationId xmlns:a16="http://schemas.microsoft.com/office/drawing/2014/main" xmlns="" id="{49EEF530-8CEE-48DC-80FB-526C6B57E06A}"/>
                </a:ext>
              </a:extLst>
            </p:cNvPr>
            <p:cNvSpPr txBox="1"/>
            <p:nvPr/>
          </p:nvSpPr>
          <p:spPr>
            <a:xfrm>
              <a:off x="6225481" y="4748052"/>
              <a:ext cx="1026675"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人工</a:t>
              </a:r>
              <a:endParaRPr lang="en-US" altLang="zh-CN" sz="105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kumimoji="0" lang="zh-CN" altLang="en-US" sz="1050" b="0" i="0" u="none" strike="noStrike" cap="none" spc="0" normalizeH="0" baseline="0" dirty="0">
                  <a:ln>
                    <a:noFill/>
                  </a:ln>
                  <a:solidFill>
                    <a:schemeClr val="bg2"/>
                  </a:solidFill>
                  <a:effectLst/>
                  <a:uFillTx/>
                  <a:latin typeface="PingFang SC Light"/>
                  <a:sym typeface="Arial Black"/>
                </a:rPr>
                <a:t>智能</a:t>
              </a:r>
            </a:p>
          </p:txBody>
        </p:sp>
      </p:grpSp>
      <p:grpSp>
        <p:nvGrpSpPr>
          <p:cNvPr id="8" name="组合 7">
            <a:extLst>
              <a:ext uri="{FF2B5EF4-FFF2-40B4-BE49-F238E27FC236}">
                <a16:creationId xmlns:a16="http://schemas.microsoft.com/office/drawing/2014/main" xmlns="" id="{5A53BC4D-73FE-40FF-8EE1-4C216B798D5E}"/>
              </a:ext>
            </a:extLst>
          </p:cNvPr>
          <p:cNvGrpSpPr/>
          <p:nvPr/>
        </p:nvGrpSpPr>
        <p:grpSpPr>
          <a:xfrm>
            <a:off x="1511034" y="1389467"/>
            <a:ext cx="9857653" cy="1853693"/>
            <a:chOff x="1253859" y="1056092"/>
            <a:chExt cx="9857653" cy="1853693"/>
          </a:xfrm>
        </p:grpSpPr>
        <p:sp>
          <p:nvSpPr>
            <p:cNvPr id="119" name="矩形 118">
              <a:extLst>
                <a:ext uri="{FF2B5EF4-FFF2-40B4-BE49-F238E27FC236}">
                  <a16:creationId xmlns:a16="http://schemas.microsoft.com/office/drawing/2014/main" xmlns="" id="{9921EB6C-AFA5-483F-AC04-5E1C5B9D3034}"/>
                </a:ext>
              </a:extLst>
            </p:cNvPr>
            <p:cNvSpPr/>
            <p:nvPr/>
          </p:nvSpPr>
          <p:spPr>
            <a:xfrm>
              <a:off x="1253860" y="1056092"/>
              <a:ext cx="9857650" cy="223378"/>
            </a:xfrm>
            <a:prstGeom prst="rect">
              <a:avLst/>
            </a:prstGeom>
            <a:solidFill>
              <a:srgbClr val="9B1F25"/>
            </a:solidFill>
            <a:ln w="31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50" b="0" i="0" u="none" strike="noStrike" cap="none" spc="0" normalizeH="0" baseline="0" dirty="0">
                  <a:ln>
                    <a:noFill/>
                  </a:ln>
                  <a:solidFill>
                    <a:schemeClr val="bg1"/>
                  </a:solidFill>
                  <a:effectLst/>
                  <a:uFillTx/>
                  <a:latin typeface="+mn-lt"/>
                  <a:ea typeface="+mn-ea"/>
                  <a:cs typeface="+mn-cs"/>
                  <a:sym typeface="Helvetica Neue Medium"/>
                </a:rPr>
                <a:t>金融欺诈呈现出：涉及业务环节多、手段多样、隐蔽性强的特点</a:t>
              </a:r>
            </a:p>
          </p:txBody>
        </p:sp>
        <p:sp>
          <p:nvSpPr>
            <p:cNvPr id="151" name="文本框 150">
              <a:extLst>
                <a:ext uri="{FF2B5EF4-FFF2-40B4-BE49-F238E27FC236}">
                  <a16:creationId xmlns:a16="http://schemas.microsoft.com/office/drawing/2014/main" xmlns="" id="{1DFE1A2A-4A76-4A8B-8FAF-1C66374EDEA7}"/>
                </a:ext>
              </a:extLst>
            </p:cNvPr>
            <p:cNvSpPr txBox="1"/>
            <p:nvPr/>
          </p:nvSpPr>
          <p:spPr>
            <a:xfrm>
              <a:off x="1496330" y="2134669"/>
              <a:ext cx="1475737" cy="5157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伪造身份注册</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冒用他人身份注册</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自动化垃圾注册</a:t>
              </a:r>
            </a:p>
          </p:txBody>
        </p:sp>
        <p:sp>
          <p:nvSpPr>
            <p:cNvPr id="153" name="矩形: 圆角 152">
              <a:extLst>
                <a:ext uri="{FF2B5EF4-FFF2-40B4-BE49-F238E27FC236}">
                  <a16:creationId xmlns:a16="http://schemas.microsoft.com/office/drawing/2014/main" xmlns="" id="{F234B1FA-15C7-490E-85E1-0A67AB663B8D}"/>
                </a:ext>
              </a:extLst>
            </p:cNvPr>
            <p:cNvSpPr/>
            <p:nvPr/>
          </p:nvSpPr>
          <p:spPr>
            <a:xfrm>
              <a:off x="1496327" y="1715392"/>
              <a:ext cx="1475742" cy="1080000"/>
            </a:xfrm>
            <a:prstGeom prst="roundRect">
              <a:avLst/>
            </a:prstGeom>
            <a:no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60" name="椭圆 159">
              <a:extLst>
                <a:ext uri="{FF2B5EF4-FFF2-40B4-BE49-F238E27FC236}">
                  <a16:creationId xmlns:a16="http://schemas.microsoft.com/office/drawing/2014/main" xmlns="" id="{4BAD55A2-9953-4DC6-ACBF-05A9DDE38226}"/>
                </a:ext>
              </a:extLst>
            </p:cNvPr>
            <p:cNvSpPr/>
            <p:nvPr/>
          </p:nvSpPr>
          <p:spPr>
            <a:xfrm>
              <a:off x="1908161" y="1418911"/>
              <a:ext cx="648000" cy="648000"/>
            </a:xfrm>
            <a:prstGeom prst="ellipse">
              <a:avLst/>
            </a:prstGeom>
            <a:solidFill>
              <a:schemeClr val="bg1"/>
            </a:solid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62" name="文本框 161">
              <a:extLst>
                <a:ext uri="{FF2B5EF4-FFF2-40B4-BE49-F238E27FC236}">
                  <a16:creationId xmlns:a16="http://schemas.microsoft.com/office/drawing/2014/main" xmlns="" id="{37873BF6-A408-4EBC-B9F9-AF0B3AD9B75D}"/>
                </a:ext>
              </a:extLst>
            </p:cNvPr>
            <p:cNvSpPr txBox="1"/>
            <p:nvPr/>
          </p:nvSpPr>
          <p:spPr>
            <a:xfrm>
              <a:off x="1541929" y="1568826"/>
              <a:ext cx="1430138" cy="37472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账户</a:t>
              </a:r>
              <a:endParaRPr lang="en-US" altLang="zh-CN" sz="105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注册</a:t>
              </a:r>
              <a:endParaRPr kumimoji="0" lang="zh-CN" altLang="en-US" sz="1050" b="0" i="0" u="none" strike="noStrike" cap="none" spc="0" normalizeH="0" baseline="0" dirty="0">
                <a:ln>
                  <a:noFill/>
                </a:ln>
                <a:solidFill>
                  <a:schemeClr val="bg2"/>
                </a:solidFill>
                <a:effectLst/>
                <a:uFillTx/>
                <a:latin typeface="PingFang SC Light"/>
                <a:sym typeface="Arial Black"/>
              </a:endParaRPr>
            </a:p>
          </p:txBody>
        </p:sp>
        <p:sp>
          <p:nvSpPr>
            <p:cNvPr id="144" name="文本框 143">
              <a:extLst>
                <a:ext uri="{FF2B5EF4-FFF2-40B4-BE49-F238E27FC236}">
                  <a16:creationId xmlns:a16="http://schemas.microsoft.com/office/drawing/2014/main" xmlns="" id="{A3208A4F-6AF7-4157-A821-9C08D8AA99EB}"/>
                </a:ext>
              </a:extLst>
            </p:cNvPr>
            <p:cNvSpPr txBox="1"/>
            <p:nvPr/>
          </p:nvSpPr>
          <p:spPr>
            <a:xfrm>
              <a:off x="3449354" y="2134670"/>
              <a:ext cx="1475737" cy="5157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账户盗用</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账户冒用</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账户异常共享</a:t>
              </a:r>
            </a:p>
          </p:txBody>
        </p:sp>
        <p:sp>
          <p:nvSpPr>
            <p:cNvPr id="146" name="矩形: 圆角 145">
              <a:extLst>
                <a:ext uri="{FF2B5EF4-FFF2-40B4-BE49-F238E27FC236}">
                  <a16:creationId xmlns:a16="http://schemas.microsoft.com/office/drawing/2014/main" xmlns="" id="{320B7658-1FE2-4922-8066-AE2842FDCADB}"/>
                </a:ext>
              </a:extLst>
            </p:cNvPr>
            <p:cNvSpPr/>
            <p:nvPr/>
          </p:nvSpPr>
          <p:spPr>
            <a:xfrm>
              <a:off x="3449351" y="1715387"/>
              <a:ext cx="1475742" cy="1080000"/>
            </a:xfrm>
            <a:prstGeom prst="roundRect">
              <a:avLst/>
            </a:prstGeom>
            <a:no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9" name="椭圆 148">
              <a:extLst>
                <a:ext uri="{FF2B5EF4-FFF2-40B4-BE49-F238E27FC236}">
                  <a16:creationId xmlns:a16="http://schemas.microsoft.com/office/drawing/2014/main" xmlns="" id="{783F0133-6597-4E13-B55C-DF70596FCB5D}"/>
                </a:ext>
              </a:extLst>
            </p:cNvPr>
            <p:cNvSpPr/>
            <p:nvPr/>
          </p:nvSpPr>
          <p:spPr>
            <a:xfrm>
              <a:off x="3861185" y="1418912"/>
              <a:ext cx="648000" cy="648000"/>
            </a:xfrm>
            <a:prstGeom prst="ellipse">
              <a:avLst/>
            </a:prstGeom>
            <a:solidFill>
              <a:schemeClr val="bg1"/>
            </a:solid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50" name="文本框 149">
              <a:extLst>
                <a:ext uri="{FF2B5EF4-FFF2-40B4-BE49-F238E27FC236}">
                  <a16:creationId xmlns:a16="http://schemas.microsoft.com/office/drawing/2014/main" xmlns="" id="{062FBCA4-1823-46B6-820B-4457E8AF0006}"/>
                </a:ext>
              </a:extLst>
            </p:cNvPr>
            <p:cNvSpPr txBox="1"/>
            <p:nvPr/>
          </p:nvSpPr>
          <p:spPr>
            <a:xfrm>
              <a:off x="3449354" y="1566287"/>
              <a:ext cx="1475737"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kumimoji="0" lang="zh-CN" altLang="en-US" sz="1050" b="0" i="0" u="none" strike="noStrike" cap="none" spc="0" normalizeH="0" baseline="0" dirty="0">
                  <a:ln>
                    <a:noFill/>
                  </a:ln>
                  <a:solidFill>
                    <a:schemeClr val="bg2"/>
                  </a:solidFill>
                  <a:effectLst/>
                  <a:uFillTx/>
                  <a:latin typeface="PingFang SC Light"/>
                  <a:sym typeface="Arial Black"/>
                </a:rPr>
                <a:t>账户</a:t>
              </a:r>
              <a:endParaRPr kumimoji="0" lang="en-US" altLang="zh-CN" sz="1050" b="0" i="0" u="none" strike="noStrike" cap="none" spc="0" normalizeH="0" baseline="0" dirty="0">
                <a:ln>
                  <a:noFill/>
                </a:ln>
                <a:solidFill>
                  <a:schemeClr val="bg2"/>
                </a:solidFill>
                <a:effectLst/>
                <a:uFillTx/>
                <a:latin typeface="PingFang SC Light"/>
                <a:sym typeface="Arial Black"/>
              </a:endParaRPr>
            </a:p>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登录</a:t>
              </a:r>
              <a:endParaRPr kumimoji="0" lang="zh-CN" altLang="en-US" sz="1050" b="0" i="0" u="none" strike="noStrike" cap="none" spc="0" normalizeH="0" baseline="0" dirty="0">
                <a:ln>
                  <a:noFill/>
                </a:ln>
                <a:solidFill>
                  <a:schemeClr val="bg2"/>
                </a:solidFill>
                <a:effectLst/>
                <a:uFillTx/>
                <a:latin typeface="PingFang SC Light"/>
                <a:sym typeface="Arial Black"/>
              </a:endParaRPr>
            </a:p>
          </p:txBody>
        </p:sp>
        <p:sp>
          <p:nvSpPr>
            <p:cNvPr id="138" name="文本框 137">
              <a:extLst>
                <a:ext uri="{FF2B5EF4-FFF2-40B4-BE49-F238E27FC236}">
                  <a16:creationId xmlns:a16="http://schemas.microsoft.com/office/drawing/2014/main" xmlns="" id="{41D2C46F-9F2F-4A03-A01D-C8A8490200AD}"/>
                </a:ext>
              </a:extLst>
            </p:cNvPr>
            <p:cNvSpPr txBox="1"/>
            <p:nvPr/>
          </p:nvSpPr>
          <p:spPr>
            <a:xfrm>
              <a:off x="5402378" y="2211613"/>
              <a:ext cx="1475737"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虚假申请信息</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多头借贷</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140" name="矩形: 圆角 139">
              <a:extLst>
                <a:ext uri="{FF2B5EF4-FFF2-40B4-BE49-F238E27FC236}">
                  <a16:creationId xmlns:a16="http://schemas.microsoft.com/office/drawing/2014/main" xmlns="" id="{06FB24DD-C697-4B25-9975-06CC807D41F5}"/>
                </a:ext>
              </a:extLst>
            </p:cNvPr>
            <p:cNvSpPr/>
            <p:nvPr/>
          </p:nvSpPr>
          <p:spPr>
            <a:xfrm>
              <a:off x="5402375" y="1715394"/>
              <a:ext cx="1475742" cy="1080001"/>
            </a:xfrm>
            <a:prstGeom prst="roundRect">
              <a:avLst/>
            </a:prstGeom>
            <a:no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42" name="椭圆 141">
              <a:extLst>
                <a:ext uri="{FF2B5EF4-FFF2-40B4-BE49-F238E27FC236}">
                  <a16:creationId xmlns:a16="http://schemas.microsoft.com/office/drawing/2014/main" xmlns="" id="{B671F2E4-DDB7-4B82-B858-4ADF33EAFEA5}"/>
                </a:ext>
              </a:extLst>
            </p:cNvPr>
            <p:cNvSpPr/>
            <p:nvPr/>
          </p:nvSpPr>
          <p:spPr>
            <a:xfrm>
              <a:off x="5814209" y="1418912"/>
              <a:ext cx="648000" cy="648000"/>
            </a:xfrm>
            <a:prstGeom prst="ellipse">
              <a:avLst/>
            </a:prstGeom>
            <a:solidFill>
              <a:schemeClr val="bg1"/>
            </a:solid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43" name="文本框 142">
              <a:extLst>
                <a:ext uri="{FF2B5EF4-FFF2-40B4-BE49-F238E27FC236}">
                  <a16:creationId xmlns:a16="http://schemas.microsoft.com/office/drawing/2014/main" xmlns="" id="{29E03BED-65A4-4E66-8B27-814992BA3357}"/>
                </a:ext>
              </a:extLst>
            </p:cNvPr>
            <p:cNvSpPr txBox="1"/>
            <p:nvPr/>
          </p:nvSpPr>
          <p:spPr>
            <a:xfrm>
              <a:off x="5402378" y="1566287"/>
              <a:ext cx="1475737"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贷款</a:t>
              </a:r>
              <a:endParaRPr lang="en-US" altLang="zh-CN" sz="105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申请</a:t>
              </a:r>
              <a:endParaRPr kumimoji="0" lang="zh-CN" altLang="en-US" sz="1050" b="0" i="0" u="none" strike="noStrike" cap="none" spc="0" normalizeH="0" baseline="0" dirty="0">
                <a:ln>
                  <a:noFill/>
                </a:ln>
                <a:solidFill>
                  <a:schemeClr val="bg2"/>
                </a:solidFill>
                <a:effectLst/>
                <a:uFillTx/>
                <a:latin typeface="PingFang SC Light"/>
                <a:sym typeface="Arial Black"/>
              </a:endParaRPr>
            </a:p>
          </p:txBody>
        </p:sp>
        <p:sp>
          <p:nvSpPr>
            <p:cNvPr id="132" name="文本框 131">
              <a:extLst>
                <a:ext uri="{FF2B5EF4-FFF2-40B4-BE49-F238E27FC236}">
                  <a16:creationId xmlns:a16="http://schemas.microsoft.com/office/drawing/2014/main" xmlns="" id="{E55B5F50-D22A-4A86-BCEF-40630708B548}"/>
                </a:ext>
              </a:extLst>
            </p:cNvPr>
            <p:cNvSpPr txBox="1"/>
            <p:nvPr/>
          </p:nvSpPr>
          <p:spPr>
            <a:xfrm>
              <a:off x="7355402" y="2288558"/>
              <a:ext cx="1475737"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非法盗刷</a:t>
              </a:r>
            </a:p>
          </p:txBody>
        </p:sp>
        <p:sp>
          <p:nvSpPr>
            <p:cNvPr id="134" name="矩形: 圆角 133">
              <a:extLst>
                <a:ext uri="{FF2B5EF4-FFF2-40B4-BE49-F238E27FC236}">
                  <a16:creationId xmlns:a16="http://schemas.microsoft.com/office/drawing/2014/main" xmlns="" id="{DF4E6990-4168-4A5F-ABBE-E59D2E54FB4D}"/>
                </a:ext>
              </a:extLst>
            </p:cNvPr>
            <p:cNvSpPr/>
            <p:nvPr/>
          </p:nvSpPr>
          <p:spPr>
            <a:xfrm>
              <a:off x="7355399" y="1715387"/>
              <a:ext cx="1475742" cy="1080000"/>
            </a:xfrm>
            <a:prstGeom prst="roundRect">
              <a:avLst/>
            </a:prstGeom>
            <a:no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36" name="椭圆 135">
              <a:extLst>
                <a:ext uri="{FF2B5EF4-FFF2-40B4-BE49-F238E27FC236}">
                  <a16:creationId xmlns:a16="http://schemas.microsoft.com/office/drawing/2014/main" xmlns="" id="{BCB2D163-F8D4-4A32-AB0C-5FBCBF046E09}"/>
                </a:ext>
              </a:extLst>
            </p:cNvPr>
            <p:cNvSpPr/>
            <p:nvPr/>
          </p:nvSpPr>
          <p:spPr>
            <a:xfrm>
              <a:off x="7767233" y="1418911"/>
              <a:ext cx="648000" cy="648000"/>
            </a:xfrm>
            <a:prstGeom prst="ellipse">
              <a:avLst/>
            </a:prstGeom>
            <a:solidFill>
              <a:schemeClr val="bg1"/>
            </a:solid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37" name="文本框 136">
              <a:extLst>
                <a:ext uri="{FF2B5EF4-FFF2-40B4-BE49-F238E27FC236}">
                  <a16:creationId xmlns:a16="http://schemas.microsoft.com/office/drawing/2014/main" xmlns="" id="{32E5E99D-CB8C-4AFA-A734-C4BB9D8C8DD4}"/>
                </a:ext>
              </a:extLst>
            </p:cNvPr>
            <p:cNvSpPr txBox="1"/>
            <p:nvPr/>
          </p:nvSpPr>
          <p:spPr>
            <a:xfrm>
              <a:off x="7355402" y="1566286"/>
              <a:ext cx="1475737"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kumimoji="0" lang="zh-CN" altLang="en-US" sz="1050" b="0" i="0" u="none" strike="noStrike" cap="none" spc="0" normalizeH="0" baseline="0" dirty="0">
                  <a:ln>
                    <a:noFill/>
                  </a:ln>
                  <a:solidFill>
                    <a:schemeClr val="bg2"/>
                  </a:solidFill>
                  <a:effectLst/>
                  <a:uFillTx/>
                  <a:latin typeface="PingFang SC Light"/>
                  <a:sym typeface="Arial Black"/>
                </a:rPr>
                <a:t>支付</a:t>
              </a:r>
              <a:endParaRPr kumimoji="0" lang="en-US" altLang="zh-CN" sz="1050" b="0" i="0" u="none" strike="noStrike" cap="none" spc="0" normalizeH="0" baseline="0" dirty="0">
                <a:ln>
                  <a:noFill/>
                </a:ln>
                <a:solidFill>
                  <a:schemeClr val="bg2"/>
                </a:solidFill>
                <a:effectLst/>
                <a:uFillTx/>
                <a:latin typeface="PingFang SC Light"/>
                <a:sym typeface="Arial Black"/>
              </a:endParaRPr>
            </a:p>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交易</a:t>
              </a:r>
              <a:endParaRPr kumimoji="0" lang="zh-CN" altLang="en-US" sz="1050" b="0" i="0" u="none" strike="noStrike" cap="none" spc="0" normalizeH="0" baseline="0" dirty="0">
                <a:ln>
                  <a:noFill/>
                </a:ln>
                <a:solidFill>
                  <a:schemeClr val="bg2"/>
                </a:solidFill>
                <a:effectLst/>
                <a:uFillTx/>
                <a:latin typeface="PingFang SC Light"/>
                <a:sym typeface="Arial Black"/>
              </a:endParaRPr>
            </a:p>
          </p:txBody>
        </p:sp>
        <p:sp>
          <p:nvSpPr>
            <p:cNvPr id="125" name="矩形 124">
              <a:extLst>
                <a:ext uri="{FF2B5EF4-FFF2-40B4-BE49-F238E27FC236}">
                  <a16:creationId xmlns:a16="http://schemas.microsoft.com/office/drawing/2014/main" xmlns="" id="{6A8E58A9-70B4-4C75-86AB-FD8DEB1AA8F0}"/>
                </a:ext>
              </a:extLst>
            </p:cNvPr>
            <p:cNvSpPr/>
            <p:nvPr/>
          </p:nvSpPr>
          <p:spPr>
            <a:xfrm>
              <a:off x="1253859" y="1325785"/>
              <a:ext cx="9857653" cy="1584000"/>
            </a:xfrm>
            <a:prstGeom prst="rect">
              <a:avLst/>
            </a:prstGeom>
            <a:noFill/>
            <a:ln w="3175" cap="flat">
              <a:solidFill>
                <a:srgbClr val="C0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27" name="文本框 126">
              <a:extLst>
                <a:ext uri="{FF2B5EF4-FFF2-40B4-BE49-F238E27FC236}">
                  <a16:creationId xmlns:a16="http://schemas.microsoft.com/office/drawing/2014/main" xmlns="" id="{CEE85116-B468-49AF-8954-9B05D29F9B16}"/>
                </a:ext>
              </a:extLst>
            </p:cNvPr>
            <p:cNvSpPr txBox="1"/>
            <p:nvPr/>
          </p:nvSpPr>
          <p:spPr>
            <a:xfrm>
              <a:off x="9308426" y="2134666"/>
              <a:ext cx="1475737" cy="51576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恶意套现</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营销作弊</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虚假交易</a:t>
              </a:r>
            </a:p>
          </p:txBody>
        </p:sp>
        <p:sp>
          <p:nvSpPr>
            <p:cNvPr id="128" name="矩形: 圆角 127">
              <a:extLst>
                <a:ext uri="{FF2B5EF4-FFF2-40B4-BE49-F238E27FC236}">
                  <a16:creationId xmlns:a16="http://schemas.microsoft.com/office/drawing/2014/main" xmlns="" id="{0188152C-5F7F-416E-91A9-B4E04AEC3167}"/>
                </a:ext>
              </a:extLst>
            </p:cNvPr>
            <p:cNvSpPr/>
            <p:nvPr/>
          </p:nvSpPr>
          <p:spPr>
            <a:xfrm>
              <a:off x="9308423" y="1715390"/>
              <a:ext cx="1475742" cy="1080001"/>
            </a:xfrm>
            <a:prstGeom prst="roundRect">
              <a:avLst/>
            </a:prstGeom>
            <a:no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a:ln>
                  <a:noFill/>
                </a:ln>
                <a:solidFill>
                  <a:srgbClr val="FFFFFF"/>
                </a:solidFill>
                <a:effectLst/>
                <a:uFillTx/>
                <a:latin typeface="+mn-lt"/>
                <a:ea typeface="+mn-ea"/>
                <a:cs typeface="+mn-cs"/>
                <a:sym typeface="Helvetica Neue Medium"/>
              </a:endParaRPr>
            </a:p>
          </p:txBody>
        </p:sp>
        <p:sp>
          <p:nvSpPr>
            <p:cNvPr id="130" name="椭圆 129">
              <a:extLst>
                <a:ext uri="{FF2B5EF4-FFF2-40B4-BE49-F238E27FC236}">
                  <a16:creationId xmlns:a16="http://schemas.microsoft.com/office/drawing/2014/main" xmlns="" id="{9B085BDD-3737-4E90-AB82-CC56B8BB0FBA}"/>
                </a:ext>
              </a:extLst>
            </p:cNvPr>
            <p:cNvSpPr/>
            <p:nvPr/>
          </p:nvSpPr>
          <p:spPr>
            <a:xfrm>
              <a:off x="9720257" y="1418912"/>
              <a:ext cx="648000" cy="648000"/>
            </a:xfrm>
            <a:prstGeom prst="ellipse">
              <a:avLst/>
            </a:prstGeom>
            <a:solidFill>
              <a:schemeClr val="bg1"/>
            </a:solidFill>
            <a:ln w="3175" cap="flat">
              <a:solidFill>
                <a:srgbClr val="9B1F2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05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131" name="文本框 130">
              <a:extLst>
                <a:ext uri="{FF2B5EF4-FFF2-40B4-BE49-F238E27FC236}">
                  <a16:creationId xmlns:a16="http://schemas.microsoft.com/office/drawing/2014/main" xmlns="" id="{CA9B0B39-D4F5-41BB-B48A-F69CF780000A}"/>
                </a:ext>
              </a:extLst>
            </p:cNvPr>
            <p:cNvSpPr txBox="1"/>
            <p:nvPr/>
          </p:nvSpPr>
          <p:spPr>
            <a:xfrm>
              <a:off x="9308426" y="1566285"/>
              <a:ext cx="1475737" cy="37726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贷后</a:t>
              </a:r>
              <a:endParaRPr lang="en-US" altLang="zh-CN" sz="1050" dirty="0">
                <a:solidFill>
                  <a:schemeClr val="bg2"/>
                </a:solidFill>
                <a:latin typeface="PingFang SC Light"/>
              </a:endParaRPr>
            </a:p>
            <a:p>
              <a:pPr marL="0" marR="0" indent="0" defTabSz="410765" rtl="0" fontAlgn="auto" latinLnBrk="0" hangingPunct="0">
                <a:lnSpc>
                  <a:spcPct val="100000"/>
                </a:lnSpc>
                <a:spcBef>
                  <a:spcPts val="0"/>
                </a:spcBef>
                <a:spcAft>
                  <a:spcPts val="0"/>
                </a:spcAft>
                <a:buClrTx/>
                <a:buSzTx/>
                <a:buFontTx/>
                <a:buNone/>
                <a:tabLst/>
              </a:pPr>
              <a:r>
                <a:rPr lang="zh-CN" altLang="en-US" sz="1050" dirty="0">
                  <a:solidFill>
                    <a:schemeClr val="bg2"/>
                  </a:solidFill>
                  <a:latin typeface="PingFang SC Light"/>
                </a:rPr>
                <a:t>管理</a:t>
              </a:r>
              <a:endParaRPr kumimoji="0" lang="zh-CN" altLang="en-US" sz="1050" b="0" i="0" u="none" strike="noStrike" cap="none" spc="0" normalizeH="0" baseline="0" dirty="0">
                <a:ln>
                  <a:noFill/>
                </a:ln>
                <a:solidFill>
                  <a:schemeClr val="bg2"/>
                </a:solidFill>
                <a:effectLst/>
                <a:uFillTx/>
                <a:latin typeface="PingFang SC Light"/>
                <a:sym typeface="Arial Black"/>
              </a:endParaRPr>
            </a:p>
          </p:txBody>
        </p:sp>
      </p:grpSp>
      <p:sp>
        <p:nvSpPr>
          <p:cNvPr id="39" name="箭头: 虚尾 38">
            <a:extLst>
              <a:ext uri="{FF2B5EF4-FFF2-40B4-BE49-F238E27FC236}">
                <a16:creationId xmlns:a16="http://schemas.microsoft.com/office/drawing/2014/main" xmlns="" id="{2CCD05CF-2C61-40D6-B3B0-97F2130CACB5}"/>
              </a:ext>
            </a:extLst>
          </p:cNvPr>
          <p:cNvSpPr/>
          <p:nvPr/>
        </p:nvSpPr>
        <p:spPr>
          <a:xfrm rot="5400000" flipV="1">
            <a:off x="4150491" y="3148640"/>
            <a:ext cx="468000" cy="900000"/>
          </a:xfrm>
          <a:prstGeom prst="stripedRightArrow">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6" name="箭头: 虚尾 175">
            <a:extLst>
              <a:ext uri="{FF2B5EF4-FFF2-40B4-BE49-F238E27FC236}">
                <a16:creationId xmlns:a16="http://schemas.microsoft.com/office/drawing/2014/main" xmlns="" id="{8A447CB9-DBB3-4DB4-9C90-917D40E88CFC}"/>
              </a:ext>
            </a:extLst>
          </p:cNvPr>
          <p:cNvSpPr/>
          <p:nvPr/>
        </p:nvSpPr>
        <p:spPr>
          <a:xfrm flipV="1">
            <a:off x="6934371" y="5429637"/>
            <a:ext cx="864000" cy="252000"/>
          </a:xfrm>
          <a:prstGeom prst="stripedRightArrow">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6" name="组合 5">
            <a:extLst>
              <a:ext uri="{FF2B5EF4-FFF2-40B4-BE49-F238E27FC236}">
                <a16:creationId xmlns:a16="http://schemas.microsoft.com/office/drawing/2014/main" xmlns="" id="{3FCD7C01-A795-4BBF-A247-51E71EEBC072}"/>
              </a:ext>
            </a:extLst>
          </p:cNvPr>
          <p:cNvGrpSpPr/>
          <p:nvPr/>
        </p:nvGrpSpPr>
        <p:grpSpPr>
          <a:xfrm>
            <a:off x="7791490" y="3669857"/>
            <a:ext cx="3476928" cy="2066055"/>
            <a:chOff x="7820065" y="3786402"/>
            <a:chExt cx="3476928" cy="2066055"/>
          </a:xfrm>
        </p:grpSpPr>
        <p:sp>
          <p:nvSpPr>
            <p:cNvPr id="2" name="等腰三角形 1">
              <a:extLst>
                <a:ext uri="{FF2B5EF4-FFF2-40B4-BE49-F238E27FC236}">
                  <a16:creationId xmlns:a16="http://schemas.microsoft.com/office/drawing/2014/main" xmlns="" id="{E4A1F1C3-4D9C-4EDE-9343-02E36DD56983}"/>
                </a:ext>
              </a:extLst>
            </p:cNvPr>
            <p:cNvSpPr/>
            <p:nvPr/>
          </p:nvSpPr>
          <p:spPr>
            <a:xfrm>
              <a:off x="7820065" y="3786402"/>
              <a:ext cx="3476928" cy="2066055"/>
            </a:xfrm>
            <a:prstGeom prst="triangle">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4" name="直接连接符 3">
              <a:extLst>
                <a:ext uri="{FF2B5EF4-FFF2-40B4-BE49-F238E27FC236}">
                  <a16:creationId xmlns:a16="http://schemas.microsoft.com/office/drawing/2014/main" xmlns="" id="{779F777B-3205-48FD-9898-8549A86DBD12}"/>
                </a:ext>
              </a:extLst>
            </p:cNvPr>
            <p:cNvCxnSpPr/>
            <p:nvPr/>
          </p:nvCxnSpPr>
          <p:spPr>
            <a:xfrm>
              <a:off x="8582526" y="5247375"/>
              <a:ext cx="1902198"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cxnSp>
          <p:nvCxnSpPr>
            <p:cNvPr id="59" name="直接连接符 58">
              <a:extLst>
                <a:ext uri="{FF2B5EF4-FFF2-40B4-BE49-F238E27FC236}">
                  <a16:creationId xmlns:a16="http://schemas.microsoft.com/office/drawing/2014/main" xmlns="" id="{054F29B7-9543-4369-80F9-3A6539BBFDBD}"/>
                </a:ext>
              </a:extLst>
            </p:cNvPr>
            <p:cNvCxnSpPr/>
            <p:nvPr/>
          </p:nvCxnSpPr>
          <p:spPr>
            <a:xfrm>
              <a:off x="8999618" y="4596455"/>
              <a:ext cx="1080000"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sp>
          <p:nvSpPr>
            <p:cNvPr id="5" name="文本框 4">
              <a:extLst>
                <a:ext uri="{FF2B5EF4-FFF2-40B4-BE49-F238E27FC236}">
                  <a16:creationId xmlns:a16="http://schemas.microsoft.com/office/drawing/2014/main" xmlns="" id="{A92F25E3-9A90-4BBA-9975-4929A5376486}"/>
                </a:ext>
              </a:extLst>
            </p:cNvPr>
            <p:cNvSpPr txBox="1"/>
            <p:nvPr/>
          </p:nvSpPr>
          <p:spPr>
            <a:xfrm>
              <a:off x="8422105" y="5382253"/>
              <a:ext cx="2201635"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数据</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（内外部数据采集、预处理）</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61" name="文本框 60">
              <a:extLst>
                <a:ext uri="{FF2B5EF4-FFF2-40B4-BE49-F238E27FC236}">
                  <a16:creationId xmlns:a16="http://schemas.microsoft.com/office/drawing/2014/main" xmlns="" id="{2F3B1A7B-69BB-4839-AB68-F803C3683F8C}"/>
                </a:ext>
              </a:extLst>
            </p:cNvPr>
            <p:cNvSpPr txBox="1"/>
            <p:nvPr/>
          </p:nvSpPr>
          <p:spPr>
            <a:xfrm>
              <a:off x="8446169" y="4748595"/>
              <a:ext cx="2201635"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特征工程</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（特征选择、提取、投建）</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63" name="文本框 62">
              <a:extLst>
                <a:ext uri="{FF2B5EF4-FFF2-40B4-BE49-F238E27FC236}">
                  <a16:creationId xmlns:a16="http://schemas.microsoft.com/office/drawing/2014/main" xmlns="" id="{7E298C2B-83A5-44ED-A7E9-721F1FBD6462}"/>
                </a:ext>
              </a:extLst>
            </p:cNvPr>
            <p:cNvSpPr txBox="1"/>
            <p:nvPr/>
          </p:nvSpPr>
          <p:spPr>
            <a:xfrm>
              <a:off x="8438149" y="4179105"/>
              <a:ext cx="2201635" cy="36187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模型</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（选择、评估）</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spTree>
    <p:extLst>
      <p:ext uri="{BB962C8B-B14F-4D97-AF65-F5344CB8AC3E}">
        <p14:creationId xmlns:p14="http://schemas.microsoft.com/office/powerpoint/2010/main" val="1933031953"/>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线条"/>
          <p:cNvSpPr/>
          <p:nvPr/>
        </p:nvSpPr>
        <p:spPr>
          <a:xfrm flipV="1">
            <a:off x="871205" y="-4019"/>
            <a:ext cx="1" cy="6866038"/>
          </a:xfrm>
          <a:prstGeom prst="line">
            <a:avLst/>
          </a:prstGeom>
          <a:ln>
            <a:solidFill>
              <a:srgbClr val="D6D5D5"/>
            </a:solidFill>
            <a:miter lim="400000"/>
          </a:ln>
        </p:spPr>
        <p:txBody>
          <a:bodyPr lIns="26789" tIns="26789" rIns="26789" bIns="26789" anchor="ctr"/>
          <a:lstStyle/>
          <a:p>
            <a:pPr>
              <a:defRPr sz="1400">
                <a:latin typeface="+mn-lt"/>
                <a:ea typeface="+mn-ea"/>
                <a:cs typeface="+mn-cs"/>
                <a:sym typeface="Helvetica Neue Medium"/>
              </a:defRPr>
            </a:pPr>
            <a:endParaRPr/>
          </a:p>
        </p:txBody>
      </p:sp>
      <p:sp>
        <p:nvSpPr>
          <p:cNvPr id="157" name="矩形"/>
          <p:cNvSpPr/>
          <p:nvPr/>
        </p:nvSpPr>
        <p:spPr>
          <a:xfrm rot="5400000">
            <a:off x="265869" y="1178283"/>
            <a:ext cx="271170"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sp>
        <p:nvSpPr>
          <p:cNvPr id="158" name="矩形"/>
          <p:cNvSpPr/>
          <p:nvPr/>
        </p:nvSpPr>
        <p:spPr>
          <a:xfrm rot="5400000">
            <a:off x="315262" y="1178283"/>
            <a:ext cx="271171" cy="26790"/>
          </a:xfrm>
          <a:prstGeom prst="rect">
            <a:avLst/>
          </a:prstGeom>
          <a:solidFill>
            <a:srgbClr val="CAA354"/>
          </a:solidFill>
          <a:ln w="3175">
            <a:miter lim="400000"/>
          </a:ln>
        </p:spPr>
        <p:txBody>
          <a:bodyPr lIns="26789" tIns="26789" rIns="26789" bIns="26789" anchor="ctr"/>
          <a:lstStyle/>
          <a:p>
            <a:pPr>
              <a:defRPr sz="1400">
                <a:solidFill>
                  <a:srgbClr val="CAA354"/>
                </a:solidFill>
                <a:latin typeface="+mn-lt"/>
                <a:ea typeface="+mn-ea"/>
                <a:cs typeface="+mn-cs"/>
                <a:sym typeface="Helvetica Neue Medium"/>
              </a:defRPr>
            </a:pPr>
            <a:endParaRPr/>
          </a:p>
        </p:txBody>
      </p:sp>
      <p:pic>
        <p:nvPicPr>
          <p:cNvPr id="161" name="图像" descr="图像"/>
          <p:cNvPicPr>
            <a:picLocks noChangeAspect="1"/>
          </p:cNvPicPr>
          <p:nvPr/>
        </p:nvPicPr>
        <p:blipFill>
          <a:blip r:embed="rId2">
            <a:extLst/>
          </a:blip>
          <a:stretch>
            <a:fillRect/>
          </a:stretch>
        </p:blipFill>
        <p:spPr>
          <a:xfrm>
            <a:off x="10495918" y="475304"/>
            <a:ext cx="1253576" cy="332979"/>
          </a:xfrm>
          <a:prstGeom prst="rect">
            <a:avLst/>
          </a:prstGeom>
          <a:ln w="3175">
            <a:miter lim="400000"/>
          </a:ln>
        </p:spPr>
      </p:pic>
      <p:sp>
        <p:nvSpPr>
          <p:cNvPr id="42" name="标题">
            <a:extLst>
              <a:ext uri="{FF2B5EF4-FFF2-40B4-BE49-F238E27FC236}">
                <a16:creationId xmlns:a16="http://schemas.microsoft.com/office/drawing/2014/main" xmlns="" id="{AE4BA4B2-976D-4444-9722-56B8CCD159A5}"/>
              </a:ext>
            </a:extLst>
          </p:cNvPr>
          <p:cNvSpPr txBox="1"/>
          <p:nvPr/>
        </p:nvSpPr>
        <p:spPr>
          <a:xfrm>
            <a:off x="1336722" y="460854"/>
            <a:ext cx="2362425" cy="361878"/>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lang="zh-CN" altLang="en-US" sz="2000" dirty="0"/>
              <a:t>线上反欺诈流程分析</a:t>
            </a:r>
            <a:endParaRPr sz="2000" dirty="0"/>
          </a:p>
        </p:txBody>
      </p:sp>
      <p:grpSp>
        <p:nvGrpSpPr>
          <p:cNvPr id="111" name="组合 110">
            <a:extLst>
              <a:ext uri="{FF2B5EF4-FFF2-40B4-BE49-F238E27FC236}">
                <a16:creationId xmlns:a16="http://schemas.microsoft.com/office/drawing/2014/main" xmlns="" id="{65AA1F27-F959-47C9-A6EF-EC82381A3E09}"/>
              </a:ext>
            </a:extLst>
          </p:cNvPr>
          <p:cNvGrpSpPr/>
          <p:nvPr/>
        </p:nvGrpSpPr>
        <p:grpSpPr>
          <a:xfrm>
            <a:off x="1215255" y="1427753"/>
            <a:ext cx="10631192" cy="3248592"/>
            <a:chOff x="1373168" y="1427753"/>
            <a:chExt cx="10631192" cy="3248592"/>
          </a:xfrm>
        </p:grpSpPr>
        <p:grpSp>
          <p:nvGrpSpPr>
            <p:cNvPr id="44" name="组合 43">
              <a:extLst>
                <a:ext uri="{FF2B5EF4-FFF2-40B4-BE49-F238E27FC236}">
                  <a16:creationId xmlns:a16="http://schemas.microsoft.com/office/drawing/2014/main" xmlns="" id="{8688BD25-C6B6-4E1A-B004-B9372C532764}"/>
                </a:ext>
              </a:extLst>
            </p:cNvPr>
            <p:cNvGrpSpPr/>
            <p:nvPr/>
          </p:nvGrpSpPr>
          <p:grpSpPr>
            <a:xfrm>
              <a:off x="9264010" y="2317808"/>
              <a:ext cx="2740350" cy="2358537"/>
              <a:chOff x="7719207" y="3452119"/>
              <a:chExt cx="3218629" cy="2358537"/>
            </a:xfrm>
          </p:grpSpPr>
          <p:sp>
            <p:nvSpPr>
              <p:cNvPr id="40" name="梯形 39">
                <a:extLst>
                  <a:ext uri="{FF2B5EF4-FFF2-40B4-BE49-F238E27FC236}">
                    <a16:creationId xmlns:a16="http://schemas.microsoft.com/office/drawing/2014/main" xmlns="" id="{55B8E553-9E6A-4813-8DA7-E324F954256A}"/>
                  </a:ext>
                </a:extLst>
              </p:cNvPr>
              <p:cNvSpPr/>
              <p:nvPr/>
            </p:nvSpPr>
            <p:spPr>
              <a:xfrm>
                <a:off x="7719207" y="3452119"/>
                <a:ext cx="3218629" cy="2358537"/>
              </a:xfrm>
              <a:prstGeom prst="trapezoid">
                <a:avLst/>
              </a:prstGeom>
              <a:noFill/>
              <a:ln w="3175" cap="flat">
                <a:solidFill>
                  <a:srgbClr val="D4A34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43" name="直接连接符 42">
                <a:extLst>
                  <a:ext uri="{FF2B5EF4-FFF2-40B4-BE49-F238E27FC236}">
                    <a16:creationId xmlns:a16="http://schemas.microsoft.com/office/drawing/2014/main" xmlns="" id="{3D79C9A5-0BEB-4BFC-A653-30CA7EAACB16}"/>
                  </a:ext>
                </a:extLst>
              </p:cNvPr>
              <p:cNvCxnSpPr/>
              <p:nvPr/>
            </p:nvCxnSpPr>
            <p:spPr>
              <a:xfrm>
                <a:off x="8270162" y="3944244"/>
                <a:ext cx="2114158"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cxnSp>
            <p:nvCxnSpPr>
              <p:cNvPr id="164" name="直接连接符 163">
                <a:extLst>
                  <a:ext uri="{FF2B5EF4-FFF2-40B4-BE49-F238E27FC236}">
                    <a16:creationId xmlns:a16="http://schemas.microsoft.com/office/drawing/2014/main" xmlns="" id="{398E133A-D67B-4676-9AB4-58B90C9657DB}"/>
                  </a:ext>
                </a:extLst>
              </p:cNvPr>
              <p:cNvCxnSpPr/>
              <p:nvPr/>
            </p:nvCxnSpPr>
            <p:spPr>
              <a:xfrm>
                <a:off x="8122171" y="4460471"/>
                <a:ext cx="2410140"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cxnSp>
            <p:nvCxnSpPr>
              <p:cNvPr id="168" name="直接连接符 167">
                <a:extLst>
                  <a:ext uri="{FF2B5EF4-FFF2-40B4-BE49-F238E27FC236}">
                    <a16:creationId xmlns:a16="http://schemas.microsoft.com/office/drawing/2014/main" xmlns="" id="{7188EE2A-6620-4907-A080-F8B19C699AAF}"/>
                  </a:ext>
                </a:extLst>
              </p:cNvPr>
              <p:cNvCxnSpPr/>
              <p:nvPr/>
            </p:nvCxnSpPr>
            <p:spPr>
              <a:xfrm>
                <a:off x="7984912" y="4909401"/>
                <a:ext cx="2663839"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cxnSp>
            <p:nvCxnSpPr>
              <p:cNvPr id="169" name="直接连接符 168">
                <a:extLst>
                  <a:ext uri="{FF2B5EF4-FFF2-40B4-BE49-F238E27FC236}">
                    <a16:creationId xmlns:a16="http://schemas.microsoft.com/office/drawing/2014/main" xmlns="" id="{544A5547-9924-421F-B864-D147DC633A3A}"/>
                  </a:ext>
                </a:extLst>
              </p:cNvPr>
              <p:cNvCxnSpPr/>
              <p:nvPr/>
            </p:nvCxnSpPr>
            <p:spPr>
              <a:xfrm>
                <a:off x="7842478" y="5362873"/>
                <a:ext cx="2952000" cy="0"/>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sp>
            <p:nvSpPr>
              <p:cNvPr id="171" name="文本框 170">
                <a:extLst>
                  <a:ext uri="{FF2B5EF4-FFF2-40B4-BE49-F238E27FC236}">
                    <a16:creationId xmlns:a16="http://schemas.microsoft.com/office/drawing/2014/main" xmlns="" id="{62D674AD-A897-436A-BA51-779947A6F59A}"/>
                  </a:ext>
                </a:extLst>
              </p:cNvPr>
              <p:cNvSpPr txBox="1"/>
              <p:nvPr/>
            </p:nvSpPr>
            <p:spPr>
              <a:xfrm>
                <a:off x="8270162" y="3622510"/>
                <a:ext cx="2106117"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欺诈网络图谱</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172" name="文本框 171">
                <a:extLst>
                  <a:ext uri="{FF2B5EF4-FFF2-40B4-BE49-F238E27FC236}">
                    <a16:creationId xmlns:a16="http://schemas.microsoft.com/office/drawing/2014/main" xmlns="" id="{1A67C391-43CF-407A-896B-5633E82F050B}"/>
                  </a:ext>
                </a:extLst>
              </p:cNvPr>
              <p:cNvSpPr txBox="1"/>
              <p:nvPr/>
            </p:nvSpPr>
            <p:spPr>
              <a:xfrm>
                <a:off x="8270162" y="4127834"/>
                <a:ext cx="2106117"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业务时间异常度</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173" name="文本框 172">
                <a:extLst>
                  <a:ext uri="{FF2B5EF4-FFF2-40B4-BE49-F238E27FC236}">
                    <a16:creationId xmlns:a16="http://schemas.microsoft.com/office/drawing/2014/main" xmlns="" id="{C14B70BC-1270-4321-861C-DD10F8B4B4E5}"/>
                  </a:ext>
                </a:extLst>
              </p:cNvPr>
              <p:cNvSpPr txBox="1"/>
              <p:nvPr/>
            </p:nvSpPr>
            <p:spPr>
              <a:xfrm>
                <a:off x="8270162" y="4593052"/>
                <a:ext cx="2106117"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业务时间频次</a:t>
                </a:r>
                <a:endParaRPr kumimoji="0" lang="zh-CN" altLang="en-US" sz="1000" i="0" u="none" strike="noStrike" cap="none" spc="0" normalizeH="0" baseline="0" dirty="0">
                  <a:ln>
                    <a:noFill/>
                  </a:ln>
                  <a:solidFill>
                    <a:schemeClr val="bg2"/>
                  </a:solidFill>
                  <a:effectLst/>
                  <a:uFillTx/>
                  <a:latin typeface="PingFang SC Light"/>
                  <a:sym typeface="Arial Black"/>
                </a:endParaRPr>
              </a:p>
            </p:txBody>
          </p:sp>
          <p:sp>
            <p:nvSpPr>
              <p:cNvPr id="174" name="文本框 173">
                <a:extLst>
                  <a:ext uri="{FF2B5EF4-FFF2-40B4-BE49-F238E27FC236}">
                    <a16:creationId xmlns:a16="http://schemas.microsoft.com/office/drawing/2014/main" xmlns="" id="{E18D00C8-B165-4BEB-9300-C534C55680A5}"/>
                  </a:ext>
                </a:extLst>
              </p:cNvPr>
              <p:cNvSpPr txBox="1"/>
              <p:nvPr/>
            </p:nvSpPr>
            <p:spPr>
              <a:xfrm>
                <a:off x="8270162" y="5058270"/>
                <a:ext cx="2106117"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用户行为信息</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sp>
            <p:nvSpPr>
              <p:cNvPr id="175" name="文本框 174">
                <a:extLst>
                  <a:ext uri="{FF2B5EF4-FFF2-40B4-BE49-F238E27FC236}">
                    <a16:creationId xmlns:a16="http://schemas.microsoft.com/office/drawing/2014/main" xmlns="" id="{5FBDBC67-1FB0-4D87-BB6A-08D7B8D34488}"/>
                  </a:ext>
                </a:extLst>
              </p:cNvPr>
              <p:cNvSpPr txBox="1"/>
              <p:nvPr/>
            </p:nvSpPr>
            <p:spPr>
              <a:xfrm>
                <a:off x="8270162" y="5523488"/>
                <a:ext cx="2106117" cy="20799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设备终端与网络</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grpSp>
          <p:nvGrpSpPr>
            <p:cNvPr id="95" name="组合 94">
              <a:extLst>
                <a:ext uri="{FF2B5EF4-FFF2-40B4-BE49-F238E27FC236}">
                  <a16:creationId xmlns:a16="http://schemas.microsoft.com/office/drawing/2014/main" xmlns="" id="{41948AD4-A453-46CA-A970-4DB8E6070BBA}"/>
                </a:ext>
              </a:extLst>
            </p:cNvPr>
            <p:cNvGrpSpPr/>
            <p:nvPr/>
          </p:nvGrpSpPr>
          <p:grpSpPr>
            <a:xfrm>
              <a:off x="1373168" y="1427753"/>
              <a:ext cx="7561968" cy="3248591"/>
              <a:chOff x="1389210" y="2662990"/>
              <a:chExt cx="7561968" cy="3248591"/>
            </a:xfrm>
          </p:grpSpPr>
          <p:grpSp>
            <p:nvGrpSpPr>
              <p:cNvPr id="57" name="组合 56">
                <a:extLst>
                  <a:ext uri="{FF2B5EF4-FFF2-40B4-BE49-F238E27FC236}">
                    <a16:creationId xmlns:a16="http://schemas.microsoft.com/office/drawing/2014/main" xmlns="" id="{FCB3D811-CA6C-4E49-9DA0-33718467CFD3}"/>
                  </a:ext>
                </a:extLst>
              </p:cNvPr>
              <p:cNvGrpSpPr/>
              <p:nvPr/>
            </p:nvGrpSpPr>
            <p:grpSpPr>
              <a:xfrm>
                <a:off x="1389210" y="2662990"/>
                <a:ext cx="7561968" cy="3248591"/>
                <a:chOff x="1827147" y="1636295"/>
                <a:chExt cx="7695962" cy="3327761"/>
              </a:xfrm>
            </p:grpSpPr>
            <p:grpSp>
              <p:nvGrpSpPr>
                <p:cNvPr id="4" name="组合 3">
                  <a:extLst>
                    <a:ext uri="{FF2B5EF4-FFF2-40B4-BE49-F238E27FC236}">
                      <a16:creationId xmlns:a16="http://schemas.microsoft.com/office/drawing/2014/main" xmlns="" id="{478D5CC4-8CF3-429C-A905-1E7DC9341FB3}"/>
                    </a:ext>
                  </a:extLst>
                </p:cNvPr>
                <p:cNvGrpSpPr/>
                <p:nvPr/>
              </p:nvGrpSpPr>
              <p:grpSpPr>
                <a:xfrm>
                  <a:off x="1827147" y="3062783"/>
                  <a:ext cx="648000" cy="648000"/>
                  <a:chOff x="1827147" y="4650952"/>
                  <a:chExt cx="648000" cy="648000"/>
                </a:xfrm>
              </p:grpSpPr>
              <p:sp>
                <p:nvSpPr>
                  <p:cNvPr id="2" name="椭圆 1">
                    <a:extLst>
                      <a:ext uri="{FF2B5EF4-FFF2-40B4-BE49-F238E27FC236}">
                        <a16:creationId xmlns:a16="http://schemas.microsoft.com/office/drawing/2014/main" xmlns="" id="{3AB5FAEB-9997-4CD2-8E86-1BFDF08A2E18}"/>
                      </a:ext>
                    </a:extLst>
                  </p:cNvPr>
                  <p:cNvSpPr/>
                  <p:nvPr/>
                </p:nvSpPr>
                <p:spPr>
                  <a:xfrm>
                    <a:off x="1827147" y="4650952"/>
                    <a:ext cx="648000" cy="648000"/>
                  </a:xfrm>
                  <a:prstGeom prst="ellipse">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 name="文本框 2">
                    <a:extLst>
                      <a:ext uri="{FF2B5EF4-FFF2-40B4-BE49-F238E27FC236}">
                        <a16:creationId xmlns:a16="http://schemas.microsoft.com/office/drawing/2014/main" xmlns="" id="{363FFABA-F340-40D9-8EDA-A39148A4DA14}"/>
                      </a:ext>
                    </a:extLst>
                  </p:cNvPr>
                  <p:cNvSpPr txBox="1"/>
                  <p:nvPr/>
                </p:nvSpPr>
                <p:spPr>
                  <a:xfrm>
                    <a:off x="1833715" y="4777181"/>
                    <a:ext cx="607303" cy="3706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交易</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请求</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cxnSp>
              <p:nvCxnSpPr>
                <p:cNvPr id="6" name="连接符: 肘形 5">
                  <a:extLst>
                    <a:ext uri="{FF2B5EF4-FFF2-40B4-BE49-F238E27FC236}">
                      <a16:creationId xmlns:a16="http://schemas.microsoft.com/office/drawing/2014/main" xmlns="" id="{54B7CF05-2BBA-45EC-A41C-914062BB77F0}"/>
                    </a:ext>
                  </a:extLst>
                </p:cNvPr>
                <p:cNvCxnSpPr>
                  <a:cxnSpLocks/>
                  <a:stCxn id="2" idx="6"/>
                  <a:endCxn id="11" idx="1"/>
                </p:cNvCxnSpPr>
                <p:nvPr/>
              </p:nvCxnSpPr>
              <p:spPr>
                <a:xfrm flipV="1">
                  <a:off x="2475147" y="2512714"/>
                  <a:ext cx="637021" cy="874070"/>
                </a:xfrm>
                <a:prstGeom prst="bentConnector3">
                  <a:avLst>
                    <a:gd name="adj1" fmla="val 50000"/>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8" name="连接符: 肘形 7">
                  <a:extLst>
                    <a:ext uri="{FF2B5EF4-FFF2-40B4-BE49-F238E27FC236}">
                      <a16:creationId xmlns:a16="http://schemas.microsoft.com/office/drawing/2014/main" xmlns="" id="{B5C27FCA-FAAA-4FA7-B61D-2B3B38E1C5E1}"/>
                    </a:ext>
                  </a:extLst>
                </p:cNvPr>
                <p:cNvCxnSpPr>
                  <a:cxnSpLocks/>
                  <a:stCxn id="2" idx="6"/>
                  <a:endCxn id="74" idx="1"/>
                </p:cNvCxnSpPr>
                <p:nvPr/>
              </p:nvCxnSpPr>
              <p:spPr>
                <a:xfrm>
                  <a:off x="2475147" y="3386783"/>
                  <a:ext cx="868896" cy="864628"/>
                </a:xfrm>
                <a:prstGeom prst="bentConnector3">
                  <a:avLst>
                    <a:gd name="adj1" fmla="val 50000"/>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17" name="组合 16">
                  <a:extLst>
                    <a:ext uri="{FF2B5EF4-FFF2-40B4-BE49-F238E27FC236}">
                      <a16:creationId xmlns:a16="http://schemas.microsoft.com/office/drawing/2014/main" xmlns="" id="{C1B6ECBF-2540-4EC0-9C16-8AC738BF0C6E}"/>
                    </a:ext>
                  </a:extLst>
                </p:cNvPr>
                <p:cNvGrpSpPr/>
                <p:nvPr/>
              </p:nvGrpSpPr>
              <p:grpSpPr>
                <a:xfrm>
                  <a:off x="3112168" y="2278713"/>
                  <a:ext cx="1129592" cy="468000"/>
                  <a:chOff x="3112168" y="2278713"/>
                  <a:chExt cx="1129592" cy="468000"/>
                </a:xfrm>
              </p:grpSpPr>
              <p:sp>
                <p:nvSpPr>
                  <p:cNvPr id="9" name="矩形: 圆角 8">
                    <a:extLst>
                      <a:ext uri="{FF2B5EF4-FFF2-40B4-BE49-F238E27FC236}">
                        <a16:creationId xmlns:a16="http://schemas.microsoft.com/office/drawing/2014/main" xmlns="" id="{F6169036-9D5E-4B0C-922F-61B2B06A5362}"/>
                      </a:ext>
                    </a:extLst>
                  </p:cNvPr>
                  <p:cNvSpPr/>
                  <p:nvPr/>
                </p:nvSpPr>
                <p:spPr>
                  <a:xfrm>
                    <a:off x="3136964" y="2278713"/>
                    <a:ext cx="1080000" cy="468000"/>
                  </a:xfrm>
                  <a:prstGeom prst="roundRect">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1" name="文本框 10">
                    <a:extLst>
                      <a:ext uri="{FF2B5EF4-FFF2-40B4-BE49-F238E27FC236}">
                        <a16:creationId xmlns:a16="http://schemas.microsoft.com/office/drawing/2014/main" xmlns="" id="{C61AD34B-526E-41F1-9298-6F7B116C77F0}"/>
                      </a:ext>
                    </a:extLst>
                  </p:cNvPr>
                  <p:cNvSpPr txBox="1"/>
                  <p:nvPr/>
                </p:nvSpPr>
                <p:spPr>
                  <a:xfrm>
                    <a:off x="3112168" y="2327365"/>
                    <a:ext cx="1129592" cy="3706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内部数据库</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匹配</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grpSp>
              <p:nvGrpSpPr>
                <p:cNvPr id="13" name="组合 12">
                  <a:extLst>
                    <a:ext uri="{FF2B5EF4-FFF2-40B4-BE49-F238E27FC236}">
                      <a16:creationId xmlns:a16="http://schemas.microsoft.com/office/drawing/2014/main" xmlns="" id="{3AE74B72-BC15-47EA-891F-0EE13D60B2A0}"/>
                    </a:ext>
                  </a:extLst>
                </p:cNvPr>
                <p:cNvGrpSpPr/>
                <p:nvPr/>
              </p:nvGrpSpPr>
              <p:grpSpPr>
                <a:xfrm>
                  <a:off x="4680463" y="2271553"/>
                  <a:ext cx="1541418" cy="468000"/>
                  <a:chOff x="5001303" y="2223427"/>
                  <a:chExt cx="1541418" cy="468000"/>
                </a:xfrm>
              </p:grpSpPr>
              <p:sp>
                <p:nvSpPr>
                  <p:cNvPr id="64" name="矩形: 圆角 63">
                    <a:extLst>
                      <a:ext uri="{FF2B5EF4-FFF2-40B4-BE49-F238E27FC236}">
                        <a16:creationId xmlns:a16="http://schemas.microsoft.com/office/drawing/2014/main" xmlns="" id="{7CF2120B-5766-4A1D-B90B-3417140E3166}"/>
                      </a:ext>
                    </a:extLst>
                  </p:cNvPr>
                  <p:cNvSpPr/>
                  <p:nvPr/>
                </p:nvSpPr>
                <p:spPr>
                  <a:xfrm>
                    <a:off x="5001303" y="2223427"/>
                    <a:ext cx="1541418" cy="468000"/>
                  </a:xfrm>
                  <a:prstGeom prst="roundRect">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69" name="文本框 68">
                    <a:extLst>
                      <a:ext uri="{FF2B5EF4-FFF2-40B4-BE49-F238E27FC236}">
                        <a16:creationId xmlns:a16="http://schemas.microsoft.com/office/drawing/2014/main" xmlns="" id="{C6F229F6-ED4E-4D3E-9C74-98E28E475C97}"/>
                      </a:ext>
                    </a:extLst>
                  </p:cNvPr>
                  <p:cNvSpPr txBox="1"/>
                  <p:nvPr/>
                </p:nvSpPr>
                <p:spPr>
                  <a:xfrm>
                    <a:off x="5101359" y="2272079"/>
                    <a:ext cx="1157458" cy="3706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反欺诈规则</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机器学习算法模型</a:t>
                    </a:r>
                  </a:p>
                </p:txBody>
              </p:sp>
            </p:grpSp>
            <p:grpSp>
              <p:nvGrpSpPr>
                <p:cNvPr id="12" name="组合 11">
                  <a:extLst>
                    <a:ext uri="{FF2B5EF4-FFF2-40B4-BE49-F238E27FC236}">
                      <a16:creationId xmlns:a16="http://schemas.microsoft.com/office/drawing/2014/main" xmlns="" id="{C04064E7-E3CF-4A3C-860E-1286ECD50DCC}"/>
                    </a:ext>
                  </a:extLst>
                </p:cNvPr>
                <p:cNvGrpSpPr/>
                <p:nvPr/>
              </p:nvGrpSpPr>
              <p:grpSpPr>
                <a:xfrm>
                  <a:off x="6670101" y="2271553"/>
                  <a:ext cx="1357571" cy="468000"/>
                  <a:chOff x="6830521" y="2223427"/>
                  <a:chExt cx="1357571" cy="468000"/>
                </a:xfrm>
              </p:grpSpPr>
              <p:sp>
                <p:nvSpPr>
                  <p:cNvPr id="65" name="矩形: 圆角 64">
                    <a:extLst>
                      <a:ext uri="{FF2B5EF4-FFF2-40B4-BE49-F238E27FC236}">
                        <a16:creationId xmlns:a16="http://schemas.microsoft.com/office/drawing/2014/main" xmlns="" id="{FD832C70-AB57-4526-BC4F-5642E07B461F}"/>
                      </a:ext>
                    </a:extLst>
                  </p:cNvPr>
                  <p:cNvSpPr/>
                  <p:nvPr/>
                </p:nvSpPr>
                <p:spPr>
                  <a:xfrm>
                    <a:off x="6830521" y="2223427"/>
                    <a:ext cx="1357571" cy="468000"/>
                  </a:xfrm>
                  <a:prstGeom prst="roundRect">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0" name="文本框 69">
                    <a:extLst>
                      <a:ext uri="{FF2B5EF4-FFF2-40B4-BE49-F238E27FC236}">
                        <a16:creationId xmlns:a16="http://schemas.microsoft.com/office/drawing/2014/main" xmlns="" id="{DD95A51C-B619-4A75-AAF0-6C3C783385C0}"/>
                      </a:ext>
                    </a:extLst>
                  </p:cNvPr>
                  <p:cNvSpPr txBox="1"/>
                  <p:nvPr/>
                </p:nvSpPr>
                <p:spPr>
                  <a:xfrm>
                    <a:off x="6930577" y="2272079"/>
                    <a:ext cx="1157458" cy="3706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外部数据库</a:t>
                    </a:r>
                    <a:endParaRPr kumimoji="0" lang="en-US" altLang="zh-CN" sz="1000" b="0" i="0" u="none" strike="noStrike" cap="none" spc="0" normalizeH="0" baseline="0" dirty="0">
                      <a:ln>
                        <a:noFill/>
                      </a:ln>
                      <a:solidFill>
                        <a:schemeClr val="bg2"/>
                      </a:solidFill>
                      <a:effectLst/>
                      <a:uFillTx/>
                      <a:latin typeface="PingFang SC Light"/>
                      <a:sym typeface="Arial Black"/>
                    </a:endParaRPr>
                  </a:p>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匹配</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grpSp>
              <p:nvGrpSpPr>
                <p:cNvPr id="16" name="组合 15">
                  <a:extLst>
                    <a:ext uri="{FF2B5EF4-FFF2-40B4-BE49-F238E27FC236}">
                      <a16:creationId xmlns:a16="http://schemas.microsoft.com/office/drawing/2014/main" xmlns="" id="{227BC163-E34C-4E04-9881-53C333EE7707}"/>
                    </a:ext>
                  </a:extLst>
                </p:cNvPr>
                <p:cNvGrpSpPr/>
                <p:nvPr/>
              </p:nvGrpSpPr>
              <p:grpSpPr>
                <a:xfrm>
                  <a:off x="3344044" y="4017412"/>
                  <a:ext cx="1129592" cy="468000"/>
                  <a:chOff x="3087372" y="4017412"/>
                  <a:chExt cx="1129592" cy="468000"/>
                </a:xfrm>
              </p:grpSpPr>
              <p:sp>
                <p:nvSpPr>
                  <p:cNvPr id="73" name="矩形: 圆角 72">
                    <a:extLst>
                      <a:ext uri="{FF2B5EF4-FFF2-40B4-BE49-F238E27FC236}">
                        <a16:creationId xmlns:a16="http://schemas.microsoft.com/office/drawing/2014/main" xmlns="" id="{3CFA0B34-E3A9-468E-BB00-A18704AE36E9}"/>
                      </a:ext>
                    </a:extLst>
                  </p:cNvPr>
                  <p:cNvSpPr/>
                  <p:nvPr/>
                </p:nvSpPr>
                <p:spPr>
                  <a:xfrm>
                    <a:off x="3112168" y="4017412"/>
                    <a:ext cx="1080000" cy="468000"/>
                  </a:xfrm>
                  <a:prstGeom prst="roundRect">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4" name="文本框 73">
                    <a:extLst>
                      <a:ext uri="{FF2B5EF4-FFF2-40B4-BE49-F238E27FC236}">
                        <a16:creationId xmlns:a16="http://schemas.microsoft.com/office/drawing/2014/main" xmlns="" id="{C4078227-038A-4BAF-897B-AA2C96802B4E}"/>
                      </a:ext>
                    </a:extLst>
                  </p:cNvPr>
                  <p:cNvSpPr txBox="1"/>
                  <p:nvPr/>
                </p:nvSpPr>
                <p:spPr>
                  <a:xfrm>
                    <a:off x="3087372" y="4144883"/>
                    <a:ext cx="1129592" cy="21305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异常检测</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grpSp>
              <p:nvGrpSpPr>
                <p:cNvPr id="15" name="组合 14">
                  <a:extLst>
                    <a:ext uri="{FF2B5EF4-FFF2-40B4-BE49-F238E27FC236}">
                      <a16:creationId xmlns:a16="http://schemas.microsoft.com/office/drawing/2014/main" xmlns="" id="{03DA96CD-1957-46D4-8B3F-8045B7DECD79}"/>
                    </a:ext>
                  </a:extLst>
                </p:cNvPr>
                <p:cNvGrpSpPr/>
                <p:nvPr/>
              </p:nvGrpSpPr>
              <p:grpSpPr>
                <a:xfrm>
                  <a:off x="5212954" y="4017412"/>
                  <a:ext cx="1129592" cy="468000"/>
                  <a:chOff x="4908156" y="4073560"/>
                  <a:chExt cx="1129592" cy="468000"/>
                </a:xfrm>
              </p:grpSpPr>
              <p:sp>
                <p:nvSpPr>
                  <p:cNvPr id="75" name="矩形: 圆角 74">
                    <a:extLst>
                      <a:ext uri="{FF2B5EF4-FFF2-40B4-BE49-F238E27FC236}">
                        <a16:creationId xmlns:a16="http://schemas.microsoft.com/office/drawing/2014/main" xmlns="" id="{0155B6E5-0FE1-4F37-AD92-29822BA8E6D2}"/>
                      </a:ext>
                    </a:extLst>
                  </p:cNvPr>
                  <p:cNvSpPr/>
                  <p:nvPr/>
                </p:nvSpPr>
                <p:spPr>
                  <a:xfrm>
                    <a:off x="4932952" y="4073560"/>
                    <a:ext cx="1080000" cy="468000"/>
                  </a:xfrm>
                  <a:prstGeom prst="roundRect">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76" name="文本框 75">
                    <a:extLst>
                      <a:ext uri="{FF2B5EF4-FFF2-40B4-BE49-F238E27FC236}">
                        <a16:creationId xmlns:a16="http://schemas.microsoft.com/office/drawing/2014/main" xmlns="" id="{C6BF5900-E21A-4D7A-A661-2BBAAB28A5D5}"/>
                      </a:ext>
                    </a:extLst>
                  </p:cNvPr>
                  <p:cNvSpPr txBox="1"/>
                  <p:nvPr/>
                </p:nvSpPr>
                <p:spPr>
                  <a:xfrm>
                    <a:off x="4908156" y="4201031"/>
                    <a:ext cx="1129592" cy="21305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人工审核</a:t>
                    </a:r>
                    <a:endParaRPr kumimoji="0" lang="zh-CN" altLang="en-US" sz="1000" b="0" i="0" u="none" strike="noStrike" cap="none" spc="0" normalizeH="0" baseline="0" dirty="0">
                      <a:ln>
                        <a:noFill/>
                      </a:ln>
                      <a:solidFill>
                        <a:schemeClr val="bg2"/>
                      </a:solidFill>
                      <a:effectLst/>
                      <a:uFillTx/>
                      <a:latin typeface="PingFang SC Light"/>
                      <a:sym typeface="Arial Black"/>
                    </a:endParaRPr>
                  </a:p>
                </p:txBody>
              </p:sp>
            </p:grpSp>
            <p:grpSp>
              <p:nvGrpSpPr>
                <p:cNvPr id="80" name="组合 79">
                  <a:extLst>
                    <a:ext uri="{FF2B5EF4-FFF2-40B4-BE49-F238E27FC236}">
                      <a16:creationId xmlns:a16="http://schemas.microsoft.com/office/drawing/2014/main" xmlns="" id="{B33D1C8E-4BFA-4E03-8F5F-FCA4FF583D9C}"/>
                    </a:ext>
                  </a:extLst>
                </p:cNvPr>
                <p:cNvGrpSpPr/>
                <p:nvPr/>
              </p:nvGrpSpPr>
              <p:grpSpPr>
                <a:xfrm>
                  <a:off x="7975543" y="3062783"/>
                  <a:ext cx="692545" cy="648000"/>
                  <a:chOff x="896549" y="4650952"/>
                  <a:chExt cx="692545" cy="648000"/>
                </a:xfrm>
              </p:grpSpPr>
              <p:sp>
                <p:nvSpPr>
                  <p:cNvPr id="81" name="椭圆 80">
                    <a:extLst>
                      <a:ext uri="{FF2B5EF4-FFF2-40B4-BE49-F238E27FC236}">
                        <a16:creationId xmlns:a16="http://schemas.microsoft.com/office/drawing/2014/main" xmlns="" id="{7E215E18-CB8B-4F1A-AD92-23FFD89F6F64}"/>
                      </a:ext>
                    </a:extLst>
                  </p:cNvPr>
                  <p:cNvSpPr/>
                  <p:nvPr/>
                </p:nvSpPr>
                <p:spPr>
                  <a:xfrm>
                    <a:off x="896549" y="4650952"/>
                    <a:ext cx="648000" cy="648000"/>
                  </a:xfrm>
                  <a:prstGeom prst="ellipse">
                    <a:avLst/>
                  </a:prstGeom>
                  <a:noFill/>
                  <a:ln w="3175"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2" name="文本框 81">
                    <a:extLst>
                      <a:ext uri="{FF2B5EF4-FFF2-40B4-BE49-F238E27FC236}">
                        <a16:creationId xmlns:a16="http://schemas.microsoft.com/office/drawing/2014/main" xmlns="" id="{C6808FCB-2AB4-4EBA-9B96-AE1EFAFE4020}"/>
                      </a:ext>
                    </a:extLst>
                  </p:cNvPr>
                  <p:cNvSpPr txBox="1"/>
                  <p:nvPr/>
                </p:nvSpPr>
                <p:spPr>
                  <a:xfrm>
                    <a:off x="911397" y="4885810"/>
                    <a:ext cx="677697" cy="21305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rgbClr val="C00000"/>
                        </a:solidFill>
                        <a:effectLst/>
                        <a:uFillTx/>
                        <a:latin typeface="PingFang SC Light"/>
                        <a:sym typeface="Arial Black"/>
                      </a:rPr>
                      <a:t>欺诈</a:t>
                    </a:r>
                  </a:p>
                </p:txBody>
              </p:sp>
            </p:grpSp>
            <p:grpSp>
              <p:nvGrpSpPr>
                <p:cNvPr id="83" name="组合 82">
                  <a:extLst>
                    <a:ext uri="{FF2B5EF4-FFF2-40B4-BE49-F238E27FC236}">
                      <a16:creationId xmlns:a16="http://schemas.microsoft.com/office/drawing/2014/main" xmlns="" id="{144EBC9D-6A4B-4E76-96D8-C61DDB1A50C8}"/>
                    </a:ext>
                  </a:extLst>
                </p:cNvPr>
                <p:cNvGrpSpPr/>
                <p:nvPr/>
              </p:nvGrpSpPr>
              <p:grpSpPr>
                <a:xfrm>
                  <a:off x="8845412" y="3056088"/>
                  <a:ext cx="677697" cy="648000"/>
                  <a:chOff x="881370" y="4650144"/>
                  <a:chExt cx="677697" cy="648000"/>
                </a:xfrm>
              </p:grpSpPr>
              <p:sp>
                <p:nvSpPr>
                  <p:cNvPr id="84" name="椭圆 83">
                    <a:extLst>
                      <a:ext uri="{FF2B5EF4-FFF2-40B4-BE49-F238E27FC236}">
                        <a16:creationId xmlns:a16="http://schemas.microsoft.com/office/drawing/2014/main" xmlns="" id="{2F176FD1-520F-410D-B02A-2D79367F54A7}"/>
                      </a:ext>
                    </a:extLst>
                  </p:cNvPr>
                  <p:cNvSpPr/>
                  <p:nvPr/>
                </p:nvSpPr>
                <p:spPr>
                  <a:xfrm>
                    <a:off x="902212" y="4650144"/>
                    <a:ext cx="648000" cy="648000"/>
                  </a:xfrm>
                  <a:prstGeom prst="ellipse">
                    <a:avLst/>
                  </a:prstGeom>
                  <a:noFill/>
                  <a:ln w="31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85" name="文本框 84">
                    <a:extLst>
                      <a:ext uri="{FF2B5EF4-FFF2-40B4-BE49-F238E27FC236}">
                        <a16:creationId xmlns:a16="http://schemas.microsoft.com/office/drawing/2014/main" xmlns="" id="{816DF160-3FEB-4449-BC12-A5B5371570C1}"/>
                      </a:ext>
                    </a:extLst>
                  </p:cNvPr>
                  <p:cNvSpPr txBox="1"/>
                  <p:nvPr/>
                </p:nvSpPr>
                <p:spPr>
                  <a:xfrm>
                    <a:off x="881370" y="4789603"/>
                    <a:ext cx="677697" cy="37069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1000" dirty="0">
                        <a:solidFill>
                          <a:schemeClr val="bg2"/>
                        </a:solidFill>
                        <a:latin typeface="PingFang SC Light"/>
                      </a:rPr>
                      <a:t>允许</a:t>
                    </a:r>
                    <a:endParaRPr lang="en-US" altLang="zh-CN" sz="1000" dirty="0">
                      <a:solidFill>
                        <a:schemeClr val="bg2"/>
                      </a:solidFill>
                      <a:latin typeface="PingFang SC Light"/>
                    </a:endParaRPr>
                  </a:p>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交易</a:t>
                    </a:r>
                  </a:p>
                </p:txBody>
              </p:sp>
            </p:grpSp>
            <p:cxnSp>
              <p:nvCxnSpPr>
                <p:cNvPr id="19" name="直接箭头连接符 18">
                  <a:extLst>
                    <a:ext uri="{FF2B5EF4-FFF2-40B4-BE49-F238E27FC236}">
                      <a16:creationId xmlns:a16="http://schemas.microsoft.com/office/drawing/2014/main" xmlns="" id="{9F46A701-7112-467A-B226-22C78D4D310D}"/>
                    </a:ext>
                  </a:extLst>
                </p:cNvPr>
                <p:cNvCxnSpPr>
                  <a:cxnSpLocks/>
                  <a:stCxn id="11" idx="3"/>
                  <a:endCxn id="64" idx="1"/>
                </p:cNvCxnSpPr>
                <p:nvPr/>
              </p:nvCxnSpPr>
              <p:spPr>
                <a:xfrm flipV="1">
                  <a:off x="4241761" y="2505552"/>
                  <a:ext cx="438702" cy="7161"/>
                </a:xfrm>
                <a:prstGeom prst="straightConnector1">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1" name="直接箭头连接符 20">
                  <a:extLst>
                    <a:ext uri="{FF2B5EF4-FFF2-40B4-BE49-F238E27FC236}">
                      <a16:creationId xmlns:a16="http://schemas.microsoft.com/office/drawing/2014/main" xmlns="" id="{F40AD0A9-513C-4349-87E8-8883D3A10A3C}"/>
                    </a:ext>
                  </a:extLst>
                </p:cNvPr>
                <p:cNvCxnSpPr>
                  <a:cxnSpLocks/>
                  <a:stCxn id="64" idx="3"/>
                  <a:endCxn id="65" idx="1"/>
                </p:cNvCxnSpPr>
                <p:nvPr/>
              </p:nvCxnSpPr>
              <p:spPr>
                <a:xfrm>
                  <a:off x="6221880" y="2505553"/>
                  <a:ext cx="448221" cy="0"/>
                </a:xfrm>
                <a:prstGeom prst="straightConnector1">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 name="直接箭头连接符 25">
                  <a:extLst>
                    <a:ext uri="{FF2B5EF4-FFF2-40B4-BE49-F238E27FC236}">
                      <a16:creationId xmlns:a16="http://schemas.microsoft.com/office/drawing/2014/main" xmlns="" id="{138F8AD7-CA45-498B-8CD9-4F6945DF93C8}"/>
                    </a:ext>
                  </a:extLst>
                </p:cNvPr>
                <p:cNvCxnSpPr>
                  <a:cxnSpLocks/>
                  <a:stCxn id="74" idx="3"/>
                  <a:endCxn id="76" idx="1"/>
                </p:cNvCxnSpPr>
                <p:nvPr/>
              </p:nvCxnSpPr>
              <p:spPr>
                <a:xfrm>
                  <a:off x="4473636" y="4251412"/>
                  <a:ext cx="739318" cy="0"/>
                </a:xfrm>
                <a:prstGeom prst="straightConnector1">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连接符: 肘形 28">
                  <a:extLst>
                    <a:ext uri="{FF2B5EF4-FFF2-40B4-BE49-F238E27FC236}">
                      <a16:creationId xmlns:a16="http://schemas.microsoft.com/office/drawing/2014/main" xmlns="" id="{A48A9A73-FBF1-4560-BCD5-2F04CDEA5071}"/>
                    </a:ext>
                  </a:extLst>
                </p:cNvPr>
                <p:cNvCxnSpPr>
                  <a:cxnSpLocks/>
                  <a:stCxn id="65" idx="3"/>
                  <a:endCxn id="84" idx="0"/>
                </p:cNvCxnSpPr>
                <p:nvPr/>
              </p:nvCxnSpPr>
              <p:spPr>
                <a:xfrm>
                  <a:off x="8027672" y="2505553"/>
                  <a:ext cx="1162583" cy="550534"/>
                </a:xfrm>
                <a:prstGeom prst="bentConnector2">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连接符: 肘形 30">
                  <a:extLst>
                    <a:ext uri="{FF2B5EF4-FFF2-40B4-BE49-F238E27FC236}">
                      <a16:creationId xmlns:a16="http://schemas.microsoft.com/office/drawing/2014/main" xmlns="" id="{B7FFC2D0-DDFB-4291-BB5C-B368D46478C1}"/>
                    </a:ext>
                  </a:extLst>
                </p:cNvPr>
                <p:cNvCxnSpPr>
                  <a:cxnSpLocks/>
                  <a:stCxn id="76" idx="3"/>
                  <a:endCxn id="84" idx="4"/>
                </p:cNvCxnSpPr>
                <p:nvPr/>
              </p:nvCxnSpPr>
              <p:spPr>
                <a:xfrm flipV="1">
                  <a:off x="6342546" y="3704088"/>
                  <a:ext cx="2847707" cy="547323"/>
                </a:xfrm>
                <a:prstGeom prst="bentConnector2">
                  <a:avLst/>
                </a:prstGeom>
                <a:noFill/>
                <a:ln w="31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4" name="连接符: 肘形 33">
                  <a:extLst>
                    <a:ext uri="{FF2B5EF4-FFF2-40B4-BE49-F238E27FC236}">
                      <a16:creationId xmlns:a16="http://schemas.microsoft.com/office/drawing/2014/main" xmlns="" id="{4DF1DA4F-5C9B-4866-941C-CE3ECF6483A4}"/>
                    </a:ext>
                  </a:extLst>
                </p:cNvPr>
                <p:cNvCxnSpPr>
                  <a:cxnSpLocks/>
                  <a:stCxn id="9" idx="2"/>
                  <a:endCxn id="81" idx="2"/>
                </p:cNvCxnSpPr>
                <p:nvPr/>
              </p:nvCxnSpPr>
              <p:spPr>
                <a:xfrm rot="16200000" flipH="1">
                  <a:off x="5506218" y="917458"/>
                  <a:ext cx="640070" cy="4298579"/>
                </a:xfrm>
                <a:prstGeom prst="bentConnector2">
                  <a:avLst/>
                </a:prstGeom>
                <a:noFill/>
                <a:ln w="3175"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5" name="直接箭头连接符 44">
                  <a:extLst>
                    <a:ext uri="{FF2B5EF4-FFF2-40B4-BE49-F238E27FC236}">
                      <a16:creationId xmlns:a16="http://schemas.microsoft.com/office/drawing/2014/main" xmlns="" id="{8B29EA2C-F237-4ECE-842C-E0437F7A6477}"/>
                    </a:ext>
                  </a:extLst>
                </p:cNvPr>
                <p:cNvCxnSpPr>
                  <a:endCxn id="73" idx="0"/>
                </p:cNvCxnSpPr>
                <p:nvPr/>
              </p:nvCxnSpPr>
              <p:spPr>
                <a:xfrm>
                  <a:off x="3908840" y="3387735"/>
                  <a:ext cx="0" cy="629677"/>
                </a:xfrm>
                <a:prstGeom prst="straightConnector1">
                  <a:avLst/>
                </a:prstGeom>
                <a:noFill/>
                <a:ln w="3175"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 name="直接箭头连接符 46">
                  <a:extLst>
                    <a:ext uri="{FF2B5EF4-FFF2-40B4-BE49-F238E27FC236}">
                      <a16:creationId xmlns:a16="http://schemas.microsoft.com/office/drawing/2014/main" xmlns="" id="{83C72B18-E667-4CFD-9D4E-0E11C7F35473}"/>
                    </a:ext>
                  </a:extLst>
                </p:cNvPr>
                <p:cNvCxnSpPr>
                  <a:cxnSpLocks/>
                  <a:endCxn id="64" idx="2"/>
                </p:cNvCxnSpPr>
                <p:nvPr/>
              </p:nvCxnSpPr>
              <p:spPr>
                <a:xfrm flipV="1">
                  <a:off x="5451171" y="2739553"/>
                  <a:ext cx="0" cy="640071"/>
                </a:xfrm>
                <a:prstGeom prst="straightConnector1">
                  <a:avLst/>
                </a:prstGeom>
                <a:noFill/>
                <a:ln w="3175"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0" name="连接符: 肘形 49">
                  <a:extLst>
                    <a:ext uri="{FF2B5EF4-FFF2-40B4-BE49-F238E27FC236}">
                      <a16:creationId xmlns:a16="http://schemas.microsoft.com/office/drawing/2014/main" xmlns="" id="{8387DB78-01D6-4B02-BC6B-C8B595875E2A}"/>
                    </a:ext>
                  </a:extLst>
                </p:cNvPr>
                <p:cNvCxnSpPr>
                  <a:cxnSpLocks/>
                  <a:endCxn id="81" idx="4"/>
                </p:cNvCxnSpPr>
                <p:nvPr/>
              </p:nvCxnSpPr>
              <p:spPr>
                <a:xfrm flipV="1">
                  <a:off x="6363503" y="3710783"/>
                  <a:ext cx="1936040" cy="428012"/>
                </a:xfrm>
                <a:prstGeom prst="bentConnector2">
                  <a:avLst/>
                </a:prstGeom>
                <a:noFill/>
                <a:ln w="3175"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3" name="连接符: 肘形 52">
                  <a:extLst>
                    <a:ext uri="{FF2B5EF4-FFF2-40B4-BE49-F238E27FC236}">
                      <a16:creationId xmlns:a16="http://schemas.microsoft.com/office/drawing/2014/main" xmlns="" id="{735C648A-7355-42B4-B4EF-2313C1819C8E}"/>
                    </a:ext>
                  </a:extLst>
                </p:cNvPr>
                <p:cNvCxnSpPr>
                  <a:cxnSpLocks/>
                  <a:endCxn id="81" idx="0"/>
                </p:cNvCxnSpPr>
                <p:nvPr/>
              </p:nvCxnSpPr>
              <p:spPr>
                <a:xfrm rot="16200000" flipH="1">
                  <a:off x="7995449" y="2758688"/>
                  <a:ext cx="351164" cy="257024"/>
                </a:xfrm>
                <a:prstGeom prst="bentConnector3">
                  <a:avLst>
                    <a:gd name="adj1" fmla="val 3204"/>
                  </a:avLst>
                </a:prstGeom>
                <a:noFill/>
                <a:ln w="3175"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4" name="文本框 53">
                  <a:extLst>
                    <a:ext uri="{FF2B5EF4-FFF2-40B4-BE49-F238E27FC236}">
                      <a16:creationId xmlns:a16="http://schemas.microsoft.com/office/drawing/2014/main" xmlns="" id="{AAA9236B-F67B-4D7E-8D27-13B22FD6D7F0}"/>
                    </a:ext>
                  </a:extLst>
                </p:cNvPr>
                <p:cNvSpPr txBox="1"/>
                <p:nvPr/>
              </p:nvSpPr>
              <p:spPr>
                <a:xfrm>
                  <a:off x="2743201" y="1967378"/>
                  <a:ext cx="1712666" cy="21305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发现已知模式欺诈</a:t>
                  </a:r>
                </a:p>
              </p:txBody>
            </p:sp>
            <p:sp>
              <p:nvSpPr>
                <p:cNvPr id="116" name="文本框 115">
                  <a:extLst>
                    <a:ext uri="{FF2B5EF4-FFF2-40B4-BE49-F238E27FC236}">
                      <a16:creationId xmlns:a16="http://schemas.microsoft.com/office/drawing/2014/main" xmlns="" id="{15E4B3D4-32F4-49D3-8939-BBB25767EC25}"/>
                    </a:ext>
                  </a:extLst>
                </p:cNvPr>
                <p:cNvSpPr txBox="1"/>
                <p:nvPr/>
              </p:nvSpPr>
              <p:spPr>
                <a:xfrm>
                  <a:off x="2895601" y="4606307"/>
                  <a:ext cx="1712666" cy="21305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2"/>
                      </a:solidFill>
                      <a:effectLst/>
                      <a:uFillTx/>
                      <a:latin typeface="PingFang SC Light"/>
                      <a:sym typeface="Arial Black"/>
                    </a:rPr>
                    <a:t>发现未知模式欺诈</a:t>
                  </a:r>
                </a:p>
              </p:txBody>
            </p:sp>
            <p:sp>
              <p:nvSpPr>
                <p:cNvPr id="56" name="矩形: 圆角 55">
                  <a:extLst>
                    <a:ext uri="{FF2B5EF4-FFF2-40B4-BE49-F238E27FC236}">
                      <a16:creationId xmlns:a16="http://schemas.microsoft.com/office/drawing/2014/main" xmlns="" id="{372CF765-5CE7-4356-8E4D-0FC53D660458}"/>
                    </a:ext>
                  </a:extLst>
                </p:cNvPr>
                <p:cNvSpPr/>
                <p:nvPr/>
              </p:nvSpPr>
              <p:spPr>
                <a:xfrm>
                  <a:off x="2895601" y="1636295"/>
                  <a:ext cx="5883214" cy="3327761"/>
                </a:xfrm>
                <a:prstGeom prst="roundRect">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sp>
            <p:nvSpPr>
              <p:cNvPr id="58" name="动作按钮: 获取信息 57">
                <a:hlinkClick r:id="" action="ppaction://noaction" highlightClick="1"/>
                <a:extLst>
                  <a:ext uri="{FF2B5EF4-FFF2-40B4-BE49-F238E27FC236}">
                    <a16:creationId xmlns:a16="http://schemas.microsoft.com/office/drawing/2014/main" xmlns="" id="{69A27B9F-F1DC-49E2-90BB-4704C36F080E}"/>
                  </a:ext>
                </a:extLst>
              </p:cNvPr>
              <p:cNvSpPr/>
              <p:nvPr/>
            </p:nvSpPr>
            <p:spPr>
              <a:xfrm>
                <a:off x="5415688" y="3351640"/>
                <a:ext cx="268986" cy="319856"/>
              </a:xfrm>
              <a:prstGeom prst="actionButtonInformation">
                <a:avLst/>
              </a:prstGeom>
              <a:solidFill>
                <a:srgbClr val="D4A34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cxnSp>
          <p:nvCxnSpPr>
            <p:cNvPr id="99" name="直接连接符 98">
              <a:extLst>
                <a:ext uri="{FF2B5EF4-FFF2-40B4-BE49-F238E27FC236}">
                  <a16:creationId xmlns:a16="http://schemas.microsoft.com/office/drawing/2014/main" xmlns="" id="{5E4BCD83-ED6E-4556-9D3E-D025E152BC94}"/>
                </a:ext>
              </a:extLst>
            </p:cNvPr>
            <p:cNvCxnSpPr>
              <a:cxnSpLocks/>
            </p:cNvCxnSpPr>
            <p:nvPr/>
          </p:nvCxnSpPr>
          <p:spPr>
            <a:xfrm>
              <a:off x="9047427" y="1427753"/>
              <a:ext cx="0" cy="3248592"/>
            </a:xfrm>
            <a:prstGeom prst="line">
              <a:avLst/>
            </a:prstGeom>
            <a:noFill/>
            <a:ln w="3175" cap="flat">
              <a:solidFill>
                <a:srgbClr val="D4A344"/>
              </a:solidFill>
              <a:prstDash val="sysDash"/>
              <a:miter lim="400000"/>
            </a:ln>
            <a:effectLst/>
            <a:sp3d/>
          </p:spPr>
          <p:style>
            <a:lnRef idx="0">
              <a:scrgbClr r="0" g="0" b="0"/>
            </a:lnRef>
            <a:fillRef idx="0">
              <a:scrgbClr r="0" g="0" b="0"/>
            </a:fillRef>
            <a:effectRef idx="0">
              <a:scrgbClr r="0" g="0" b="0"/>
            </a:effectRef>
            <a:fontRef idx="none"/>
          </p:style>
        </p:cxnSp>
        <p:sp>
          <p:nvSpPr>
            <p:cNvPr id="101" name="文本框 100">
              <a:extLst>
                <a:ext uri="{FF2B5EF4-FFF2-40B4-BE49-F238E27FC236}">
                  <a16:creationId xmlns:a16="http://schemas.microsoft.com/office/drawing/2014/main" xmlns="" id="{06EB837F-5748-41FE-8D00-E9BC20D3F0B4}"/>
                </a:ext>
              </a:extLst>
            </p:cNvPr>
            <p:cNvSpPr txBox="1"/>
            <p:nvPr/>
          </p:nvSpPr>
          <p:spPr>
            <a:xfrm>
              <a:off x="9456514" y="1483618"/>
              <a:ext cx="2262235" cy="42343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1200" b="0" i="0" u="none" strike="noStrike" cap="none" spc="0" normalizeH="0" baseline="0" dirty="0">
                  <a:ln>
                    <a:noFill/>
                  </a:ln>
                  <a:solidFill>
                    <a:schemeClr val="bg2"/>
                  </a:solidFill>
                  <a:effectLst/>
                  <a:uFillTx/>
                  <a:latin typeface="PingFang SC Light"/>
                  <a:sym typeface="Arial Black"/>
                </a:rPr>
                <a:t>反欺诈规则和机器学习算法模型说明</a:t>
              </a:r>
            </a:p>
          </p:txBody>
        </p:sp>
        <p:sp>
          <p:nvSpPr>
            <p:cNvPr id="145" name="动作按钮: 获取信息 144">
              <a:hlinkClick r:id="" action="ppaction://noaction" highlightClick="1"/>
              <a:extLst>
                <a:ext uri="{FF2B5EF4-FFF2-40B4-BE49-F238E27FC236}">
                  <a16:creationId xmlns:a16="http://schemas.microsoft.com/office/drawing/2014/main" xmlns="" id="{BD1A0D41-3EC4-4C3A-8723-52C8E4C6B38D}"/>
                </a:ext>
              </a:extLst>
            </p:cNvPr>
            <p:cNvSpPr/>
            <p:nvPr/>
          </p:nvSpPr>
          <p:spPr>
            <a:xfrm>
              <a:off x="9159722" y="1531744"/>
              <a:ext cx="268986" cy="319856"/>
            </a:xfrm>
            <a:prstGeom prst="actionButtonInformation">
              <a:avLst/>
            </a:prstGeom>
            <a:solidFill>
              <a:srgbClr val="D4A34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a:ln>
                  <a:noFill/>
                </a:ln>
                <a:solidFill>
                  <a:srgbClr val="FFFFFF"/>
                </a:solidFill>
                <a:effectLst/>
                <a:uFillTx/>
                <a:latin typeface="+mn-lt"/>
                <a:ea typeface="+mn-ea"/>
                <a:cs typeface="+mn-cs"/>
                <a:sym typeface="Helvetica Neue Medium"/>
              </a:endParaRPr>
            </a:p>
          </p:txBody>
        </p:sp>
      </p:grpSp>
    </p:spTree>
    <p:extLst>
      <p:ext uri="{BB962C8B-B14F-4D97-AF65-F5344CB8AC3E}">
        <p14:creationId xmlns:p14="http://schemas.microsoft.com/office/powerpoint/2010/main" val="1506304906"/>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68256" y="-405686"/>
            <a:ext cx="12328512" cy="8223021"/>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6" y="1797772"/>
            <a:ext cx="8220685"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8" y="2477526"/>
            <a:ext cx="7935192" cy="128520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zh-CN" altLang="en-US" sz="4000" dirty="0"/>
              <a:t>“数据驱动”：</a:t>
            </a:r>
            <a:endParaRPr lang="en-US" altLang="zh-CN" sz="4000" dirty="0"/>
          </a:p>
          <a:p>
            <a:pPr algn="l"/>
            <a:r>
              <a:rPr lang="zh-CN" altLang="en-US" sz="4000" dirty="0"/>
              <a:t>智慧企業供應鏈信貸最佳实践分析</a:t>
            </a:r>
            <a:endParaRPr sz="4000" dirty="0"/>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3903278375"/>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xmlns="" id="{0C6742F9-1C7E-4FE1-B360-648A9E806D2A}"/>
              </a:ext>
            </a:extLst>
          </p:cNvPr>
          <p:cNvSpPr txBox="1"/>
          <p:nvPr/>
        </p:nvSpPr>
        <p:spPr>
          <a:xfrm>
            <a:off x="1690978" y="1251170"/>
            <a:ext cx="8810043" cy="263942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kumimoji="0" lang="zh-CN" altLang="en-US" sz="2800" b="0" i="0" u="none" strike="noStrike" cap="none" spc="0" normalizeH="0" baseline="0" dirty="0">
                <a:ln>
                  <a:noFill/>
                </a:ln>
                <a:solidFill>
                  <a:schemeClr val="bg2"/>
                </a:solidFill>
                <a:effectLst/>
                <a:uFillTx/>
                <a:latin typeface="Arial Black"/>
                <a:ea typeface="Arial Black"/>
                <a:cs typeface="Arial Black"/>
                <a:sym typeface="Arial Black"/>
              </a:rPr>
              <a:t>香港企業征信數據主要來自於鄧白氏和香港城市信息服務集團的靜態數據，構建依託供應鏈的大數據征信體系對銀行全面掌握企業經營狀況尤其是現金流狀況，從而提供合適的信用產品至關重要。</a:t>
            </a:r>
            <a:endParaRPr kumimoji="0" lang="en-US" altLang="zh-CN" sz="2800" b="0" i="0" u="none" strike="noStrike" cap="none" spc="0" normalizeH="0" baseline="0" dirty="0">
              <a:ln>
                <a:noFill/>
              </a:ln>
              <a:solidFill>
                <a:schemeClr val="bg2"/>
              </a:solidFill>
              <a:effectLst/>
              <a:uFillTx/>
              <a:latin typeface="Arial Black"/>
              <a:ea typeface="Arial Black"/>
              <a:cs typeface="Arial Black"/>
              <a:sym typeface="Arial Black"/>
            </a:endParaRPr>
          </a:p>
          <a:p>
            <a:pPr algn="l"/>
            <a:r>
              <a:rPr lang="zh-CN" altLang="en-US" sz="2800" dirty="0">
                <a:solidFill>
                  <a:schemeClr val="bg2"/>
                </a:solidFill>
              </a:rPr>
              <a:t>信貸精細化運營時代，掌握更精細的“情報”將構建起核心優勢。</a:t>
            </a:r>
            <a:endParaRPr kumimoji="0" lang="zh-CN" altLang="en-US" sz="2800" b="0" i="0" u="none" strike="noStrike" cap="none" spc="0" normalizeH="0" baseline="0" dirty="0">
              <a:ln>
                <a:noFill/>
              </a:ln>
              <a:solidFill>
                <a:schemeClr val="bg2"/>
              </a:solidFill>
              <a:effectLst/>
              <a:uFillTx/>
              <a:latin typeface="Arial Black"/>
              <a:ea typeface="Arial Black"/>
              <a:cs typeface="Arial Black"/>
              <a:sym typeface="Arial Black"/>
            </a:endParaRPr>
          </a:p>
        </p:txBody>
      </p:sp>
    </p:spTree>
    <p:extLst>
      <p:ext uri="{BB962C8B-B14F-4D97-AF65-F5344CB8AC3E}">
        <p14:creationId xmlns:p14="http://schemas.microsoft.com/office/powerpoint/2010/main" val="3191598201"/>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31DBDD0A-3730-4BC5-8F31-EA0F397CB462}"/>
              </a:ext>
            </a:extLst>
          </p:cNvPr>
          <p:cNvPicPr>
            <a:picLocks noChangeAspect="1"/>
          </p:cNvPicPr>
          <p:nvPr/>
        </p:nvPicPr>
        <p:blipFill>
          <a:blip r:embed="rId2"/>
          <a:stretch>
            <a:fillRect/>
          </a:stretch>
        </p:blipFill>
        <p:spPr>
          <a:xfrm>
            <a:off x="904589" y="1507446"/>
            <a:ext cx="5331885" cy="2150154"/>
          </a:xfrm>
          <a:prstGeom prst="rect">
            <a:avLst/>
          </a:prstGeom>
        </p:spPr>
      </p:pic>
      <p:pic>
        <p:nvPicPr>
          <p:cNvPr id="4" name="图片 3">
            <a:extLst>
              <a:ext uri="{FF2B5EF4-FFF2-40B4-BE49-F238E27FC236}">
                <a16:creationId xmlns:a16="http://schemas.microsoft.com/office/drawing/2014/main" xmlns="" id="{568A681E-FDFC-4629-84FE-B63935BE22ED}"/>
              </a:ext>
            </a:extLst>
          </p:cNvPr>
          <p:cNvPicPr>
            <a:picLocks noChangeAspect="1"/>
          </p:cNvPicPr>
          <p:nvPr/>
        </p:nvPicPr>
        <p:blipFill>
          <a:blip r:embed="rId3"/>
          <a:stretch>
            <a:fillRect/>
          </a:stretch>
        </p:blipFill>
        <p:spPr>
          <a:xfrm>
            <a:off x="560368" y="3120887"/>
            <a:ext cx="4978533" cy="3323645"/>
          </a:xfrm>
          <a:prstGeom prst="rect">
            <a:avLst/>
          </a:prstGeom>
        </p:spPr>
      </p:pic>
      <p:sp>
        <p:nvSpPr>
          <p:cNvPr id="7" name="文本框 6">
            <a:extLst>
              <a:ext uri="{FF2B5EF4-FFF2-40B4-BE49-F238E27FC236}">
                <a16:creationId xmlns:a16="http://schemas.microsoft.com/office/drawing/2014/main" xmlns="" id="{EA3BEA94-78AD-4BE5-BE78-084FF4BFD538}"/>
              </a:ext>
            </a:extLst>
          </p:cNvPr>
          <p:cNvSpPr txBox="1"/>
          <p:nvPr/>
        </p:nvSpPr>
        <p:spPr>
          <a:xfrm>
            <a:off x="1094631" y="1089369"/>
            <a:ext cx="10283686" cy="48498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kumimoji="0" lang="zh-CN" altLang="en-US" sz="2800" b="0" i="0" u="none" strike="noStrike" cap="none" spc="0" normalizeH="0" baseline="0" dirty="0">
                <a:ln>
                  <a:noFill/>
                </a:ln>
                <a:solidFill>
                  <a:schemeClr val="bg2"/>
                </a:solidFill>
                <a:effectLst/>
                <a:uFillTx/>
                <a:latin typeface="Arial Black"/>
                <a:ea typeface="Arial Black"/>
                <a:cs typeface="Arial Black"/>
                <a:sym typeface="Arial Black"/>
              </a:rPr>
              <a:t>核心企業的營運資本管理需求是在線供應鏈金融發展的核心動力</a:t>
            </a:r>
          </a:p>
        </p:txBody>
      </p:sp>
      <p:pic>
        <p:nvPicPr>
          <p:cNvPr id="8" name="图片 7">
            <a:extLst>
              <a:ext uri="{FF2B5EF4-FFF2-40B4-BE49-F238E27FC236}">
                <a16:creationId xmlns:a16="http://schemas.microsoft.com/office/drawing/2014/main" xmlns="" id="{2382296D-142D-47FE-B55B-FB5CF235A531}"/>
              </a:ext>
            </a:extLst>
          </p:cNvPr>
          <p:cNvPicPr>
            <a:picLocks noChangeAspect="1"/>
          </p:cNvPicPr>
          <p:nvPr/>
        </p:nvPicPr>
        <p:blipFill>
          <a:blip r:embed="rId4"/>
          <a:stretch>
            <a:fillRect/>
          </a:stretch>
        </p:blipFill>
        <p:spPr>
          <a:xfrm>
            <a:off x="5538901" y="1916837"/>
            <a:ext cx="6088310" cy="3990981"/>
          </a:xfrm>
          <a:prstGeom prst="rect">
            <a:avLst/>
          </a:prstGeom>
        </p:spPr>
      </p:pic>
    </p:spTree>
    <p:extLst>
      <p:ext uri="{BB962C8B-B14F-4D97-AF65-F5344CB8AC3E}">
        <p14:creationId xmlns:p14="http://schemas.microsoft.com/office/powerpoint/2010/main" val="1168210258"/>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580D1F78-73BA-456E-B308-54956DB69BFD}"/>
              </a:ext>
            </a:extLst>
          </p:cNvPr>
          <p:cNvPicPr>
            <a:picLocks noChangeAspect="1"/>
          </p:cNvPicPr>
          <p:nvPr/>
        </p:nvPicPr>
        <p:blipFill>
          <a:blip r:embed="rId2"/>
          <a:stretch>
            <a:fillRect/>
          </a:stretch>
        </p:blipFill>
        <p:spPr>
          <a:xfrm>
            <a:off x="1349774" y="1512736"/>
            <a:ext cx="6403126" cy="3832528"/>
          </a:xfrm>
          <a:prstGeom prst="rect">
            <a:avLst/>
          </a:prstGeom>
        </p:spPr>
      </p:pic>
      <p:sp>
        <p:nvSpPr>
          <p:cNvPr id="6" name="文本框 5">
            <a:extLst>
              <a:ext uri="{FF2B5EF4-FFF2-40B4-BE49-F238E27FC236}">
                <a16:creationId xmlns:a16="http://schemas.microsoft.com/office/drawing/2014/main" xmlns="" id="{77B81E3D-BC23-4822-AEB3-D4869943206D}"/>
              </a:ext>
            </a:extLst>
          </p:cNvPr>
          <p:cNvSpPr txBox="1"/>
          <p:nvPr/>
        </p:nvSpPr>
        <p:spPr>
          <a:xfrm>
            <a:off x="1659173" y="850830"/>
            <a:ext cx="10283686" cy="48498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lang="zh-CN" altLang="en-US" sz="2800" dirty="0">
                <a:solidFill>
                  <a:schemeClr val="bg2"/>
                </a:solidFill>
              </a:rPr>
              <a:t>在線供應鏈金融</a:t>
            </a:r>
            <a:r>
              <a:rPr kumimoji="0" lang="zh-CN" altLang="en-US" sz="2800" b="0" i="0" u="none" strike="noStrike" cap="none" spc="0" normalizeH="0" baseline="0" dirty="0">
                <a:ln>
                  <a:noFill/>
                </a:ln>
                <a:solidFill>
                  <a:schemeClr val="bg2"/>
                </a:solidFill>
                <a:effectLst/>
                <a:uFillTx/>
                <a:latin typeface="Arial Black"/>
                <a:ea typeface="Arial Black"/>
                <a:cs typeface="Arial Black"/>
                <a:sym typeface="Arial Black"/>
              </a:rPr>
              <a:t>具備市場下沉的基礎</a:t>
            </a:r>
          </a:p>
        </p:txBody>
      </p:sp>
    </p:spTree>
    <p:extLst>
      <p:ext uri="{BB962C8B-B14F-4D97-AF65-F5344CB8AC3E}">
        <p14:creationId xmlns:p14="http://schemas.microsoft.com/office/powerpoint/2010/main" val="2606864082"/>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xmlns="" id="{77B81E3D-BC23-4822-AEB3-D4869943206D}"/>
              </a:ext>
            </a:extLst>
          </p:cNvPr>
          <p:cNvSpPr txBox="1"/>
          <p:nvPr/>
        </p:nvSpPr>
        <p:spPr>
          <a:xfrm>
            <a:off x="1508099" y="380944"/>
            <a:ext cx="10283686" cy="915876"/>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lang="zh-CN" altLang="en-US" sz="2800" dirty="0">
                <a:solidFill>
                  <a:schemeClr val="bg2"/>
                </a:solidFill>
              </a:rPr>
              <a:t>通過核心企業的一帶十作用，實現市場和數據採集的下沉，逐步擴大白名單</a:t>
            </a:r>
            <a:endParaRPr kumimoji="0" lang="zh-CN" altLang="en-US" sz="2800" b="0" i="0" u="none" strike="noStrike" cap="none" spc="0" normalizeH="0" baseline="0" dirty="0">
              <a:ln>
                <a:noFill/>
              </a:ln>
              <a:solidFill>
                <a:schemeClr val="bg2"/>
              </a:solidFill>
              <a:effectLst/>
              <a:uFillTx/>
              <a:latin typeface="Arial Black"/>
              <a:ea typeface="Arial Black"/>
              <a:cs typeface="Arial Black"/>
              <a:sym typeface="Arial Black"/>
            </a:endParaRPr>
          </a:p>
        </p:txBody>
      </p:sp>
      <p:pic>
        <p:nvPicPr>
          <p:cNvPr id="4" name="图片 3">
            <a:extLst>
              <a:ext uri="{FF2B5EF4-FFF2-40B4-BE49-F238E27FC236}">
                <a16:creationId xmlns:a16="http://schemas.microsoft.com/office/drawing/2014/main" xmlns="" id="{E816A198-129C-47B2-8EA5-9AD7A3BAEBD4}"/>
              </a:ext>
            </a:extLst>
          </p:cNvPr>
          <p:cNvPicPr>
            <a:picLocks noChangeAspect="1"/>
          </p:cNvPicPr>
          <p:nvPr/>
        </p:nvPicPr>
        <p:blipFill>
          <a:blip r:embed="rId2"/>
          <a:stretch>
            <a:fillRect/>
          </a:stretch>
        </p:blipFill>
        <p:spPr>
          <a:xfrm>
            <a:off x="1335819" y="1388693"/>
            <a:ext cx="5385463" cy="3071990"/>
          </a:xfrm>
          <a:prstGeom prst="rect">
            <a:avLst/>
          </a:prstGeom>
        </p:spPr>
      </p:pic>
    </p:spTree>
    <p:extLst>
      <p:ext uri="{BB962C8B-B14F-4D97-AF65-F5344CB8AC3E}">
        <p14:creationId xmlns:p14="http://schemas.microsoft.com/office/powerpoint/2010/main" val="2295357861"/>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7ECAE114-E489-4BD7-BC21-6832D65F8684}"/>
              </a:ext>
            </a:extLst>
          </p:cNvPr>
          <p:cNvPicPr>
            <a:picLocks noChangeAspect="1"/>
          </p:cNvPicPr>
          <p:nvPr/>
        </p:nvPicPr>
        <p:blipFill>
          <a:blip r:embed="rId2"/>
          <a:stretch>
            <a:fillRect/>
          </a:stretch>
        </p:blipFill>
        <p:spPr>
          <a:xfrm>
            <a:off x="1245601" y="990181"/>
            <a:ext cx="3387231" cy="1576161"/>
          </a:xfrm>
          <a:prstGeom prst="rect">
            <a:avLst/>
          </a:prstGeom>
        </p:spPr>
      </p:pic>
      <p:pic>
        <p:nvPicPr>
          <p:cNvPr id="6" name="图片 5">
            <a:extLst>
              <a:ext uri="{FF2B5EF4-FFF2-40B4-BE49-F238E27FC236}">
                <a16:creationId xmlns:a16="http://schemas.microsoft.com/office/drawing/2014/main" xmlns="" id="{891A3141-0794-4DE5-8BCA-00043C9EDF62}"/>
              </a:ext>
            </a:extLst>
          </p:cNvPr>
          <p:cNvPicPr>
            <a:picLocks noChangeAspect="1"/>
          </p:cNvPicPr>
          <p:nvPr/>
        </p:nvPicPr>
        <p:blipFill>
          <a:blip r:embed="rId3"/>
          <a:stretch>
            <a:fillRect/>
          </a:stretch>
        </p:blipFill>
        <p:spPr>
          <a:xfrm>
            <a:off x="1245601" y="2699495"/>
            <a:ext cx="3306651" cy="1691869"/>
          </a:xfrm>
          <a:prstGeom prst="rect">
            <a:avLst/>
          </a:prstGeom>
        </p:spPr>
      </p:pic>
      <p:pic>
        <p:nvPicPr>
          <p:cNvPr id="7" name="图片 6">
            <a:extLst>
              <a:ext uri="{FF2B5EF4-FFF2-40B4-BE49-F238E27FC236}">
                <a16:creationId xmlns:a16="http://schemas.microsoft.com/office/drawing/2014/main" xmlns="" id="{E3B851D6-13A0-4B61-9417-6660C0F4F851}"/>
              </a:ext>
            </a:extLst>
          </p:cNvPr>
          <p:cNvPicPr>
            <a:picLocks noChangeAspect="1"/>
          </p:cNvPicPr>
          <p:nvPr/>
        </p:nvPicPr>
        <p:blipFill>
          <a:blip r:embed="rId4"/>
          <a:stretch>
            <a:fillRect/>
          </a:stretch>
        </p:blipFill>
        <p:spPr>
          <a:xfrm>
            <a:off x="1245601" y="4825334"/>
            <a:ext cx="3131505" cy="1576161"/>
          </a:xfrm>
          <a:prstGeom prst="rect">
            <a:avLst/>
          </a:prstGeom>
        </p:spPr>
      </p:pic>
      <p:sp>
        <p:nvSpPr>
          <p:cNvPr id="9" name="文本框 8">
            <a:extLst>
              <a:ext uri="{FF2B5EF4-FFF2-40B4-BE49-F238E27FC236}">
                <a16:creationId xmlns:a16="http://schemas.microsoft.com/office/drawing/2014/main" xmlns="" id="{3F06A5CB-1412-49FF-B698-508E7BA570D6}"/>
              </a:ext>
            </a:extLst>
          </p:cNvPr>
          <p:cNvSpPr txBox="1"/>
          <p:nvPr/>
        </p:nvSpPr>
        <p:spPr>
          <a:xfrm>
            <a:off x="4832180" y="3244334"/>
            <a:ext cx="5943199" cy="15314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ctr" defTabSz="410765" rtl="0" fontAlgn="auto" latinLnBrk="0" hangingPunct="0">
              <a:lnSpc>
                <a:spcPct val="100000"/>
              </a:lnSpc>
              <a:spcBef>
                <a:spcPts val="0"/>
              </a:spcBef>
              <a:spcAft>
                <a:spcPts val="0"/>
              </a:spcAft>
              <a:buClrTx/>
              <a:buSzTx/>
              <a:buFontTx/>
              <a:buNone/>
              <a:tabLst/>
            </a:pPr>
            <a:r>
              <a:rPr lang="zh-CN" altLang="en-US" sz="2400" dirty="0">
                <a:solidFill>
                  <a:schemeClr val="bg2"/>
                </a:solidFill>
              </a:rPr>
              <a:t>我司可做的：</a:t>
            </a:r>
            <a:r>
              <a:rPr lang="en-US" altLang="zh-CN" sz="2400" dirty="0">
                <a:solidFill>
                  <a:schemeClr val="bg2"/>
                </a:solidFill>
              </a:rPr>
              <a:t>1.</a:t>
            </a:r>
            <a:r>
              <a:rPr lang="zh-CN" altLang="en-US" sz="2400" dirty="0">
                <a:solidFill>
                  <a:schemeClr val="bg2"/>
                </a:solidFill>
              </a:rPr>
              <a:t> 自動識別發票；</a:t>
            </a:r>
            <a:r>
              <a:rPr lang="en-US" altLang="zh-CN" sz="2400" dirty="0">
                <a:solidFill>
                  <a:schemeClr val="bg2"/>
                </a:solidFill>
              </a:rPr>
              <a:t>2.</a:t>
            </a:r>
            <a:r>
              <a:rPr lang="zh-CN" altLang="en-US" sz="2400" dirty="0">
                <a:solidFill>
                  <a:schemeClr val="bg2"/>
                </a:solidFill>
              </a:rPr>
              <a:t> 現金流分析與預測；</a:t>
            </a:r>
            <a:r>
              <a:rPr lang="en-US" altLang="zh-CN" sz="2400" dirty="0">
                <a:solidFill>
                  <a:schemeClr val="bg2"/>
                </a:solidFill>
              </a:rPr>
              <a:t>3.</a:t>
            </a:r>
            <a:r>
              <a:rPr lang="zh-CN" altLang="en-US" sz="2400" dirty="0">
                <a:solidFill>
                  <a:schemeClr val="bg2"/>
                </a:solidFill>
              </a:rPr>
              <a:t>通过现金流等动态信息的分析，开发基于动态信息的企业征信模型，作为邓白氏等的补充。</a:t>
            </a:r>
            <a:endParaRPr lang="en-US" altLang="zh-CN" sz="2400" dirty="0">
              <a:solidFill>
                <a:schemeClr val="bg2"/>
              </a:solidFill>
            </a:endParaRPr>
          </a:p>
        </p:txBody>
      </p:sp>
      <p:sp>
        <p:nvSpPr>
          <p:cNvPr id="2" name="文本框 1">
            <a:extLst>
              <a:ext uri="{FF2B5EF4-FFF2-40B4-BE49-F238E27FC236}">
                <a16:creationId xmlns:a16="http://schemas.microsoft.com/office/drawing/2014/main" xmlns="" id="{F89C89CA-5E99-49EB-A133-F39E16B08C59}"/>
              </a:ext>
            </a:extLst>
          </p:cNvPr>
          <p:cNvSpPr txBox="1"/>
          <p:nvPr/>
        </p:nvSpPr>
        <p:spPr>
          <a:xfrm>
            <a:off x="4832179" y="1012547"/>
            <a:ext cx="6227247" cy="153142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marL="0" marR="0" indent="0" algn="l" defTabSz="410765" rtl="0" fontAlgn="auto" latinLnBrk="0" hangingPunct="0">
              <a:lnSpc>
                <a:spcPct val="100000"/>
              </a:lnSpc>
              <a:spcBef>
                <a:spcPts val="0"/>
              </a:spcBef>
              <a:spcAft>
                <a:spcPts val="0"/>
              </a:spcAft>
              <a:buClrTx/>
              <a:buSzTx/>
              <a:buFontTx/>
              <a:buNone/>
              <a:tabLst/>
            </a:pPr>
            <a:r>
              <a:rPr kumimoji="0" lang="zh-CN" altLang="en-US" sz="3200" b="0" i="0" u="none" strike="noStrike" cap="none" spc="0" normalizeH="0" baseline="0" dirty="0">
                <a:ln>
                  <a:noFill/>
                </a:ln>
                <a:solidFill>
                  <a:schemeClr val="bg2"/>
                </a:solidFill>
                <a:effectLst/>
                <a:uFillTx/>
                <a:latin typeface="Arial Black"/>
                <a:ea typeface="Arial Black"/>
                <a:cs typeface="Arial Black"/>
                <a:sym typeface="Arial Black"/>
              </a:rPr>
              <a:t>中国银行总行提出的在线供应链金融的解决方案。</a:t>
            </a:r>
            <a:endParaRPr kumimoji="0" lang="en-US" altLang="zh-CN" sz="3200" b="0" i="0" u="none" strike="noStrike" cap="none" spc="0" normalizeH="0" baseline="0" dirty="0">
              <a:ln>
                <a:noFill/>
              </a:ln>
              <a:solidFill>
                <a:schemeClr val="bg2"/>
              </a:solidFill>
              <a:effectLst/>
              <a:uFillTx/>
              <a:latin typeface="Arial Black"/>
              <a:ea typeface="Arial Black"/>
              <a:cs typeface="Arial Black"/>
              <a:sym typeface="Arial Black"/>
            </a:endParaRPr>
          </a:p>
          <a:p>
            <a:pPr marL="0" marR="0" indent="0" algn="l" defTabSz="410765" rtl="0" fontAlgn="auto" latinLnBrk="0" hangingPunct="0">
              <a:lnSpc>
                <a:spcPct val="100000"/>
              </a:lnSpc>
              <a:spcBef>
                <a:spcPts val="0"/>
              </a:spcBef>
              <a:spcAft>
                <a:spcPts val="0"/>
              </a:spcAft>
              <a:buClrTx/>
              <a:buSzTx/>
              <a:buFontTx/>
              <a:buNone/>
              <a:tabLst/>
            </a:pPr>
            <a:r>
              <a:rPr kumimoji="0" lang="zh-CN" altLang="en-US" sz="3200" b="0" i="0" u="none" strike="noStrike" cap="none" spc="0" normalizeH="0" baseline="0" dirty="0">
                <a:ln>
                  <a:noFill/>
                </a:ln>
                <a:solidFill>
                  <a:schemeClr val="bg2"/>
                </a:solidFill>
                <a:effectLst/>
                <a:uFillTx/>
                <a:latin typeface="Arial Black"/>
                <a:ea typeface="Arial Black"/>
                <a:cs typeface="Arial Black"/>
                <a:sym typeface="Arial Black"/>
              </a:rPr>
              <a:t>备注：不确定香港是否已同步采用</a:t>
            </a:r>
          </a:p>
        </p:txBody>
      </p:sp>
    </p:spTree>
    <p:extLst>
      <p:ext uri="{BB962C8B-B14F-4D97-AF65-F5344CB8AC3E}">
        <p14:creationId xmlns:p14="http://schemas.microsoft.com/office/powerpoint/2010/main" val="2365460198"/>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14441896787_163b98fa52_b.jpg" descr="14441896787_163b98fa52_b.jpg"/>
          <p:cNvPicPr>
            <a:picLocks noChangeAspect="1"/>
          </p:cNvPicPr>
          <p:nvPr/>
        </p:nvPicPr>
        <p:blipFill>
          <a:blip r:embed="rId2">
            <a:alphaModFix amt="23803"/>
            <a:extLst/>
          </a:blip>
          <a:stretch>
            <a:fillRect/>
          </a:stretch>
        </p:blipFill>
        <p:spPr>
          <a:xfrm>
            <a:off x="-68256" y="-405686"/>
            <a:ext cx="12328512" cy="8223021"/>
          </a:xfrm>
          <a:prstGeom prst="rect">
            <a:avLst/>
          </a:prstGeom>
          <a:ln w="3175">
            <a:miter lim="400000"/>
          </a:ln>
        </p:spPr>
      </p:pic>
      <p:pic>
        <p:nvPicPr>
          <p:cNvPr id="171" name="图像" descr="图像"/>
          <p:cNvPicPr>
            <a:picLocks noChangeAspect="1"/>
          </p:cNvPicPr>
          <p:nvPr/>
        </p:nvPicPr>
        <p:blipFill>
          <a:blip r:embed="rId3">
            <a:extLst/>
          </a:blip>
          <a:stretch>
            <a:fillRect/>
          </a:stretch>
        </p:blipFill>
        <p:spPr>
          <a:xfrm>
            <a:off x="10444834" y="466533"/>
            <a:ext cx="1253577" cy="332979"/>
          </a:xfrm>
          <a:prstGeom prst="rect">
            <a:avLst/>
          </a:prstGeom>
          <a:ln w="3175">
            <a:miter lim="400000"/>
          </a:ln>
        </p:spPr>
      </p:pic>
      <p:sp>
        <p:nvSpPr>
          <p:cNvPr id="172" name="矩形"/>
          <p:cNvSpPr/>
          <p:nvPr/>
        </p:nvSpPr>
        <p:spPr>
          <a:xfrm>
            <a:off x="-48236" y="1797772"/>
            <a:ext cx="9490619" cy="2983056"/>
          </a:xfrm>
          <a:prstGeom prst="rect">
            <a:avLst/>
          </a:prstGeom>
          <a:solidFill>
            <a:srgbClr val="CAA354"/>
          </a:solidFill>
          <a:ln w="3175">
            <a:miter lim="400000"/>
          </a:ln>
        </p:spPr>
        <p:txBody>
          <a:bodyPr lIns="26789" tIns="26789" rIns="26789" bIns="26789" anchor="ctr"/>
          <a:lstStyle/>
          <a:p>
            <a:pPr>
              <a:defRPr sz="1400">
                <a:latin typeface="+mn-lt"/>
                <a:ea typeface="+mn-ea"/>
                <a:cs typeface="+mn-cs"/>
                <a:sym typeface="Helvetica Neue Medium"/>
              </a:defRPr>
            </a:pPr>
            <a:endParaRPr/>
          </a:p>
        </p:txBody>
      </p:sp>
      <p:sp>
        <p:nvSpPr>
          <p:cNvPr id="173" name="大标题"/>
          <p:cNvSpPr txBox="1"/>
          <p:nvPr/>
        </p:nvSpPr>
        <p:spPr>
          <a:xfrm>
            <a:off x="237257" y="2539081"/>
            <a:ext cx="9654421" cy="1162097"/>
          </a:xfrm>
          <a:prstGeom prst="rect">
            <a:avLst/>
          </a:prstGeom>
          <a:ln w="3175">
            <a:miter lim="400000"/>
          </a:ln>
          <a:extLst>
            <a:ext uri="{C572A759-6A51-4108-AA02-DFA0A04FC94B}">
              <ma14:wrappingTextBoxFlag xmlns:ma14="http://schemas.microsoft.com/office/mac/drawingml/2011/main" val="1"/>
            </a:ext>
          </a:extLst>
        </p:spPr>
        <p:txBody>
          <a:bodyPr wrap="square" lIns="26789" tIns="26789" rIns="26789" bIns="26789" anchor="ctr">
            <a:spAutoFit/>
          </a:bodyPr>
          <a:lstStyle>
            <a:lvl1pPr>
              <a:defRPr sz="3800">
                <a:latin typeface="PingFang SC Semibold"/>
                <a:ea typeface="PingFang SC Semibold"/>
                <a:cs typeface="PingFang SC Semibold"/>
                <a:sym typeface="PingFang SC Semibold"/>
              </a:defRPr>
            </a:lvl1pPr>
          </a:lstStyle>
          <a:p>
            <a:pPr algn="l"/>
            <a:r>
              <a:rPr lang="en-US" altLang="zh-CN" sz="3600" dirty="0"/>
              <a:t>FDT-AI</a:t>
            </a:r>
            <a:r>
              <a:rPr lang="zh-CN" altLang="en-US" sz="3600" dirty="0"/>
              <a:t>：</a:t>
            </a:r>
            <a:endParaRPr lang="en-US" altLang="zh-CN" sz="3600" dirty="0"/>
          </a:p>
          <a:p>
            <a:pPr algn="l"/>
            <a:r>
              <a:rPr lang="zh-CN" altLang="en-US" sz="3600" dirty="0"/>
              <a:t>专注于人工智能</a:t>
            </a:r>
            <a:r>
              <a:rPr lang="en-US" altLang="zh-CN" sz="3600" dirty="0"/>
              <a:t>+</a:t>
            </a:r>
            <a:r>
              <a:rPr lang="zh-CN" altLang="en-US" sz="3600" dirty="0"/>
              <a:t>金融的金融科技服务提供商</a:t>
            </a:r>
            <a:endParaRPr sz="3600" dirty="0"/>
          </a:p>
        </p:txBody>
      </p:sp>
      <p:sp>
        <p:nvSpPr>
          <p:cNvPr id="175" name="矩形"/>
          <p:cNvSpPr/>
          <p:nvPr/>
        </p:nvSpPr>
        <p:spPr>
          <a:xfrm>
            <a:off x="189304" y="219031"/>
            <a:ext cx="11813392" cy="6419938"/>
          </a:xfrm>
          <a:prstGeom prst="rect">
            <a:avLst/>
          </a:prstGeom>
          <a:ln>
            <a:solidFill>
              <a:srgbClr val="FFFFFF"/>
            </a:solidFill>
            <a:miter lim="400000"/>
          </a:ln>
        </p:spPr>
        <p:txBody>
          <a:bodyPr lIns="26789" tIns="26789" rIns="26789" bIns="26789" anchor="ctr"/>
          <a:lstStyle/>
          <a:p>
            <a:pPr>
              <a:defRPr sz="1400">
                <a:latin typeface="+mn-lt"/>
                <a:ea typeface="+mn-ea"/>
                <a:cs typeface="+mn-cs"/>
                <a:sym typeface="Helvetica Neue Medium"/>
              </a:defRPr>
            </a:pPr>
            <a:endParaRPr/>
          </a:p>
        </p:txBody>
      </p:sp>
    </p:spTree>
    <p:extLst>
      <p:ext uri="{BB962C8B-B14F-4D97-AF65-F5344CB8AC3E}">
        <p14:creationId xmlns:p14="http://schemas.microsoft.com/office/powerpoint/2010/main" val="467971066"/>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Shape 612"/>
          <p:cNvSpPr txBox="1"/>
          <p:nvPr/>
        </p:nvSpPr>
        <p:spPr>
          <a:xfrm>
            <a:off x="3503459" y="2606193"/>
            <a:ext cx="2539482" cy="646331"/>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err="1">
                <a:ln>
                  <a:noFill/>
                </a:ln>
                <a:solidFill>
                  <a:schemeClr val="bg2"/>
                </a:solidFill>
                <a:effectLst/>
                <a:uLnTx/>
                <a:uFillTx/>
                <a:latin typeface="Century Gothic"/>
                <a:ea typeface="Century Gothic"/>
                <a:cs typeface="Century Gothic"/>
                <a:sym typeface="Century Gothic"/>
              </a:rPr>
              <a:t>姓名：马蔚华</a:t>
            </a:r>
            <a:r>
              <a:rPr kumimoji="0" lang="en-US" sz="1200" b="0" i="0" u="none" strike="noStrike" kern="0" cap="none" spc="0" normalizeH="0" baseline="0" noProof="0" dirty="0">
                <a:ln>
                  <a:noFill/>
                </a:ln>
                <a:solidFill>
                  <a:schemeClr val="bg2"/>
                </a:solidFill>
                <a:effectLst/>
                <a:uLnTx/>
                <a:uFillTx/>
                <a:latin typeface="Century Gothic"/>
                <a:ea typeface="Century Gothic"/>
                <a:cs typeface="Century Gothic"/>
                <a:sym typeface="Century Gothic"/>
              </a:rPr>
              <a:t> </a:t>
            </a:r>
            <a:r>
              <a:rPr kumimoji="0" lang="en-US" sz="1200" b="0" i="0" u="none" strike="noStrike" kern="0" cap="none" spc="0" normalizeH="0" baseline="0" noProof="0" dirty="0" err="1">
                <a:ln>
                  <a:noFill/>
                </a:ln>
                <a:solidFill>
                  <a:schemeClr val="bg2"/>
                </a:solidFill>
                <a:effectLst/>
                <a:uLnTx/>
                <a:uFillTx/>
                <a:latin typeface="Century Gothic"/>
                <a:ea typeface="Century Gothic"/>
                <a:cs typeface="Century Gothic"/>
                <a:sym typeface="Century Gothic"/>
              </a:rPr>
              <a:t>博士</a:t>
            </a:r>
            <a:endParaRPr kumimoji="0" lang="en-US" sz="1200" b="0" i="0" u="none" strike="noStrike" kern="0" cap="none" spc="0" normalizeH="0" baseline="0" noProof="0" dirty="0">
              <a:ln>
                <a:noFill/>
              </a:ln>
              <a:solidFill>
                <a:schemeClr val="bg2"/>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err="1">
                <a:ln>
                  <a:noFill/>
                </a:ln>
                <a:solidFill>
                  <a:schemeClr val="bg2"/>
                </a:solidFill>
                <a:effectLst/>
                <a:uLnTx/>
                <a:uFillTx/>
                <a:latin typeface="Century Gothic"/>
                <a:ea typeface="Century Gothic"/>
                <a:cs typeface="Century Gothic"/>
                <a:sym typeface="Century Gothic"/>
              </a:rPr>
              <a:t>职位：董事长</a:t>
            </a:r>
            <a:endParaRPr kumimoji="0" lang="en-US" sz="1200" b="0" i="0" u="none" strike="noStrike" kern="0" cap="none" spc="0" normalizeH="0" baseline="0" noProof="0" dirty="0">
              <a:ln>
                <a:noFill/>
              </a:ln>
              <a:solidFill>
                <a:schemeClr val="bg2"/>
              </a:solidFill>
              <a:effectLst/>
              <a:uLnTx/>
              <a:uFillTx/>
              <a:latin typeface="Century Gothic"/>
              <a:ea typeface="Century Gothic"/>
              <a:cs typeface="Century Gothic"/>
              <a:sym typeface="Century Gothic"/>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err="1">
                <a:ln>
                  <a:noFill/>
                </a:ln>
                <a:solidFill>
                  <a:schemeClr val="bg2"/>
                </a:solidFill>
                <a:effectLst/>
                <a:uLnTx/>
                <a:uFillTx/>
                <a:latin typeface="Century Gothic"/>
                <a:ea typeface="Century Gothic"/>
                <a:cs typeface="Century Gothic"/>
                <a:sym typeface="Century Gothic"/>
              </a:rPr>
              <a:t>经历：招商银行行长</a:t>
            </a:r>
            <a:endParaRPr kumimoji="0" lang="en-US" sz="1200" b="0" i="0" u="none" strike="noStrike" kern="0" cap="none" spc="0" normalizeH="0" baseline="0" noProof="0" dirty="0">
              <a:ln>
                <a:noFill/>
              </a:ln>
              <a:solidFill>
                <a:schemeClr val="bg2"/>
              </a:solidFill>
              <a:effectLst/>
              <a:uLnTx/>
              <a:uFillTx/>
              <a:latin typeface="Century Gothic"/>
              <a:ea typeface="Century Gothic"/>
              <a:cs typeface="Century Gothic"/>
              <a:sym typeface="Century Gothic"/>
            </a:endParaRPr>
          </a:p>
        </p:txBody>
      </p:sp>
      <p:pic>
        <p:nvPicPr>
          <p:cNvPr id="613" name="Shape 613"/>
          <p:cNvPicPr preferRelativeResize="0"/>
          <p:nvPr/>
        </p:nvPicPr>
        <p:blipFill rotWithShape="1">
          <a:blip r:embed="rId3">
            <a:alphaModFix/>
          </a:blip>
          <a:srcRect/>
          <a:stretch/>
        </p:blipFill>
        <p:spPr>
          <a:xfrm>
            <a:off x="3649360" y="1040121"/>
            <a:ext cx="1481521" cy="1448930"/>
          </a:xfrm>
          <a:prstGeom prst="rect">
            <a:avLst/>
          </a:prstGeom>
          <a:noFill/>
          <a:ln>
            <a:noFill/>
          </a:ln>
        </p:spPr>
      </p:pic>
      <p:sp>
        <p:nvSpPr>
          <p:cNvPr id="614" name="Shape 614"/>
          <p:cNvSpPr txBox="1"/>
          <p:nvPr/>
        </p:nvSpPr>
        <p:spPr>
          <a:xfrm>
            <a:off x="6046105" y="5360629"/>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姓名：聂光辉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职位：COO &amp; CFO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专长：投资管理、证券业务</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经历：FDT证券、自营交易</a:t>
            </a:r>
          </a:p>
        </p:txBody>
      </p:sp>
      <p:pic>
        <p:nvPicPr>
          <p:cNvPr id="615" name="Shape 615"/>
          <p:cNvPicPr preferRelativeResize="0"/>
          <p:nvPr/>
        </p:nvPicPr>
        <p:blipFill rotWithShape="1">
          <a:blip r:embed="rId4">
            <a:alphaModFix/>
          </a:blip>
          <a:srcRect/>
          <a:stretch/>
        </p:blipFill>
        <p:spPr>
          <a:xfrm>
            <a:off x="6155119" y="3721269"/>
            <a:ext cx="1190882" cy="1531135"/>
          </a:xfrm>
          <a:prstGeom prst="rect">
            <a:avLst/>
          </a:prstGeom>
          <a:noFill/>
          <a:ln>
            <a:noFill/>
          </a:ln>
        </p:spPr>
      </p:pic>
      <p:sp>
        <p:nvSpPr>
          <p:cNvPr id="616" name="Shape 616"/>
          <p:cNvSpPr txBox="1"/>
          <p:nvPr/>
        </p:nvSpPr>
        <p:spPr>
          <a:xfrm>
            <a:off x="3667177" y="5353806"/>
            <a:ext cx="2623373" cy="1015663"/>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姓名：柳崎峰 博士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职位：联创 &amp; CEO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学校：中国科学院</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专长：人工智能、大数据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经历：雅虎Lab、三星Lab</a:t>
            </a:r>
          </a:p>
        </p:txBody>
      </p:sp>
      <p:pic>
        <p:nvPicPr>
          <p:cNvPr id="617" name="Shape 617"/>
          <p:cNvPicPr preferRelativeResize="0"/>
          <p:nvPr/>
        </p:nvPicPr>
        <p:blipFill rotWithShape="1">
          <a:blip r:embed="rId5">
            <a:alphaModFix/>
          </a:blip>
          <a:srcRect/>
          <a:stretch/>
        </p:blipFill>
        <p:spPr>
          <a:xfrm>
            <a:off x="3723453" y="3704013"/>
            <a:ext cx="1255411" cy="1535140"/>
          </a:xfrm>
          <a:prstGeom prst="rect">
            <a:avLst/>
          </a:prstGeom>
          <a:noFill/>
          <a:ln>
            <a:noFill/>
          </a:ln>
        </p:spPr>
      </p:pic>
      <p:pic>
        <p:nvPicPr>
          <p:cNvPr id="618" name="Shape 618"/>
          <p:cNvPicPr preferRelativeResize="0"/>
          <p:nvPr/>
        </p:nvPicPr>
        <p:blipFill rotWithShape="1">
          <a:blip r:embed="rId6">
            <a:alphaModFix/>
          </a:blip>
          <a:srcRect/>
          <a:stretch/>
        </p:blipFill>
        <p:spPr>
          <a:xfrm>
            <a:off x="6148040" y="1052633"/>
            <a:ext cx="1370423" cy="1440445"/>
          </a:xfrm>
          <a:prstGeom prst="rect">
            <a:avLst/>
          </a:prstGeom>
          <a:noFill/>
          <a:ln>
            <a:noFill/>
          </a:ln>
        </p:spPr>
      </p:pic>
      <p:sp>
        <p:nvSpPr>
          <p:cNvPr id="619" name="Shape 619"/>
          <p:cNvSpPr txBox="1"/>
          <p:nvPr/>
        </p:nvSpPr>
        <p:spPr>
          <a:xfrm>
            <a:off x="6068396" y="2603791"/>
            <a:ext cx="2169171" cy="646331"/>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姓名：聂凡淇</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职位：FDT 创始人 &amp; CEO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经历：华尔街基金经理</a:t>
            </a:r>
          </a:p>
        </p:txBody>
      </p:sp>
      <p:sp>
        <p:nvSpPr>
          <p:cNvPr id="620" name="Shape 620"/>
          <p:cNvSpPr txBox="1">
            <a:spLocks noGrp="1"/>
          </p:cNvSpPr>
          <p:nvPr>
            <p:ph type="title"/>
          </p:nvPr>
        </p:nvSpPr>
        <p:spPr>
          <a:xfrm>
            <a:off x="590213" y="-269501"/>
            <a:ext cx="10905455" cy="1741290"/>
          </a:xfrm>
          <a:prstGeom prst="rect">
            <a:avLst/>
          </a:prstGeom>
          <a:noFill/>
          <a:ln>
            <a:noFill/>
          </a:ln>
        </p:spPr>
        <p:txBody>
          <a:bodyPr wrap="square" lIns="91425" tIns="45700" rIns="91425" bIns="45700" anchor="ctr" anchorCtr="0">
            <a:noAutofit/>
          </a:bodyPr>
          <a:lstStyle/>
          <a:p>
            <a:pPr marL="0" marR="0" lvl="0" indent="-254000" rtl="0">
              <a:lnSpc>
                <a:spcPct val="90000"/>
              </a:lnSpc>
              <a:spcBef>
                <a:spcPts val="0"/>
              </a:spcBef>
              <a:buClr>
                <a:schemeClr val="lt1"/>
              </a:buClr>
              <a:buSzPts val="4000"/>
              <a:buFont typeface="Century Gothic"/>
              <a:buNone/>
            </a:pPr>
            <a:r>
              <a:rPr lang="zh-CN" altLang="en-US" sz="3200" b="0" i="0" u="none" strike="noStrike" cap="none" dirty="0">
                <a:solidFill>
                  <a:schemeClr val="bg2"/>
                </a:solidFill>
                <a:latin typeface="Century Gothic"/>
                <a:ea typeface="Century Gothic"/>
                <a:cs typeface="Century Gothic"/>
                <a:sym typeface="Century Gothic"/>
              </a:rPr>
              <a:t>创始团队在人工智能和金融领域深耕多年</a:t>
            </a:r>
            <a:endParaRPr lang="en-US" sz="3200" b="0" i="0" u="none" strike="noStrike" cap="none" dirty="0">
              <a:solidFill>
                <a:schemeClr val="bg2"/>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37707251"/>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625" name="Shape 625" descr="https://lh6.googleusercontent.com/0fX0-84tPoSTE6tiZt0R3UNrGeNImJPQk1g2S_67CHjcXsHzkRF8m8QTs4f7YB1w3P5GPVCno5ryuxcb_yp15b5eS1KNFALQ_xsL7_Kb26Ya9_DowjKcbrTZgN_1IB-4sXspGdRRDZU"/>
          <p:cNvPicPr preferRelativeResize="0"/>
          <p:nvPr/>
        </p:nvPicPr>
        <p:blipFill rotWithShape="1">
          <a:blip r:embed="rId3">
            <a:alphaModFix/>
          </a:blip>
          <a:srcRect/>
          <a:stretch/>
        </p:blipFill>
        <p:spPr>
          <a:xfrm>
            <a:off x="684088" y="966012"/>
            <a:ext cx="1583093" cy="1583093"/>
          </a:xfrm>
          <a:prstGeom prst="rect">
            <a:avLst/>
          </a:prstGeom>
          <a:noFill/>
          <a:ln>
            <a:noFill/>
          </a:ln>
        </p:spPr>
      </p:pic>
      <p:pic>
        <p:nvPicPr>
          <p:cNvPr id="626" name="Shape 626" descr="https://lh6.googleusercontent.com/i4PLbkL6wO9UX8zHCYWnGQ4jZ_ZLa0aGj0iZIQ4Nh5WUKjTlYef_J8-A-dvgPCG0qR7iYVq9Om7aQY94kCj-3L0RhWydgtxMZIDEp9c1EjyNptouyk5aDWLtMsr89_fDiydJ8x-OJaA"/>
          <p:cNvPicPr preferRelativeResize="0"/>
          <p:nvPr/>
        </p:nvPicPr>
        <p:blipFill rotWithShape="1">
          <a:blip r:embed="rId4">
            <a:alphaModFix/>
          </a:blip>
          <a:srcRect/>
          <a:stretch/>
        </p:blipFill>
        <p:spPr>
          <a:xfrm>
            <a:off x="3400960" y="966013"/>
            <a:ext cx="1601755" cy="1601755"/>
          </a:xfrm>
          <a:prstGeom prst="rect">
            <a:avLst/>
          </a:prstGeom>
          <a:noFill/>
          <a:ln>
            <a:noFill/>
          </a:ln>
        </p:spPr>
      </p:pic>
      <p:pic>
        <p:nvPicPr>
          <p:cNvPr id="627" name="Shape 627" descr="ainan.jpg"/>
          <p:cNvPicPr preferRelativeResize="0"/>
          <p:nvPr/>
        </p:nvPicPr>
        <p:blipFill rotWithShape="1">
          <a:blip r:embed="rId5">
            <a:alphaModFix/>
          </a:blip>
          <a:srcRect/>
          <a:stretch/>
        </p:blipFill>
        <p:spPr>
          <a:xfrm>
            <a:off x="3400960" y="3846887"/>
            <a:ext cx="1517339" cy="1517339"/>
          </a:xfrm>
          <a:prstGeom prst="rect">
            <a:avLst/>
          </a:prstGeom>
          <a:noFill/>
          <a:ln>
            <a:noFill/>
          </a:ln>
        </p:spPr>
      </p:pic>
      <p:pic>
        <p:nvPicPr>
          <p:cNvPr id="628" name="Shape 628" descr="aleb.jpg"/>
          <p:cNvPicPr preferRelativeResize="0"/>
          <p:nvPr/>
        </p:nvPicPr>
        <p:blipFill rotWithShape="1">
          <a:blip r:embed="rId6">
            <a:alphaModFix/>
          </a:blip>
          <a:srcRect/>
          <a:stretch/>
        </p:blipFill>
        <p:spPr>
          <a:xfrm>
            <a:off x="6285275" y="907549"/>
            <a:ext cx="1700019" cy="1700019"/>
          </a:xfrm>
          <a:prstGeom prst="rect">
            <a:avLst/>
          </a:prstGeom>
          <a:noFill/>
          <a:ln>
            <a:noFill/>
          </a:ln>
        </p:spPr>
      </p:pic>
      <p:sp>
        <p:nvSpPr>
          <p:cNvPr id="629" name="Shape 629"/>
          <p:cNvSpPr txBox="1"/>
          <p:nvPr/>
        </p:nvSpPr>
        <p:spPr>
          <a:xfrm>
            <a:off x="516135" y="2773168"/>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姓名：韦卓识 搏士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学校：中国科学院</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专长：数据科学，风控模型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经历：Capital One(U.S.)</a:t>
            </a:r>
          </a:p>
        </p:txBody>
      </p:sp>
      <p:sp>
        <p:nvSpPr>
          <p:cNvPr id="630" name="Shape 630"/>
          <p:cNvSpPr txBox="1"/>
          <p:nvPr/>
        </p:nvSpPr>
        <p:spPr>
          <a:xfrm>
            <a:off x="3400960" y="2749622"/>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姓名：赵玉龙 搏士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学校：香港城市大学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专长：统计学习、量化投资</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经历：Brevan Howard</a:t>
            </a:r>
          </a:p>
        </p:txBody>
      </p:sp>
      <p:sp>
        <p:nvSpPr>
          <p:cNvPr id="631" name="Shape 631"/>
          <p:cNvSpPr txBox="1"/>
          <p:nvPr/>
        </p:nvSpPr>
        <p:spPr>
          <a:xfrm>
            <a:off x="6145605" y="2791830"/>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姓名：曹琛 博士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学校：香港科技大学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专长：众包算法、机器学习</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经历：香港科技大学、极觅数据等</a:t>
            </a:r>
          </a:p>
        </p:txBody>
      </p:sp>
      <p:sp>
        <p:nvSpPr>
          <p:cNvPr id="632" name="Shape 632"/>
          <p:cNvSpPr txBox="1"/>
          <p:nvPr/>
        </p:nvSpPr>
        <p:spPr>
          <a:xfrm>
            <a:off x="8981325" y="2791829"/>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姓名：王时全 博士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学校：中国科学院</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专长：计算机视觉、机器学习</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经历：腾讯优图等</a:t>
            </a:r>
          </a:p>
        </p:txBody>
      </p:sp>
      <p:sp>
        <p:nvSpPr>
          <p:cNvPr id="633" name="Shape 633"/>
          <p:cNvSpPr txBox="1"/>
          <p:nvPr/>
        </p:nvSpPr>
        <p:spPr>
          <a:xfrm>
            <a:off x="516135" y="5588288"/>
            <a:ext cx="2539482" cy="646331"/>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姓名：匡国文 (博士)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学校：香港科技大学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专长：大数据、机器学习</a:t>
            </a:r>
          </a:p>
        </p:txBody>
      </p:sp>
      <p:sp>
        <p:nvSpPr>
          <p:cNvPr id="634" name="Shape 634"/>
          <p:cNvSpPr txBox="1">
            <a:spLocks noGrp="1"/>
          </p:cNvSpPr>
          <p:nvPr>
            <p:ph type="title"/>
          </p:nvPr>
        </p:nvSpPr>
        <p:spPr>
          <a:xfrm>
            <a:off x="516134" y="-365014"/>
            <a:ext cx="10957179" cy="1741290"/>
          </a:xfrm>
          <a:prstGeom prst="rect">
            <a:avLst/>
          </a:prstGeom>
          <a:noFill/>
          <a:ln>
            <a:noFill/>
          </a:ln>
        </p:spPr>
        <p:txBody>
          <a:bodyPr wrap="square" lIns="91425" tIns="45700" rIns="91425" bIns="45700" anchor="ctr" anchorCtr="0">
            <a:noAutofit/>
          </a:bodyPr>
          <a:lstStyle/>
          <a:p>
            <a:pPr marL="0" marR="0" lvl="0" indent="-152400" rtl="0">
              <a:lnSpc>
                <a:spcPct val="90000"/>
              </a:lnSpc>
              <a:spcBef>
                <a:spcPts val="0"/>
              </a:spcBef>
              <a:buClr>
                <a:schemeClr val="lt1"/>
              </a:buClr>
              <a:buSzPts val="2400"/>
              <a:buFont typeface="Century Gothic"/>
              <a:buNone/>
            </a:pPr>
            <a:r>
              <a:rPr lang="en-US" sz="2400" b="0" i="0" u="none" strike="noStrike" cap="none" dirty="0" err="1">
                <a:solidFill>
                  <a:schemeClr val="bg2"/>
                </a:solidFill>
                <a:latin typeface="Century Gothic"/>
                <a:ea typeface="Century Gothic"/>
                <a:cs typeface="Century Gothic"/>
                <a:sym typeface="Century Gothic"/>
              </a:rPr>
              <a:t>科学团队</a:t>
            </a:r>
            <a:r>
              <a:rPr lang="zh-CN" altLang="en-US" sz="2400" b="0" i="0" u="none" strike="noStrike" cap="none" dirty="0">
                <a:solidFill>
                  <a:schemeClr val="bg2"/>
                </a:solidFill>
                <a:latin typeface="Century Gothic"/>
                <a:ea typeface="Century Gothic"/>
                <a:cs typeface="Century Gothic"/>
                <a:sym typeface="Century Gothic"/>
              </a:rPr>
              <a:t>拥有人工智能学术和产业领域的优秀履历</a:t>
            </a:r>
            <a:endParaRPr lang="en-US" sz="2400" b="0" i="0" u="none" strike="noStrike" cap="none" dirty="0">
              <a:solidFill>
                <a:schemeClr val="bg2"/>
              </a:solidFill>
              <a:latin typeface="Century Gothic"/>
              <a:ea typeface="Century Gothic"/>
              <a:cs typeface="Century Gothic"/>
              <a:sym typeface="Century Gothic"/>
            </a:endParaRPr>
          </a:p>
        </p:txBody>
      </p:sp>
      <p:sp>
        <p:nvSpPr>
          <p:cNvPr id="635" name="Shape 635"/>
          <p:cNvSpPr txBox="1"/>
          <p:nvPr/>
        </p:nvSpPr>
        <p:spPr>
          <a:xfrm>
            <a:off x="3244635" y="5588289"/>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 杜赛男 硕士</a:t>
            </a:r>
            <a:b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b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 加州大学圣迭戈分校</a:t>
            </a:r>
            <a:b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b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 统计分析</a:t>
            </a:r>
            <a:b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b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 Bioinformatics at Novartis</a:t>
            </a:r>
          </a:p>
        </p:txBody>
      </p:sp>
      <p:sp>
        <p:nvSpPr>
          <p:cNvPr id="636" name="Shape 636"/>
          <p:cNvSpPr txBox="1"/>
          <p:nvPr/>
        </p:nvSpPr>
        <p:spPr>
          <a:xfrm>
            <a:off x="6237838" y="5659354"/>
            <a:ext cx="2539482"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姓名：吴佳 硕士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学校：北京航空航天大学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专长：模式识别及工程应用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经历：中科院、东芝医疗系统等</a:t>
            </a:r>
          </a:p>
        </p:txBody>
      </p:sp>
      <p:pic>
        <p:nvPicPr>
          <p:cNvPr id="637" name="Shape 637"/>
          <p:cNvPicPr preferRelativeResize="0"/>
          <p:nvPr/>
        </p:nvPicPr>
        <p:blipFill rotWithShape="1">
          <a:blip r:embed="rId7">
            <a:alphaModFix/>
          </a:blip>
          <a:srcRect/>
          <a:stretch/>
        </p:blipFill>
        <p:spPr>
          <a:xfrm>
            <a:off x="6285275" y="3863827"/>
            <a:ext cx="1592738" cy="1517339"/>
          </a:xfrm>
          <a:prstGeom prst="rect">
            <a:avLst/>
          </a:prstGeom>
          <a:noFill/>
          <a:ln>
            <a:noFill/>
          </a:ln>
        </p:spPr>
      </p:pic>
      <p:pic>
        <p:nvPicPr>
          <p:cNvPr id="638" name="Shape 638"/>
          <p:cNvPicPr preferRelativeResize="0"/>
          <p:nvPr/>
        </p:nvPicPr>
        <p:blipFill rotWithShape="1">
          <a:blip r:embed="rId8">
            <a:alphaModFix/>
          </a:blip>
          <a:srcRect/>
          <a:stretch/>
        </p:blipFill>
        <p:spPr>
          <a:xfrm>
            <a:off x="647371" y="3858671"/>
            <a:ext cx="1669593" cy="1505555"/>
          </a:xfrm>
          <a:prstGeom prst="rect">
            <a:avLst/>
          </a:prstGeom>
          <a:noFill/>
          <a:ln>
            <a:noFill/>
          </a:ln>
        </p:spPr>
      </p:pic>
      <p:pic>
        <p:nvPicPr>
          <p:cNvPr id="639" name="Shape 639"/>
          <p:cNvPicPr preferRelativeResize="0"/>
          <p:nvPr/>
        </p:nvPicPr>
        <p:blipFill rotWithShape="1">
          <a:blip r:embed="rId9">
            <a:alphaModFix/>
          </a:blip>
          <a:srcRect/>
          <a:stretch/>
        </p:blipFill>
        <p:spPr>
          <a:xfrm>
            <a:off x="9034695" y="867748"/>
            <a:ext cx="1700020" cy="1700020"/>
          </a:xfrm>
          <a:prstGeom prst="rect">
            <a:avLst/>
          </a:prstGeom>
          <a:noFill/>
          <a:ln>
            <a:noFill/>
          </a:ln>
        </p:spPr>
      </p:pic>
      <p:sp>
        <p:nvSpPr>
          <p:cNvPr id="640" name="Shape 640"/>
          <p:cNvSpPr txBox="1"/>
          <p:nvPr/>
        </p:nvSpPr>
        <p:spPr>
          <a:xfrm>
            <a:off x="8981325" y="5649469"/>
            <a:ext cx="2539482" cy="646331"/>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姓名：姜若曦 (硕士)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学校：哥伦比亚大学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专长：大数据、机器学习</a:t>
            </a:r>
          </a:p>
        </p:txBody>
      </p:sp>
      <p:pic>
        <p:nvPicPr>
          <p:cNvPr id="641" name="Shape 641"/>
          <p:cNvPicPr preferRelativeResize="0"/>
          <p:nvPr/>
        </p:nvPicPr>
        <p:blipFill rotWithShape="1">
          <a:blip r:embed="rId10">
            <a:alphaModFix/>
          </a:blip>
          <a:srcRect/>
          <a:stretch/>
        </p:blipFill>
        <p:spPr>
          <a:xfrm>
            <a:off x="9094627" y="3831292"/>
            <a:ext cx="1551632" cy="1548529"/>
          </a:xfrm>
          <a:prstGeom prst="rect">
            <a:avLst/>
          </a:prstGeom>
          <a:noFill/>
          <a:ln>
            <a:noFill/>
          </a:ln>
        </p:spPr>
      </p:pic>
    </p:spTree>
    <p:extLst>
      <p:ext uri="{BB962C8B-B14F-4D97-AF65-F5344CB8AC3E}">
        <p14:creationId xmlns:p14="http://schemas.microsoft.com/office/powerpoint/2010/main" val="1796260691"/>
      </p:ext>
    </p:extLst>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Shape 646"/>
          <p:cNvSpPr txBox="1">
            <a:spLocks noGrp="1"/>
          </p:cNvSpPr>
          <p:nvPr>
            <p:ph type="title"/>
          </p:nvPr>
        </p:nvSpPr>
        <p:spPr>
          <a:xfrm>
            <a:off x="725184" y="-300108"/>
            <a:ext cx="11117925" cy="1741290"/>
          </a:xfrm>
          <a:prstGeom prst="rect">
            <a:avLst/>
          </a:prstGeom>
          <a:noFill/>
          <a:ln>
            <a:noFill/>
          </a:ln>
        </p:spPr>
        <p:txBody>
          <a:bodyPr wrap="square" lIns="91425" tIns="45700" rIns="91425" bIns="45700" anchor="ctr" anchorCtr="0">
            <a:noAutofit/>
          </a:bodyPr>
          <a:lstStyle/>
          <a:p>
            <a:pPr marL="0" marR="0" lvl="0" indent="-152400" rtl="0">
              <a:lnSpc>
                <a:spcPct val="90000"/>
              </a:lnSpc>
              <a:spcBef>
                <a:spcPts val="0"/>
              </a:spcBef>
              <a:buClr>
                <a:schemeClr val="lt1"/>
              </a:buClr>
              <a:buSzPts val="2400"/>
              <a:buFont typeface="Century Gothic"/>
              <a:buNone/>
            </a:pPr>
            <a:r>
              <a:rPr lang="en-US" sz="2400" b="0" i="0" u="none" strike="noStrike" cap="none" dirty="0" err="1">
                <a:solidFill>
                  <a:schemeClr val="bg2"/>
                </a:solidFill>
                <a:latin typeface="Century Gothic"/>
                <a:ea typeface="Century Gothic"/>
                <a:cs typeface="Century Gothic"/>
                <a:sym typeface="Century Gothic"/>
              </a:rPr>
              <a:t>工程团队</a:t>
            </a:r>
            <a:r>
              <a:rPr lang="zh-CN" altLang="en-US" sz="2400" b="0" i="0" u="none" strike="noStrike" cap="none" dirty="0">
                <a:solidFill>
                  <a:schemeClr val="bg2"/>
                </a:solidFill>
                <a:latin typeface="Century Gothic"/>
                <a:ea typeface="Century Gothic"/>
                <a:cs typeface="Century Gothic"/>
                <a:sym typeface="Century Gothic"/>
              </a:rPr>
              <a:t>具备深厚的技术实现能力</a:t>
            </a:r>
            <a:endParaRPr lang="en-US" sz="2400" b="0" i="0" u="none" strike="noStrike" cap="none" dirty="0">
              <a:solidFill>
                <a:schemeClr val="bg2"/>
              </a:solidFill>
              <a:latin typeface="Century Gothic"/>
              <a:ea typeface="Century Gothic"/>
              <a:cs typeface="Century Gothic"/>
              <a:sym typeface="Century Gothic"/>
            </a:endParaRPr>
          </a:p>
        </p:txBody>
      </p:sp>
      <p:pic>
        <p:nvPicPr>
          <p:cNvPr id="647" name="Shape 647" descr="https://lh6.googleusercontent.com/zG0OmpkKZ-Sfyux7sk4SevWCL-Bwx_Cb4OLgh50AXCKBHmUDoCtY7mhDpk1je1coGBpPfk3oSWDjfQuviONt0uYMzLYqrGvu0t0m-55CYeFdOZoZOmYRObR4YZlhNFY2PFxESnMfNIk"/>
          <p:cNvPicPr preferRelativeResize="0"/>
          <p:nvPr/>
        </p:nvPicPr>
        <p:blipFill rotWithShape="1">
          <a:blip r:embed="rId3">
            <a:alphaModFix/>
          </a:blip>
          <a:srcRect/>
          <a:stretch/>
        </p:blipFill>
        <p:spPr>
          <a:xfrm>
            <a:off x="937965" y="1245233"/>
            <a:ext cx="1671476" cy="1671476"/>
          </a:xfrm>
          <a:prstGeom prst="rect">
            <a:avLst/>
          </a:prstGeom>
          <a:noFill/>
          <a:ln>
            <a:noFill/>
          </a:ln>
        </p:spPr>
      </p:pic>
      <p:pic>
        <p:nvPicPr>
          <p:cNvPr id="648" name="Shape 648" descr="ack.jpg"/>
          <p:cNvPicPr preferRelativeResize="0"/>
          <p:nvPr/>
        </p:nvPicPr>
        <p:blipFill rotWithShape="1">
          <a:blip r:embed="rId4">
            <a:alphaModFix/>
          </a:blip>
          <a:srcRect/>
          <a:stretch/>
        </p:blipFill>
        <p:spPr>
          <a:xfrm>
            <a:off x="3626877" y="1201762"/>
            <a:ext cx="1714947" cy="1714947"/>
          </a:xfrm>
          <a:prstGeom prst="rect">
            <a:avLst/>
          </a:prstGeom>
          <a:noFill/>
          <a:ln>
            <a:noFill/>
          </a:ln>
        </p:spPr>
      </p:pic>
      <p:sp>
        <p:nvSpPr>
          <p:cNvPr id="649" name="Shape 649"/>
          <p:cNvSpPr txBox="1"/>
          <p:nvPr/>
        </p:nvSpPr>
        <p:spPr>
          <a:xfrm>
            <a:off x="725184" y="3072631"/>
            <a:ext cx="2799689" cy="1015663"/>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姓名：郭晋文 硕士</a:t>
            </a:r>
            <a:b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b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学校：上海交通大学</a:t>
            </a:r>
            <a:b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b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专长：大数据、机器学习、分布式系统</a:t>
            </a:r>
            <a:b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b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经历：雅虎Lab、MediaV、Factual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endParaRPr>
          </a:p>
        </p:txBody>
      </p:sp>
      <p:sp>
        <p:nvSpPr>
          <p:cNvPr id="650" name="Shape 650"/>
          <p:cNvSpPr txBox="1"/>
          <p:nvPr/>
        </p:nvSpPr>
        <p:spPr>
          <a:xfrm>
            <a:off x="3524873" y="3082748"/>
            <a:ext cx="2799689"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姓名：周家杰 硕士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学校：香港浸会大学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专长：大数据架构，分布式系统</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经历：IBM, Social Analytics HK</a:t>
            </a:r>
          </a:p>
        </p:txBody>
      </p:sp>
      <p:pic>
        <p:nvPicPr>
          <p:cNvPr id="651" name="Shape 651"/>
          <p:cNvPicPr preferRelativeResize="0"/>
          <p:nvPr/>
        </p:nvPicPr>
        <p:blipFill rotWithShape="1">
          <a:blip r:embed="rId5">
            <a:alphaModFix/>
          </a:blip>
          <a:srcRect/>
          <a:stretch/>
        </p:blipFill>
        <p:spPr>
          <a:xfrm>
            <a:off x="6585840" y="1176733"/>
            <a:ext cx="1524491" cy="1739976"/>
          </a:xfrm>
          <a:prstGeom prst="rect">
            <a:avLst/>
          </a:prstGeom>
          <a:noFill/>
          <a:ln>
            <a:noFill/>
          </a:ln>
        </p:spPr>
      </p:pic>
      <p:sp>
        <p:nvSpPr>
          <p:cNvPr id="652" name="Shape 652"/>
          <p:cNvSpPr txBox="1"/>
          <p:nvPr/>
        </p:nvSpPr>
        <p:spPr>
          <a:xfrm>
            <a:off x="6467014" y="3131610"/>
            <a:ext cx="2799689"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 丁华 学士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 中南大学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 大数据 数据分析 分布式系统</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 迅雷</a:t>
            </a:r>
          </a:p>
        </p:txBody>
      </p:sp>
      <p:pic>
        <p:nvPicPr>
          <p:cNvPr id="653" name="Shape 653"/>
          <p:cNvPicPr preferRelativeResize="0"/>
          <p:nvPr/>
        </p:nvPicPr>
        <p:blipFill rotWithShape="1">
          <a:blip r:embed="rId6">
            <a:alphaModFix/>
          </a:blip>
          <a:srcRect/>
          <a:stretch/>
        </p:blipFill>
        <p:spPr>
          <a:xfrm>
            <a:off x="9266703" y="1201762"/>
            <a:ext cx="1326905" cy="1782414"/>
          </a:xfrm>
          <a:prstGeom prst="rect">
            <a:avLst/>
          </a:prstGeom>
          <a:noFill/>
          <a:ln>
            <a:noFill/>
          </a:ln>
        </p:spPr>
      </p:pic>
      <p:sp>
        <p:nvSpPr>
          <p:cNvPr id="654" name="Shape 654"/>
          <p:cNvSpPr txBox="1"/>
          <p:nvPr/>
        </p:nvSpPr>
        <p:spPr>
          <a:xfrm>
            <a:off x="9124251" y="3131609"/>
            <a:ext cx="2799689" cy="830997"/>
          </a:xfrm>
          <a:prstGeom prst="rect">
            <a:avLst/>
          </a:prstGeom>
          <a:noFill/>
          <a:ln>
            <a:noFill/>
          </a:ln>
        </p:spPr>
        <p:txBody>
          <a:bodyPr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姓名：冯学健 学士</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学校：广州大学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专长：云计算，软件架构，前端设计</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2"/>
                </a:solidFill>
                <a:effectLst/>
                <a:uLnTx/>
                <a:uFillTx/>
                <a:latin typeface="Century Gothic"/>
                <a:ea typeface="Century Gothic"/>
                <a:cs typeface="Century Gothic"/>
                <a:sym typeface="Century Gothic"/>
              </a:rPr>
              <a:t>经历：IBM，平安科技</a:t>
            </a:r>
          </a:p>
        </p:txBody>
      </p:sp>
      <p:sp>
        <p:nvSpPr>
          <p:cNvPr id="655" name="Shape 655"/>
          <p:cNvSpPr/>
          <p:nvPr/>
        </p:nvSpPr>
        <p:spPr>
          <a:xfrm>
            <a:off x="1946437" y="4347334"/>
            <a:ext cx="8756249" cy="2031325"/>
          </a:xfrm>
          <a:prstGeom prst="rect">
            <a:avLst/>
          </a:prstGeom>
          <a:solidFill>
            <a:srgbClr val="7030A0"/>
          </a:solidFill>
          <a:ln>
            <a:noFill/>
          </a:ln>
        </p:spPr>
        <p:txBody>
          <a:bodyPr wrap="square" lIns="91425" tIns="45700" rIns="91425" bIns="45700" anchor="t" anchorCtr="0">
            <a:noAutofit/>
          </a:bodyPr>
          <a:lstStyle/>
          <a:p>
            <a:pPr marL="285750" marR="0" lvl="0"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rPr>
              <a:t>团队50人，非技术人员4名</a:t>
            </a:r>
          </a:p>
          <a:p>
            <a:pPr marL="285750" marR="0" lvl="0"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rPr>
              <a:t>博硕占60%+</a:t>
            </a:r>
          </a:p>
          <a:p>
            <a:pPr marL="285750" marR="0" lvl="0"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团队来自</a:t>
            </a:r>
            <a:r>
              <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rPr>
              <a:t>：</a:t>
            </a:r>
          </a:p>
          <a:p>
            <a:pPr marL="742950" marR="0" lvl="1"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国内IT巨头：BAT、华为</a:t>
            </a:r>
            <a:endPar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endParaRPr>
          </a:p>
          <a:p>
            <a:pPr marL="742950" marR="0" lvl="1"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国际IT巨头：IBM、雅虎</a:t>
            </a:r>
            <a:endPar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endParaRPr>
          </a:p>
          <a:p>
            <a:pPr marL="742950" marR="0" lvl="1"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国内金融机构：中信、华泰、建行、金证</a:t>
            </a:r>
            <a:endPar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endParaRPr>
          </a:p>
          <a:p>
            <a:pPr marL="742950" marR="0" lvl="1" indent="-285750" algn="l" defTabSz="914400" rtl="0" eaLnBrk="1" fontAlgn="auto" latinLnBrk="0" hangingPunct="1">
              <a:lnSpc>
                <a:spcPct val="100000"/>
              </a:lnSpc>
              <a:spcBef>
                <a:spcPts val="0"/>
              </a:spcBef>
              <a:spcAft>
                <a:spcPts val="0"/>
              </a:spcAft>
              <a:buClr>
                <a:srgbClr val="FFFFFF"/>
              </a:buClr>
              <a:buSzPts val="1800"/>
              <a:buFont typeface="Arial"/>
              <a:buChar char="•"/>
              <a:tabLst/>
              <a:defRPr/>
            </a:pP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国际金融机构：Captical</a:t>
            </a:r>
            <a:r>
              <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rPr>
              <a:t> </a:t>
            </a: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One、Brevan</a:t>
            </a:r>
            <a:r>
              <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rPr>
              <a:t> </a:t>
            </a:r>
            <a:r>
              <a:rPr kumimoji="0" lang="en-US" sz="1800" b="0" i="0" u="none" strike="noStrike" kern="0" cap="none" spc="0" normalizeH="0" baseline="0" noProof="0" dirty="0" err="1">
                <a:ln>
                  <a:noFill/>
                </a:ln>
                <a:solidFill>
                  <a:srgbClr val="F2F2F2"/>
                </a:solidFill>
                <a:effectLst/>
                <a:uLnTx/>
                <a:uFillTx/>
                <a:latin typeface="Century Gothic"/>
                <a:ea typeface="Century Gothic"/>
                <a:cs typeface="Century Gothic"/>
                <a:sym typeface="Century Gothic"/>
              </a:rPr>
              <a:t>Howard、Kokomo</a:t>
            </a:r>
            <a:r>
              <a:rPr kumimoji="0" lang="en-US" sz="1800" b="0" i="0" u="none" strike="noStrike" kern="0" cap="none" spc="0" normalizeH="0" baseline="0" noProof="0" dirty="0">
                <a:ln>
                  <a:noFill/>
                </a:ln>
                <a:solidFill>
                  <a:srgbClr val="F2F2F2"/>
                </a:solidFill>
                <a:effectLst/>
                <a:uLnTx/>
                <a:uFillTx/>
                <a:latin typeface="Century Gothic"/>
                <a:ea typeface="Century Gothic"/>
                <a:cs typeface="Century Gothic"/>
                <a:sym typeface="Century Gothic"/>
              </a:rPr>
              <a:t> Capital</a:t>
            </a:r>
          </a:p>
        </p:txBody>
      </p:sp>
    </p:spTree>
    <p:extLst>
      <p:ext uri="{BB962C8B-B14F-4D97-AF65-F5344CB8AC3E}">
        <p14:creationId xmlns:p14="http://schemas.microsoft.com/office/powerpoint/2010/main" val="478148833"/>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a:extLst>
              <a:ext uri="{FF2B5EF4-FFF2-40B4-BE49-F238E27FC236}">
                <a16:creationId xmlns:a16="http://schemas.microsoft.com/office/drawing/2014/main" xmlns="" id="{6F5D3388-E195-4DF2-8A51-A5CEF5207DEF}"/>
              </a:ext>
            </a:extLst>
          </p:cNvPr>
          <p:cNvSpPr>
            <a:spLocks noGrp="1"/>
          </p:cNvSpPr>
          <p:nvPr>
            <p:ph type="pic" sz="quarter" idx="13"/>
          </p:nvPr>
        </p:nvSpPr>
        <p:spPr/>
      </p:sp>
      <p:sp>
        <p:nvSpPr>
          <p:cNvPr id="3" name="标题 2">
            <a:extLst>
              <a:ext uri="{FF2B5EF4-FFF2-40B4-BE49-F238E27FC236}">
                <a16:creationId xmlns:a16="http://schemas.microsoft.com/office/drawing/2014/main" xmlns="" id="{92C7CF0C-DDF5-4A07-BE2E-D6F4CF30EED3}"/>
              </a:ext>
            </a:extLst>
          </p:cNvPr>
          <p:cNvSpPr>
            <a:spLocks noGrp="1"/>
          </p:cNvSpPr>
          <p:nvPr>
            <p:ph type="title"/>
          </p:nvPr>
        </p:nvSpPr>
        <p:spPr/>
        <p:txBody>
          <a:bodyPr>
            <a:normAutofit fontScale="90000"/>
          </a:bodyPr>
          <a:lstStyle/>
          <a:p>
            <a:endParaRPr lang="zh-CN" altLang="en-US"/>
          </a:p>
        </p:txBody>
      </p:sp>
      <p:sp>
        <p:nvSpPr>
          <p:cNvPr id="4" name="文本占位符 3">
            <a:extLst>
              <a:ext uri="{FF2B5EF4-FFF2-40B4-BE49-F238E27FC236}">
                <a16:creationId xmlns:a16="http://schemas.microsoft.com/office/drawing/2014/main" xmlns="" id="{78F10BB2-331E-4B44-AA32-35946FE1C37B}"/>
              </a:ext>
            </a:extLst>
          </p:cNvPr>
          <p:cNvSpPr>
            <a:spLocks noGrp="1"/>
          </p:cNvSpPr>
          <p:nvPr>
            <p:ph type="body" sz="quarter" idx="1"/>
          </p:nvPr>
        </p:nvSpPr>
        <p:spPr/>
        <p:txBody>
          <a:bodyPr/>
          <a:lstStyle/>
          <a:p>
            <a:endParaRPr lang="zh-CN" altLang="en-US"/>
          </a:p>
        </p:txBody>
      </p:sp>
      <p:pic>
        <p:nvPicPr>
          <p:cNvPr id="5" name="Shape 186">
            <a:extLst>
              <a:ext uri="{FF2B5EF4-FFF2-40B4-BE49-F238E27FC236}">
                <a16:creationId xmlns:a16="http://schemas.microsoft.com/office/drawing/2014/main" xmlns="" id="{B6CE8C60-B3B7-4BE6-AF44-19B562A5C2AE}"/>
              </a:ext>
            </a:extLst>
          </p:cNvPr>
          <p:cNvPicPr preferRelativeResize="0">
            <a:picLocks/>
          </p:cNvPicPr>
          <p:nvPr/>
        </p:nvPicPr>
        <p:blipFill rotWithShape="1">
          <a:blip r:embed="rId2">
            <a:alphaModFix/>
          </a:blip>
          <a:srcRect/>
          <a:stretch/>
        </p:blipFill>
        <p:spPr>
          <a:xfrm>
            <a:off x="478412" y="764373"/>
            <a:ext cx="11027788" cy="5754538"/>
          </a:xfrm>
          <a:prstGeom prst="rect">
            <a:avLst/>
          </a:prstGeom>
          <a:noFill/>
          <a:ln w="3175">
            <a:noFill/>
            <a:miter lim="400000"/>
          </a:ln>
          <a:extLst>
            <a:ext uri="{C572A759-6A51-4108-AA02-DFA0A04FC94B}">
              <ma14:wrappingTextBoxFlag xmlns:ma14="http://schemas.microsoft.com/office/mac/drawingml/2011/main" val="1"/>
            </a:ext>
          </a:extLst>
        </p:spPr>
      </p:pic>
      <p:sp>
        <p:nvSpPr>
          <p:cNvPr id="6" name="Shape 646">
            <a:extLst>
              <a:ext uri="{FF2B5EF4-FFF2-40B4-BE49-F238E27FC236}">
                <a16:creationId xmlns:a16="http://schemas.microsoft.com/office/drawing/2014/main" xmlns="" id="{E76E4EB4-79BA-4BB6-ABF3-F572DD92EB11}"/>
              </a:ext>
            </a:extLst>
          </p:cNvPr>
          <p:cNvSpPr txBox="1">
            <a:spLocks/>
          </p:cNvSpPr>
          <p:nvPr/>
        </p:nvSpPr>
        <p:spPr>
          <a:xfrm>
            <a:off x="725184" y="-300108"/>
            <a:ext cx="11117925" cy="1741290"/>
          </a:xfrm>
          <a:prstGeom prst="rect">
            <a:avLst/>
          </a:prstGeom>
          <a:noFill/>
          <a:ln w="3175">
            <a:noFill/>
            <a:miter lim="400000"/>
          </a:ln>
          <a:extLst>
            <a:ext uri="{C572A759-6A51-4108-AA02-DFA0A04FC94B}">
              <ma14:wrappingTextBoxFlag xmlns:ma14="http://schemas.microsoft.com/office/mac/drawingml/2011/main" val="1"/>
            </a:ext>
          </a:extLst>
        </p:spPr>
        <p:txBody>
          <a:bodyPr wrap="square" lIns="91425" tIns="45700" rIns="91425" bIns="45700" anchor="ctr" anchorCtr="0">
            <a:noAutofit/>
          </a:bodyPr>
          <a:lstStyle>
            <a:lvl1pPr marL="0" marR="0" indent="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1pPr>
            <a:lvl2pPr marL="0" marR="0" indent="2286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2pPr>
            <a:lvl3pPr marL="0" marR="0" indent="4572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3pPr>
            <a:lvl4pPr marL="0" marR="0" indent="6858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4pPr>
            <a:lvl5pPr marL="0" marR="0" indent="9144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5pPr>
            <a:lvl6pPr marL="0" marR="0" indent="11430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6pPr>
            <a:lvl7pPr marL="0" marR="0" indent="13716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7pPr>
            <a:lvl8pPr marL="0" marR="0" indent="16002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8pPr>
            <a:lvl9pPr marL="0" marR="0" indent="1828800" algn="ctr" defTabSz="410765"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mn-lt"/>
                <a:ea typeface="+mn-ea"/>
                <a:cs typeface="+mn-cs"/>
                <a:sym typeface="Helvetica Neue Medium"/>
              </a:defRPr>
            </a:lvl9pPr>
          </a:lstStyle>
          <a:p>
            <a:pPr indent="-152400" hangingPunct="1">
              <a:lnSpc>
                <a:spcPct val="90000"/>
              </a:lnSpc>
              <a:buClr>
                <a:schemeClr val="lt1"/>
              </a:buClr>
              <a:buSzPts val="2400"/>
              <a:buFont typeface="Century Gothic"/>
              <a:buNone/>
            </a:pPr>
            <a:r>
              <a:rPr lang="zh-CN" altLang="en-US" sz="2400" dirty="0">
                <a:solidFill>
                  <a:schemeClr val="bg2"/>
                </a:solidFill>
                <a:latin typeface="Century Gothic"/>
                <a:ea typeface="Century Gothic"/>
                <a:cs typeface="Century Gothic"/>
                <a:sym typeface="Century Gothic"/>
              </a:rPr>
              <a:t>顶级高校的科研合作是技术商业化的源泉</a:t>
            </a:r>
            <a:endParaRPr lang="en-US" sz="2400" dirty="0">
              <a:solidFill>
                <a:schemeClr val="bg2"/>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924265984"/>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 name="画板 2@4x.png" descr="画板 2@4x.png"/>
          <p:cNvPicPr>
            <a:picLocks noChangeAspect="1"/>
          </p:cNvPicPr>
          <p:nvPr/>
        </p:nvPicPr>
        <p:blipFill>
          <a:blip r:embed="rId2">
            <a:alphaModFix amt="49627"/>
            <a:extLst/>
          </a:blip>
          <a:stretch>
            <a:fillRect/>
          </a:stretch>
        </p:blipFill>
        <p:spPr>
          <a:xfrm>
            <a:off x="-209270" y="564189"/>
            <a:ext cx="15096501" cy="6099423"/>
          </a:xfrm>
          <a:prstGeom prst="rect">
            <a:avLst/>
          </a:prstGeom>
          <a:ln w="3175">
            <a:miter lim="400000"/>
          </a:ln>
        </p:spPr>
      </p:pic>
      <p:sp>
        <p:nvSpPr>
          <p:cNvPr id="182" name="谢谢观看"/>
          <p:cNvSpPr txBox="1"/>
          <p:nvPr/>
        </p:nvSpPr>
        <p:spPr>
          <a:xfrm>
            <a:off x="5806972" y="2367133"/>
            <a:ext cx="1028727" cy="638877"/>
          </a:xfrm>
          <a:prstGeom prst="rect">
            <a:avLst/>
          </a:prstGeom>
          <a:ln w="3175">
            <a:miter lim="400000"/>
          </a:ln>
          <a:extLst>
            <a:ext uri="{C572A759-6A51-4108-AA02-DFA0A04FC94B}">
              <ma14:wrappingTextBoxFlag xmlns:ma14="http://schemas.microsoft.com/office/mac/drawingml/2011/main" val="1"/>
            </a:ext>
          </a:extLst>
        </p:spPr>
        <p:txBody>
          <a:bodyPr wrap="none" lIns="26789" tIns="26789" rIns="26789" bIns="26789" anchor="ctr">
            <a:spAutoFit/>
          </a:bodyPr>
          <a:lstStyle>
            <a:lvl1pPr>
              <a:defRPr sz="3800">
                <a:solidFill>
                  <a:srgbClr val="000000"/>
                </a:solidFill>
                <a:latin typeface="PingFang SC Semibold"/>
                <a:ea typeface="PingFang SC Semibold"/>
                <a:cs typeface="PingFang SC Semibold"/>
                <a:sym typeface="PingFang SC Semibold"/>
              </a:defRPr>
            </a:lvl1pPr>
          </a:lstStyle>
          <a:p>
            <a:r>
              <a:rPr dirty="0" err="1"/>
              <a:t>谢谢</a:t>
            </a:r>
            <a:endParaRPr dirty="0"/>
          </a:p>
        </p:txBody>
      </p:sp>
      <p:grpSp>
        <p:nvGrpSpPr>
          <p:cNvPr id="185" name="成组"/>
          <p:cNvGrpSpPr/>
          <p:nvPr/>
        </p:nvGrpSpPr>
        <p:grpSpPr>
          <a:xfrm>
            <a:off x="5219069" y="5074647"/>
            <a:ext cx="2204535" cy="1052106"/>
            <a:chOff x="0" y="73725"/>
            <a:chExt cx="2204533" cy="1052105"/>
          </a:xfrm>
        </p:grpSpPr>
        <p:pic>
          <p:nvPicPr>
            <p:cNvPr id="183" name="图像" descr="图像"/>
            <p:cNvPicPr>
              <a:picLocks noChangeAspect="1"/>
            </p:cNvPicPr>
            <p:nvPr/>
          </p:nvPicPr>
          <p:blipFill>
            <a:blip r:embed="rId3">
              <a:extLst/>
            </a:blip>
            <a:stretch>
              <a:fillRect/>
            </a:stretch>
          </p:blipFill>
          <p:spPr>
            <a:xfrm>
              <a:off x="50720" y="73725"/>
              <a:ext cx="2077694" cy="551883"/>
            </a:xfrm>
            <a:prstGeom prst="rect">
              <a:avLst/>
            </a:prstGeom>
            <a:ln w="3175" cap="flat">
              <a:noFill/>
              <a:miter lim="400000"/>
            </a:ln>
            <a:effectLst/>
          </p:spPr>
        </p:pic>
        <p:sp>
          <p:nvSpPr>
            <p:cNvPr id="184" name="懂你AI你，比你更懂你"/>
            <p:cNvSpPr txBox="1"/>
            <p:nvPr/>
          </p:nvSpPr>
          <p:spPr>
            <a:xfrm>
              <a:off x="0" y="767453"/>
              <a:ext cx="2204534" cy="358379"/>
            </a:xfrm>
            <a:prstGeom prst="rect">
              <a:avLst/>
            </a:prstGeom>
            <a:noFill/>
            <a:ln w="3175" cap="flat">
              <a:noFill/>
              <a:miter lim="400000"/>
            </a:ln>
            <a:effectLst/>
            <a:extLst>
              <a:ext uri="{C572A759-6A51-4108-AA02-DFA0A04FC94B}">
                <ma14:wrappingTextBoxFlag xmlns:ma14="http://schemas.microsoft.com/office/mac/drawingml/2011/main" val="1"/>
              </a:ext>
            </a:extLst>
          </p:spPr>
          <p:txBody>
            <a:bodyPr wrap="square" lIns="26789" tIns="26789" rIns="26789" bIns="26789" numCol="1" anchor="ctr">
              <a:spAutoFit/>
            </a:bodyPr>
            <a:lstStyle>
              <a:lvl1pPr algn="l">
                <a:defRPr sz="1700">
                  <a:solidFill>
                    <a:srgbClr val="CAA354"/>
                  </a:solidFill>
                  <a:latin typeface="PingFang SC Regular"/>
                  <a:ea typeface="PingFang SC Regular"/>
                  <a:cs typeface="PingFang SC Regular"/>
                  <a:sym typeface="PingFang SC Regular"/>
                </a:defRPr>
              </a:lvl1pPr>
            </a:lstStyle>
            <a:p>
              <a:r>
                <a:rPr dirty="0" err="1"/>
                <a:t>懂你AI你，比你更懂你</a:t>
              </a:r>
              <a:endParaRPr dirty="0"/>
            </a:p>
          </p:txBody>
        </p:sp>
      </p:gr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White">
  <a:themeElements>
    <a:clrScheme name="White">
      <a:dk1>
        <a:srgbClr val="FFFFFF"/>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26789" tIns="26789" rIns="26789" bIns="26789" numCol="1" spcCol="38100" rtlCol="0" anchor="ctr">
        <a:spAutoFit/>
      </a:bodyPr>
      <a:lstStyle>
        <a:defPPr marL="0" marR="0" indent="0" algn="ctr" defTabSz="410765"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6789" tIns="26789" rIns="26789" bIns="26789" numCol="1" spcCol="38100" rtlCol="0" anchor="ctr">
        <a:spAutoFit/>
      </a:bodyPr>
      <a:lstStyle>
        <a:defPPr marL="0" marR="0" indent="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26789" tIns="26789" rIns="26789" bIns="26789" numCol="1" spcCol="38100" rtlCol="0" anchor="ctr">
        <a:spAutoFit/>
      </a:bodyPr>
      <a:lstStyle>
        <a:defPPr marL="0" marR="0" indent="0" algn="ctr" defTabSz="410765"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26789" tIns="26789" rIns="26789" bIns="26789" numCol="1" spcCol="38100" rtlCol="0" anchor="ctr">
        <a:spAutoFit/>
      </a:bodyPr>
      <a:lstStyle>
        <a:defPPr marL="0" marR="0" indent="0" algn="ctr" defTabSz="410765"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uFillTx/>
            <a:latin typeface="Arial Black"/>
            <a:ea typeface="Arial Black"/>
            <a:cs typeface="Arial Black"/>
            <a:sym typeface="Arial Blac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9858</TotalTime>
  <Words>3488</Words>
  <Application>Microsoft Macintosh PowerPoint</Application>
  <PresentationFormat>Widescreen</PresentationFormat>
  <Paragraphs>539</Paragraphs>
  <Slides>45</Slides>
  <Notes>15</Notes>
  <HiddenSlides>2</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45</vt:i4>
      </vt:variant>
    </vt:vector>
  </HeadingPairs>
  <TitlesOfParts>
    <vt:vector size="60" baseType="lpstr">
      <vt:lpstr>Arial Black</vt:lpstr>
      <vt:lpstr>Century Gothic</vt:lpstr>
      <vt:lpstr>Helvetica Light</vt:lpstr>
      <vt:lpstr>Helvetica Neue</vt:lpstr>
      <vt:lpstr>Helvetica Neue Light</vt:lpstr>
      <vt:lpstr>Helvetica Neue Medium</vt:lpstr>
      <vt:lpstr>Helvetica Neue Thin</vt:lpstr>
      <vt:lpstr>NotoSansCJKsc</vt:lpstr>
      <vt:lpstr>PingFang SC Light</vt:lpstr>
      <vt:lpstr>PingFang SC Regular</vt:lpstr>
      <vt:lpstr>PingFang SC Semibold</vt:lpstr>
      <vt:lpstr>Wingdings</vt:lpstr>
      <vt:lpstr>微软雅黑</vt:lpstr>
      <vt:lpstr>Arial</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创始团队在人工智能和金融领域深耕多年</vt:lpstr>
      <vt:lpstr>科学团队拥有人工智能学术和产业领域的优秀履历</vt:lpstr>
      <vt:lpstr>工程团队具备深厚的技术实现能力</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fengyaxing</dc:creator>
  <cp:lastModifiedBy>Microsoft Office User</cp:lastModifiedBy>
  <cp:revision>831</cp:revision>
  <dcterms:modified xsi:type="dcterms:W3CDTF">2018-01-11T14:47:20Z</dcterms:modified>
</cp:coreProperties>
</file>